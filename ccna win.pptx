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notesSlides/notesSlide1.xml" ContentType="application/vnd.openxmlformats-officedocument.presentationml.notesSlide+xml"/>
  <Override PartName="/ppt/ink/ink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7" r:id="rId2"/>
    <p:sldId id="258" r:id="rId3"/>
    <p:sldId id="259" r:id="rId4"/>
    <p:sldId id="262" r:id="rId5"/>
    <p:sldId id="263" r:id="rId6"/>
    <p:sldId id="264" r:id="rId7"/>
    <p:sldId id="265" r:id="rId8"/>
    <p:sldId id="266" r:id="rId9"/>
    <p:sldId id="268" r:id="rId10"/>
    <p:sldId id="282" r:id="rId11"/>
    <p:sldId id="283" r:id="rId12"/>
    <p:sldId id="284" r:id="rId13"/>
    <p:sldId id="285" r:id="rId14"/>
    <p:sldId id="269" r:id="rId15"/>
    <p:sldId id="299" r:id="rId16"/>
    <p:sldId id="270" r:id="rId17"/>
    <p:sldId id="271" r:id="rId18"/>
    <p:sldId id="273" r:id="rId19"/>
    <p:sldId id="286" r:id="rId20"/>
    <p:sldId id="272" r:id="rId21"/>
    <p:sldId id="275" r:id="rId22"/>
    <p:sldId id="274" r:id="rId23"/>
    <p:sldId id="276" r:id="rId24"/>
    <p:sldId id="277" r:id="rId25"/>
    <p:sldId id="289" r:id="rId26"/>
    <p:sldId id="291" r:id="rId27"/>
    <p:sldId id="292" r:id="rId28"/>
    <p:sldId id="293" r:id="rId29"/>
    <p:sldId id="294" r:id="rId30"/>
    <p:sldId id="290" r:id="rId31"/>
    <p:sldId id="295" r:id="rId32"/>
    <p:sldId id="296" r:id="rId33"/>
    <p:sldId id="297" r:id="rId34"/>
    <p:sldId id="298" r:id="rId35"/>
    <p:sldId id="300" r:id="rId36"/>
    <p:sldId id="301" r:id="rId37"/>
    <p:sldId id="302" r:id="rId38"/>
    <p:sldId id="303" r:id="rId39"/>
    <p:sldId id="304" r:id="rId40"/>
    <p:sldId id="305" r:id="rId41"/>
    <p:sldId id="306" r:id="rId42"/>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359CEA3B-9D83-4477-BEA6-A0AD50DA6640}">
          <p14:sldIdLst/>
        </p14:section>
        <p14:section name="Iconos" id="{E79AF977-DC37-4FFF-A0DD-FF388F1512AE}">
          <p14:sldIdLst>
            <p14:sldId id="257"/>
            <p14:sldId id="258"/>
            <p14:sldId id="259"/>
            <p14:sldId id="262"/>
            <p14:sldId id="263"/>
            <p14:sldId id="264"/>
            <p14:sldId id="265"/>
            <p14:sldId id="266"/>
            <p14:sldId id="268"/>
            <p14:sldId id="282"/>
            <p14:sldId id="283"/>
            <p14:sldId id="284"/>
            <p14:sldId id="285"/>
            <p14:sldId id="269"/>
            <p14:sldId id="299"/>
            <p14:sldId id="270"/>
            <p14:sldId id="271"/>
            <p14:sldId id="273"/>
            <p14:sldId id="286"/>
            <p14:sldId id="272"/>
            <p14:sldId id="275"/>
            <p14:sldId id="274"/>
            <p14:sldId id="276"/>
            <p14:sldId id="277"/>
            <p14:sldId id="289"/>
            <p14:sldId id="291"/>
            <p14:sldId id="292"/>
            <p14:sldId id="293"/>
            <p14:sldId id="294"/>
            <p14:sldId id="290"/>
            <p14:sldId id="295"/>
            <p14:sldId id="296"/>
            <p14:sldId id="297"/>
            <p14:sldId id="298"/>
            <p14:sldId id="300"/>
            <p14:sldId id="301"/>
            <p14:sldId id="302"/>
            <p14:sldId id="303"/>
            <p14:sldId id="304"/>
            <p14:sldId id="305"/>
            <p14:sldId id="30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Estilo claro 2 - Acento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BDBED569-4797-4DF1-A0F4-6AAB3CD982D8}" styleName="Estilo claro 3 - Acento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8799B23B-EC83-4686-B30A-512413B5E67A}" styleName="Estilo claro 3 - Acento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4B1156A-380E-4F78-BDF5-A606A8083BF9}" styleName="Estilo medio 4 - Énfasis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A107856-5554-42FB-B03E-39F5DBC370BA}" styleName="Estilo medio 4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94660"/>
  </p:normalViewPr>
  <p:slideViewPr>
    <p:cSldViewPr snapToGrid="0">
      <p:cViewPr varScale="1">
        <p:scale>
          <a:sx n="91" d="100"/>
          <a:sy n="91" d="100"/>
        </p:scale>
        <p:origin x="79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6T02:05:16.530"/>
    </inkml:context>
    <inkml:brush xml:id="br0">
      <inkml:brushProperty name="width" value="0.1" units="cm"/>
      <inkml:brushProperty name="height" value="0.1" units="cm"/>
      <inkml:brushProperty name="color" value="#004F8B"/>
    </inkml:brush>
  </inkml:definitions>
  <inkml:trace contextRef="#ctx0" brushRef="#br0">2545 448 8192,'-3'-1'161,"0"0"-1,0 0 1,0 0 0,1 0 0,-1 0 0,0-1 0,0 1 0,1-1-1,-4-3 1,-8-3 1027,-47-30 1663,45 27-1787,-1 0 0,-34-16 0,-119-35 1565,128 46-2629,31 11 0,0 1 0,0 0 0,0 1 0,-16-3 0,-18 0-382,-6-2-912,-55 0-1,86 6 1295,0 0 0,0-1 0,-29-9 0,25 6 0,-47-6 0,-184 9-6378,132 5 4259,78 0 2119,-85 14 0,89-6 0,-61 22 0,71-22 0,3 1 0,-31 17 0,17-8 0,23-10 0,2 1 0,-27 19 0,22-13 0,-15 9 0,-205 158 0,203-148 0,2 2 0,-49 63 0,-49 95 0,116-162 0,3-1 0,0 2 0,2 0 0,-10 43 0,8-28 0,9-26 0,1 1 0,1-1 0,1 1 0,0 30 0,5 102 0,2-59 0,-4-39 0,-1-28 0,2 0 0,1 0 0,1 0 0,11 46 0,-5-54 0,1-1 0,1 0 0,1 0 0,23 33 0,8 16 0,-29-51 0,0 0 0,2-1 0,0-1 0,1 0 0,0-2 0,20 16 0,-10-11 0,53 30 0,8-8 0,-37-20 0,-18-6 0,-5-3 0,1-1 0,30 10 0,1-10 0,-41-10 0,35 12 0,-29-8 0,0-1 0,0-1 0,0-2 0,33 2 0,20 3 0,-9-1 0,130-5 0,-99-4 0,-50 0 0,78-15 0,-11 1 0,-90 12 0,1-1 0,38-13 0,24-5 0,33-10 0,-47 11 0,-47 15 0,-10 3 0,0-1 0,25-10 0,-16 4 0,46-11 0,-47 15 0,-1-1 0,33-14 0,121-59 0,-143 66 0,-1-2 0,-1-2 0,34-23 0,-18 9 0,-20 15 0,45-37 0,-42 23 0,32-38 0,-29 29 0,-22 23 0,-1-1 0,0 0 0,-2-1 0,17-40 0,-5 12 0,-15 31 0,-1-1 0,0-1 0,-2 1 0,0-1 0,-1 0 0,3-35 0,-6-122 0,-3 97 0,-3-54 0,2 113 0,0 1 0,-1 0 0,0 1 0,-14-35 0,-6-4 0,14 30 0,-1 0 0,-1 1 0,-2 0 0,-25-37 0,-37-51 0,53 75 0,-41-50 0,33 52 0,-171-201 0,180 214 0,-1 0 0,-1 2 0,-1 1 0,-1 1 0,-35-22 0,22 20 0,0 2 0,-59-21 0,87 38 0,-1 0 0,0 0 0,0 1 0,-16-1 0,5 2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6T02:05:28.696"/>
    </inkml:context>
    <inkml:brush xml:id="br0">
      <inkml:brushProperty name="width" value="0.1" units="cm"/>
      <inkml:brushProperty name="height" value="0.1" units="cm"/>
      <inkml:brushProperty name="color" value="#004F8B"/>
    </inkml:brush>
  </inkml:definitions>
  <inkml:trace contextRef="#ctx0" brushRef="#br0">740 1 8192,'-10'0'1141,"-147"6"6356,138-4-7093,1 1 0,0 1 1,0 1-1,0 0 0,0 2 1,-23 11-1,13-2-404,-32 25 0,56-39 0,-16 13 0,3-4 0,0 1 0,1 0 0,1 1 0,0 0 0,1 1 0,1 1 0,-17 23 0,-1 7 0,15-23 0,-16 29 0,21-26 0,1 0 0,0 0 0,2 1 0,-8 44 0,0-17 0,11-40 0,1-1 0,-5 27 0,4 26 0,5 111 0,2-70 0,-1-84 0,1-1 0,0 1 0,2-1 0,12 40 0,37 79 0,-9-32 0,-33-79 0,18 29 0,-3-5 0,-16-34 0,1 0 0,21 26 0,-18-25 0,14 15 0,1-1 0,43 39 0,-16-18 0,-41-42 0,0 0 0,33 20 0,-25-18 0,-12-9-68,1 1 0,0-2 0,-1 0 1,2 0-1,-1-1 0,0 0 0,1-1 0,0-1 0,16 2 0,18-2-652,58-3 0,-38-1 43,-14 2-28,135-4-5553,-109-4 6740,-63 6-698,9 0-113,0-1 0,0-2-1,0 0 1,0-2 0,26-11 0,27-13 329,13-6 0,-68 25 0,0 0 0,0-2 0,-1 0 0,-1-2 0,22-20 0,-32 23 0,-1 0 0,0-1 0,-1 0 0,0-1 0,-2 1 0,13-33 0,-16 35 204,-1-1 1,0 1-1,0-1 1,-1 0-1,0-15 1,-4-68 1459,0 42-1694,2 39-852,0-42 53,-12-86 0,3 86 722,5 20 36,-3 0-1,-16-55 1,15 70 71,-55-150 0,46 132 0,-2 1 0,-31-47 0,31 57 0,-1 1 0,-2 0 0,-37-38 0,36 45 218,8 6 599,-28-22 0,38 33-706,-1 0 1,0 1 0,0 0 0,0 0 0,0 0 0,-1 0 0,1 1 0,-1 0 0,-8-1 0,-10 1 862,2 1 3900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6T03:17:15.307"/>
    </inkml:context>
    <inkml:brush xml:id="br0">
      <inkml:brushProperty name="width" value="0.1" units="cm"/>
      <inkml:brushProperty name="height" value="0.1" units="cm"/>
      <inkml:brushProperty name="color" value="#004F8B"/>
    </inkml:brush>
  </inkml:definitions>
  <inkml:trace contextRef="#ctx0" brushRef="#br0">642 2308 8192,'-5'0'267,"-1"-1"1,1 0-1,0 0 1,0 0-1,0-1 1,0 0 0,0 0-1,0 0 1,1 0-1,-6-4 1,-47-35 4465,28 18-3590,12 11-764,0-1-1,1-1 1,0-1-1,1 0 0,1-1 1,-20-29-1,-2-11-378,-6-7 0,-63-131 0,67 111 0,21 49 0,1-1 0,2 0 0,-18-71 0,12 26-640,12 55-79,2 0 0,-6-50 1,3-16-28,-2-49-5064,10 47 5382,4-134-1260,1 178 1688,3 1 0,17-64 0,-17 92 588,0 0 1,17-30 0,-8 16 441,-7 17 130,1 1 0,1 0 0,18-22 0,4-5 243,-9 12-546,2 1 0,43-39 1,-57 57-801,1 1-57,1 0 0,1 1 0,-1 1 0,2 0 0,-1 1 0,24-9 0,-25 13 0,-1 1 0,1 0 0,19-2 0,-18 3 0,-1 0 0,1-1 0,13-5 0,-11 3 0,1 0 0,0 1 0,0 1 0,0 0 0,0 2 0,0 0 0,0 1 0,0 1 0,0 0 0,0 2 0,35 8 0,-33-4 0,27 12 0,-32-12 0,2 0 0,-1-1 0,19 4 0,-15-5 0,0 1 0,25 11 0,-25-9 0,0 0 0,29 6 0,-26-8-664,-1 1-1,0 1 1,30 15-1,-23-9 352,-3-1 1015,0 2 0,30 23-1,2 1 165,-12-8-5091,53 49-1,-80-64 3858,23 22-483,-3 2 1,47 61 0,-66-76 752,8 11 98,-1 2 0,-3 1 0,23 46 0,14 33 0,-43-81 0,-10-21 0,-1 1 0,0-1 0,-1 1 0,5 22 0,-7-22 0,-1 1 0,1 0 0,8 23 0,-6-24 0,-1 1 0,-1 0 0,0 0 0,-1 0 0,0 20 0,-4 95 0,-1-59 0,2-53 0,-1-1 0,-1 1 0,0-1 0,-2 1 0,0-1 0,-2 0 0,0 0 0,-1-1 0,-15 30 0,15-36 0,-56 101 0,51-96 0,-1 0 0,-1 0 0,-30 29 0,31-36 0,0-1 0,-1-1 0,-23 12 0,-19 13 0,20-11 0,-76 37 0,-5 2 0,83-41 0,-44 31 0,-4 1 0,40-27 0,-105 75 0,125-84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7-24T21:42:48.499"/>
    </inkml:context>
    <inkml:brush xml:id="br0">
      <inkml:brushProperty name="width" value="0.2" units="cm"/>
      <inkml:brushProperty name="height" value="1.2" units="cm"/>
      <inkml:brushProperty name="color" value="#849398"/>
      <inkml:brushProperty name="ignorePressure" value="1"/>
      <inkml:brushProperty name="inkEffects" value="pencil"/>
    </inkml:brush>
  </inkml:definitions>
  <inkml:trace contextRef="#ctx0" brushRef="#br0">1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2C0996-7400-4D90-9419-BBB7490CDC4C}" type="datetimeFigureOut">
              <a:rPr lang="es-ES" smtClean="0"/>
              <a:t>27/07/2026</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3A16B4-44D2-4550-B0CB-8E6647FBC57F}" type="slidenum">
              <a:rPr lang="es-ES" smtClean="0"/>
              <a:t>‹Nº›</a:t>
            </a:fld>
            <a:endParaRPr lang="es-ES" dirty="0"/>
          </a:p>
        </p:txBody>
      </p:sp>
    </p:spTree>
    <p:extLst>
      <p:ext uri="{BB962C8B-B14F-4D97-AF65-F5344CB8AC3E}">
        <p14:creationId xmlns:p14="http://schemas.microsoft.com/office/powerpoint/2010/main" val="2133343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a:t>
            </a:r>
          </a:p>
        </p:txBody>
      </p:sp>
      <p:sp>
        <p:nvSpPr>
          <p:cNvPr id="4" name="Marcador de número de diapositiva 3"/>
          <p:cNvSpPr>
            <a:spLocks noGrp="1"/>
          </p:cNvSpPr>
          <p:nvPr>
            <p:ph type="sldNum" sz="quarter" idx="5"/>
          </p:nvPr>
        </p:nvSpPr>
        <p:spPr/>
        <p:txBody>
          <a:bodyPr/>
          <a:lstStyle/>
          <a:p>
            <a:fld id="{963A16B4-44D2-4550-B0CB-8E6647FBC57F}" type="slidenum">
              <a:rPr lang="es-ES" smtClean="0"/>
              <a:t>37</a:t>
            </a:fld>
            <a:endParaRPr lang="es-ES" dirty="0"/>
          </a:p>
        </p:txBody>
      </p:sp>
    </p:spTree>
    <p:extLst>
      <p:ext uri="{BB962C8B-B14F-4D97-AF65-F5344CB8AC3E}">
        <p14:creationId xmlns:p14="http://schemas.microsoft.com/office/powerpoint/2010/main" val="21588618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F241E5-486C-5BAA-591F-7D61F5B47D25}"/>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E9C0BFF9-21C1-6300-DBB9-98185D0FC9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93D44584-BE1A-7766-0FD5-30FF25490736}"/>
              </a:ext>
            </a:extLst>
          </p:cNvPr>
          <p:cNvSpPr>
            <a:spLocks noGrp="1"/>
          </p:cNvSpPr>
          <p:nvPr>
            <p:ph type="dt" sz="half" idx="10"/>
          </p:nvPr>
        </p:nvSpPr>
        <p:spPr/>
        <p:txBody>
          <a:bodyPr/>
          <a:lstStyle/>
          <a:p>
            <a:fld id="{82926F56-27A3-4E7B-A559-4D96EFECC4DE}" type="datetimeFigureOut">
              <a:rPr lang="es-ES" smtClean="0"/>
              <a:t>27/07/2026</a:t>
            </a:fld>
            <a:endParaRPr lang="es-ES" dirty="0"/>
          </a:p>
        </p:txBody>
      </p:sp>
      <p:sp>
        <p:nvSpPr>
          <p:cNvPr id="5" name="Marcador de pie de página 4">
            <a:extLst>
              <a:ext uri="{FF2B5EF4-FFF2-40B4-BE49-F238E27FC236}">
                <a16:creationId xmlns:a16="http://schemas.microsoft.com/office/drawing/2014/main" id="{71832887-1320-0380-BCD4-C6CB07AC8A92}"/>
              </a:ext>
            </a:extLst>
          </p:cNvPr>
          <p:cNvSpPr>
            <a:spLocks noGrp="1"/>
          </p:cNvSpPr>
          <p:nvPr>
            <p:ph type="ftr" sz="quarter" idx="11"/>
          </p:nvPr>
        </p:nvSpPr>
        <p:spPr/>
        <p:txBody>
          <a:bodyPr/>
          <a:lstStyle/>
          <a:p>
            <a:endParaRPr lang="es-ES" dirty="0"/>
          </a:p>
        </p:txBody>
      </p:sp>
      <p:sp>
        <p:nvSpPr>
          <p:cNvPr id="6" name="Marcador de número de diapositiva 5">
            <a:extLst>
              <a:ext uri="{FF2B5EF4-FFF2-40B4-BE49-F238E27FC236}">
                <a16:creationId xmlns:a16="http://schemas.microsoft.com/office/drawing/2014/main" id="{0C4DF8D6-39F3-D0A4-CF04-831AF3EE216C}"/>
              </a:ext>
            </a:extLst>
          </p:cNvPr>
          <p:cNvSpPr>
            <a:spLocks noGrp="1"/>
          </p:cNvSpPr>
          <p:nvPr>
            <p:ph type="sldNum" sz="quarter" idx="12"/>
          </p:nvPr>
        </p:nvSpPr>
        <p:spPr/>
        <p:txBody>
          <a:bodyPr/>
          <a:lstStyle/>
          <a:p>
            <a:fld id="{72EBA711-20A3-4436-8007-E9501F854800}" type="slidenum">
              <a:rPr lang="es-ES" smtClean="0"/>
              <a:t>‹Nº›</a:t>
            </a:fld>
            <a:endParaRPr lang="es-ES" dirty="0"/>
          </a:p>
        </p:txBody>
      </p:sp>
    </p:spTree>
    <p:extLst>
      <p:ext uri="{BB962C8B-B14F-4D97-AF65-F5344CB8AC3E}">
        <p14:creationId xmlns:p14="http://schemas.microsoft.com/office/powerpoint/2010/main" val="3455422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7E6498-E393-F648-443F-ABA1A2229F19}"/>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1B5E4CFD-FB18-21E4-0F27-596AC60357FF}"/>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639AB9FF-6252-26FA-B84B-D2D590CBB0D4}"/>
              </a:ext>
            </a:extLst>
          </p:cNvPr>
          <p:cNvSpPr>
            <a:spLocks noGrp="1"/>
          </p:cNvSpPr>
          <p:nvPr>
            <p:ph type="dt" sz="half" idx="10"/>
          </p:nvPr>
        </p:nvSpPr>
        <p:spPr/>
        <p:txBody>
          <a:bodyPr/>
          <a:lstStyle/>
          <a:p>
            <a:fld id="{82926F56-27A3-4E7B-A559-4D96EFECC4DE}" type="datetimeFigureOut">
              <a:rPr lang="es-ES" smtClean="0"/>
              <a:t>27/07/2026</a:t>
            </a:fld>
            <a:endParaRPr lang="es-ES" dirty="0"/>
          </a:p>
        </p:txBody>
      </p:sp>
      <p:sp>
        <p:nvSpPr>
          <p:cNvPr id="5" name="Marcador de pie de página 4">
            <a:extLst>
              <a:ext uri="{FF2B5EF4-FFF2-40B4-BE49-F238E27FC236}">
                <a16:creationId xmlns:a16="http://schemas.microsoft.com/office/drawing/2014/main" id="{DAC2335F-B04C-56EC-CA9C-14F7E845ACEB}"/>
              </a:ext>
            </a:extLst>
          </p:cNvPr>
          <p:cNvSpPr>
            <a:spLocks noGrp="1"/>
          </p:cNvSpPr>
          <p:nvPr>
            <p:ph type="ftr" sz="quarter" idx="11"/>
          </p:nvPr>
        </p:nvSpPr>
        <p:spPr/>
        <p:txBody>
          <a:bodyPr/>
          <a:lstStyle/>
          <a:p>
            <a:endParaRPr lang="es-ES" dirty="0"/>
          </a:p>
        </p:txBody>
      </p:sp>
      <p:sp>
        <p:nvSpPr>
          <p:cNvPr id="6" name="Marcador de número de diapositiva 5">
            <a:extLst>
              <a:ext uri="{FF2B5EF4-FFF2-40B4-BE49-F238E27FC236}">
                <a16:creationId xmlns:a16="http://schemas.microsoft.com/office/drawing/2014/main" id="{4A85F7C3-C603-9534-692E-715D7BD78EF2}"/>
              </a:ext>
            </a:extLst>
          </p:cNvPr>
          <p:cNvSpPr>
            <a:spLocks noGrp="1"/>
          </p:cNvSpPr>
          <p:nvPr>
            <p:ph type="sldNum" sz="quarter" idx="12"/>
          </p:nvPr>
        </p:nvSpPr>
        <p:spPr/>
        <p:txBody>
          <a:bodyPr/>
          <a:lstStyle/>
          <a:p>
            <a:fld id="{72EBA711-20A3-4436-8007-E9501F854800}" type="slidenum">
              <a:rPr lang="es-ES" smtClean="0"/>
              <a:t>‹Nº›</a:t>
            </a:fld>
            <a:endParaRPr lang="es-ES" dirty="0"/>
          </a:p>
        </p:txBody>
      </p:sp>
    </p:spTree>
    <p:extLst>
      <p:ext uri="{BB962C8B-B14F-4D97-AF65-F5344CB8AC3E}">
        <p14:creationId xmlns:p14="http://schemas.microsoft.com/office/powerpoint/2010/main" val="1414497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C439F7-D1C2-38B6-355C-056D20E05886}"/>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C1D51A6F-D563-54E2-4215-0E16B28086A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ECF2BCEA-200A-F175-16CB-A020872553C0}"/>
              </a:ext>
            </a:extLst>
          </p:cNvPr>
          <p:cNvSpPr>
            <a:spLocks noGrp="1"/>
          </p:cNvSpPr>
          <p:nvPr>
            <p:ph type="dt" sz="half" idx="10"/>
          </p:nvPr>
        </p:nvSpPr>
        <p:spPr/>
        <p:txBody>
          <a:bodyPr/>
          <a:lstStyle/>
          <a:p>
            <a:fld id="{82926F56-27A3-4E7B-A559-4D96EFECC4DE}" type="datetimeFigureOut">
              <a:rPr lang="es-ES" smtClean="0"/>
              <a:t>27/07/2026</a:t>
            </a:fld>
            <a:endParaRPr lang="es-ES" dirty="0"/>
          </a:p>
        </p:txBody>
      </p:sp>
      <p:sp>
        <p:nvSpPr>
          <p:cNvPr id="5" name="Marcador de pie de página 4">
            <a:extLst>
              <a:ext uri="{FF2B5EF4-FFF2-40B4-BE49-F238E27FC236}">
                <a16:creationId xmlns:a16="http://schemas.microsoft.com/office/drawing/2014/main" id="{CA4A9B73-5D4B-7650-FCAE-5C5136D8890F}"/>
              </a:ext>
            </a:extLst>
          </p:cNvPr>
          <p:cNvSpPr>
            <a:spLocks noGrp="1"/>
          </p:cNvSpPr>
          <p:nvPr>
            <p:ph type="ftr" sz="quarter" idx="11"/>
          </p:nvPr>
        </p:nvSpPr>
        <p:spPr/>
        <p:txBody>
          <a:bodyPr/>
          <a:lstStyle/>
          <a:p>
            <a:endParaRPr lang="es-ES" dirty="0"/>
          </a:p>
        </p:txBody>
      </p:sp>
      <p:sp>
        <p:nvSpPr>
          <p:cNvPr id="6" name="Marcador de número de diapositiva 5">
            <a:extLst>
              <a:ext uri="{FF2B5EF4-FFF2-40B4-BE49-F238E27FC236}">
                <a16:creationId xmlns:a16="http://schemas.microsoft.com/office/drawing/2014/main" id="{E5516D41-5415-61A0-9D85-7164BA93C1FA}"/>
              </a:ext>
            </a:extLst>
          </p:cNvPr>
          <p:cNvSpPr>
            <a:spLocks noGrp="1"/>
          </p:cNvSpPr>
          <p:nvPr>
            <p:ph type="sldNum" sz="quarter" idx="12"/>
          </p:nvPr>
        </p:nvSpPr>
        <p:spPr/>
        <p:txBody>
          <a:bodyPr/>
          <a:lstStyle/>
          <a:p>
            <a:fld id="{72EBA711-20A3-4436-8007-E9501F854800}" type="slidenum">
              <a:rPr lang="es-ES" smtClean="0"/>
              <a:t>‹Nº›</a:t>
            </a:fld>
            <a:endParaRPr lang="es-ES" dirty="0"/>
          </a:p>
        </p:txBody>
      </p:sp>
    </p:spTree>
    <p:extLst>
      <p:ext uri="{BB962C8B-B14F-4D97-AF65-F5344CB8AC3E}">
        <p14:creationId xmlns:p14="http://schemas.microsoft.com/office/powerpoint/2010/main" val="40003316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B6573A-2B20-30BF-BDDD-492010AEDB27}"/>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3F04FF26-B0DF-1255-0AD5-FEE335F7A1D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53204F47-4B1B-DEA3-D294-36D1A4F55861}"/>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5BCA7342-8F20-DA56-7810-D3AD5E22FE57}"/>
              </a:ext>
            </a:extLst>
          </p:cNvPr>
          <p:cNvSpPr>
            <a:spLocks noGrp="1"/>
          </p:cNvSpPr>
          <p:nvPr>
            <p:ph type="dt" sz="half" idx="10"/>
          </p:nvPr>
        </p:nvSpPr>
        <p:spPr/>
        <p:txBody>
          <a:bodyPr/>
          <a:lstStyle/>
          <a:p>
            <a:fld id="{82926F56-27A3-4E7B-A559-4D96EFECC4DE}" type="datetimeFigureOut">
              <a:rPr lang="es-ES" smtClean="0"/>
              <a:t>27/07/2026</a:t>
            </a:fld>
            <a:endParaRPr lang="es-ES" dirty="0"/>
          </a:p>
        </p:txBody>
      </p:sp>
      <p:sp>
        <p:nvSpPr>
          <p:cNvPr id="6" name="Marcador de pie de página 5">
            <a:extLst>
              <a:ext uri="{FF2B5EF4-FFF2-40B4-BE49-F238E27FC236}">
                <a16:creationId xmlns:a16="http://schemas.microsoft.com/office/drawing/2014/main" id="{DDC30B27-BCA3-1EE4-EB83-B4FFCEA6A617}"/>
              </a:ext>
            </a:extLst>
          </p:cNvPr>
          <p:cNvSpPr>
            <a:spLocks noGrp="1"/>
          </p:cNvSpPr>
          <p:nvPr>
            <p:ph type="ftr" sz="quarter" idx="11"/>
          </p:nvPr>
        </p:nvSpPr>
        <p:spPr/>
        <p:txBody>
          <a:bodyPr/>
          <a:lstStyle/>
          <a:p>
            <a:endParaRPr lang="es-ES" dirty="0"/>
          </a:p>
        </p:txBody>
      </p:sp>
      <p:sp>
        <p:nvSpPr>
          <p:cNvPr id="7" name="Marcador de número de diapositiva 6">
            <a:extLst>
              <a:ext uri="{FF2B5EF4-FFF2-40B4-BE49-F238E27FC236}">
                <a16:creationId xmlns:a16="http://schemas.microsoft.com/office/drawing/2014/main" id="{60216344-C910-CB3F-B7BA-0D7C23586BD5}"/>
              </a:ext>
            </a:extLst>
          </p:cNvPr>
          <p:cNvSpPr>
            <a:spLocks noGrp="1"/>
          </p:cNvSpPr>
          <p:nvPr>
            <p:ph type="sldNum" sz="quarter" idx="12"/>
          </p:nvPr>
        </p:nvSpPr>
        <p:spPr/>
        <p:txBody>
          <a:bodyPr/>
          <a:lstStyle/>
          <a:p>
            <a:fld id="{72EBA711-20A3-4436-8007-E9501F854800}" type="slidenum">
              <a:rPr lang="es-ES" smtClean="0"/>
              <a:t>‹Nº›</a:t>
            </a:fld>
            <a:endParaRPr lang="es-ES" dirty="0"/>
          </a:p>
        </p:txBody>
      </p:sp>
    </p:spTree>
    <p:extLst>
      <p:ext uri="{BB962C8B-B14F-4D97-AF65-F5344CB8AC3E}">
        <p14:creationId xmlns:p14="http://schemas.microsoft.com/office/powerpoint/2010/main" val="13664962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4BA9E9-E1D4-8F19-20D3-68A14275E306}"/>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ABA3A17B-6888-14FE-F180-C17B1AD9D1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9E3C9AA2-8199-6B77-59D0-B09FFD112BF0}"/>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E238B617-CD7C-DA6B-5B0B-2F5DE2AA80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8ADC089-A737-7700-B1A0-E4003C00F4B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ACD74577-D5DA-3CAF-6FBE-A422901398FB}"/>
              </a:ext>
            </a:extLst>
          </p:cNvPr>
          <p:cNvSpPr>
            <a:spLocks noGrp="1"/>
          </p:cNvSpPr>
          <p:nvPr>
            <p:ph type="dt" sz="half" idx="10"/>
          </p:nvPr>
        </p:nvSpPr>
        <p:spPr/>
        <p:txBody>
          <a:bodyPr/>
          <a:lstStyle/>
          <a:p>
            <a:fld id="{82926F56-27A3-4E7B-A559-4D96EFECC4DE}" type="datetimeFigureOut">
              <a:rPr lang="es-ES" smtClean="0"/>
              <a:t>27/07/2026</a:t>
            </a:fld>
            <a:endParaRPr lang="es-ES" dirty="0"/>
          </a:p>
        </p:txBody>
      </p:sp>
      <p:sp>
        <p:nvSpPr>
          <p:cNvPr id="8" name="Marcador de pie de página 7">
            <a:extLst>
              <a:ext uri="{FF2B5EF4-FFF2-40B4-BE49-F238E27FC236}">
                <a16:creationId xmlns:a16="http://schemas.microsoft.com/office/drawing/2014/main" id="{D13898ED-62EB-1C5B-7C79-935770EC48B4}"/>
              </a:ext>
            </a:extLst>
          </p:cNvPr>
          <p:cNvSpPr>
            <a:spLocks noGrp="1"/>
          </p:cNvSpPr>
          <p:nvPr>
            <p:ph type="ftr" sz="quarter" idx="11"/>
          </p:nvPr>
        </p:nvSpPr>
        <p:spPr/>
        <p:txBody>
          <a:bodyPr/>
          <a:lstStyle/>
          <a:p>
            <a:endParaRPr lang="es-ES" dirty="0"/>
          </a:p>
        </p:txBody>
      </p:sp>
      <p:sp>
        <p:nvSpPr>
          <p:cNvPr id="9" name="Marcador de número de diapositiva 8">
            <a:extLst>
              <a:ext uri="{FF2B5EF4-FFF2-40B4-BE49-F238E27FC236}">
                <a16:creationId xmlns:a16="http://schemas.microsoft.com/office/drawing/2014/main" id="{5A5892BA-53F3-3968-6537-88E3C38CEBDD}"/>
              </a:ext>
            </a:extLst>
          </p:cNvPr>
          <p:cNvSpPr>
            <a:spLocks noGrp="1"/>
          </p:cNvSpPr>
          <p:nvPr>
            <p:ph type="sldNum" sz="quarter" idx="12"/>
          </p:nvPr>
        </p:nvSpPr>
        <p:spPr/>
        <p:txBody>
          <a:bodyPr/>
          <a:lstStyle/>
          <a:p>
            <a:fld id="{72EBA711-20A3-4436-8007-E9501F854800}" type="slidenum">
              <a:rPr lang="es-ES" smtClean="0"/>
              <a:t>‹Nº›</a:t>
            </a:fld>
            <a:endParaRPr lang="es-ES" dirty="0"/>
          </a:p>
        </p:txBody>
      </p:sp>
    </p:spTree>
    <p:extLst>
      <p:ext uri="{BB962C8B-B14F-4D97-AF65-F5344CB8AC3E}">
        <p14:creationId xmlns:p14="http://schemas.microsoft.com/office/powerpoint/2010/main" val="23167486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3DF0D7-4558-C785-32DE-F20195191E50}"/>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1EFA6457-5D7A-3875-8D33-C1568DD8DDC0}"/>
              </a:ext>
            </a:extLst>
          </p:cNvPr>
          <p:cNvSpPr>
            <a:spLocks noGrp="1"/>
          </p:cNvSpPr>
          <p:nvPr>
            <p:ph type="dt" sz="half" idx="10"/>
          </p:nvPr>
        </p:nvSpPr>
        <p:spPr/>
        <p:txBody>
          <a:bodyPr/>
          <a:lstStyle/>
          <a:p>
            <a:fld id="{82926F56-27A3-4E7B-A559-4D96EFECC4DE}" type="datetimeFigureOut">
              <a:rPr lang="es-ES" smtClean="0"/>
              <a:t>27/07/2026</a:t>
            </a:fld>
            <a:endParaRPr lang="es-ES" dirty="0"/>
          </a:p>
        </p:txBody>
      </p:sp>
      <p:sp>
        <p:nvSpPr>
          <p:cNvPr id="4" name="Marcador de pie de página 3">
            <a:extLst>
              <a:ext uri="{FF2B5EF4-FFF2-40B4-BE49-F238E27FC236}">
                <a16:creationId xmlns:a16="http://schemas.microsoft.com/office/drawing/2014/main" id="{0ED5B6EA-312E-7C8F-BCCA-80BD26A9B934}"/>
              </a:ext>
            </a:extLst>
          </p:cNvPr>
          <p:cNvSpPr>
            <a:spLocks noGrp="1"/>
          </p:cNvSpPr>
          <p:nvPr>
            <p:ph type="ftr" sz="quarter" idx="11"/>
          </p:nvPr>
        </p:nvSpPr>
        <p:spPr/>
        <p:txBody>
          <a:bodyPr/>
          <a:lstStyle/>
          <a:p>
            <a:endParaRPr lang="es-ES" dirty="0"/>
          </a:p>
        </p:txBody>
      </p:sp>
      <p:sp>
        <p:nvSpPr>
          <p:cNvPr id="5" name="Marcador de número de diapositiva 4">
            <a:extLst>
              <a:ext uri="{FF2B5EF4-FFF2-40B4-BE49-F238E27FC236}">
                <a16:creationId xmlns:a16="http://schemas.microsoft.com/office/drawing/2014/main" id="{65D4035E-6B76-1FC2-9D59-ECD7D2ECF485}"/>
              </a:ext>
            </a:extLst>
          </p:cNvPr>
          <p:cNvSpPr>
            <a:spLocks noGrp="1"/>
          </p:cNvSpPr>
          <p:nvPr>
            <p:ph type="sldNum" sz="quarter" idx="12"/>
          </p:nvPr>
        </p:nvSpPr>
        <p:spPr/>
        <p:txBody>
          <a:bodyPr/>
          <a:lstStyle/>
          <a:p>
            <a:fld id="{72EBA711-20A3-4436-8007-E9501F854800}" type="slidenum">
              <a:rPr lang="es-ES" smtClean="0"/>
              <a:t>‹Nº›</a:t>
            </a:fld>
            <a:endParaRPr lang="es-ES" dirty="0"/>
          </a:p>
        </p:txBody>
      </p:sp>
    </p:spTree>
    <p:extLst>
      <p:ext uri="{BB962C8B-B14F-4D97-AF65-F5344CB8AC3E}">
        <p14:creationId xmlns:p14="http://schemas.microsoft.com/office/powerpoint/2010/main" val="2178110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32D815C4-AB95-C075-EAE6-D812306EA2E0}"/>
              </a:ext>
            </a:extLst>
          </p:cNvPr>
          <p:cNvSpPr>
            <a:spLocks noGrp="1"/>
          </p:cNvSpPr>
          <p:nvPr>
            <p:ph type="dt" sz="half" idx="10"/>
          </p:nvPr>
        </p:nvSpPr>
        <p:spPr/>
        <p:txBody>
          <a:bodyPr/>
          <a:lstStyle/>
          <a:p>
            <a:fld id="{82926F56-27A3-4E7B-A559-4D96EFECC4DE}" type="datetimeFigureOut">
              <a:rPr lang="es-ES" smtClean="0"/>
              <a:t>27/07/2026</a:t>
            </a:fld>
            <a:endParaRPr lang="es-ES" dirty="0"/>
          </a:p>
        </p:txBody>
      </p:sp>
      <p:sp>
        <p:nvSpPr>
          <p:cNvPr id="3" name="Marcador de pie de página 2">
            <a:extLst>
              <a:ext uri="{FF2B5EF4-FFF2-40B4-BE49-F238E27FC236}">
                <a16:creationId xmlns:a16="http://schemas.microsoft.com/office/drawing/2014/main" id="{2E8AB667-A43C-FF55-E513-5B1615A8F28E}"/>
              </a:ext>
            </a:extLst>
          </p:cNvPr>
          <p:cNvSpPr>
            <a:spLocks noGrp="1"/>
          </p:cNvSpPr>
          <p:nvPr>
            <p:ph type="ftr" sz="quarter" idx="11"/>
          </p:nvPr>
        </p:nvSpPr>
        <p:spPr/>
        <p:txBody>
          <a:bodyPr/>
          <a:lstStyle/>
          <a:p>
            <a:endParaRPr lang="es-ES" dirty="0"/>
          </a:p>
        </p:txBody>
      </p:sp>
      <p:sp>
        <p:nvSpPr>
          <p:cNvPr id="4" name="Marcador de número de diapositiva 3">
            <a:extLst>
              <a:ext uri="{FF2B5EF4-FFF2-40B4-BE49-F238E27FC236}">
                <a16:creationId xmlns:a16="http://schemas.microsoft.com/office/drawing/2014/main" id="{C3A9D4F8-2857-AB32-9EC6-7B5C490F4821}"/>
              </a:ext>
            </a:extLst>
          </p:cNvPr>
          <p:cNvSpPr>
            <a:spLocks noGrp="1"/>
          </p:cNvSpPr>
          <p:nvPr>
            <p:ph type="sldNum" sz="quarter" idx="12"/>
          </p:nvPr>
        </p:nvSpPr>
        <p:spPr/>
        <p:txBody>
          <a:bodyPr/>
          <a:lstStyle/>
          <a:p>
            <a:fld id="{72EBA711-20A3-4436-8007-E9501F854800}" type="slidenum">
              <a:rPr lang="es-ES" smtClean="0"/>
              <a:t>‹Nº›</a:t>
            </a:fld>
            <a:endParaRPr lang="es-ES" dirty="0"/>
          </a:p>
        </p:txBody>
      </p:sp>
    </p:spTree>
    <p:extLst>
      <p:ext uri="{BB962C8B-B14F-4D97-AF65-F5344CB8AC3E}">
        <p14:creationId xmlns:p14="http://schemas.microsoft.com/office/powerpoint/2010/main" val="17582763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6496E6-D226-687C-6098-FD3D2955E5A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C0EE73D0-F377-E3CC-EA08-78375C4CDF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21601C71-6AA6-0C08-4556-469B88F030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0F57712-6E3B-EA8C-5DEF-700E86B25B69}"/>
              </a:ext>
            </a:extLst>
          </p:cNvPr>
          <p:cNvSpPr>
            <a:spLocks noGrp="1"/>
          </p:cNvSpPr>
          <p:nvPr>
            <p:ph type="dt" sz="half" idx="10"/>
          </p:nvPr>
        </p:nvSpPr>
        <p:spPr/>
        <p:txBody>
          <a:bodyPr/>
          <a:lstStyle/>
          <a:p>
            <a:fld id="{82926F56-27A3-4E7B-A559-4D96EFECC4DE}" type="datetimeFigureOut">
              <a:rPr lang="es-ES" smtClean="0"/>
              <a:t>27/07/2026</a:t>
            </a:fld>
            <a:endParaRPr lang="es-ES" dirty="0"/>
          </a:p>
        </p:txBody>
      </p:sp>
      <p:sp>
        <p:nvSpPr>
          <p:cNvPr id="6" name="Marcador de pie de página 5">
            <a:extLst>
              <a:ext uri="{FF2B5EF4-FFF2-40B4-BE49-F238E27FC236}">
                <a16:creationId xmlns:a16="http://schemas.microsoft.com/office/drawing/2014/main" id="{8A04AA3A-7416-5CF1-4BF7-CC9A4F960E74}"/>
              </a:ext>
            </a:extLst>
          </p:cNvPr>
          <p:cNvSpPr>
            <a:spLocks noGrp="1"/>
          </p:cNvSpPr>
          <p:nvPr>
            <p:ph type="ftr" sz="quarter" idx="11"/>
          </p:nvPr>
        </p:nvSpPr>
        <p:spPr/>
        <p:txBody>
          <a:bodyPr/>
          <a:lstStyle/>
          <a:p>
            <a:endParaRPr lang="es-ES" dirty="0"/>
          </a:p>
        </p:txBody>
      </p:sp>
      <p:sp>
        <p:nvSpPr>
          <p:cNvPr id="7" name="Marcador de número de diapositiva 6">
            <a:extLst>
              <a:ext uri="{FF2B5EF4-FFF2-40B4-BE49-F238E27FC236}">
                <a16:creationId xmlns:a16="http://schemas.microsoft.com/office/drawing/2014/main" id="{4D74FAF0-0590-B4AC-DAC3-E41A7F72F1CD}"/>
              </a:ext>
            </a:extLst>
          </p:cNvPr>
          <p:cNvSpPr>
            <a:spLocks noGrp="1"/>
          </p:cNvSpPr>
          <p:nvPr>
            <p:ph type="sldNum" sz="quarter" idx="12"/>
          </p:nvPr>
        </p:nvSpPr>
        <p:spPr/>
        <p:txBody>
          <a:bodyPr/>
          <a:lstStyle/>
          <a:p>
            <a:fld id="{72EBA711-20A3-4436-8007-E9501F854800}" type="slidenum">
              <a:rPr lang="es-ES" smtClean="0"/>
              <a:t>‹Nº›</a:t>
            </a:fld>
            <a:endParaRPr lang="es-ES" dirty="0"/>
          </a:p>
        </p:txBody>
      </p:sp>
    </p:spTree>
    <p:extLst>
      <p:ext uri="{BB962C8B-B14F-4D97-AF65-F5344CB8AC3E}">
        <p14:creationId xmlns:p14="http://schemas.microsoft.com/office/powerpoint/2010/main" val="3371959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625685-9813-C4EE-5A65-3DE8BAE15D9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7B3BD3C0-5EDD-B512-8189-8F68A924F0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dirty="0"/>
          </a:p>
        </p:txBody>
      </p:sp>
      <p:sp>
        <p:nvSpPr>
          <p:cNvPr id="4" name="Marcador de texto 3">
            <a:extLst>
              <a:ext uri="{FF2B5EF4-FFF2-40B4-BE49-F238E27FC236}">
                <a16:creationId xmlns:a16="http://schemas.microsoft.com/office/drawing/2014/main" id="{D145A23B-C6E5-0B38-AF42-8DA97364FF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991E744-8B35-00E2-02A1-B2B657AB3963}"/>
              </a:ext>
            </a:extLst>
          </p:cNvPr>
          <p:cNvSpPr>
            <a:spLocks noGrp="1"/>
          </p:cNvSpPr>
          <p:nvPr>
            <p:ph type="dt" sz="half" idx="10"/>
          </p:nvPr>
        </p:nvSpPr>
        <p:spPr/>
        <p:txBody>
          <a:bodyPr/>
          <a:lstStyle/>
          <a:p>
            <a:fld id="{82926F56-27A3-4E7B-A559-4D96EFECC4DE}" type="datetimeFigureOut">
              <a:rPr lang="es-ES" smtClean="0"/>
              <a:t>27/07/2026</a:t>
            </a:fld>
            <a:endParaRPr lang="es-ES" dirty="0"/>
          </a:p>
        </p:txBody>
      </p:sp>
      <p:sp>
        <p:nvSpPr>
          <p:cNvPr id="6" name="Marcador de pie de página 5">
            <a:extLst>
              <a:ext uri="{FF2B5EF4-FFF2-40B4-BE49-F238E27FC236}">
                <a16:creationId xmlns:a16="http://schemas.microsoft.com/office/drawing/2014/main" id="{C3E64C71-D4DB-B1CE-FE99-9B3ED64DCA0D}"/>
              </a:ext>
            </a:extLst>
          </p:cNvPr>
          <p:cNvSpPr>
            <a:spLocks noGrp="1"/>
          </p:cNvSpPr>
          <p:nvPr>
            <p:ph type="ftr" sz="quarter" idx="11"/>
          </p:nvPr>
        </p:nvSpPr>
        <p:spPr/>
        <p:txBody>
          <a:bodyPr/>
          <a:lstStyle/>
          <a:p>
            <a:endParaRPr lang="es-ES" dirty="0"/>
          </a:p>
        </p:txBody>
      </p:sp>
      <p:sp>
        <p:nvSpPr>
          <p:cNvPr id="7" name="Marcador de número de diapositiva 6">
            <a:extLst>
              <a:ext uri="{FF2B5EF4-FFF2-40B4-BE49-F238E27FC236}">
                <a16:creationId xmlns:a16="http://schemas.microsoft.com/office/drawing/2014/main" id="{57BF006F-AF6A-8BF0-3B77-A98C979BF305}"/>
              </a:ext>
            </a:extLst>
          </p:cNvPr>
          <p:cNvSpPr>
            <a:spLocks noGrp="1"/>
          </p:cNvSpPr>
          <p:nvPr>
            <p:ph type="sldNum" sz="quarter" idx="12"/>
          </p:nvPr>
        </p:nvSpPr>
        <p:spPr/>
        <p:txBody>
          <a:bodyPr/>
          <a:lstStyle/>
          <a:p>
            <a:fld id="{72EBA711-20A3-4436-8007-E9501F854800}" type="slidenum">
              <a:rPr lang="es-ES" smtClean="0"/>
              <a:t>‹Nº›</a:t>
            </a:fld>
            <a:endParaRPr lang="es-ES" dirty="0"/>
          </a:p>
        </p:txBody>
      </p:sp>
    </p:spTree>
    <p:extLst>
      <p:ext uri="{BB962C8B-B14F-4D97-AF65-F5344CB8AC3E}">
        <p14:creationId xmlns:p14="http://schemas.microsoft.com/office/powerpoint/2010/main" val="41269120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A4D35-1942-9821-410B-43FE4F1A20CA}"/>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C5149BF8-8D0E-A353-A029-7B25CEB344D8}"/>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04D9BCBA-FFDE-637A-2337-C43EA2C6C3EF}"/>
              </a:ext>
            </a:extLst>
          </p:cNvPr>
          <p:cNvSpPr>
            <a:spLocks noGrp="1"/>
          </p:cNvSpPr>
          <p:nvPr>
            <p:ph type="dt" sz="half" idx="10"/>
          </p:nvPr>
        </p:nvSpPr>
        <p:spPr/>
        <p:txBody>
          <a:bodyPr/>
          <a:lstStyle/>
          <a:p>
            <a:fld id="{82926F56-27A3-4E7B-A559-4D96EFECC4DE}" type="datetimeFigureOut">
              <a:rPr lang="es-ES" smtClean="0"/>
              <a:t>27/07/2026</a:t>
            </a:fld>
            <a:endParaRPr lang="es-ES" dirty="0"/>
          </a:p>
        </p:txBody>
      </p:sp>
      <p:sp>
        <p:nvSpPr>
          <p:cNvPr id="5" name="Marcador de pie de página 4">
            <a:extLst>
              <a:ext uri="{FF2B5EF4-FFF2-40B4-BE49-F238E27FC236}">
                <a16:creationId xmlns:a16="http://schemas.microsoft.com/office/drawing/2014/main" id="{0838B00F-8FD7-B165-DD41-B8B648CD4CE0}"/>
              </a:ext>
            </a:extLst>
          </p:cNvPr>
          <p:cNvSpPr>
            <a:spLocks noGrp="1"/>
          </p:cNvSpPr>
          <p:nvPr>
            <p:ph type="ftr" sz="quarter" idx="11"/>
          </p:nvPr>
        </p:nvSpPr>
        <p:spPr/>
        <p:txBody>
          <a:bodyPr/>
          <a:lstStyle/>
          <a:p>
            <a:endParaRPr lang="es-ES" dirty="0"/>
          </a:p>
        </p:txBody>
      </p:sp>
      <p:sp>
        <p:nvSpPr>
          <p:cNvPr id="6" name="Marcador de número de diapositiva 5">
            <a:extLst>
              <a:ext uri="{FF2B5EF4-FFF2-40B4-BE49-F238E27FC236}">
                <a16:creationId xmlns:a16="http://schemas.microsoft.com/office/drawing/2014/main" id="{05F979F0-F173-FD7B-77AD-4D594CD23AF2}"/>
              </a:ext>
            </a:extLst>
          </p:cNvPr>
          <p:cNvSpPr>
            <a:spLocks noGrp="1"/>
          </p:cNvSpPr>
          <p:nvPr>
            <p:ph type="sldNum" sz="quarter" idx="12"/>
          </p:nvPr>
        </p:nvSpPr>
        <p:spPr/>
        <p:txBody>
          <a:bodyPr/>
          <a:lstStyle/>
          <a:p>
            <a:fld id="{72EBA711-20A3-4436-8007-E9501F854800}" type="slidenum">
              <a:rPr lang="es-ES" smtClean="0"/>
              <a:t>‹Nº›</a:t>
            </a:fld>
            <a:endParaRPr lang="es-ES" dirty="0"/>
          </a:p>
        </p:txBody>
      </p:sp>
    </p:spTree>
    <p:extLst>
      <p:ext uri="{BB962C8B-B14F-4D97-AF65-F5344CB8AC3E}">
        <p14:creationId xmlns:p14="http://schemas.microsoft.com/office/powerpoint/2010/main" val="4277060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D230481-58C2-60C9-C97F-0DF9F242AC3B}"/>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7B4D9CCA-A4A2-E7FF-F1C3-6DA42102B551}"/>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86EAC9EB-E1CD-B9C8-FF5C-FA51CC061895}"/>
              </a:ext>
            </a:extLst>
          </p:cNvPr>
          <p:cNvSpPr>
            <a:spLocks noGrp="1"/>
          </p:cNvSpPr>
          <p:nvPr>
            <p:ph type="dt" sz="half" idx="10"/>
          </p:nvPr>
        </p:nvSpPr>
        <p:spPr/>
        <p:txBody>
          <a:bodyPr/>
          <a:lstStyle/>
          <a:p>
            <a:fld id="{82926F56-27A3-4E7B-A559-4D96EFECC4DE}" type="datetimeFigureOut">
              <a:rPr lang="es-ES" smtClean="0"/>
              <a:t>27/07/2026</a:t>
            </a:fld>
            <a:endParaRPr lang="es-ES" dirty="0"/>
          </a:p>
        </p:txBody>
      </p:sp>
      <p:sp>
        <p:nvSpPr>
          <p:cNvPr id="5" name="Marcador de pie de página 4">
            <a:extLst>
              <a:ext uri="{FF2B5EF4-FFF2-40B4-BE49-F238E27FC236}">
                <a16:creationId xmlns:a16="http://schemas.microsoft.com/office/drawing/2014/main" id="{C72DD6C1-AEF0-0768-4266-6C22E830937B}"/>
              </a:ext>
            </a:extLst>
          </p:cNvPr>
          <p:cNvSpPr>
            <a:spLocks noGrp="1"/>
          </p:cNvSpPr>
          <p:nvPr>
            <p:ph type="ftr" sz="quarter" idx="11"/>
          </p:nvPr>
        </p:nvSpPr>
        <p:spPr/>
        <p:txBody>
          <a:bodyPr/>
          <a:lstStyle/>
          <a:p>
            <a:endParaRPr lang="es-ES" dirty="0"/>
          </a:p>
        </p:txBody>
      </p:sp>
      <p:sp>
        <p:nvSpPr>
          <p:cNvPr id="6" name="Marcador de número de diapositiva 5">
            <a:extLst>
              <a:ext uri="{FF2B5EF4-FFF2-40B4-BE49-F238E27FC236}">
                <a16:creationId xmlns:a16="http://schemas.microsoft.com/office/drawing/2014/main" id="{1B3A4B4B-D9E3-37F0-DB13-333116211509}"/>
              </a:ext>
            </a:extLst>
          </p:cNvPr>
          <p:cNvSpPr>
            <a:spLocks noGrp="1"/>
          </p:cNvSpPr>
          <p:nvPr>
            <p:ph type="sldNum" sz="quarter" idx="12"/>
          </p:nvPr>
        </p:nvSpPr>
        <p:spPr/>
        <p:txBody>
          <a:bodyPr/>
          <a:lstStyle/>
          <a:p>
            <a:fld id="{72EBA711-20A3-4436-8007-E9501F854800}" type="slidenum">
              <a:rPr lang="es-ES" smtClean="0"/>
              <a:t>‹Nº›</a:t>
            </a:fld>
            <a:endParaRPr lang="es-ES" dirty="0"/>
          </a:p>
        </p:txBody>
      </p:sp>
    </p:spTree>
    <p:extLst>
      <p:ext uri="{BB962C8B-B14F-4D97-AF65-F5344CB8AC3E}">
        <p14:creationId xmlns:p14="http://schemas.microsoft.com/office/powerpoint/2010/main" val="1449601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5FC133EE-D030-85C1-F8EB-6F3097745F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1D07B145-871D-2265-F716-71B5053C34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35B48613-D911-BD55-D121-FDF1794DBB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2926F56-27A3-4E7B-A559-4D96EFECC4DE}" type="datetimeFigureOut">
              <a:rPr lang="es-ES" smtClean="0"/>
              <a:t>27/07/2026</a:t>
            </a:fld>
            <a:endParaRPr lang="es-ES" dirty="0"/>
          </a:p>
        </p:txBody>
      </p:sp>
      <p:sp>
        <p:nvSpPr>
          <p:cNvPr id="5" name="Marcador de pie de página 4">
            <a:extLst>
              <a:ext uri="{FF2B5EF4-FFF2-40B4-BE49-F238E27FC236}">
                <a16:creationId xmlns:a16="http://schemas.microsoft.com/office/drawing/2014/main" id="{20C65DAE-1603-D81D-6344-BA4B37A687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dirty="0"/>
          </a:p>
        </p:txBody>
      </p:sp>
      <p:sp>
        <p:nvSpPr>
          <p:cNvPr id="6" name="Marcador de número de diapositiva 5">
            <a:extLst>
              <a:ext uri="{FF2B5EF4-FFF2-40B4-BE49-F238E27FC236}">
                <a16:creationId xmlns:a16="http://schemas.microsoft.com/office/drawing/2014/main" id="{52FDFD7D-8A2C-683C-B7C2-625D190748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2EBA711-20A3-4436-8007-E9501F854800}" type="slidenum">
              <a:rPr lang="es-ES" smtClean="0"/>
              <a:t>‹Nº›</a:t>
            </a:fld>
            <a:endParaRPr lang="es-ES" dirty="0"/>
          </a:p>
        </p:txBody>
      </p:sp>
    </p:spTree>
    <p:extLst>
      <p:ext uri="{BB962C8B-B14F-4D97-AF65-F5344CB8AC3E}">
        <p14:creationId xmlns:p14="http://schemas.microsoft.com/office/powerpoint/2010/main" val="25547536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learningnetwork.cisco.com/s/ccna-exam-topics"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png"/><Relationship Id="rId2" Type="http://schemas.openxmlformats.org/officeDocument/2006/relationships/image" Target="../media/image6.png"/><Relationship Id="rId16"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5" Type="http://schemas.openxmlformats.org/officeDocument/2006/relationships/image" Target="../media/image3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 Id="rId14" Type="http://schemas.openxmlformats.org/officeDocument/2006/relationships/image" Target="../media/image32.png"/></Relationships>
</file>

<file path=ppt/slides/_rels/slide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8.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6.png"/></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1.png"/><Relationship Id="rId7" Type="http://schemas.openxmlformats.org/officeDocument/2006/relationships/image" Target="../media/image29.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32.png"/><Relationship Id="rId10" Type="http://schemas.openxmlformats.org/officeDocument/2006/relationships/image" Target="../media/image10.png"/><Relationship Id="rId4" Type="http://schemas.openxmlformats.org/officeDocument/2006/relationships/image" Target="../media/image31.png"/><Relationship Id="rId9" Type="http://schemas.openxmlformats.org/officeDocument/2006/relationships/image" Target="../media/image20.png"/></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41.jpg"/><Relationship Id="rId3" Type="http://schemas.openxmlformats.org/officeDocument/2006/relationships/image" Target="../media/image9.png"/><Relationship Id="rId7" Type="http://schemas.openxmlformats.org/officeDocument/2006/relationships/image" Target="../media/image40.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5.png"/><Relationship Id="rId10" Type="http://schemas.openxmlformats.org/officeDocument/2006/relationships/image" Target="../media/image43.png"/><Relationship Id="rId4" Type="http://schemas.openxmlformats.org/officeDocument/2006/relationships/image" Target="../media/image10.png"/><Relationship Id="rId9" Type="http://schemas.openxmlformats.org/officeDocument/2006/relationships/image" Target="../media/image42.png"/></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1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47.pn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52.png"/><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2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26.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27.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image" Target="../media/image580.png"/></Relationships>
</file>

<file path=ppt/slides/_rels/slide28.xml.rels><?xml version="1.0" encoding="UTF-8" standalone="yes"?>
<Relationships xmlns="http://schemas.openxmlformats.org/package/2006/relationships"><Relationship Id="rId3" Type="http://schemas.openxmlformats.org/officeDocument/2006/relationships/customXml" Target="../ink/ink2.xml"/><Relationship Id="rId7" Type="http://schemas.openxmlformats.org/officeDocument/2006/relationships/image" Target="../media/image29.png"/><Relationship Id="rId2"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image" Target="../media/image600.png"/><Relationship Id="rId5" Type="http://schemas.openxmlformats.org/officeDocument/2006/relationships/customXml" Target="../ink/ink3.xml"/><Relationship Id="rId4" Type="http://schemas.openxmlformats.org/officeDocument/2006/relationships/image" Target="../media/image590.png"/></Relationships>
</file>

<file path=ppt/slides/_rels/slide29.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13.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69.png"/><Relationship Id="rId11" Type="http://schemas.openxmlformats.org/officeDocument/2006/relationships/image" Target="../media/image74.png"/><Relationship Id="rId5" Type="http://schemas.openxmlformats.org/officeDocument/2006/relationships/image" Target="../media/image68.png"/><Relationship Id="rId10" Type="http://schemas.openxmlformats.org/officeDocument/2006/relationships/image" Target="../media/image73.png"/><Relationship Id="rId4" Type="http://schemas.openxmlformats.org/officeDocument/2006/relationships/image" Target="../media/image67.png"/><Relationship Id="rId9" Type="http://schemas.openxmlformats.org/officeDocument/2006/relationships/image" Target="../media/image72.png"/></Relationships>
</file>

<file path=ppt/slides/_rels/slide3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3.png"/><Relationship Id="rId4" Type="http://schemas.openxmlformats.org/officeDocument/2006/relationships/image" Target="../media/image78.png"/></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3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79.png"/><Relationship Id="rId1" Type="http://schemas.openxmlformats.org/officeDocument/2006/relationships/slideLayout" Target="../slideLayouts/slideLayout2.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81.png"/><Relationship Id="rId5" Type="http://schemas.openxmlformats.org/officeDocument/2006/relationships/image" Target="../media/image79.png"/><Relationship Id="rId4" Type="http://schemas.openxmlformats.org/officeDocument/2006/relationships/image" Target="../media/image85.svg"/></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86.svg"/><Relationship Id="rId2" Type="http://schemas.openxmlformats.org/officeDocument/2006/relationships/image" Target="../media/image80.png"/><Relationship Id="rId1" Type="http://schemas.openxmlformats.org/officeDocument/2006/relationships/slideLayout" Target="../slideLayouts/slideLayout2.xml"/><Relationship Id="rId6" Type="http://schemas.openxmlformats.org/officeDocument/2006/relationships/image" Target="../media/image85.svg"/><Relationship Id="rId5" Type="http://schemas.openxmlformats.org/officeDocument/2006/relationships/image" Target="../media/image10.png"/><Relationship Id="rId4" Type="http://schemas.openxmlformats.org/officeDocument/2006/relationships/image" Target="../media/image13.png"/></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2.xml"/><Relationship Id="rId6" Type="http://schemas.openxmlformats.org/officeDocument/2006/relationships/image" Target="../media/image86.svg"/><Relationship Id="rId5" Type="http://schemas.openxmlformats.org/officeDocument/2006/relationships/image" Target="../media/image85.svg"/><Relationship Id="rId4" Type="http://schemas.openxmlformats.org/officeDocument/2006/relationships/image" Target="../media/image10.png"/></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8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37.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87.png"/><Relationship Id="rId7" Type="http://schemas.openxmlformats.org/officeDocument/2006/relationships/image" Target="../media/image89.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6.svg"/><Relationship Id="rId5" Type="http://schemas.openxmlformats.org/officeDocument/2006/relationships/image" Target="../media/image10.png"/><Relationship Id="rId10" Type="http://schemas.openxmlformats.org/officeDocument/2006/relationships/image" Target="../media/image11.png"/><Relationship Id="rId4" Type="http://schemas.openxmlformats.org/officeDocument/2006/relationships/image" Target="../media/image13.png"/><Relationship Id="rId9" Type="http://schemas.openxmlformats.org/officeDocument/2006/relationships/image" Target="../media/image91.png"/></Relationships>
</file>

<file path=ppt/slides/_rels/slide38.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8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13.png"/></Relationships>
</file>

<file path=ppt/slides/_rels/slide39.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93.png"/><Relationship Id="rId7" Type="http://schemas.openxmlformats.org/officeDocument/2006/relationships/customXml" Target="../ink/ink4.xml"/><Relationship Id="rId2" Type="http://schemas.openxmlformats.org/officeDocument/2006/relationships/image" Target="../media/image87.png"/><Relationship Id="rId1" Type="http://schemas.openxmlformats.org/officeDocument/2006/relationships/slideLayout" Target="../slideLayouts/slideLayout2.xml"/><Relationship Id="rId6" Type="http://schemas.openxmlformats.org/officeDocument/2006/relationships/image" Target="../media/image86.svg"/><Relationship Id="rId5" Type="http://schemas.openxmlformats.org/officeDocument/2006/relationships/image" Target="../media/image10.png"/><Relationship Id="rId4" Type="http://schemas.openxmlformats.org/officeDocument/2006/relationships/image" Target="../media/image13.png"/><Relationship Id="rId9" Type="http://schemas.openxmlformats.org/officeDocument/2006/relationships/image" Target="../media/image11.png"/></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87.png"/><Relationship Id="rId1" Type="http://schemas.openxmlformats.org/officeDocument/2006/relationships/slideLayout" Target="../slideLayouts/slideLayout2.xml"/><Relationship Id="rId4" Type="http://schemas.openxmlformats.org/officeDocument/2006/relationships/image" Target="../media/image95.png"/></Relationships>
</file>

<file path=ppt/slides/_rels/slide41.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96.png"/><Relationship Id="rId1" Type="http://schemas.openxmlformats.org/officeDocument/2006/relationships/slideLayout" Target="../slideLayouts/slideLayout2.xml"/><Relationship Id="rId4" Type="http://schemas.openxmlformats.org/officeDocument/2006/relationships/image" Target="../media/image9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10AB7E9-4C25-321A-8368-BDDBBB472E90}"/>
              </a:ext>
            </a:extLst>
          </p:cNvPr>
          <p:cNvSpPr/>
          <p:nvPr/>
        </p:nvSpPr>
        <p:spPr>
          <a:xfrm>
            <a:off x="4805011" y="63591"/>
            <a:ext cx="2037545" cy="923330"/>
          </a:xfrm>
          <a:prstGeom prst="rect">
            <a:avLst/>
          </a:prstGeom>
          <a:noFill/>
        </p:spPr>
        <p:txBody>
          <a:bodyPr wrap="none" lIns="91440" tIns="45720" rIns="91440" bIns="45720">
            <a:spAutoFit/>
          </a:bodyPr>
          <a:lstStyle/>
          <a:p>
            <a:pPr algn="ctr"/>
            <a:r>
              <a:rPr lang="es-ES" sz="5400" b="0" cap="none" spc="0" dirty="0">
                <a:ln w="0"/>
                <a:solidFill>
                  <a:schemeClr val="tx1"/>
                </a:solidFill>
                <a:effectLst>
                  <a:outerShdw blurRad="38100" dist="19050" dir="2700000" algn="tl" rotWithShape="0">
                    <a:schemeClr val="dk1">
                      <a:alpha val="40000"/>
                    </a:schemeClr>
                  </a:outerShdw>
                </a:effectLst>
              </a:rPr>
              <a:t>CCNA</a:t>
            </a:r>
          </a:p>
        </p:txBody>
      </p:sp>
      <p:sp>
        <p:nvSpPr>
          <p:cNvPr id="6" name="CuadroTexto 5">
            <a:extLst>
              <a:ext uri="{FF2B5EF4-FFF2-40B4-BE49-F238E27FC236}">
                <a16:creationId xmlns:a16="http://schemas.microsoft.com/office/drawing/2014/main" id="{390EB1AB-E884-C229-467F-EE354DBA6700}"/>
              </a:ext>
            </a:extLst>
          </p:cNvPr>
          <p:cNvSpPr txBox="1"/>
          <p:nvPr/>
        </p:nvSpPr>
        <p:spPr>
          <a:xfrm>
            <a:off x="293166" y="1179646"/>
            <a:ext cx="11605667" cy="5355312"/>
          </a:xfrm>
          <a:prstGeom prst="rect">
            <a:avLst/>
          </a:prstGeom>
          <a:noFill/>
        </p:spPr>
        <p:txBody>
          <a:bodyPr wrap="square" rtlCol="0">
            <a:spAutoFit/>
          </a:bodyPr>
          <a:lstStyle/>
          <a:p>
            <a:r>
              <a:rPr lang="es-ES" b="1" dirty="0"/>
              <a:t>¿Qué es CCNA? (Certified Cisco Networking Associate)</a:t>
            </a:r>
            <a:br>
              <a:rPr lang="es-ES" dirty="0"/>
            </a:br>
            <a:r>
              <a:rPr lang="es-ES" dirty="0"/>
              <a:t>CCNA es una certificación internacional otorgada por la empresa </a:t>
            </a:r>
            <a:r>
              <a:rPr lang="es-ES" b="1" dirty="0"/>
              <a:t>Cisco</a:t>
            </a:r>
            <a:r>
              <a:rPr lang="es-ES" dirty="0"/>
              <a:t>, líder mundial en redes, ciberseguridad y telecomunicaciones.</a:t>
            </a:r>
          </a:p>
          <a:p>
            <a:r>
              <a:rPr lang="es-ES" b="1" dirty="0"/>
              <a:t>¿Qué certifica CCNA?</a:t>
            </a:r>
            <a:br>
              <a:rPr lang="es-ES" dirty="0"/>
            </a:br>
            <a:r>
              <a:rPr lang="es-ES" dirty="0"/>
              <a:t>Demuestra que un profesional tiene un conocimiento sólido en los fundamentos y la lógica de la red, abarcando la creación, conexión, configuración, soporte, seguridad y automatización de los equipos que la conforman.</a:t>
            </a:r>
          </a:p>
          <a:p>
            <a:endParaRPr lang="es-ES" dirty="0"/>
          </a:p>
          <a:p>
            <a:r>
              <a:rPr lang="es-ES" b="1" dirty="0"/>
              <a:t>¿Qué necesitamos para empezar este curso rápido?</a:t>
            </a:r>
          </a:p>
          <a:p>
            <a:r>
              <a:rPr lang="es-ES" dirty="0"/>
              <a:t>Programas: Packet Tracer, Wireshark y GNS3 (Opcional)</a:t>
            </a:r>
          </a:p>
          <a:p>
            <a:r>
              <a:rPr lang="es-ES" dirty="0"/>
              <a:t>Herramientas: Hoja y papel o cualquier herramienta/software para tomar apuntes organizados como por ejemplo: Microsoft Whiteboard, Microsoft One Note, Word</a:t>
            </a:r>
          </a:p>
          <a:p>
            <a:endParaRPr lang="es-ES" dirty="0"/>
          </a:p>
          <a:p>
            <a:r>
              <a:rPr lang="es-ES" b="1" dirty="0"/>
              <a:t>¿Cómo sería el plan de estudio para certificarnos?</a:t>
            </a:r>
            <a:br>
              <a:rPr lang="es-ES" dirty="0"/>
            </a:br>
            <a:r>
              <a:rPr lang="es-ES" dirty="0"/>
              <a:t>-Necesitamos dominar la teoría, ya que en CCNA no hay contenido de relleno. Comprender los conceptos teóricos es lo que nos permite entender la práctica, Además, nos familiariza con los pilares clave que detallaremos en este curso: TCP/IP, Protocolos, Routing, Switching, Ethernet, Servicios IP, Cableado y Topología.</a:t>
            </a:r>
          </a:p>
          <a:p>
            <a:r>
              <a:rPr lang="es-ES" dirty="0"/>
              <a:t>-Practicar con muchos laboratorios en el programa Packet Tracer</a:t>
            </a:r>
          </a:p>
          <a:p>
            <a:endParaRPr lang="es-ES" dirty="0"/>
          </a:p>
          <a:p>
            <a:r>
              <a:rPr lang="es-ES" dirty="0"/>
              <a:t>Temarios del examen:  </a:t>
            </a:r>
            <a:r>
              <a:rPr lang="es-ES" dirty="0">
                <a:hlinkClick r:id="rId2"/>
              </a:rPr>
              <a:t>https://learningnetwork.cisco.com/s/ccna-exam-topics</a:t>
            </a:r>
            <a:endParaRPr lang="es-ES" dirty="0"/>
          </a:p>
        </p:txBody>
      </p:sp>
    </p:spTree>
    <p:extLst>
      <p:ext uri="{BB962C8B-B14F-4D97-AF65-F5344CB8AC3E}">
        <p14:creationId xmlns:p14="http://schemas.microsoft.com/office/powerpoint/2010/main" val="5675879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9DD1814E-0BC2-0D7B-6A57-ACD3D76CCCE0}"/>
              </a:ext>
            </a:extLst>
          </p:cNvPr>
          <p:cNvSpPr/>
          <p:nvPr/>
        </p:nvSpPr>
        <p:spPr>
          <a:xfrm>
            <a:off x="2095046" y="0"/>
            <a:ext cx="7192225" cy="830997"/>
          </a:xfrm>
          <a:prstGeom prst="rect">
            <a:avLst/>
          </a:prstGeom>
          <a:noFill/>
        </p:spPr>
        <p:txBody>
          <a:bodyPr wrap="none" lIns="91440" tIns="45720" rIns="91440" bIns="45720">
            <a:spAutoFit/>
          </a:bodyPr>
          <a:lstStyle/>
          <a:p>
            <a:pPr algn="ctr"/>
            <a:r>
              <a:rPr lang="es-ES" sz="4800" b="0" cap="none" spc="0" dirty="0">
                <a:ln w="0"/>
                <a:solidFill>
                  <a:schemeClr val="tx1"/>
                </a:solidFill>
                <a:effectLst>
                  <a:outerShdw blurRad="38100" dist="19050" dir="2700000" algn="tl" rotWithShape="0">
                    <a:schemeClr val="dk1">
                      <a:alpha val="40000"/>
                    </a:schemeClr>
                  </a:outerShdw>
                </a:effectLst>
              </a:rPr>
              <a:t>1. Introducción a las redes</a:t>
            </a:r>
          </a:p>
        </p:txBody>
      </p:sp>
      <p:sp>
        <p:nvSpPr>
          <p:cNvPr id="5" name="CuadroTexto 4">
            <a:extLst>
              <a:ext uri="{FF2B5EF4-FFF2-40B4-BE49-F238E27FC236}">
                <a16:creationId xmlns:a16="http://schemas.microsoft.com/office/drawing/2014/main" id="{AE5073FF-4ACE-293A-4F21-C3B0309C1856}"/>
              </a:ext>
            </a:extLst>
          </p:cNvPr>
          <p:cNvSpPr txBox="1"/>
          <p:nvPr/>
        </p:nvSpPr>
        <p:spPr>
          <a:xfrm>
            <a:off x="379255" y="733246"/>
            <a:ext cx="11433489" cy="6340197"/>
          </a:xfrm>
          <a:prstGeom prst="rect">
            <a:avLst/>
          </a:prstGeom>
          <a:noFill/>
        </p:spPr>
        <p:txBody>
          <a:bodyPr wrap="square" rtlCol="0">
            <a:spAutoFit/>
          </a:bodyPr>
          <a:lstStyle/>
          <a:p>
            <a:r>
              <a:rPr lang="es-ES" sz="1400" b="1" dirty="0"/>
              <a:t>¿ Que es una red?</a:t>
            </a:r>
          </a:p>
          <a:p>
            <a:r>
              <a:rPr lang="es-ES" sz="1400" dirty="0"/>
              <a:t>Una red es el conjunto de dispositivos informáticos que se comunican entre si, INTERNET es la red mas grande.</a:t>
            </a:r>
          </a:p>
          <a:p>
            <a:r>
              <a:rPr lang="es-ES" sz="1400" dirty="0"/>
              <a:t>Tipos de red: LAN, WAN, etc.</a:t>
            </a:r>
          </a:p>
          <a:p>
            <a:endParaRPr lang="es-ES" sz="1400" b="1" dirty="0"/>
          </a:p>
          <a:p>
            <a:r>
              <a:rPr lang="es-ES" sz="1400" b="1" dirty="0"/>
              <a:t>¿Cómo y con que funciona esta comunicación?:</a:t>
            </a:r>
          </a:p>
          <a:p>
            <a:endParaRPr lang="es-ES" sz="1400" b="1" dirty="0"/>
          </a:p>
          <a:p>
            <a:r>
              <a:rPr lang="es-ES" sz="1400" b="1" dirty="0"/>
              <a:t>Los Dispositivos que participan: </a:t>
            </a:r>
            <a:r>
              <a:rPr lang="es-ES" sz="1400" dirty="0"/>
              <a:t>Dispositivos finales y Dispositivos intermediarios.</a:t>
            </a:r>
          </a:p>
          <a:p>
            <a:r>
              <a:rPr lang="es-ES" sz="1400" dirty="0"/>
              <a:t>Ej Dispositivos Finales: PC, Servidor, Teléfono IP, Camara,</a:t>
            </a:r>
            <a:br>
              <a:rPr lang="es-ES" sz="1400" dirty="0"/>
            </a:br>
            <a:r>
              <a:rPr lang="es-ES" sz="1400" dirty="0"/>
              <a:t>Ej Dispositivos Intermediarios: Routers, Switches, Firewalls.</a:t>
            </a:r>
          </a:p>
          <a:p>
            <a:endParaRPr lang="es-ES" sz="1400" dirty="0"/>
          </a:p>
          <a:p>
            <a:r>
              <a:rPr lang="es-ES" sz="1400" b="1" dirty="0"/>
              <a:t>El medio que usa: </a:t>
            </a:r>
            <a:r>
              <a:rPr lang="es-ES" sz="1400" dirty="0"/>
              <a:t>Cableado, Fibra Óptica y Ondas de Radio asociados a estándares</a:t>
            </a:r>
          </a:p>
          <a:p>
            <a:r>
              <a:rPr lang="es-ES" sz="1400" dirty="0"/>
              <a:t>EJ: Estándar Ethernet 802.3 para conexiones por cable, Estándar IEEE 802.11 para Wi Fi , Etc</a:t>
            </a:r>
          </a:p>
          <a:p>
            <a:endParaRPr lang="es-ES" sz="1400" dirty="0"/>
          </a:p>
          <a:p>
            <a:r>
              <a:rPr lang="es-ES" sz="1400" b="1" dirty="0"/>
              <a:t>El idioma que usa: </a:t>
            </a:r>
            <a:r>
              <a:rPr lang="es-ES" sz="1400" dirty="0"/>
              <a:t>Tecnologías, estándares y protocolos de comunicación, de seguridad, de gestion y un modelo global por capas</a:t>
            </a:r>
          </a:p>
          <a:p>
            <a:r>
              <a:rPr lang="es-ES" sz="1400" dirty="0"/>
              <a:t>Ej: Modelo TCP/IP , Modelo OSI, Protocolos IP, TCP, UDP, ICMP, ARP, DNS, DHCP, HTTP, Etc.</a:t>
            </a:r>
          </a:p>
          <a:p>
            <a:endParaRPr lang="es-ES" sz="1400" dirty="0"/>
          </a:p>
          <a:p>
            <a:r>
              <a:rPr lang="es-ES" sz="1400" b="1" dirty="0"/>
              <a:t>El mensaje: PDUs (Protocol Data Unit): </a:t>
            </a:r>
            <a:r>
              <a:rPr lang="es-ES" sz="1400" dirty="0"/>
              <a:t>Bits, Tramas, Paquetes, Segmentos y Datos y sus procesos</a:t>
            </a:r>
            <a:br>
              <a:rPr lang="es-ES" sz="1400" dirty="0"/>
            </a:br>
            <a:r>
              <a:rPr lang="es-ES" sz="1400" dirty="0"/>
              <a:t>Ejemplo: Encapsulamiento, interacción entre mismas capas o capa adyacente del modelo.</a:t>
            </a:r>
          </a:p>
          <a:p>
            <a:endParaRPr lang="es-ES" sz="1400" dirty="0"/>
          </a:p>
          <a:p>
            <a:r>
              <a:rPr lang="es-ES" sz="1400" b="1" dirty="0"/>
              <a:t>¿Cómo se comunican los dispositivos informáticos ej: (Cliente/Servidor)?</a:t>
            </a:r>
          </a:p>
          <a:p>
            <a:r>
              <a:rPr lang="es-ES" sz="1400" dirty="0"/>
              <a:t>Encapsulamiento, HTTP</a:t>
            </a:r>
          </a:p>
          <a:p>
            <a:endParaRPr lang="es-ES" sz="1400" b="1" dirty="0"/>
          </a:p>
          <a:p>
            <a:r>
              <a:rPr lang="es-ES" sz="1400" b="1" dirty="0"/>
              <a:t>Ethernet y ¿Cómo funciona una LAN?</a:t>
            </a:r>
          </a:p>
          <a:p>
            <a:r>
              <a:rPr lang="es-ES" sz="1400" dirty="0"/>
              <a:t>Trama Ethernet, Half y Full Duplex</a:t>
            </a:r>
          </a:p>
          <a:p>
            <a:endParaRPr lang="es-ES" sz="1400" b="1" dirty="0"/>
          </a:p>
          <a:p>
            <a:r>
              <a:rPr lang="es-ES" sz="1400" b="1" dirty="0"/>
              <a:t>WANs y Routing IP</a:t>
            </a:r>
          </a:p>
          <a:p>
            <a:r>
              <a:rPr lang="es-ES" sz="1400" dirty="0"/>
              <a:t>IP, Ethernet WAN, Serial, DNS, ARP, ICMP</a:t>
            </a:r>
          </a:p>
          <a:p>
            <a:endParaRPr lang="es-ES" sz="1400" b="1" dirty="0"/>
          </a:p>
          <a:p>
            <a:endParaRPr lang="es-ES" sz="1400" dirty="0"/>
          </a:p>
        </p:txBody>
      </p:sp>
    </p:spTree>
    <p:extLst>
      <p:ext uri="{BB962C8B-B14F-4D97-AF65-F5344CB8AC3E}">
        <p14:creationId xmlns:p14="http://schemas.microsoft.com/office/powerpoint/2010/main" val="849843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85B8256-BB81-19C9-B131-B429A179A336}"/>
              </a:ext>
            </a:extLst>
          </p:cNvPr>
          <p:cNvSpPr txBox="1"/>
          <p:nvPr/>
        </p:nvSpPr>
        <p:spPr>
          <a:xfrm>
            <a:off x="2711405" y="52503"/>
            <a:ext cx="6780636" cy="1015663"/>
          </a:xfrm>
          <a:prstGeom prst="rect">
            <a:avLst/>
          </a:prstGeom>
          <a:noFill/>
        </p:spPr>
        <p:txBody>
          <a:bodyPr wrap="square">
            <a:spAutoFit/>
          </a:bodyPr>
          <a:lstStyle/>
          <a:p>
            <a:pPr algn="ctr"/>
            <a:r>
              <a:rPr lang="es-ES" b="1" dirty="0"/>
              <a:t>¿ Que es una red?</a:t>
            </a:r>
          </a:p>
          <a:p>
            <a:r>
              <a:rPr lang="es-ES" sz="1400" dirty="0"/>
              <a:t>Una red es el conjunto de dispositivos informáticos que se comunican entre si.</a:t>
            </a:r>
          </a:p>
          <a:p>
            <a:r>
              <a:rPr lang="es-ES" sz="1400" dirty="0"/>
              <a:t>Según su alcance podemos clasificar los tipos de redes, por ejemplo, una red </a:t>
            </a:r>
            <a:r>
              <a:rPr lang="es-ES" sz="1400" b="1" dirty="0"/>
              <a:t>LAN</a:t>
            </a:r>
            <a:r>
              <a:rPr lang="es-ES" sz="1400" dirty="0"/>
              <a:t>, </a:t>
            </a:r>
            <a:r>
              <a:rPr lang="es-ES" sz="1400" b="1" dirty="0"/>
              <a:t>VLAN</a:t>
            </a:r>
            <a:r>
              <a:rPr lang="es-ES" sz="1400" dirty="0"/>
              <a:t>, una </a:t>
            </a:r>
            <a:r>
              <a:rPr lang="es-ES" sz="1400" b="1" dirty="0"/>
              <a:t>WLAN</a:t>
            </a:r>
            <a:r>
              <a:rPr lang="es-ES" sz="1400" dirty="0"/>
              <a:t> o una </a:t>
            </a:r>
            <a:r>
              <a:rPr lang="es-ES" sz="1400" b="1" dirty="0"/>
              <a:t>WAN</a:t>
            </a:r>
            <a:r>
              <a:rPr lang="es-ES" sz="1400" dirty="0"/>
              <a:t>.</a:t>
            </a:r>
          </a:p>
        </p:txBody>
      </p:sp>
      <p:pic>
        <p:nvPicPr>
          <p:cNvPr id="37" name="Imagen 36">
            <a:extLst>
              <a:ext uri="{FF2B5EF4-FFF2-40B4-BE49-F238E27FC236}">
                <a16:creationId xmlns:a16="http://schemas.microsoft.com/office/drawing/2014/main" id="{67D886F1-835B-DD55-78C6-6C90AB5402A4}"/>
              </a:ext>
            </a:extLst>
          </p:cNvPr>
          <p:cNvPicPr>
            <a:picLocks noChangeAspect="1"/>
          </p:cNvPicPr>
          <p:nvPr/>
        </p:nvPicPr>
        <p:blipFill>
          <a:blip r:embed="rId2"/>
          <a:stretch>
            <a:fillRect/>
          </a:stretch>
        </p:blipFill>
        <p:spPr>
          <a:xfrm>
            <a:off x="451463" y="1010808"/>
            <a:ext cx="3950468" cy="2633645"/>
          </a:xfrm>
          <a:prstGeom prst="rect">
            <a:avLst/>
          </a:prstGeom>
        </p:spPr>
      </p:pic>
      <p:sp>
        <p:nvSpPr>
          <p:cNvPr id="39" name="CuadroTexto 38">
            <a:extLst>
              <a:ext uri="{FF2B5EF4-FFF2-40B4-BE49-F238E27FC236}">
                <a16:creationId xmlns:a16="http://schemas.microsoft.com/office/drawing/2014/main" id="{CD9BEDC9-CB9A-0DE6-82BE-FA8C2B485248}"/>
              </a:ext>
            </a:extLst>
          </p:cNvPr>
          <p:cNvSpPr txBox="1"/>
          <p:nvPr/>
        </p:nvSpPr>
        <p:spPr>
          <a:xfrm>
            <a:off x="6628897" y="2959214"/>
            <a:ext cx="5726289" cy="553998"/>
          </a:xfrm>
          <a:prstGeom prst="rect">
            <a:avLst/>
          </a:prstGeom>
          <a:noFill/>
        </p:spPr>
        <p:txBody>
          <a:bodyPr wrap="square">
            <a:spAutoFit/>
          </a:bodyPr>
          <a:lstStyle/>
          <a:p>
            <a:r>
              <a:rPr lang="es-ES" sz="1100" b="1" u="none" strike="noStrike" dirty="0">
                <a:effectLst/>
                <a:latin typeface="Google Sans"/>
              </a:rPr>
              <a:t>LAN (Red de Área Local):</a:t>
            </a:r>
            <a:r>
              <a:rPr lang="es-ES" sz="1600" dirty="0"/>
              <a:t> </a:t>
            </a:r>
            <a:r>
              <a:rPr lang="es-ES" sz="1400" dirty="0"/>
              <a:t>Interconecta equipos en una misma ubicación, como una casa o una oficina, usando cables Ethernet o Wi-Fi.</a:t>
            </a:r>
            <a:endParaRPr lang="es-ES" sz="1600" dirty="0"/>
          </a:p>
        </p:txBody>
      </p:sp>
      <p:sp>
        <p:nvSpPr>
          <p:cNvPr id="41" name="CuadroTexto 40">
            <a:extLst>
              <a:ext uri="{FF2B5EF4-FFF2-40B4-BE49-F238E27FC236}">
                <a16:creationId xmlns:a16="http://schemas.microsoft.com/office/drawing/2014/main" id="{BED4ABEC-0F0F-0232-2102-26E3C7810FA2}"/>
              </a:ext>
            </a:extLst>
          </p:cNvPr>
          <p:cNvSpPr txBox="1"/>
          <p:nvPr/>
        </p:nvSpPr>
        <p:spPr>
          <a:xfrm>
            <a:off x="35563" y="2959214"/>
            <a:ext cx="6097162" cy="769441"/>
          </a:xfrm>
          <a:prstGeom prst="rect">
            <a:avLst/>
          </a:prstGeom>
          <a:noFill/>
        </p:spPr>
        <p:txBody>
          <a:bodyPr wrap="square">
            <a:spAutoFit/>
          </a:bodyPr>
          <a:lstStyle/>
          <a:p>
            <a:r>
              <a:rPr lang="es-ES" sz="1100" b="1" u="none" strike="noStrike" dirty="0">
                <a:effectLst/>
                <a:latin typeface="Google Sans"/>
              </a:rPr>
              <a:t>WAN (Red de Área Amplia):</a:t>
            </a:r>
            <a:r>
              <a:rPr lang="es-ES" sz="1600" dirty="0"/>
              <a:t> </a:t>
            </a:r>
            <a:r>
              <a:rPr lang="es-ES" sz="1400" dirty="0"/>
              <a:t>Abarca extensiones geográficas enormes, desde países hasta continentes enteros. Internet es, en esencia, la red WAN más grande del mundo.</a:t>
            </a:r>
            <a:endParaRPr lang="es-ES" sz="1600" dirty="0"/>
          </a:p>
        </p:txBody>
      </p:sp>
      <p:pic>
        <p:nvPicPr>
          <p:cNvPr id="3" name="Imagen 2">
            <a:extLst>
              <a:ext uri="{FF2B5EF4-FFF2-40B4-BE49-F238E27FC236}">
                <a16:creationId xmlns:a16="http://schemas.microsoft.com/office/drawing/2014/main" id="{89D7EF09-B05C-368B-003D-4B636A0FA518}"/>
              </a:ext>
            </a:extLst>
          </p:cNvPr>
          <p:cNvPicPr>
            <a:picLocks noChangeAspect="1"/>
          </p:cNvPicPr>
          <p:nvPr/>
        </p:nvPicPr>
        <p:blipFill>
          <a:blip r:embed="rId3"/>
          <a:stretch>
            <a:fillRect/>
          </a:stretch>
        </p:blipFill>
        <p:spPr>
          <a:xfrm>
            <a:off x="758358" y="3792239"/>
            <a:ext cx="3336678" cy="1929574"/>
          </a:xfrm>
          <a:prstGeom prst="rect">
            <a:avLst/>
          </a:prstGeom>
        </p:spPr>
      </p:pic>
      <p:sp>
        <p:nvSpPr>
          <p:cNvPr id="6" name="CuadroTexto 5">
            <a:extLst>
              <a:ext uri="{FF2B5EF4-FFF2-40B4-BE49-F238E27FC236}">
                <a16:creationId xmlns:a16="http://schemas.microsoft.com/office/drawing/2014/main" id="{1FD2A613-E178-D900-8693-35738A7018FD}"/>
              </a:ext>
            </a:extLst>
          </p:cNvPr>
          <p:cNvSpPr txBox="1"/>
          <p:nvPr/>
        </p:nvSpPr>
        <p:spPr>
          <a:xfrm>
            <a:off x="140265" y="5841484"/>
            <a:ext cx="5346135" cy="738664"/>
          </a:xfrm>
          <a:prstGeom prst="rect">
            <a:avLst/>
          </a:prstGeom>
          <a:noFill/>
        </p:spPr>
        <p:txBody>
          <a:bodyPr wrap="square">
            <a:spAutoFit/>
          </a:bodyPr>
          <a:lstStyle/>
          <a:p>
            <a:r>
              <a:rPr lang="es-ES" sz="1100" b="1" dirty="0">
                <a:latin typeface="Google Sans"/>
              </a:rPr>
              <a:t>VLAN (Red de Area Local Virtual) : </a:t>
            </a:r>
            <a:r>
              <a:rPr lang="es-ES" sz="1400" dirty="0"/>
              <a:t>es una tecnología de red que permite dividir una red física real en múltiples redes lógicas independientes.</a:t>
            </a:r>
          </a:p>
        </p:txBody>
      </p:sp>
      <p:sp>
        <p:nvSpPr>
          <p:cNvPr id="8" name="CuadroTexto 7">
            <a:extLst>
              <a:ext uri="{FF2B5EF4-FFF2-40B4-BE49-F238E27FC236}">
                <a16:creationId xmlns:a16="http://schemas.microsoft.com/office/drawing/2014/main" id="{226AEDBE-4E0C-36E1-2361-D101759B6FFF}"/>
              </a:ext>
            </a:extLst>
          </p:cNvPr>
          <p:cNvSpPr txBox="1"/>
          <p:nvPr/>
        </p:nvSpPr>
        <p:spPr>
          <a:xfrm>
            <a:off x="-575861" y="0"/>
            <a:ext cx="3591287" cy="584775"/>
          </a:xfrm>
          <a:prstGeom prst="rect">
            <a:avLst/>
          </a:prstGeom>
          <a:noFill/>
        </p:spPr>
        <p:txBody>
          <a:bodyPr wrap="square">
            <a:spAutoFit/>
          </a:bodyPr>
          <a:lstStyle/>
          <a:p>
            <a:pPr marL="342900" indent="-342900" algn="ctr">
              <a:buAutoNum type="arabicPeriod"/>
            </a:pPr>
            <a:r>
              <a:rPr lang="es-ES" sz="1600" b="0" cap="none" spc="0" dirty="0">
                <a:ln w="0"/>
                <a:solidFill>
                  <a:schemeClr val="tx1"/>
                </a:solidFill>
                <a:effectLst>
                  <a:outerShdw blurRad="38100" dist="19050" dir="2700000" algn="tl" rotWithShape="0">
                    <a:schemeClr val="dk1">
                      <a:alpha val="40000"/>
                    </a:schemeClr>
                  </a:outerShdw>
                </a:effectLst>
              </a:rPr>
              <a:t>Introducción a las redes</a:t>
            </a:r>
          </a:p>
          <a:p>
            <a:pPr algn="ctr"/>
            <a:r>
              <a:rPr lang="es-ES" sz="1600" b="0" cap="none" spc="0" dirty="0">
                <a:ln w="0"/>
                <a:solidFill>
                  <a:schemeClr val="tx1"/>
                </a:solidFill>
                <a:effectLst>
                  <a:outerShdw blurRad="38100" dist="19050" dir="2700000" algn="tl" rotWithShape="0">
                    <a:schemeClr val="dk1">
                      <a:alpha val="40000"/>
                    </a:schemeClr>
                  </a:outerShdw>
                </a:effectLst>
              </a:rPr>
              <a:t>¿Qué es una red?</a:t>
            </a:r>
          </a:p>
        </p:txBody>
      </p:sp>
      <p:sp>
        <p:nvSpPr>
          <p:cNvPr id="15" name="CuadroTexto 14">
            <a:extLst>
              <a:ext uri="{FF2B5EF4-FFF2-40B4-BE49-F238E27FC236}">
                <a16:creationId xmlns:a16="http://schemas.microsoft.com/office/drawing/2014/main" id="{2D26BACC-7DCD-DF3E-5A91-1E67FA3D0430}"/>
              </a:ext>
            </a:extLst>
          </p:cNvPr>
          <p:cNvSpPr txBox="1"/>
          <p:nvPr/>
        </p:nvSpPr>
        <p:spPr>
          <a:xfrm>
            <a:off x="6330995" y="5810204"/>
            <a:ext cx="5825439" cy="738664"/>
          </a:xfrm>
          <a:prstGeom prst="rect">
            <a:avLst/>
          </a:prstGeom>
          <a:noFill/>
        </p:spPr>
        <p:txBody>
          <a:bodyPr wrap="square">
            <a:spAutoFit/>
          </a:bodyPr>
          <a:lstStyle/>
          <a:p>
            <a:r>
              <a:rPr lang="es-ES" sz="1100" b="1" dirty="0">
                <a:latin typeface="Google Sans"/>
              </a:rPr>
              <a:t>WLAN (Red de Área Local Inalámbrica), </a:t>
            </a:r>
            <a:r>
              <a:rPr lang="es-ES" sz="1400" dirty="0"/>
              <a:t>es una red que conecta dispositivos dentro de un área limitad como una casa, oficina o escuela utilizando ondas de radio en lugar de cables.</a:t>
            </a:r>
          </a:p>
        </p:txBody>
      </p:sp>
      <p:pic>
        <p:nvPicPr>
          <p:cNvPr id="19" name="Imagen 18">
            <a:extLst>
              <a:ext uri="{FF2B5EF4-FFF2-40B4-BE49-F238E27FC236}">
                <a16:creationId xmlns:a16="http://schemas.microsoft.com/office/drawing/2014/main" id="{4FE0DD04-88A6-DFC5-A202-C595ED1B6EF0}"/>
              </a:ext>
            </a:extLst>
          </p:cNvPr>
          <p:cNvPicPr>
            <a:picLocks noChangeAspect="1"/>
          </p:cNvPicPr>
          <p:nvPr/>
        </p:nvPicPr>
        <p:blipFill>
          <a:blip r:embed="rId4"/>
          <a:stretch>
            <a:fillRect/>
          </a:stretch>
        </p:blipFill>
        <p:spPr>
          <a:xfrm>
            <a:off x="7198796" y="3569052"/>
            <a:ext cx="3587934" cy="2152761"/>
          </a:xfrm>
          <a:prstGeom prst="rect">
            <a:avLst/>
          </a:prstGeom>
        </p:spPr>
      </p:pic>
      <p:pic>
        <p:nvPicPr>
          <p:cNvPr id="4" name="Imagen 3">
            <a:extLst>
              <a:ext uri="{FF2B5EF4-FFF2-40B4-BE49-F238E27FC236}">
                <a16:creationId xmlns:a16="http://schemas.microsoft.com/office/drawing/2014/main" id="{DF6BA005-E922-7AED-8D57-ECCF3DC952BB}"/>
              </a:ext>
            </a:extLst>
          </p:cNvPr>
          <p:cNvPicPr>
            <a:picLocks noChangeAspect="1"/>
          </p:cNvPicPr>
          <p:nvPr/>
        </p:nvPicPr>
        <p:blipFill>
          <a:blip r:embed="rId5"/>
          <a:stretch>
            <a:fillRect/>
          </a:stretch>
        </p:blipFill>
        <p:spPr>
          <a:xfrm>
            <a:off x="7538968" y="983157"/>
            <a:ext cx="2907590" cy="1931862"/>
          </a:xfrm>
          <a:prstGeom prst="rect">
            <a:avLst/>
          </a:prstGeom>
        </p:spPr>
      </p:pic>
    </p:spTree>
    <p:extLst>
      <p:ext uri="{BB962C8B-B14F-4D97-AF65-F5344CB8AC3E}">
        <p14:creationId xmlns:p14="http://schemas.microsoft.com/office/powerpoint/2010/main" val="3854741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9958D3AD-F120-2CE0-4BC0-64285314EBA6}"/>
              </a:ext>
            </a:extLst>
          </p:cNvPr>
          <p:cNvPicPr>
            <a:picLocks noChangeAspect="1"/>
          </p:cNvPicPr>
          <p:nvPr/>
        </p:nvPicPr>
        <p:blipFill>
          <a:blip r:embed="rId2"/>
          <a:stretch>
            <a:fillRect/>
          </a:stretch>
        </p:blipFill>
        <p:spPr>
          <a:xfrm>
            <a:off x="79762" y="3297465"/>
            <a:ext cx="2937547" cy="1880935"/>
          </a:xfrm>
          <a:prstGeom prst="rect">
            <a:avLst/>
          </a:prstGeom>
        </p:spPr>
      </p:pic>
      <p:pic>
        <p:nvPicPr>
          <p:cNvPr id="23" name="Imagen 22">
            <a:extLst>
              <a:ext uri="{FF2B5EF4-FFF2-40B4-BE49-F238E27FC236}">
                <a16:creationId xmlns:a16="http://schemas.microsoft.com/office/drawing/2014/main" id="{B759B905-B3BE-ABD5-AC0C-0CAFA8649064}"/>
              </a:ext>
            </a:extLst>
          </p:cNvPr>
          <p:cNvPicPr>
            <a:picLocks noChangeAspect="1"/>
          </p:cNvPicPr>
          <p:nvPr/>
        </p:nvPicPr>
        <p:blipFill>
          <a:blip r:embed="rId3"/>
          <a:stretch>
            <a:fillRect/>
          </a:stretch>
        </p:blipFill>
        <p:spPr>
          <a:xfrm>
            <a:off x="9233600" y="3162009"/>
            <a:ext cx="2958400" cy="2108154"/>
          </a:xfrm>
          <a:prstGeom prst="rect">
            <a:avLst/>
          </a:prstGeom>
        </p:spPr>
      </p:pic>
      <p:pic>
        <p:nvPicPr>
          <p:cNvPr id="25" name="Imagen 24">
            <a:extLst>
              <a:ext uri="{FF2B5EF4-FFF2-40B4-BE49-F238E27FC236}">
                <a16:creationId xmlns:a16="http://schemas.microsoft.com/office/drawing/2014/main" id="{0635EE70-EB17-508C-2A7B-1A8534EABE2A}"/>
              </a:ext>
            </a:extLst>
          </p:cNvPr>
          <p:cNvPicPr>
            <a:picLocks noChangeAspect="1"/>
          </p:cNvPicPr>
          <p:nvPr/>
        </p:nvPicPr>
        <p:blipFill>
          <a:blip r:embed="rId4"/>
          <a:stretch>
            <a:fillRect/>
          </a:stretch>
        </p:blipFill>
        <p:spPr>
          <a:xfrm>
            <a:off x="3329672" y="2835957"/>
            <a:ext cx="2806844" cy="2857647"/>
          </a:xfrm>
          <a:prstGeom prst="rect">
            <a:avLst/>
          </a:prstGeom>
        </p:spPr>
      </p:pic>
      <p:sp>
        <p:nvSpPr>
          <p:cNvPr id="26" name="CuadroTexto 25">
            <a:extLst>
              <a:ext uri="{FF2B5EF4-FFF2-40B4-BE49-F238E27FC236}">
                <a16:creationId xmlns:a16="http://schemas.microsoft.com/office/drawing/2014/main" id="{96B19A64-3FD7-534C-BE4D-9D68CC4D2944}"/>
              </a:ext>
            </a:extLst>
          </p:cNvPr>
          <p:cNvSpPr txBox="1"/>
          <p:nvPr/>
        </p:nvSpPr>
        <p:spPr>
          <a:xfrm>
            <a:off x="232775" y="1540729"/>
            <a:ext cx="2631519" cy="1200329"/>
          </a:xfrm>
          <a:prstGeom prst="rect">
            <a:avLst/>
          </a:prstGeom>
          <a:noFill/>
        </p:spPr>
        <p:txBody>
          <a:bodyPr wrap="square" rtlCol="0">
            <a:spAutoFit/>
          </a:bodyPr>
          <a:lstStyle/>
          <a:p>
            <a:pPr algn="ctr"/>
            <a:r>
              <a:rPr lang="es-ES" b="1" dirty="0"/>
              <a:t>Dispositivos: </a:t>
            </a:r>
          </a:p>
          <a:p>
            <a:pPr algn="ctr"/>
            <a:endParaRPr lang="es-ES" b="1" dirty="0"/>
          </a:p>
          <a:p>
            <a:pPr algn="ctr"/>
            <a:r>
              <a:rPr lang="es-ES" b="1" dirty="0"/>
              <a:t>Finales e Intermediarios</a:t>
            </a:r>
          </a:p>
        </p:txBody>
      </p:sp>
      <p:sp>
        <p:nvSpPr>
          <p:cNvPr id="27" name="CuadroTexto 26">
            <a:extLst>
              <a:ext uri="{FF2B5EF4-FFF2-40B4-BE49-F238E27FC236}">
                <a16:creationId xmlns:a16="http://schemas.microsoft.com/office/drawing/2014/main" id="{8158CE45-16C1-1D79-6CF7-D4176BE9B49F}"/>
              </a:ext>
            </a:extLst>
          </p:cNvPr>
          <p:cNvSpPr txBox="1"/>
          <p:nvPr/>
        </p:nvSpPr>
        <p:spPr>
          <a:xfrm>
            <a:off x="3798947" y="1562612"/>
            <a:ext cx="1989344" cy="1200329"/>
          </a:xfrm>
          <a:prstGeom prst="rect">
            <a:avLst/>
          </a:prstGeom>
          <a:noFill/>
        </p:spPr>
        <p:txBody>
          <a:bodyPr wrap="square" rtlCol="0">
            <a:spAutoFit/>
          </a:bodyPr>
          <a:lstStyle/>
          <a:p>
            <a:pPr algn="ctr"/>
            <a:r>
              <a:rPr lang="es-ES" b="1" dirty="0"/>
              <a:t>Los Medios:</a:t>
            </a:r>
          </a:p>
          <a:p>
            <a:pPr algn="ctr"/>
            <a:endParaRPr lang="es-ES" b="1" dirty="0"/>
          </a:p>
          <a:p>
            <a:pPr algn="ctr"/>
            <a:r>
              <a:rPr lang="es-ES" b="1" dirty="0"/>
              <a:t> Cables y medio de transporte</a:t>
            </a:r>
          </a:p>
        </p:txBody>
      </p:sp>
      <p:sp>
        <p:nvSpPr>
          <p:cNvPr id="28" name="CuadroTexto 27">
            <a:extLst>
              <a:ext uri="{FF2B5EF4-FFF2-40B4-BE49-F238E27FC236}">
                <a16:creationId xmlns:a16="http://schemas.microsoft.com/office/drawing/2014/main" id="{FEEF050C-A1CE-638C-C88F-425AE476E937}"/>
              </a:ext>
            </a:extLst>
          </p:cNvPr>
          <p:cNvSpPr txBox="1"/>
          <p:nvPr/>
        </p:nvSpPr>
        <p:spPr>
          <a:xfrm>
            <a:off x="6683493" y="1608779"/>
            <a:ext cx="2273203" cy="1200329"/>
          </a:xfrm>
          <a:prstGeom prst="rect">
            <a:avLst/>
          </a:prstGeom>
          <a:noFill/>
        </p:spPr>
        <p:txBody>
          <a:bodyPr wrap="square" rtlCol="0">
            <a:spAutoFit/>
          </a:bodyPr>
          <a:lstStyle/>
          <a:p>
            <a:pPr algn="ctr"/>
            <a:r>
              <a:rPr lang="es-ES" b="1" dirty="0"/>
              <a:t>El Idioma:</a:t>
            </a:r>
          </a:p>
          <a:p>
            <a:pPr algn="ctr"/>
            <a:endParaRPr lang="es-ES" b="1" dirty="0"/>
          </a:p>
          <a:p>
            <a:pPr algn="ctr"/>
            <a:r>
              <a:rPr lang="es-ES" b="1" dirty="0"/>
              <a:t> Protocolos y Tecnologías</a:t>
            </a:r>
          </a:p>
        </p:txBody>
      </p:sp>
      <p:sp>
        <p:nvSpPr>
          <p:cNvPr id="29" name="CuadroTexto 28">
            <a:extLst>
              <a:ext uri="{FF2B5EF4-FFF2-40B4-BE49-F238E27FC236}">
                <a16:creationId xmlns:a16="http://schemas.microsoft.com/office/drawing/2014/main" id="{2179BFF8-84CD-2960-AF19-13E593B1AABB}"/>
              </a:ext>
            </a:extLst>
          </p:cNvPr>
          <p:cNvSpPr txBox="1"/>
          <p:nvPr/>
        </p:nvSpPr>
        <p:spPr>
          <a:xfrm>
            <a:off x="9360602" y="1635628"/>
            <a:ext cx="2715062" cy="1200329"/>
          </a:xfrm>
          <a:prstGeom prst="rect">
            <a:avLst/>
          </a:prstGeom>
          <a:noFill/>
        </p:spPr>
        <p:txBody>
          <a:bodyPr wrap="square" rtlCol="0">
            <a:spAutoFit/>
          </a:bodyPr>
          <a:lstStyle/>
          <a:p>
            <a:r>
              <a:rPr lang="es-ES" b="1" dirty="0"/>
              <a:t>El mensaje:</a:t>
            </a:r>
          </a:p>
          <a:p>
            <a:endParaRPr lang="es-ES" b="1" dirty="0"/>
          </a:p>
          <a:p>
            <a:r>
              <a:rPr lang="es-ES" b="1" dirty="0"/>
              <a:t>Sus tipos y su forma de viajar</a:t>
            </a:r>
          </a:p>
        </p:txBody>
      </p:sp>
      <p:pic>
        <p:nvPicPr>
          <p:cNvPr id="31" name="Imagen 30">
            <a:extLst>
              <a:ext uri="{FF2B5EF4-FFF2-40B4-BE49-F238E27FC236}">
                <a16:creationId xmlns:a16="http://schemas.microsoft.com/office/drawing/2014/main" id="{7B591E76-93EB-455E-DBB3-B715891DBCAC}"/>
              </a:ext>
            </a:extLst>
          </p:cNvPr>
          <p:cNvPicPr>
            <a:picLocks noChangeAspect="1"/>
          </p:cNvPicPr>
          <p:nvPr/>
        </p:nvPicPr>
        <p:blipFill>
          <a:blip r:embed="rId5"/>
          <a:stretch>
            <a:fillRect/>
          </a:stretch>
        </p:blipFill>
        <p:spPr>
          <a:xfrm>
            <a:off x="6448879" y="3572592"/>
            <a:ext cx="2406774" cy="1657435"/>
          </a:xfrm>
          <a:prstGeom prst="rect">
            <a:avLst/>
          </a:prstGeom>
        </p:spPr>
      </p:pic>
      <p:sp>
        <p:nvSpPr>
          <p:cNvPr id="33" name="CuadroTexto 32">
            <a:extLst>
              <a:ext uri="{FF2B5EF4-FFF2-40B4-BE49-F238E27FC236}">
                <a16:creationId xmlns:a16="http://schemas.microsoft.com/office/drawing/2014/main" id="{2F855B9B-8F39-8D22-0559-C5EC14C95BF3}"/>
              </a:ext>
            </a:extLst>
          </p:cNvPr>
          <p:cNvSpPr txBox="1"/>
          <p:nvPr/>
        </p:nvSpPr>
        <p:spPr>
          <a:xfrm>
            <a:off x="3634912" y="660629"/>
            <a:ext cx="6097162" cy="369332"/>
          </a:xfrm>
          <a:prstGeom prst="rect">
            <a:avLst/>
          </a:prstGeom>
          <a:noFill/>
        </p:spPr>
        <p:txBody>
          <a:bodyPr wrap="square">
            <a:spAutoFit/>
          </a:bodyPr>
          <a:lstStyle/>
          <a:p>
            <a:r>
              <a:rPr lang="es-ES" b="1" dirty="0"/>
              <a:t>¿Cómo y con que funciona esta comunicación?:</a:t>
            </a:r>
          </a:p>
        </p:txBody>
      </p:sp>
      <p:sp>
        <p:nvSpPr>
          <p:cNvPr id="35" name="CuadroTexto 34">
            <a:extLst>
              <a:ext uri="{FF2B5EF4-FFF2-40B4-BE49-F238E27FC236}">
                <a16:creationId xmlns:a16="http://schemas.microsoft.com/office/drawing/2014/main" id="{FE9DC624-2CCC-16C3-3C59-EA26A88A3E71}"/>
              </a:ext>
            </a:extLst>
          </p:cNvPr>
          <p:cNvSpPr txBox="1"/>
          <p:nvPr/>
        </p:nvSpPr>
        <p:spPr>
          <a:xfrm>
            <a:off x="-267538" y="0"/>
            <a:ext cx="3597210" cy="1015663"/>
          </a:xfrm>
          <a:prstGeom prst="rect">
            <a:avLst/>
          </a:prstGeom>
          <a:noFill/>
        </p:spPr>
        <p:txBody>
          <a:bodyPr wrap="square">
            <a:spAutoFit/>
          </a:bodyPr>
          <a:lstStyle/>
          <a:p>
            <a:pPr marL="342900" indent="-342900" algn="ctr">
              <a:buAutoNum type="arabicPeriod"/>
            </a:pPr>
            <a:r>
              <a:rPr lang="es-ES" sz="1600" b="0" cap="none" spc="0" dirty="0">
                <a:ln w="0"/>
                <a:solidFill>
                  <a:schemeClr val="tx1"/>
                </a:solidFill>
                <a:effectLst>
                  <a:outerShdw blurRad="38100" dist="19050" dir="2700000" algn="tl" rotWithShape="0">
                    <a:schemeClr val="dk1">
                      <a:alpha val="40000"/>
                    </a:schemeClr>
                  </a:outerShdw>
                </a:effectLst>
              </a:rPr>
              <a:t>Introducción a las redes</a:t>
            </a:r>
          </a:p>
          <a:p>
            <a:pPr algn="ctr"/>
            <a:r>
              <a:rPr lang="es-ES" sz="1400" b="1" dirty="0"/>
              <a:t>¿Cómo y con que funciona esta comunicación?</a:t>
            </a:r>
          </a:p>
          <a:p>
            <a:pPr marL="342900" indent="-342900" algn="ctr">
              <a:buAutoNum type="arabicPeriod"/>
            </a:pPr>
            <a:endParaRPr lang="es-ES" sz="1600" b="0" cap="none" spc="0" dirty="0">
              <a:ln w="0"/>
              <a:solidFill>
                <a:schemeClr val="tx1"/>
              </a:solidFill>
              <a:effectLst>
                <a:outerShdw blurRad="38100" dist="19050" dir="2700000" algn="tl" rotWithShape="0">
                  <a:schemeClr val="dk1">
                    <a:alpha val="40000"/>
                  </a:schemeClr>
                </a:outerShdw>
              </a:effectLst>
            </a:endParaRPr>
          </a:p>
        </p:txBody>
      </p:sp>
      <p:sp>
        <p:nvSpPr>
          <p:cNvPr id="2" name="Flecha: hacia abajo 1">
            <a:extLst>
              <a:ext uri="{FF2B5EF4-FFF2-40B4-BE49-F238E27FC236}">
                <a16:creationId xmlns:a16="http://schemas.microsoft.com/office/drawing/2014/main" id="{97331E32-FACF-CB83-F0CE-093DEF43DD6A}"/>
              </a:ext>
            </a:extLst>
          </p:cNvPr>
          <p:cNvSpPr/>
          <p:nvPr/>
        </p:nvSpPr>
        <p:spPr>
          <a:xfrm>
            <a:off x="1416346" y="2848781"/>
            <a:ext cx="264375" cy="248904"/>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ES" dirty="0"/>
          </a:p>
        </p:txBody>
      </p:sp>
      <p:sp>
        <p:nvSpPr>
          <p:cNvPr id="3" name="Flecha: hacia abajo 2">
            <a:extLst>
              <a:ext uri="{FF2B5EF4-FFF2-40B4-BE49-F238E27FC236}">
                <a16:creationId xmlns:a16="http://schemas.microsoft.com/office/drawing/2014/main" id="{A95BDE72-6163-B3D9-0086-A7AEFFD91827}"/>
              </a:ext>
            </a:extLst>
          </p:cNvPr>
          <p:cNvSpPr/>
          <p:nvPr/>
        </p:nvSpPr>
        <p:spPr>
          <a:xfrm>
            <a:off x="4529244" y="2770060"/>
            <a:ext cx="264375" cy="248904"/>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ES" dirty="0"/>
          </a:p>
        </p:txBody>
      </p:sp>
      <p:sp>
        <p:nvSpPr>
          <p:cNvPr id="4" name="Flecha: hacia abajo 3">
            <a:extLst>
              <a:ext uri="{FF2B5EF4-FFF2-40B4-BE49-F238E27FC236}">
                <a16:creationId xmlns:a16="http://schemas.microsoft.com/office/drawing/2014/main" id="{FED92E4F-2CEF-E4BD-4602-C71C56E6C494}"/>
              </a:ext>
            </a:extLst>
          </p:cNvPr>
          <p:cNvSpPr/>
          <p:nvPr/>
        </p:nvSpPr>
        <p:spPr>
          <a:xfrm>
            <a:off x="7687906" y="2835957"/>
            <a:ext cx="264375" cy="248904"/>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ES" dirty="0"/>
          </a:p>
        </p:txBody>
      </p:sp>
      <p:sp>
        <p:nvSpPr>
          <p:cNvPr id="6" name="Flecha: hacia abajo 5">
            <a:extLst>
              <a:ext uri="{FF2B5EF4-FFF2-40B4-BE49-F238E27FC236}">
                <a16:creationId xmlns:a16="http://schemas.microsoft.com/office/drawing/2014/main" id="{27D20A5B-E2D1-1D9B-C52F-3F38CE375CCC}"/>
              </a:ext>
            </a:extLst>
          </p:cNvPr>
          <p:cNvSpPr/>
          <p:nvPr/>
        </p:nvSpPr>
        <p:spPr>
          <a:xfrm>
            <a:off x="10580612" y="2897345"/>
            <a:ext cx="264375" cy="248904"/>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ES" dirty="0"/>
          </a:p>
        </p:txBody>
      </p:sp>
    </p:spTree>
    <p:extLst>
      <p:ext uri="{BB962C8B-B14F-4D97-AF65-F5344CB8AC3E}">
        <p14:creationId xmlns:p14="http://schemas.microsoft.com/office/powerpoint/2010/main" val="29336562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62222F9D-31D8-1E92-A94E-E4043219B73C}"/>
              </a:ext>
            </a:extLst>
          </p:cNvPr>
          <p:cNvSpPr txBox="1"/>
          <p:nvPr/>
        </p:nvSpPr>
        <p:spPr>
          <a:xfrm>
            <a:off x="8270203" y="235665"/>
            <a:ext cx="2910704" cy="646331"/>
          </a:xfrm>
          <a:prstGeom prst="rect">
            <a:avLst/>
          </a:prstGeom>
          <a:noFill/>
        </p:spPr>
        <p:txBody>
          <a:bodyPr wrap="square">
            <a:spAutoFit/>
          </a:bodyPr>
          <a:lstStyle/>
          <a:p>
            <a:r>
              <a:rPr lang="es-ES" sz="1800" b="1" dirty="0"/>
              <a:t>Dispositivos Finales:</a:t>
            </a:r>
          </a:p>
          <a:p>
            <a:r>
              <a:rPr lang="es-ES" b="1" dirty="0"/>
              <a:t>Ejemplos:</a:t>
            </a:r>
            <a:endParaRPr lang="es-ES" dirty="0"/>
          </a:p>
        </p:txBody>
      </p:sp>
      <p:pic>
        <p:nvPicPr>
          <p:cNvPr id="7" name="Picture 10" descr="C:\Users\ecoffey\AppData\Local\Temp\Rar$DRa0.608\30080_Device_switch_default_256.png">
            <a:extLst>
              <a:ext uri="{FF2B5EF4-FFF2-40B4-BE49-F238E27FC236}">
                <a16:creationId xmlns:a16="http://schemas.microsoft.com/office/drawing/2014/main" id="{3C5E337E-B2BD-5C48-C612-64C128864B7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7154" b="26465"/>
          <a:stretch/>
        </p:blipFill>
        <p:spPr bwMode="auto">
          <a:xfrm>
            <a:off x="65117" y="2210616"/>
            <a:ext cx="1516378" cy="70331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0">
            <a:extLst>
              <a:ext uri="{FF2B5EF4-FFF2-40B4-BE49-F238E27FC236}">
                <a16:creationId xmlns:a16="http://schemas.microsoft.com/office/drawing/2014/main" id="{53D10CF3-2CF4-84FC-036B-6B59D7D82D7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171" t="28931" r="8368" b="21666"/>
          <a:stretch/>
        </p:blipFill>
        <p:spPr bwMode="auto">
          <a:xfrm>
            <a:off x="177653" y="903881"/>
            <a:ext cx="1291306" cy="76437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0" descr="C:\Users\ecoffey\AppData\Local\Temp\Rar$DRa0.324\30072_Device_server_default_256.png">
            <a:extLst>
              <a:ext uri="{FF2B5EF4-FFF2-40B4-BE49-F238E27FC236}">
                <a16:creationId xmlns:a16="http://schemas.microsoft.com/office/drawing/2014/main" id="{7B3EEC56-F3E2-CEC9-8303-4E685F5809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98194" y="3594462"/>
            <a:ext cx="1799042" cy="1799042"/>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n 10">
            <a:extLst>
              <a:ext uri="{FF2B5EF4-FFF2-40B4-BE49-F238E27FC236}">
                <a16:creationId xmlns:a16="http://schemas.microsoft.com/office/drawing/2014/main" id="{67434EF9-CB69-6D23-DD99-D5CAC740C94A}"/>
              </a:ext>
            </a:extLst>
          </p:cNvPr>
          <p:cNvPicPr>
            <a:picLocks noChangeAspect="1"/>
          </p:cNvPicPr>
          <p:nvPr/>
        </p:nvPicPr>
        <p:blipFill>
          <a:blip r:embed="rId5"/>
          <a:stretch>
            <a:fillRect/>
          </a:stretch>
        </p:blipFill>
        <p:spPr>
          <a:xfrm>
            <a:off x="10033513" y="881996"/>
            <a:ext cx="1200330" cy="1200330"/>
          </a:xfrm>
          <a:prstGeom prst="rect">
            <a:avLst/>
          </a:prstGeom>
        </p:spPr>
      </p:pic>
      <p:pic>
        <p:nvPicPr>
          <p:cNvPr id="12" name="Picture 10" descr="C:\Users\ecoffey\AppData\Local\Temp\Rar$DRa0.175\30088_Device_terminal_default_256.png">
            <a:extLst>
              <a:ext uri="{FF2B5EF4-FFF2-40B4-BE49-F238E27FC236}">
                <a16:creationId xmlns:a16="http://schemas.microsoft.com/office/drawing/2014/main" id="{7F213AFC-32EF-7BBE-8C1B-D311842BB4A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23139" y="757994"/>
            <a:ext cx="1448334" cy="144833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0" descr="C:\Users\ecoffey\AppData\Local\Temp\Rar$DRa0.295\30029_Device_firewall_default_256.png">
            <a:extLst>
              <a:ext uri="{FF2B5EF4-FFF2-40B4-BE49-F238E27FC236}">
                <a16:creationId xmlns:a16="http://schemas.microsoft.com/office/drawing/2014/main" id="{3F86D307-5099-B134-F4D8-D1F60105872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445" y="3523723"/>
            <a:ext cx="1577637" cy="157763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0" descr="C:\Users\ecoffey\AppData\Local\Temp\Rar$DRa0.403\30001_Device_access_point_default_256.png">
            <a:extLst>
              <a:ext uri="{FF2B5EF4-FFF2-40B4-BE49-F238E27FC236}">
                <a16:creationId xmlns:a16="http://schemas.microsoft.com/office/drawing/2014/main" id="{2EAFA03F-9480-FBE3-54B2-9E317DE8CA0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147" y="5101360"/>
            <a:ext cx="1610315" cy="1610315"/>
          </a:xfrm>
          <a:prstGeom prst="rect">
            <a:avLst/>
          </a:prstGeom>
          <a:noFill/>
          <a:extLst>
            <a:ext uri="{909E8E84-426E-40DD-AFC4-6F175D3DCCD1}">
              <a14:hiddenFill xmlns:a14="http://schemas.microsoft.com/office/drawing/2010/main">
                <a:solidFill>
                  <a:srgbClr val="FFFFFF"/>
                </a:solidFill>
              </a14:hiddenFill>
            </a:ext>
          </a:extLst>
        </p:spPr>
      </p:pic>
      <p:sp>
        <p:nvSpPr>
          <p:cNvPr id="20" name="CuadroTexto 19">
            <a:extLst>
              <a:ext uri="{FF2B5EF4-FFF2-40B4-BE49-F238E27FC236}">
                <a16:creationId xmlns:a16="http://schemas.microsoft.com/office/drawing/2014/main" id="{F1F3E8C9-B3DB-0B39-AAD4-CE2DA376749F}"/>
              </a:ext>
            </a:extLst>
          </p:cNvPr>
          <p:cNvSpPr txBox="1"/>
          <p:nvPr/>
        </p:nvSpPr>
        <p:spPr>
          <a:xfrm>
            <a:off x="1575494" y="976407"/>
            <a:ext cx="5408149" cy="646331"/>
          </a:xfrm>
          <a:prstGeom prst="rect">
            <a:avLst/>
          </a:prstGeom>
          <a:noFill/>
        </p:spPr>
        <p:txBody>
          <a:bodyPr wrap="square">
            <a:spAutoFit/>
          </a:bodyPr>
          <a:lstStyle/>
          <a:p>
            <a:r>
              <a:rPr lang="es-ES" dirty="0"/>
              <a:t>Encargado de interconectar redes diferentes para formar WANs y conectar a internet</a:t>
            </a:r>
          </a:p>
        </p:txBody>
      </p:sp>
      <p:sp>
        <p:nvSpPr>
          <p:cNvPr id="21" name="CuadroTexto 20">
            <a:extLst>
              <a:ext uri="{FF2B5EF4-FFF2-40B4-BE49-F238E27FC236}">
                <a16:creationId xmlns:a16="http://schemas.microsoft.com/office/drawing/2014/main" id="{6569344E-E442-FA9F-AB4C-7713025E5AC1}"/>
              </a:ext>
            </a:extLst>
          </p:cNvPr>
          <p:cNvSpPr txBox="1"/>
          <p:nvPr/>
        </p:nvSpPr>
        <p:spPr>
          <a:xfrm>
            <a:off x="286735" y="1861613"/>
            <a:ext cx="1073141" cy="369332"/>
          </a:xfrm>
          <a:prstGeom prst="rect">
            <a:avLst/>
          </a:prstGeom>
          <a:noFill/>
        </p:spPr>
        <p:txBody>
          <a:bodyPr wrap="square" rtlCol="0">
            <a:spAutoFit/>
          </a:bodyPr>
          <a:lstStyle/>
          <a:p>
            <a:r>
              <a:rPr lang="es-ES" b="1" dirty="0"/>
              <a:t>SWITCH</a:t>
            </a:r>
          </a:p>
        </p:txBody>
      </p:sp>
      <p:sp>
        <p:nvSpPr>
          <p:cNvPr id="22" name="CuadroTexto 21">
            <a:extLst>
              <a:ext uri="{FF2B5EF4-FFF2-40B4-BE49-F238E27FC236}">
                <a16:creationId xmlns:a16="http://schemas.microsoft.com/office/drawing/2014/main" id="{0F0A4CFC-26B7-9A61-596C-6EE31D444556}"/>
              </a:ext>
            </a:extLst>
          </p:cNvPr>
          <p:cNvSpPr txBox="1"/>
          <p:nvPr/>
        </p:nvSpPr>
        <p:spPr>
          <a:xfrm>
            <a:off x="286735" y="573328"/>
            <a:ext cx="1073141" cy="369332"/>
          </a:xfrm>
          <a:prstGeom prst="rect">
            <a:avLst/>
          </a:prstGeom>
          <a:noFill/>
        </p:spPr>
        <p:txBody>
          <a:bodyPr wrap="square" rtlCol="0">
            <a:spAutoFit/>
          </a:bodyPr>
          <a:lstStyle/>
          <a:p>
            <a:r>
              <a:rPr lang="es-ES" b="1" dirty="0"/>
              <a:t>ROUTER</a:t>
            </a:r>
          </a:p>
        </p:txBody>
      </p:sp>
      <p:sp>
        <p:nvSpPr>
          <p:cNvPr id="23" name="CuadroTexto 22">
            <a:extLst>
              <a:ext uri="{FF2B5EF4-FFF2-40B4-BE49-F238E27FC236}">
                <a16:creationId xmlns:a16="http://schemas.microsoft.com/office/drawing/2014/main" id="{806EC708-DBE4-3927-6CAA-8A69D1677761}"/>
              </a:ext>
            </a:extLst>
          </p:cNvPr>
          <p:cNvSpPr txBox="1"/>
          <p:nvPr/>
        </p:nvSpPr>
        <p:spPr>
          <a:xfrm>
            <a:off x="223938" y="3244334"/>
            <a:ext cx="1245021" cy="369332"/>
          </a:xfrm>
          <a:prstGeom prst="rect">
            <a:avLst/>
          </a:prstGeom>
          <a:noFill/>
        </p:spPr>
        <p:txBody>
          <a:bodyPr wrap="none" rtlCol="0">
            <a:spAutoFit/>
          </a:bodyPr>
          <a:lstStyle/>
          <a:p>
            <a:r>
              <a:rPr lang="es-ES" b="1" dirty="0"/>
              <a:t>FIREWALL</a:t>
            </a:r>
          </a:p>
        </p:txBody>
      </p:sp>
      <p:sp>
        <p:nvSpPr>
          <p:cNvPr id="24" name="CuadroTexto 23">
            <a:extLst>
              <a:ext uri="{FF2B5EF4-FFF2-40B4-BE49-F238E27FC236}">
                <a16:creationId xmlns:a16="http://schemas.microsoft.com/office/drawing/2014/main" id="{3B53C88A-F979-B204-C2FE-BDF6BE728BB5}"/>
              </a:ext>
            </a:extLst>
          </p:cNvPr>
          <p:cNvSpPr txBox="1"/>
          <p:nvPr/>
        </p:nvSpPr>
        <p:spPr>
          <a:xfrm>
            <a:off x="0" y="5121215"/>
            <a:ext cx="1764266" cy="369332"/>
          </a:xfrm>
          <a:prstGeom prst="rect">
            <a:avLst/>
          </a:prstGeom>
          <a:noFill/>
        </p:spPr>
        <p:txBody>
          <a:bodyPr wrap="none" rtlCol="0">
            <a:spAutoFit/>
          </a:bodyPr>
          <a:lstStyle/>
          <a:p>
            <a:r>
              <a:rPr lang="es-ES" b="1" dirty="0"/>
              <a:t>ACCESS POINT</a:t>
            </a:r>
          </a:p>
        </p:txBody>
      </p:sp>
      <p:sp>
        <p:nvSpPr>
          <p:cNvPr id="26" name="CuadroTexto 25">
            <a:extLst>
              <a:ext uri="{FF2B5EF4-FFF2-40B4-BE49-F238E27FC236}">
                <a16:creationId xmlns:a16="http://schemas.microsoft.com/office/drawing/2014/main" id="{C7D787D4-0A21-8715-B6D2-9E02CDFB9FAB}"/>
              </a:ext>
            </a:extLst>
          </p:cNvPr>
          <p:cNvSpPr txBox="1"/>
          <p:nvPr/>
        </p:nvSpPr>
        <p:spPr>
          <a:xfrm>
            <a:off x="1565024" y="2070968"/>
            <a:ext cx="5408149" cy="923330"/>
          </a:xfrm>
          <a:prstGeom prst="rect">
            <a:avLst/>
          </a:prstGeom>
          <a:noFill/>
        </p:spPr>
        <p:txBody>
          <a:bodyPr wrap="square">
            <a:spAutoFit/>
          </a:bodyPr>
          <a:lstStyle/>
          <a:p>
            <a:r>
              <a:rPr lang="es-ES" dirty="0"/>
              <a:t>Diseñado para interconectar múltiples dispositivos (computadoras, impresoras, servidores) dentro de una misma  red (LAN)</a:t>
            </a:r>
          </a:p>
        </p:txBody>
      </p:sp>
      <p:sp>
        <p:nvSpPr>
          <p:cNvPr id="28" name="CuadroTexto 27">
            <a:extLst>
              <a:ext uri="{FF2B5EF4-FFF2-40B4-BE49-F238E27FC236}">
                <a16:creationId xmlns:a16="http://schemas.microsoft.com/office/drawing/2014/main" id="{6168BAEE-A85F-5921-DBE9-E03A509FC28D}"/>
              </a:ext>
            </a:extLst>
          </p:cNvPr>
          <p:cNvSpPr txBox="1"/>
          <p:nvPr/>
        </p:nvSpPr>
        <p:spPr>
          <a:xfrm>
            <a:off x="1565024" y="3835661"/>
            <a:ext cx="5243768" cy="923330"/>
          </a:xfrm>
          <a:prstGeom prst="rect">
            <a:avLst/>
          </a:prstGeom>
          <a:noFill/>
        </p:spPr>
        <p:txBody>
          <a:bodyPr wrap="square">
            <a:spAutoFit/>
          </a:bodyPr>
          <a:lstStyle/>
          <a:p>
            <a:r>
              <a:rPr lang="es-ES" dirty="0"/>
              <a:t>Es un dispositivo o software de seguridad encargado de monitorear, filtrar y bloquear y bloquear trafico de red</a:t>
            </a:r>
          </a:p>
        </p:txBody>
      </p:sp>
      <p:sp>
        <p:nvSpPr>
          <p:cNvPr id="30" name="CuadroTexto 29">
            <a:extLst>
              <a:ext uri="{FF2B5EF4-FFF2-40B4-BE49-F238E27FC236}">
                <a16:creationId xmlns:a16="http://schemas.microsoft.com/office/drawing/2014/main" id="{C1DB16C9-D7CE-3469-30C5-CB6595807E6C}"/>
              </a:ext>
            </a:extLst>
          </p:cNvPr>
          <p:cNvSpPr txBox="1"/>
          <p:nvPr/>
        </p:nvSpPr>
        <p:spPr>
          <a:xfrm>
            <a:off x="1602082" y="5413298"/>
            <a:ext cx="5084904" cy="923330"/>
          </a:xfrm>
          <a:prstGeom prst="rect">
            <a:avLst/>
          </a:prstGeom>
          <a:noFill/>
        </p:spPr>
        <p:txBody>
          <a:bodyPr wrap="square">
            <a:spAutoFit/>
          </a:bodyPr>
          <a:lstStyle/>
          <a:p>
            <a:r>
              <a:rPr lang="es-ES" dirty="0"/>
              <a:t>Es un dispositivo que extiende la red cableada de un switch hacia el espacio físico mediante ondas de radio ( WiFi )</a:t>
            </a:r>
          </a:p>
        </p:txBody>
      </p:sp>
      <p:sp>
        <p:nvSpPr>
          <p:cNvPr id="32" name="CuadroTexto 31">
            <a:extLst>
              <a:ext uri="{FF2B5EF4-FFF2-40B4-BE49-F238E27FC236}">
                <a16:creationId xmlns:a16="http://schemas.microsoft.com/office/drawing/2014/main" id="{5F4D5AC8-708B-81D6-7BD2-E323E49568F8}"/>
              </a:ext>
            </a:extLst>
          </p:cNvPr>
          <p:cNvSpPr txBox="1"/>
          <p:nvPr/>
        </p:nvSpPr>
        <p:spPr>
          <a:xfrm>
            <a:off x="7146093" y="5336741"/>
            <a:ext cx="5141056" cy="923330"/>
          </a:xfrm>
          <a:prstGeom prst="rect">
            <a:avLst/>
          </a:prstGeom>
          <a:noFill/>
        </p:spPr>
        <p:txBody>
          <a:bodyPr wrap="square">
            <a:spAutoFit/>
          </a:bodyPr>
          <a:lstStyle/>
          <a:p>
            <a:r>
              <a:rPr lang="es-ES" dirty="0"/>
              <a:t>Un servidor es un dispositivo con el rol de proveer servicios, paginas web, datos o recursos a otros dispositivos (a los Clientes)</a:t>
            </a:r>
          </a:p>
        </p:txBody>
      </p:sp>
      <p:sp>
        <p:nvSpPr>
          <p:cNvPr id="34" name="CuadroTexto 33">
            <a:extLst>
              <a:ext uri="{FF2B5EF4-FFF2-40B4-BE49-F238E27FC236}">
                <a16:creationId xmlns:a16="http://schemas.microsoft.com/office/drawing/2014/main" id="{C9B210F2-054F-35BD-21CD-99FC627288EC}"/>
              </a:ext>
            </a:extLst>
          </p:cNvPr>
          <p:cNvSpPr txBox="1"/>
          <p:nvPr/>
        </p:nvSpPr>
        <p:spPr>
          <a:xfrm>
            <a:off x="7146093" y="2251907"/>
            <a:ext cx="4437310" cy="1200329"/>
          </a:xfrm>
          <a:prstGeom prst="rect">
            <a:avLst/>
          </a:prstGeom>
          <a:noFill/>
        </p:spPr>
        <p:txBody>
          <a:bodyPr wrap="square">
            <a:spAutoFit/>
          </a:bodyPr>
          <a:lstStyle/>
          <a:p>
            <a:r>
              <a:rPr lang="es-ES" dirty="0"/>
              <a:t>Un cliente es cualquier dispositivo o aplicación que solicita información, servicios o recursos a un servidor a través de la red.</a:t>
            </a:r>
          </a:p>
        </p:txBody>
      </p:sp>
      <p:sp>
        <p:nvSpPr>
          <p:cNvPr id="35" name="CuadroTexto 34">
            <a:extLst>
              <a:ext uri="{FF2B5EF4-FFF2-40B4-BE49-F238E27FC236}">
                <a16:creationId xmlns:a16="http://schemas.microsoft.com/office/drawing/2014/main" id="{E4052227-28B0-A77D-DBBF-B96133E7DE81}"/>
              </a:ext>
            </a:extLst>
          </p:cNvPr>
          <p:cNvSpPr txBox="1"/>
          <p:nvPr/>
        </p:nvSpPr>
        <p:spPr>
          <a:xfrm>
            <a:off x="2380446" y="310872"/>
            <a:ext cx="3082703" cy="646331"/>
          </a:xfrm>
          <a:prstGeom prst="rect">
            <a:avLst/>
          </a:prstGeom>
          <a:noFill/>
        </p:spPr>
        <p:txBody>
          <a:bodyPr wrap="none" rtlCol="0">
            <a:spAutoFit/>
          </a:bodyPr>
          <a:lstStyle/>
          <a:p>
            <a:r>
              <a:rPr lang="es-ES" b="1" dirty="0"/>
              <a:t>Dispositivos Intermediarios</a:t>
            </a:r>
          </a:p>
          <a:p>
            <a:r>
              <a:rPr lang="es-ES" b="1" dirty="0"/>
              <a:t>Ejemplos:</a:t>
            </a:r>
          </a:p>
        </p:txBody>
      </p:sp>
      <p:sp>
        <p:nvSpPr>
          <p:cNvPr id="36" name="CuadroTexto 35">
            <a:extLst>
              <a:ext uri="{FF2B5EF4-FFF2-40B4-BE49-F238E27FC236}">
                <a16:creationId xmlns:a16="http://schemas.microsoft.com/office/drawing/2014/main" id="{74E7BCAD-88E8-B704-D21F-624AA81A1626}"/>
              </a:ext>
            </a:extLst>
          </p:cNvPr>
          <p:cNvSpPr txBox="1"/>
          <p:nvPr/>
        </p:nvSpPr>
        <p:spPr>
          <a:xfrm>
            <a:off x="7171199" y="4389659"/>
            <a:ext cx="1068178" cy="369332"/>
          </a:xfrm>
          <a:prstGeom prst="rect">
            <a:avLst/>
          </a:prstGeom>
          <a:noFill/>
        </p:spPr>
        <p:txBody>
          <a:bodyPr wrap="none" rtlCol="0">
            <a:spAutoFit/>
          </a:bodyPr>
          <a:lstStyle/>
          <a:p>
            <a:r>
              <a:rPr lang="es-ES" b="1" dirty="0"/>
              <a:t>Servidor</a:t>
            </a:r>
          </a:p>
        </p:txBody>
      </p:sp>
      <p:sp>
        <p:nvSpPr>
          <p:cNvPr id="37" name="CuadroTexto 36">
            <a:extLst>
              <a:ext uri="{FF2B5EF4-FFF2-40B4-BE49-F238E27FC236}">
                <a16:creationId xmlns:a16="http://schemas.microsoft.com/office/drawing/2014/main" id="{26248B69-2298-3B9A-D609-DDE406B8B88C}"/>
              </a:ext>
            </a:extLst>
          </p:cNvPr>
          <p:cNvSpPr txBox="1"/>
          <p:nvPr/>
        </p:nvSpPr>
        <p:spPr>
          <a:xfrm>
            <a:off x="6973173" y="1166041"/>
            <a:ext cx="1539332" cy="369332"/>
          </a:xfrm>
          <a:prstGeom prst="rect">
            <a:avLst/>
          </a:prstGeom>
          <a:noFill/>
        </p:spPr>
        <p:txBody>
          <a:bodyPr wrap="none" rtlCol="0">
            <a:spAutoFit/>
          </a:bodyPr>
          <a:lstStyle/>
          <a:p>
            <a:r>
              <a:rPr lang="es-ES" b="1" dirty="0"/>
              <a:t>Cliente/Host</a:t>
            </a:r>
          </a:p>
        </p:txBody>
      </p:sp>
      <p:sp>
        <p:nvSpPr>
          <p:cNvPr id="38" name="CuadroTexto 37">
            <a:extLst>
              <a:ext uri="{FF2B5EF4-FFF2-40B4-BE49-F238E27FC236}">
                <a16:creationId xmlns:a16="http://schemas.microsoft.com/office/drawing/2014/main" id="{9F9F4522-8338-6494-4523-8B131E34D085}"/>
              </a:ext>
            </a:extLst>
          </p:cNvPr>
          <p:cNvSpPr txBox="1"/>
          <p:nvPr/>
        </p:nvSpPr>
        <p:spPr>
          <a:xfrm>
            <a:off x="2286426" y="6396335"/>
            <a:ext cx="8027839" cy="461665"/>
          </a:xfrm>
          <a:prstGeom prst="rect">
            <a:avLst/>
          </a:prstGeom>
          <a:noFill/>
        </p:spPr>
        <p:txBody>
          <a:bodyPr wrap="none" rtlCol="0">
            <a:spAutoFit/>
          </a:bodyPr>
          <a:lstStyle/>
          <a:p>
            <a:r>
              <a:rPr lang="es-ES" sz="2400" b="1" dirty="0"/>
              <a:t>💡</a:t>
            </a:r>
            <a:r>
              <a:rPr lang="es-ES" b="1" dirty="0"/>
              <a:t>Un dispositivo final puede tener tanto el rol de Cliente como de Servidor</a:t>
            </a:r>
          </a:p>
        </p:txBody>
      </p:sp>
      <p:sp>
        <p:nvSpPr>
          <p:cNvPr id="40" name="CuadroTexto 39">
            <a:extLst>
              <a:ext uri="{FF2B5EF4-FFF2-40B4-BE49-F238E27FC236}">
                <a16:creationId xmlns:a16="http://schemas.microsoft.com/office/drawing/2014/main" id="{52BD3E5F-AE1F-76E0-9122-4A9D59D103CC}"/>
              </a:ext>
            </a:extLst>
          </p:cNvPr>
          <p:cNvSpPr txBox="1"/>
          <p:nvPr/>
        </p:nvSpPr>
        <p:spPr>
          <a:xfrm>
            <a:off x="-2022430" y="-59796"/>
            <a:ext cx="6166964" cy="461665"/>
          </a:xfrm>
          <a:prstGeom prst="rect">
            <a:avLst/>
          </a:prstGeom>
          <a:noFill/>
        </p:spPr>
        <p:txBody>
          <a:bodyPr wrap="square">
            <a:spAutoFit/>
          </a:bodyPr>
          <a:lstStyle/>
          <a:p>
            <a:pPr marL="342900" indent="-342900" algn="ctr">
              <a:buAutoNum type="arabicPeriod"/>
            </a:pPr>
            <a:r>
              <a:rPr lang="es-ES" sz="1200" b="0" cap="none" spc="0" dirty="0">
                <a:ln w="0"/>
                <a:solidFill>
                  <a:schemeClr val="tx1"/>
                </a:solidFill>
                <a:effectLst>
                  <a:outerShdw blurRad="38100" dist="19050" dir="2700000" algn="tl" rotWithShape="0">
                    <a:schemeClr val="dk1">
                      <a:alpha val="40000"/>
                    </a:schemeClr>
                  </a:outerShdw>
                </a:effectLst>
              </a:rPr>
              <a:t>Introducción a las redes</a:t>
            </a:r>
          </a:p>
          <a:p>
            <a:pPr algn="ctr"/>
            <a:r>
              <a:rPr lang="es-ES" sz="1200" b="0" cap="none" spc="0" dirty="0">
                <a:ln w="0"/>
                <a:solidFill>
                  <a:schemeClr val="tx1"/>
                </a:solidFill>
                <a:effectLst>
                  <a:outerShdw blurRad="38100" dist="19050" dir="2700000" algn="tl" rotWithShape="0">
                    <a:schemeClr val="dk1">
                      <a:alpha val="40000"/>
                    </a:schemeClr>
                  </a:outerShdw>
                </a:effectLst>
              </a:rPr>
              <a:t>Los dispositivos que participan</a:t>
            </a:r>
          </a:p>
        </p:txBody>
      </p:sp>
    </p:spTree>
    <p:extLst>
      <p:ext uri="{BB962C8B-B14F-4D97-AF65-F5344CB8AC3E}">
        <p14:creationId xmlns:p14="http://schemas.microsoft.com/office/powerpoint/2010/main" val="3655325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F281D427-539A-53BE-6894-1784E78D6730}"/>
              </a:ext>
            </a:extLst>
          </p:cNvPr>
          <p:cNvSpPr txBox="1"/>
          <p:nvPr/>
        </p:nvSpPr>
        <p:spPr>
          <a:xfrm>
            <a:off x="-1732822" y="0"/>
            <a:ext cx="6097162" cy="584775"/>
          </a:xfrm>
          <a:prstGeom prst="rect">
            <a:avLst/>
          </a:prstGeom>
          <a:noFill/>
        </p:spPr>
        <p:txBody>
          <a:bodyPr wrap="square">
            <a:spAutoFit/>
          </a:bodyPr>
          <a:lstStyle/>
          <a:p>
            <a:pPr marL="342900" indent="-342900" algn="ctr">
              <a:buAutoNum type="arabicPeriod"/>
            </a:pPr>
            <a:r>
              <a:rPr lang="es-ES" sz="1600" b="0" cap="none" spc="0" dirty="0">
                <a:ln w="0"/>
                <a:solidFill>
                  <a:schemeClr val="tx1"/>
                </a:solidFill>
                <a:effectLst>
                  <a:outerShdw blurRad="38100" dist="19050" dir="2700000" algn="tl" rotWithShape="0">
                    <a:schemeClr val="dk1">
                      <a:alpha val="40000"/>
                    </a:schemeClr>
                  </a:outerShdw>
                </a:effectLst>
              </a:rPr>
              <a:t>Introducción a las redes</a:t>
            </a:r>
          </a:p>
          <a:p>
            <a:pPr algn="ctr"/>
            <a:r>
              <a:rPr lang="es-ES" sz="1600" b="0" cap="none" spc="0" dirty="0">
                <a:ln w="0"/>
                <a:solidFill>
                  <a:schemeClr val="tx1"/>
                </a:solidFill>
                <a:effectLst>
                  <a:outerShdw blurRad="38100" dist="19050" dir="2700000" algn="tl" rotWithShape="0">
                    <a:schemeClr val="dk1">
                      <a:alpha val="40000"/>
                    </a:schemeClr>
                  </a:outerShdw>
                </a:effectLst>
              </a:rPr>
              <a:t>El medio que usa</a:t>
            </a:r>
          </a:p>
        </p:txBody>
      </p:sp>
      <p:pic>
        <p:nvPicPr>
          <p:cNvPr id="7" name="Imagen 6">
            <a:extLst>
              <a:ext uri="{FF2B5EF4-FFF2-40B4-BE49-F238E27FC236}">
                <a16:creationId xmlns:a16="http://schemas.microsoft.com/office/drawing/2014/main" id="{212C4A15-120D-879C-2134-D24B4DB0ED23}"/>
              </a:ext>
            </a:extLst>
          </p:cNvPr>
          <p:cNvPicPr>
            <a:picLocks noChangeAspect="1"/>
          </p:cNvPicPr>
          <p:nvPr/>
        </p:nvPicPr>
        <p:blipFill>
          <a:blip r:embed="rId2"/>
          <a:stretch>
            <a:fillRect/>
          </a:stretch>
        </p:blipFill>
        <p:spPr>
          <a:xfrm>
            <a:off x="367160" y="1646241"/>
            <a:ext cx="2785165" cy="1848099"/>
          </a:xfrm>
          <a:prstGeom prst="rect">
            <a:avLst/>
          </a:prstGeom>
        </p:spPr>
      </p:pic>
      <p:pic>
        <p:nvPicPr>
          <p:cNvPr id="11" name="Imagen 10">
            <a:extLst>
              <a:ext uri="{FF2B5EF4-FFF2-40B4-BE49-F238E27FC236}">
                <a16:creationId xmlns:a16="http://schemas.microsoft.com/office/drawing/2014/main" id="{95F6E905-1B47-DDF5-F8B8-3634298F36BD}"/>
              </a:ext>
            </a:extLst>
          </p:cNvPr>
          <p:cNvPicPr>
            <a:picLocks noChangeAspect="1"/>
          </p:cNvPicPr>
          <p:nvPr/>
        </p:nvPicPr>
        <p:blipFill>
          <a:blip r:embed="rId3"/>
          <a:stretch>
            <a:fillRect/>
          </a:stretch>
        </p:blipFill>
        <p:spPr>
          <a:xfrm>
            <a:off x="4759112" y="1742745"/>
            <a:ext cx="2388565" cy="1626764"/>
          </a:xfrm>
          <a:prstGeom prst="rect">
            <a:avLst/>
          </a:prstGeom>
        </p:spPr>
      </p:pic>
      <p:pic>
        <p:nvPicPr>
          <p:cNvPr id="13" name="Imagen 12">
            <a:extLst>
              <a:ext uri="{FF2B5EF4-FFF2-40B4-BE49-F238E27FC236}">
                <a16:creationId xmlns:a16="http://schemas.microsoft.com/office/drawing/2014/main" id="{844FB7E4-5CB5-09F6-1550-ECA3CF29EA78}"/>
              </a:ext>
            </a:extLst>
          </p:cNvPr>
          <p:cNvPicPr>
            <a:picLocks noChangeAspect="1"/>
          </p:cNvPicPr>
          <p:nvPr/>
        </p:nvPicPr>
        <p:blipFill>
          <a:blip r:embed="rId4"/>
          <a:stretch>
            <a:fillRect/>
          </a:stretch>
        </p:blipFill>
        <p:spPr>
          <a:xfrm>
            <a:off x="9116600" y="1742745"/>
            <a:ext cx="1707519" cy="1778175"/>
          </a:xfrm>
          <a:prstGeom prst="rect">
            <a:avLst/>
          </a:prstGeom>
        </p:spPr>
      </p:pic>
      <p:sp>
        <p:nvSpPr>
          <p:cNvPr id="17" name="CuadroTexto 16">
            <a:extLst>
              <a:ext uri="{FF2B5EF4-FFF2-40B4-BE49-F238E27FC236}">
                <a16:creationId xmlns:a16="http://schemas.microsoft.com/office/drawing/2014/main" id="{10A5683D-DE1B-07C0-38C3-68110371235A}"/>
              </a:ext>
            </a:extLst>
          </p:cNvPr>
          <p:cNvSpPr txBox="1"/>
          <p:nvPr/>
        </p:nvSpPr>
        <p:spPr>
          <a:xfrm>
            <a:off x="452794" y="3657643"/>
            <a:ext cx="2689104" cy="1615827"/>
          </a:xfrm>
          <a:prstGeom prst="rect">
            <a:avLst/>
          </a:prstGeom>
          <a:noFill/>
        </p:spPr>
        <p:txBody>
          <a:bodyPr wrap="square">
            <a:spAutoFit/>
          </a:bodyPr>
          <a:lstStyle/>
          <a:p>
            <a:pPr marR="0">
              <a:spcBef>
                <a:spcPts val="1800"/>
              </a:spcBef>
              <a:spcAft>
                <a:spcPts val="900"/>
              </a:spcAft>
              <a:buNone/>
            </a:pPr>
            <a:r>
              <a:rPr lang="es-ES" sz="1400" b="1" dirty="0">
                <a:latin typeface="Google Sans"/>
              </a:rPr>
              <a:t>Cables de Cobre (Impulsos Eléctricos)</a:t>
            </a:r>
          </a:p>
          <a:p>
            <a:pPr marR="0">
              <a:spcBef>
                <a:spcPts val="900"/>
              </a:spcBef>
              <a:spcAft>
                <a:spcPts val="900"/>
              </a:spcAft>
              <a:buFont typeface="Arial" panose="020B0604020202020204" pitchFamily="34" charset="0"/>
              <a:buChar char="•"/>
            </a:pPr>
            <a:r>
              <a:rPr lang="es-ES" sz="1400" b="1" dirty="0">
                <a:latin typeface="Google Sans"/>
              </a:rPr>
              <a:t>Cómo transmite: </a:t>
            </a:r>
            <a:r>
              <a:rPr lang="es-ES" sz="1400" dirty="0">
                <a:latin typeface="Google Sans"/>
              </a:rPr>
              <a:t>Transforma los datos en variaciones de voltaje </a:t>
            </a:r>
            <a:r>
              <a:rPr lang="es-ES" sz="1400" b="1" dirty="0">
                <a:latin typeface="Google Sans"/>
              </a:rPr>
              <a:t>eléctrico</a:t>
            </a:r>
            <a:r>
              <a:rPr lang="es-ES" sz="1400" dirty="0">
                <a:latin typeface="Google Sans"/>
              </a:rPr>
              <a:t> que viajan a través de hilos de metal.</a:t>
            </a:r>
          </a:p>
        </p:txBody>
      </p:sp>
      <p:sp>
        <p:nvSpPr>
          <p:cNvPr id="23" name="CuadroTexto 22">
            <a:extLst>
              <a:ext uri="{FF2B5EF4-FFF2-40B4-BE49-F238E27FC236}">
                <a16:creationId xmlns:a16="http://schemas.microsoft.com/office/drawing/2014/main" id="{731DD477-CC77-D256-3134-0F571BEB350D}"/>
              </a:ext>
            </a:extLst>
          </p:cNvPr>
          <p:cNvSpPr txBox="1"/>
          <p:nvPr/>
        </p:nvSpPr>
        <p:spPr>
          <a:xfrm>
            <a:off x="8831917" y="3657642"/>
            <a:ext cx="2388565" cy="1615827"/>
          </a:xfrm>
          <a:prstGeom prst="rect">
            <a:avLst/>
          </a:prstGeom>
          <a:noFill/>
        </p:spPr>
        <p:txBody>
          <a:bodyPr wrap="square">
            <a:spAutoFit/>
          </a:bodyPr>
          <a:lstStyle/>
          <a:p>
            <a:pPr>
              <a:spcBef>
                <a:spcPts val="1800"/>
              </a:spcBef>
              <a:spcAft>
                <a:spcPts val="900"/>
              </a:spcAft>
              <a:buNone/>
            </a:pPr>
            <a:r>
              <a:rPr lang="es-ES" sz="1400" b="1" dirty="0">
                <a:latin typeface="Google Sans"/>
              </a:rPr>
              <a:t>Wi-Fi (Ondas de Radio)</a:t>
            </a:r>
          </a:p>
          <a:p>
            <a:pPr>
              <a:spcBef>
                <a:spcPts val="900"/>
              </a:spcBef>
              <a:spcAft>
                <a:spcPts val="900"/>
              </a:spcAft>
              <a:buFont typeface="Arial" panose="020B0604020202020204" pitchFamily="34" charset="0"/>
              <a:buChar char="•"/>
            </a:pPr>
            <a:r>
              <a:rPr lang="es-ES" sz="1400" b="1" dirty="0">
                <a:latin typeface="Google Sans"/>
              </a:rPr>
              <a:t>Cómo transmite: </a:t>
            </a:r>
            <a:r>
              <a:rPr lang="es-ES" sz="1400" dirty="0">
                <a:latin typeface="Google Sans"/>
              </a:rPr>
              <a:t>Modula los datos en ondas electromagnéticas de alta frecuencia </a:t>
            </a:r>
            <a:r>
              <a:rPr lang="es-ES" sz="1400" b="1" dirty="0">
                <a:latin typeface="Google Sans"/>
              </a:rPr>
              <a:t>(ondas de radio</a:t>
            </a:r>
            <a:r>
              <a:rPr lang="es-ES" sz="1400" dirty="0">
                <a:latin typeface="Google Sans"/>
              </a:rPr>
              <a:t>) que viajan por el aire.</a:t>
            </a:r>
          </a:p>
        </p:txBody>
      </p:sp>
      <p:sp>
        <p:nvSpPr>
          <p:cNvPr id="25" name="CuadroTexto 24">
            <a:extLst>
              <a:ext uri="{FF2B5EF4-FFF2-40B4-BE49-F238E27FC236}">
                <a16:creationId xmlns:a16="http://schemas.microsoft.com/office/drawing/2014/main" id="{8EC1E290-F6CF-B6CE-4DC0-822D35A7839F}"/>
              </a:ext>
            </a:extLst>
          </p:cNvPr>
          <p:cNvSpPr txBox="1"/>
          <p:nvPr/>
        </p:nvSpPr>
        <p:spPr>
          <a:xfrm>
            <a:off x="4343400" y="3657642"/>
            <a:ext cx="3029779" cy="1831271"/>
          </a:xfrm>
          <a:prstGeom prst="rect">
            <a:avLst/>
          </a:prstGeom>
          <a:noFill/>
        </p:spPr>
        <p:txBody>
          <a:bodyPr wrap="square">
            <a:spAutoFit/>
          </a:bodyPr>
          <a:lstStyle/>
          <a:p>
            <a:pPr marL="0" marR="0">
              <a:spcBef>
                <a:spcPts val="1800"/>
              </a:spcBef>
              <a:spcAft>
                <a:spcPts val="900"/>
              </a:spcAft>
              <a:buNone/>
            </a:pPr>
            <a:r>
              <a:rPr lang="es-ES" sz="1400" b="1" u="none" strike="noStrike" dirty="0">
                <a:effectLst/>
                <a:latin typeface="Google Sans"/>
              </a:rPr>
              <a:t>Fibra Óptica (Pulsos de Luz)</a:t>
            </a:r>
          </a:p>
          <a:p>
            <a:pPr>
              <a:spcBef>
                <a:spcPts val="900"/>
              </a:spcBef>
              <a:spcAft>
                <a:spcPts val="900"/>
              </a:spcAft>
              <a:buFont typeface="Arial" panose="020B0604020202020204" pitchFamily="34" charset="0"/>
              <a:buChar char="•"/>
            </a:pPr>
            <a:r>
              <a:rPr lang="es-ES" sz="1400" b="1" u="none" strike="noStrike" dirty="0">
                <a:effectLst/>
                <a:latin typeface="Google Sans"/>
              </a:rPr>
              <a:t>Cómo transmite:</a:t>
            </a:r>
            <a:r>
              <a:rPr lang="es-ES" sz="1400" b="0" u="none" strike="noStrike" dirty="0">
                <a:effectLst/>
                <a:latin typeface="Google Sans"/>
              </a:rPr>
              <a:t> </a:t>
            </a:r>
            <a:r>
              <a:rPr lang="es-ES" sz="1400" dirty="0"/>
              <a:t>La fibra óptica transmite información convirtiendo los datos digitales en </a:t>
            </a:r>
            <a:r>
              <a:rPr lang="es-ES" sz="1400" b="1" dirty="0"/>
              <a:t>pulsos de luz</a:t>
            </a:r>
            <a:r>
              <a:rPr lang="es-ES" sz="1400" dirty="0"/>
              <a:t> que viajan a velocidades increíbles a través de hilos de vidrio o plástico del grosor de un cabello.</a:t>
            </a:r>
            <a:endParaRPr lang="es-ES" sz="1400" b="0" u="none" strike="noStrike" dirty="0">
              <a:effectLst/>
              <a:latin typeface="Google Sans"/>
            </a:endParaRPr>
          </a:p>
        </p:txBody>
      </p:sp>
      <p:sp>
        <p:nvSpPr>
          <p:cNvPr id="27" name="CuadroTexto 26">
            <a:extLst>
              <a:ext uri="{FF2B5EF4-FFF2-40B4-BE49-F238E27FC236}">
                <a16:creationId xmlns:a16="http://schemas.microsoft.com/office/drawing/2014/main" id="{F96F00AA-8C7F-C70E-5A24-5659226DA728}"/>
              </a:ext>
            </a:extLst>
          </p:cNvPr>
          <p:cNvSpPr txBox="1"/>
          <p:nvPr/>
        </p:nvSpPr>
        <p:spPr>
          <a:xfrm>
            <a:off x="2472043" y="785205"/>
            <a:ext cx="6962702" cy="646331"/>
          </a:xfrm>
          <a:prstGeom prst="rect">
            <a:avLst/>
          </a:prstGeom>
          <a:noFill/>
        </p:spPr>
        <p:txBody>
          <a:bodyPr wrap="square">
            <a:spAutoFit/>
          </a:bodyPr>
          <a:lstStyle/>
          <a:p>
            <a:r>
              <a:rPr lang="es-ES" b="1" dirty="0"/>
              <a:t>El medio es el canal físico o inalámbrico que conecta los dispositivos para que puedan comunicarse entre sí.</a:t>
            </a:r>
          </a:p>
        </p:txBody>
      </p:sp>
    </p:spTree>
    <p:extLst>
      <p:ext uri="{BB962C8B-B14F-4D97-AF65-F5344CB8AC3E}">
        <p14:creationId xmlns:p14="http://schemas.microsoft.com/office/powerpoint/2010/main" val="4386916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EE800B49-0FB4-5612-FF6E-0067995105E1}"/>
              </a:ext>
            </a:extLst>
          </p:cNvPr>
          <p:cNvSpPr txBox="1"/>
          <p:nvPr/>
        </p:nvSpPr>
        <p:spPr>
          <a:xfrm>
            <a:off x="-1711882" y="0"/>
            <a:ext cx="6097162" cy="584775"/>
          </a:xfrm>
          <a:prstGeom prst="rect">
            <a:avLst/>
          </a:prstGeom>
          <a:noFill/>
        </p:spPr>
        <p:txBody>
          <a:bodyPr wrap="square">
            <a:spAutoFit/>
          </a:bodyPr>
          <a:lstStyle/>
          <a:p>
            <a:pPr marL="342900" indent="-342900" algn="ctr">
              <a:buAutoNum type="arabicPeriod"/>
            </a:pPr>
            <a:r>
              <a:rPr lang="es-ES" sz="1600" b="0" cap="none" spc="0" dirty="0">
                <a:ln w="0"/>
                <a:solidFill>
                  <a:schemeClr val="tx1"/>
                </a:solidFill>
                <a:effectLst>
                  <a:outerShdw blurRad="38100" dist="19050" dir="2700000" algn="tl" rotWithShape="0">
                    <a:schemeClr val="dk1">
                      <a:alpha val="40000"/>
                    </a:schemeClr>
                  </a:outerShdw>
                </a:effectLst>
              </a:rPr>
              <a:t>Introducción a las redes</a:t>
            </a:r>
          </a:p>
          <a:p>
            <a:pPr algn="ctr"/>
            <a:r>
              <a:rPr lang="es-ES" sz="1600" b="0" cap="none" spc="0" dirty="0">
                <a:ln w="0"/>
                <a:solidFill>
                  <a:schemeClr val="tx1"/>
                </a:solidFill>
                <a:effectLst>
                  <a:outerShdw blurRad="38100" dist="19050" dir="2700000" algn="tl" rotWithShape="0">
                    <a:schemeClr val="dk1">
                      <a:alpha val="40000"/>
                    </a:schemeClr>
                  </a:outerShdw>
                </a:effectLst>
              </a:rPr>
              <a:t>El idioma que usan las redes</a:t>
            </a:r>
          </a:p>
        </p:txBody>
      </p:sp>
      <p:pic>
        <p:nvPicPr>
          <p:cNvPr id="10" name="Imagen 9">
            <a:extLst>
              <a:ext uri="{FF2B5EF4-FFF2-40B4-BE49-F238E27FC236}">
                <a16:creationId xmlns:a16="http://schemas.microsoft.com/office/drawing/2014/main" id="{13EE3FA7-7548-56A2-1D16-C62046A62CB4}"/>
              </a:ext>
            </a:extLst>
          </p:cNvPr>
          <p:cNvPicPr>
            <a:picLocks noChangeAspect="1"/>
          </p:cNvPicPr>
          <p:nvPr/>
        </p:nvPicPr>
        <p:blipFill>
          <a:blip r:embed="rId2"/>
          <a:stretch>
            <a:fillRect/>
          </a:stretch>
        </p:blipFill>
        <p:spPr>
          <a:xfrm>
            <a:off x="2205729" y="1472480"/>
            <a:ext cx="6596244" cy="4397496"/>
          </a:xfrm>
          <a:prstGeom prst="rect">
            <a:avLst/>
          </a:prstGeom>
        </p:spPr>
      </p:pic>
      <p:sp>
        <p:nvSpPr>
          <p:cNvPr id="12" name="CuadroTexto 11">
            <a:extLst>
              <a:ext uri="{FF2B5EF4-FFF2-40B4-BE49-F238E27FC236}">
                <a16:creationId xmlns:a16="http://schemas.microsoft.com/office/drawing/2014/main" id="{CB7906FD-EADA-C648-B616-138409559CD0}"/>
              </a:ext>
            </a:extLst>
          </p:cNvPr>
          <p:cNvSpPr txBox="1"/>
          <p:nvPr/>
        </p:nvSpPr>
        <p:spPr>
          <a:xfrm>
            <a:off x="2205729" y="702564"/>
            <a:ext cx="6952232" cy="830997"/>
          </a:xfrm>
          <a:prstGeom prst="rect">
            <a:avLst/>
          </a:prstGeom>
          <a:noFill/>
        </p:spPr>
        <p:txBody>
          <a:bodyPr wrap="square">
            <a:spAutoFit/>
          </a:bodyPr>
          <a:lstStyle/>
          <a:p>
            <a:r>
              <a:rPr lang="es-ES" sz="1600" b="1" dirty="0"/>
              <a:t>TCP/IP </a:t>
            </a:r>
            <a:r>
              <a:rPr lang="es-ES" sz="1600" dirty="0"/>
              <a:t>es la tecnología real que mueve todo el tráfico de Internet hoy en día, mientras que </a:t>
            </a:r>
            <a:r>
              <a:rPr lang="es-ES" sz="1600" b="1" dirty="0"/>
              <a:t>OSI</a:t>
            </a:r>
            <a:r>
              <a:rPr lang="es-ES" sz="1600" dirty="0"/>
              <a:t> quedó relegado a ser el modelo educativo universal usado por los ingenieros para entender y diagnosticar redes.</a:t>
            </a:r>
          </a:p>
        </p:txBody>
      </p:sp>
      <p:sp>
        <p:nvSpPr>
          <p:cNvPr id="14" name="CuadroTexto 13">
            <a:extLst>
              <a:ext uri="{FF2B5EF4-FFF2-40B4-BE49-F238E27FC236}">
                <a16:creationId xmlns:a16="http://schemas.microsoft.com/office/drawing/2014/main" id="{119901BF-3A84-8458-EC8D-49733EE8865B}"/>
              </a:ext>
            </a:extLst>
          </p:cNvPr>
          <p:cNvSpPr txBox="1"/>
          <p:nvPr/>
        </p:nvSpPr>
        <p:spPr>
          <a:xfrm>
            <a:off x="6096000" y="5645823"/>
            <a:ext cx="5004769" cy="1107996"/>
          </a:xfrm>
          <a:prstGeom prst="rect">
            <a:avLst/>
          </a:prstGeom>
          <a:noFill/>
        </p:spPr>
        <p:txBody>
          <a:bodyPr wrap="square">
            <a:spAutoFit/>
          </a:bodyPr>
          <a:lstStyle/>
          <a:p>
            <a:r>
              <a:rPr lang="es-ES" sz="1600" dirty="0"/>
              <a:t>El Modelo TCP/IP es el conjunto de reglas y protocolos que permite la comunicación entre computadoras en una red. Es la tecnología real y el motor que hace funcionar a todo el Internet hoy en día.</a:t>
            </a:r>
          </a:p>
        </p:txBody>
      </p:sp>
      <p:sp>
        <p:nvSpPr>
          <p:cNvPr id="16" name="CuadroTexto 15">
            <a:extLst>
              <a:ext uri="{FF2B5EF4-FFF2-40B4-BE49-F238E27FC236}">
                <a16:creationId xmlns:a16="http://schemas.microsoft.com/office/drawing/2014/main" id="{D29A68AF-159A-38A3-720F-3F639E828F92}"/>
              </a:ext>
            </a:extLst>
          </p:cNvPr>
          <p:cNvSpPr txBox="1"/>
          <p:nvPr/>
        </p:nvSpPr>
        <p:spPr>
          <a:xfrm>
            <a:off x="87253" y="5738156"/>
            <a:ext cx="5416598" cy="923330"/>
          </a:xfrm>
          <a:prstGeom prst="rect">
            <a:avLst/>
          </a:prstGeom>
          <a:noFill/>
        </p:spPr>
        <p:txBody>
          <a:bodyPr wrap="square">
            <a:spAutoFit/>
          </a:bodyPr>
          <a:lstStyle/>
          <a:p>
            <a:r>
              <a:rPr lang="es-ES" dirty="0"/>
              <a:t>Cuando los profesionales de redes hablan entre sí, no usan los términos de TCP/IP; usan las capas de OSI como referencia universal.</a:t>
            </a:r>
          </a:p>
        </p:txBody>
      </p:sp>
      <p:pic>
        <p:nvPicPr>
          <p:cNvPr id="17" name="Imagen 16">
            <a:extLst>
              <a:ext uri="{FF2B5EF4-FFF2-40B4-BE49-F238E27FC236}">
                <a16:creationId xmlns:a16="http://schemas.microsoft.com/office/drawing/2014/main" id="{F242D091-5D56-2888-90B7-5881DBBB0B50}"/>
              </a:ext>
            </a:extLst>
          </p:cNvPr>
          <p:cNvPicPr>
            <a:picLocks noChangeAspect="1"/>
          </p:cNvPicPr>
          <p:nvPr/>
        </p:nvPicPr>
        <p:blipFill>
          <a:blip r:embed="rId3"/>
          <a:stretch>
            <a:fillRect/>
          </a:stretch>
        </p:blipFill>
        <p:spPr>
          <a:xfrm>
            <a:off x="9589948" y="226569"/>
            <a:ext cx="2406774" cy="1657435"/>
          </a:xfrm>
          <a:prstGeom prst="rect">
            <a:avLst/>
          </a:prstGeom>
        </p:spPr>
      </p:pic>
      <p:sp>
        <p:nvSpPr>
          <p:cNvPr id="19" name="CuadroTexto 18">
            <a:extLst>
              <a:ext uri="{FF2B5EF4-FFF2-40B4-BE49-F238E27FC236}">
                <a16:creationId xmlns:a16="http://schemas.microsoft.com/office/drawing/2014/main" id="{C8F806BD-4D16-CC7D-467D-114E971B20EF}"/>
              </a:ext>
            </a:extLst>
          </p:cNvPr>
          <p:cNvSpPr txBox="1"/>
          <p:nvPr/>
        </p:nvSpPr>
        <p:spPr>
          <a:xfrm>
            <a:off x="9589948" y="2203746"/>
            <a:ext cx="2602052" cy="1200329"/>
          </a:xfrm>
          <a:prstGeom prst="rect">
            <a:avLst/>
          </a:prstGeom>
          <a:noFill/>
        </p:spPr>
        <p:txBody>
          <a:bodyPr wrap="square">
            <a:spAutoFit/>
          </a:bodyPr>
          <a:lstStyle/>
          <a:p>
            <a:r>
              <a:rPr lang="es-ES" dirty="0"/>
              <a:t>💡Los protocolos interactúan entre sí siguiendo las reglas del modelo.</a:t>
            </a:r>
          </a:p>
        </p:txBody>
      </p:sp>
      <p:sp>
        <p:nvSpPr>
          <p:cNvPr id="20" name="CuadroTexto 19">
            <a:extLst>
              <a:ext uri="{FF2B5EF4-FFF2-40B4-BE49-F238E27FC236}">
                <a16:creationId xmlns:a16="http://schemas.microsoft.com/office/drawing/2014/main" id="{40277A7B-C8C0-232E-8A6B-7E430FFC5246}"/>
              </a:ext>
            </a:extLst>
          </p:cNvPr>
          <p:cNvSpPr txBox="1"/>
          <p:nvPr/>
        </p:nvSpPr>
        <p:spPr>
          <a:xfrm>
            <a:off x="4123052" y="236193"/>
            <a:ext cx="3117585" cy="369332"/>
          </a:xfrm>
          <a:prstGeom prst="rect">
            <a:avLst/>
          </a:prstGeom>
          <a:noFill/>
        </p:spPr>
        <p:txBody>
          <a:bodyPr wrap="none" rtlCol="0">
            <a:spAutoFit/>
          </a:bodyPr>
          <a:lstStyle/>
          <a:p>
            <a:r>
              <a:rPr lang="es-ES" b="1" dirty="0"/>
              <a:t>El modelo que rige las redes</a:t>
            </a:r>
          </a:p>
        </p:txBody>
      </p:sp>
      <p:sp>
        <p:nvSpPr>
          <p:cNvPr id="21" name="CuadroTexto 20">
            <a:extLst>
              <a:ext uri="{FF2B5EF4-FFF2-40B4-BE49-F238E27FC236}">
                <a16:creationId xmlns:a16="http://schemas.microsoft.com/office/drawing/2014/main" id="{90A7FB04-42AF-A38A-EF6F-14DFB6B06E35}"/>
              </a:ext>
            </a:extLst>
          </p:cNvPr>
          <p:cNvSpPr txBox="1"/>
          <p:nvPr/>
        </p:nvSpPr>
        <p:spPr>
          <a:xfrm>
            <a:off x="6095999" y="4715813"/>
            <a:ext cx="4060123" cy="646331"/>
          </a:xfrm>
          <a:prstGeom prst="rect">
            <a:avLst/>
          </a:prstGeom>
          <a:noFill/>
        </p:spPr>
        <p:txBody>
          <a:bodyPr wrap="square" rtlCol="0">
            <a:spAutoFit/>
          </a:bodyPr>
          <a:lstStyle/>
          <a:p>
            <a:r>
              <a:rPr lang="es-ES" dirty="0"/>
              <a:t>Actual (El modelo </a:t>
            </a:r>
            <a:r>
              <a:rPr lang="es-ES" b="1" dirty="0"/>
              <a:t>TCP/IP </a:t>
            </a:r>
            <a:r>
              <a:rPr lang="es-ES" dirty="0"/>
              <a:t>es el modelo real que entienden las </a:t>
            </a:r>
            <a:r>
              <a:rPr lang="es-ES" b="1" dirty="0"/>
              <a:t>maquinas</a:t>
            </a:r>
            <a:r>
              <a:rPr lang="es-ES" dirty="0"/>
              <a:t>)</a:t>
            </a:r>
          </a:p>
        </p:txBody>
      </p:sp>
      <p:sp>
        <p:nvSpPr>
          <p:cNvPr id="23" name="CuadroTexto 22">
            <a:extLst>
              <a:ext uri="{FF2B5EF4-FFF2-40B4-BE49-F238E27FC236}">
                <a16:creationId xmlns:a16="http://schemas.microsoft.com/office/drawing/2014/main" id="{A02B9FE7-2C0F-CFCA-CD8E-C34852A29AE7}"/>
              </a:ext>
            </a:extLst>
          </p:cNvPr>
          <p:cNvSpPr txBox="1"/>
          <p:nvPr/>
        </p:nvSpPr>
        <p:spPr>
          <a:xfrm>
            <a:off x="104121" y="4739189"/>
            <a:ext cx="4356197" cy="646331"/>
          </a:xfrm>
          <a:prstGeom prst="rect">
            <a:avLst/>
          </a:prstGeom>
          <a:noFill/>
        </p:spPr>
        <p:txBody>
          <a:bodyPr wrap="square" rtlCol="0">
            <a:spAutoFit/>
          </a:bodyPr>
          <a:lstStyle/>
          <a:p>
            <a:r>
              <a:rPr lang="es-ES" dirty="0"/>
              <a:t>El modelo </a:t>
            </a:r>
            <a:r>
              <a:rPr lang="es-ES" b="1" dirty="0"/>
              <a:t>OSI</a:t>
            </a:r>
            <a:r>
              <a:rPr lang="es-ES" dirty="0"/>
              <a:t> es el modelo conceptual que entienden las </a:t>
            </a:r>
            <a:r>
              <a:rPr lang="es-ES" b="1" dirty="0"/>
              <a:t>personas</a:t>
            </a:r>
            <a:r>
              <a:rPr lang="es-ES" dirty="0"/>
              <a:t>.</a:t>
            </a:r>
          </a:p>
        </p:txBody>
      </p:sp>
      <p:pic>
        <p:nvPicPr>
          <p:cNvPr id="6" name="Imagen 5">
            <a:extLst>
              <a:ext uri="{FF2B5EF4-FFF2-40B4-BE49-F238E27FC236}">
                <a16:creationId xmlns:a16="http://schemas.microsoft.com/office/drawing/2014/main" id="{3AB07CFD-65D1-3FDB-27E7-AA1A60A2A4A7}"/>
              </a:ext>
            </a:extLst>
          </p:cNvPr>
          <p:cNvPicPr>
            <a:picLocks noChangeAspect="1"/>
          </p:cNvPicPr>
          <p:nvPr/>
        </p:nvPicPr>
        <p:blipFill>
          <a:blip r:embed="rId4"/>
          <a:stretch>
            <a:fillRect/>
          </a:stretch>
        </p:blipFill>
        <p:spPr>
          <a:xfrm>
            <a:off x="10430315" y="1884004"/>
            <a:ext cx="670454" cy="217099"/>
          </a:xfrm>
          <a:prstGeom prst="rect">
            <a:avLst/>
          </a:prstGeom>
        </p:spPr>
      </p:pic>
    </p:spTree>
    <p:extLst>
      <p:ext uri="{BB962C8B-B14F-4D97-AF65-F5344CB8AC3E}">
        <p14:creationId xmlns:p14="http://schemas.microsoft.com/office/powerpoint/2010/main" val="2234371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3CCC8123-3E13-D116-F27F-B928AA1DA2A9}"/>
              </a:ext>
            </a:extLst>
          </p:cNvPr>
          <p:cNvSpPr txBox="1"/>
          <p:nvPr/>
        </p:nvSpPr>
        <p:spPr>
          <a:xfrm>
            <a:off x="2978835" y="377203"/>
            <a:ext cx="5785943" cy="369332"/>
          </a:xfrm>
          <a:prstGeom prst="rect">
            <a:avLst/>
          </a:prstGeom>
          <a:noFill/>
        </p:spPr>
        <p:txBody>
          <a:bodyPr wrap="none" rtlCol="0">
            <a:spAutoFit/>
          </a:bodyPr>
          <a:lstStyle/>
          <a:p>
            <a:r>
              <a:rPr lang="es-ES" b="1" dirty="0"/>
              <a:t>¿Para que nos sirve y como utilizamos el modelo OSI?</a:t>
            </a:r>
          </a:p>
        </p:txBody>
      </p:sp>
      <p:sp>
        <p:nvSpPr>
          <p:cNvPr id="10" name="CuadroTexto 9">
            <a:extLst>
              <a:ext uri="{FF2B5EF4-FFF2-40B4-BE49-F238E27FC236}">
                <a16:creationId xmlns:a16="http://schemas.microsoft.com/office/drawing/2014/main" id="{6DF28E6E-BB29-4DEF-40B8-B0D4ECFBA360}"/>
              </a:ext>
            </a:extLst>
          </p:cNvPr>
          <p:cNvSpPr txBox="1"/>
          <p:nvPr/>
        </p:nvSpPr>
        <p:spPr>
          <a:xfrm>
            <a:off x="-1718863" y="0"/>
            <a:ext cx="6097162" cy="584775"/>
          </a:xfrm>
          <a:prstGeom prst="rect">
            <a:avLst/>
          </a:prstGeom>
          <a:noFill/>
        </p:spPr>
        <p:txBody>
          <a:bodyPr wrap="square">
            <a:spAutoFit/>
          </a:bodyPr>
          <a:lstStyle/>
          <a:p>
            <a:pPr marL="342900" indent="-342900" algn="ctr">
              <a:buAutoNum type="arabicPeriod"/>
            </a:pPr>
            <a:r>
              <a:rPr lang="es-ES" sz="1600" b="0" cap="none" spc="0" dirty="0">
                <a:ln w="0"/>
                <a:solidFill>
                  <a:schemeClr val="tx1"/>
                </a:solidFill>
                <a:effectLst>
                  <a:outerShdw blurRad="38100" dist="19050" dir="2700000" algn="tl" rotWithShape="0">
                    <a:schemeClr val="dk1">
                      <a:alpha val="40000"/>
                    </a:schemeClr>
                  </a:outerShdw>
                </a:effectLst>
              </a:rPr>
              <a:t>Introducción a las redes</a:t>
            </a:r>
          </a:p>
          <a:p>
            <a:pPr algn="ctr"/>
            <a:r>
              <a:rPr lang="es-ES" sz="1600" b="0" cap="none" spc="0" dirty="0">
                <a:ln w="0"/>
                <a:solidFill>
                  <a:schemeClr val="tx1"/>
                </a:solidFill>
                <a:effectLst>
                  <a:outerShdw blurRad="38100" dist="19050" dir="2700000" algn="tl" rotWithShape="0">
                    <a:schemeClr val="dk1">
                      <a:alpha val="40000"/>
                    </a:schemeClr>
                  </a:outerShdw>
                </a:effectLst>
              </a:rPr>
              <a:t>El idioma que usan las redes</a:t>
            </a:r>
          </a:p>
        </p:txBody>
      </p:sp>
      <p:sp>
        <p:nvSpPr>
          <p:cNvPr id="11" name="CuadroTexto 10">
            <a:extLst>
              <a:ext uri="{FF2B5EF4-FFF2-40B4-BE49-F238E27FC236}">
                <a16:creationId xmlns:a16="http://schemas.microsoft.com/office/drawing/2014/main" id="{FDF3AE3F-ED65-13EA-E057-A0099B9D2480}"/>
              </a:ext>
            </a:extLst>
          </p:cNvPr>
          <p:cNvSpPr txBox="1"/>
          <p:nvPr/>
        </p:nvSpPr>
        <p:spPr>
          <a:xfrm>
            <a:off x="2016098" y="848677"/>
            <a:ext cx="7853724" cy="1477328"/>
          </a:xfrm>
          <a:prstGeom prst="rect">
            <a:avLst/>
          </a:prstGeom>
          <a:noFill/>
        </p:spPr>
        <p:txBody>
          <a:bodyPr wrap="square" rtlCol="0">
            <a:spAutoFit/>
          </a:bodyPr>
          <a:lstStyle/>
          <a:p>
            <a:r>
              <a:rPr lang="es-ES" dirty="0"/>
              <a:t>1.-Aplicar la Metodología de "Troubleshooting" (Resolución de fallas)</a:t>
            </a:r>
          </a:p>
          <a:p>
            <a:r>
              <a:rPr lang="es-ES" dirty="0"/>
              <a:t>2.-Dominar las "PDU" (Unidades de Datos de Protocolo)</a:t>
            </a:r>
          </a:p>
          <a:p>
            <a:r>
              <a:rPr lang="es-ES" dirty="0"/>
              <a:t>3.-Para un técnico CCNA, el secreto para una buena practica en la configuracion, administración y resolución de problemas en la red está en asociar </a:t>
            </a:r>
            <a:r>
              <a:rPr lang="es-ES" b="1" dirty="0"/>
              <a:t>un equipo, un protocolo y una capa del modelo OSI</a:t>
            </a:r>
            <a:r>
              <a:rPr lang="es-ES" dirty="0"/>
              <a:t>.</a:t>
            </a:r>
          </a:p>
        </p:txBody>
      </p:sp>
      <p:pic>
        <p:nvPicPr>
          <p:cNvPr id="12" name="Imagen 11">
            <a:extLst>
              <a:ext uri="{FF2B5EF4-FFF2-40B4-BE49-F238E27FC236}">
                <a16:creationId xmlns:a16="http://schemas.microsoft.com/office/drawing/2014/main" id="{DC44443B-5F26-441C-B1B0-269C5955BF2B}"/>
              </a:ext>
            </a:extLst>
          </p:cNvPr>
          <p:cNvPicPr>
            <a:picLocks noChangeAspect="1"/>
          </p:cNvPicPr>
          <p:nvPr/>
        </p:nvPicPr>
        <p:blipFill>
          <a:blip r:embed="rId2"/>
          <a:stretch>
            <a:fillRect/>
          </a:stretch>
        </p:blipFill>
        <p:spPr>
          <a:xfrm>
            <a:off x="9233600" y="4654655"/>
            <a:ext cx="2958400" cy="2108154"/>
          </a:xfrm>
          <a:prstGeom prst="rect">
            <a:avLst/>
          </a:prstGeom>
        </p:spPr>
      </p:pic>
      <p:sp>
        <p:nvSpPr>
          <p:cNvPr id="13" name="CuadroTexto 12">
            <a:extLst>
              <a:ext uri="{FF2B5EF4-FFF2-40B4-BE49-F238E27FC236}">
                <a16:creationId xmlns:a16="http://schemas.microsoft.com/office/drawing/2014/main" id="{C296CE9A-5B0D-C998-E4ED-6B834CC97A23}"/>
              </a:ext>
            </a:extLst>
          </p:cNvPr>
          <p:cNvSpPr txBox="1"/>
          <p:nvPr/>
        </p:nvSpPr>
        <p:spPr>
          <a:xfrm>
            <a:off x="9505235" y="3237014"/>
            <a:ext cx="2540774" cy="1477328"/>
          </a:xfrm>
          <a:prstGeom prst="rect">
            <a:avLst/>
          </a:prstGeom>
          <a:noFill/>
        </p:spPr>
        <p:txBody>
          <a:bodyPr wrap="square" rtlCol="0">
            <a:spAutoFit/>
          </a:bodyPr>
          <a:lstStyle/>
          <a:p>
            <a:r>
              <a:rPr lang="es-ES" dirty="0"/>
              <a:t>💡</a:t>
            </a:r>
            <a:r>
              <a:rPr lang="es-ES" b="1" dirty="0"/>
              <a:t>PDUS</a:t>
            </a:r>
            <a:r>
              <a:rPr lang="es-ES" dirty="0"/>
              <a:t>: representan el formato y el nombre específico que reciben los datos en cada capa del modelo de red:</a:t>
            </a:r>
          </a:p>
        </p:txBody>
      </p:sp>
      <p:graphicFrame>
        <p:nvGraphicFramePr>
          <p:cNvPr id="16" name="Tabla 15">
            <a:extLst>
              <a:ext uri="{FF2B5EF4-FFF2-40B4-BE49-F238E27FC236}">
                <a16:creationId xmlns:a16="http://schemas.microsoft.com/office/drawing/2014/main" id="{E5661D67-E6E3-7831-17C3-FB8F238BDEB2}"/>
              </a:ext>
            </a:extLst>
          </p:cNvPr>
          <p:cNvGraphicFramePr>
            <a:graphicFrameLocks noGrp="1"/>
          </p:cNvGraphicFramePr>
          <p:nvPr>
            <p:extLst>
              <p:ext uri="{D42A27DB-BD31-4B8C-83A1-F6EECF244321}">
                <p14:modId xmlns:p14="http://schemas.microsoft.com/office/powerpoint/2010/main" val="3789244815"/>
              </p:ext>
            </p:extLst>
          </p:nvPr>
        </p:nvGraphicFramePr>
        <p:xfrm>
          <a:off x="2703062" y="3475248"/>
          <a:ext cx="5540499" cy="3062642"/>
        </p:xfrm>
        <a:graphic>
          <a:graphicData uri="http://schemas.openxmlformats.org/drawingml/2006/table">
            <a:tbl>
              <a:tblPr firstRow="1" bandRow="1">
                <a:tableStyleId>{616DA210-FB5B-4158-B5E0-FEB733F419BA}</a:tableStyleId>
              </a:tblPr>
              <a:tblGrid>
                <a:gridCol w="1846833">
                  <a:extLst>
                    <a:ext uri="{9D8B030D-6E8A-4147-A177-3AD203B41FA5}">
                      <a16:colId xmlns:a16="http://schemas.microsoft.com/office/drawing/2014/main" val="518499385"/>
                    </a:ext>
                  </a:extLst>
                </a:gridCol>
                <a:gridCol w="2687903">
                  <a:extLst>
                    <a:ext uri="{9D8B030D-6E8A-4147-A177-3AD203B41FA5}">
                      <a16:colId xmlns:a16="http://schemas.microsoft.com/office/drawing/2014/main" val="4153261086"/>
                    </a:ext>
                  </a:extLst>
                </a:gridCol>
                <a:gridCol w="1005763">
                  <a:extLst>
                    <a:ext uri="{9D8B030D-6E8A-4147-A177-3AD203B41FA5}">
                      <a16:colId xmlns:a16="http://schemas.microsoft.com/office/drawing/2014/main" val="3881951664"/>
                    </a:ext>
                  </a:extLst>
                </a:gridCol>
              </a:tblGrid>
              <a:tr h="378883">
                <a:tc>
                  <a:txBody>
                    <a:bodyPr/>
                    <a:lstStyle/>
                    <a:p>
                      <a:pPr algn="ctr"/>
                      <a:r>
                        <a:rPr lang="es-ES" dirty="0"/>
                        <a:t>Capa</a:t>
                      </a:r>
                    </a:p>
                  </a:txBody>
                  <a:tcPr/>
                </a:tc>
                <a:tc>
                  <a:txBody>
                    <a:bodyPr/>
                    <a:lstStyle/>
                    <a:p>
                      <a:r>
                        <a:rPr lang="es-ES" sz="1600" dirty="0"/>
                        <a:t>Protocolos o Estándares</a:t>
                      </a:r>
                      <a:endParaRPr lang="es-ES" dirty="0"/>
                    </a:p>
                  </a:txBody>
                  <a:tcPr/>
                </a:tc>
                <a:tc>
                  <a:txBody>
                    <a:bodyPr/>
                    <a:lstStyle/>
                    <a:p>
                      <a:pPr algn="ctr"/>
                      <a:r>
                        <a:rPr lang="es-ES" dirty="0"/>
                        <a:t>PDU</a:t>
                      </a:r>
                    </a:p>
                  </a:txBody>
                  <a:tcPr/>
                </a:tc>
                <a:extLst>
                  <a:ext uri="{0D108BD9-81ED-4DB2-BD59-A6C34878D82A}">
                    <a16:rowId xmlns:a16="http://schemas.microsoft.com/office/drawing/2014/main" val="1407399704"/>
                  </a:ext>
                </a:extLst>
              </a:tr>
              <a:tr h="378883">
                <a:tc>
                  <a:txBody>
                    <a:bodyPr/>
                    <a:lstStyle/>
                    <a:p>
                      <a:pPr algn="ctr"/>
                      <a:r>
                        <a:rPr lang="es-ES" dirty="0"/>
                        <a:t>Aplicación</a:t>
                      </a:r>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943816364"/>
                  </a:ext>
                </a:extLst>
              </a:tr>
              <a:tr h="384146">
                <a:tc>
                  <a:txBody>
                    <a:bodyPr/>
                    <a:lstStyle/>
                    <a:p>
                      <a:pPr algn="ctr"/>
                      <a:r>
                        <a:rPr lang="es-ES" dirty="0"/>
                        <a:t>Presentación</a:t>
                      </a:r>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0388115"/>
                  </a:ext>
                </a:extLst>
              </a:tr>
              <a:tr h="384146">
                <a:tc>
                  <a:txBody>
                    <a:bodyPr/>
                    <a:lstStyle/>
                    <a:p>
                      <a:pPr algn="ctr"/>
                      <a:r>
                        <a:rPr lang="es-ES" dirty="0"/>
                        <a:t>Sesión</a:t>
                      </a:r>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3210187"/>
                  </a:ext>
                </a:extLst>
              </a:tr>
              <a:tr h="384146">
                <a:tc>
                  <a:txBody>
                    <a:bodyPr/>
                    <a:lstStyle/>
                    <a:p>
                      <a:pPr algn="ctr"/>
                      <a:r>
                        <a:rPr lang="es-ES" dirty="0"/>
                        <a:t>Transporte</a:t>
                      </a:r>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191587510"/>
                  </a:ext>
                </a:extLst>
              </a:tr>
              <a:tr h="384146">
                <a:tc>
                  <a:txBody>
                    <a:bodyPr/>
                    <a:lstStyle/>
                    <a:p>
                      <a:pPr algn="ctr"/>
                      <a:r>
                        <a:rPr lang="es-ES" dirty="0"/>
                        <a:t>Red</a:t>
                      </a:r>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37778484"/>
                  </a:ext>
                </a:extLst>
              </a:tr>
              <a:tr h="384146">
                <a:tc>
                  <a:txBody>
                    <a:bodyPr/>
                    <a:lstStyle/>
                    <a:p>
                      <a:pPr algn="ctr"/>
                      <a:r>
                        <a:rPr lang="es-ES" dirty="0"/>
                        <a:t>Enlace de Datos</a:t>
                      </a:r>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073030"/>
                  </a:ext>
                </a:extLst>
              </a:tr>
              <a:tr h="384146">
                <a:tc>
                  <a:txBody>
                    <a:bodyPr/>
                    <a:lstStyle/>
                    <a:p>
                      <a:pPr algn="ctr"/>
                      <a:r>
                        <a:rPr lang="es-ES" dirty="0"/>
                        <a:t>Física</a:t>
                      </a:r>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5256843"/>
                  </a:ext>
                </a:extLst>
              </a:tr>
            </a:tbl>
          </a:graphicData>
        </a:graphic>
      </p:graphicFrame>
      <p:pic>
        <p:nvPicPr>
          <p:cNvPr id="18" name="Imagen 17">
            <a:extLst>
              <a:ext uri="{FF2B5EF4-FFF2-40B4-BE49-F238E27FC236}">
                <a16:creationId xmlns:a16="http://schemas.microsoft.com/office/drawing/2014/main" id="{0716BB5D-694B-516A-184B-129C2A16C557}"/>
              </a:ext>
            </a:extLst>
          </p:cNvPr>
          <p:cNvPicPr>
            <a:picLocks noChangeAspect="1"/>
          </p:cNvPicPr>
          <p:nvPr/>
        </p:nvPicPr>
        <p:blipFill>
          <a:blip r:embed="rId3"/>
          <a:stretch>
            <a:fillRect/>
          </a:stretch>
        </p:blipFill>
        <p:spPr>
          <a:xfrm>
            <a:off x="197267" y="3603405"/>
            <a:ext cx="2505796" cy="3062641"/>
          </a:xfrm>
          <a:prstGeom prst="rect">
            <a:avLst/>
          </a:prstGeom>
        </p:spPr>
      </p:pic>
      <p:pic>
        <p:nvPicPr>
          <p:cNvPr id="15" name="Imagen 14">
            <a:extLst>
              <a:ext uri="{FF2B5EF4-FFF2-40B4-BE49-F238E27FC236}">
                <a16:creationId xmlns:a16="http://schemas.microsoft.com/office/drawing/2014/main" id="{70F13F5F-0B5A-FFA9-D4FF-A272FFE21640}"/>
              </a:ext>
            </a:extLst>
          </p:cNvPr>
          <p:cNvPicPr>
            <a:picLocks noChangeAspect="1"/>
          </p:cNvPicPr>
          <p:nvPr/>
        </p:nvPicPr>
        <p:blipFill>
          <a:blip r:embed="rId4"/>
          <a:stretch>
            <a:fillRect/>
          </a:stretch>
        </p:blipFill>
        <p:spPr>
          <a:xfrm>
            <a:off x="5202643" y="4997833"/>
            <a:ext cx="1224593" cy="311519"/>
          </a:xfrm>
          <a:prstGeom prst="rect">
            <a:avLst/>
          </a:prstGeom>
        </p:spPr>
      </p:pic>
      <p:pic>
        <p:nvPicPr>
          <p:cNvPr id="20" name="Imagen 19">
            <a:extLst>
              <a:ext uri="{FF2B5EF4-FFF2-40B4-BE49-F238E27FC236}">
                <a16:creationId xmlns:a16="http://schemas.microsoft.com/office/drawing/2014/main" id="{F1A6D474-4ED9-0B64-F677-8882BD12CF6B}"/>
              </a:ext>
            </a:extLst>
          </p:cNvPr>
          <p:cNvPicPr>
            <a:picLocks noChangeAspect="1"/>
          </p:cNvPicPr>
          <p:nvPr/>
        </p:nvPicPr>
        <p:blipFill>
          <a:blip r:embed="rId5"/>
          <a:stretch>
            <a:fillRect/>
          </a:stretch>
        </p:blipFill>
        <p:spPr>
          <a:xfrm>
            <a:off x="4607742" y="5412500"/>
            <a:ext cx="2306626" cy="236841"/>
          </a:xfrm>
          <a:prstGeom prst="rect">
            <a:avLst/>
          </a:prstGeom>
        </p:spPr>
      </p:pic>
      <p:pic>
        <p:nvPicPr>
          <p:cNvPr id="26" name="Imagen 25">
            <a:extLst>
              <a:ext uri="{FF2B5EF4-FFF2-40B4-BE49-F238E27FC236}">
                <a16:creationId xmlns:a16="http://schemas.microsoft.com/office/drawing/2014/main" id="{6A5D0B4C-508A-329F-403E-846E25CED0DB}"/>
              </a:ext>
            </a:extLst>
          </p:cNvPr>
          <p:cNvPicPr>
            <a:picLocks noChangeAspect="1"/>
          </p:cNvPicPr>
          <p:nvPr/>
        </p:nvPicPr>
        <p:blipFill>
          <a:blip r:embed="rId6"/>
          <a:stretch>
            <a:fillRect/>
          </a:stretch>
        </p:blipFill>
        <p:spPr>
          <a:xfrm>
            <a:off x="5965554" y="5815018"/>
            <a:ext cx="1233941" cy="160786"/>
          </a:xfrm>
          <a:prstGeom prst="rect">
            <a:avLst/>
          </a:prstGeom>
        </p:spPr>
      </p:pic>
      <p:pic>
        <p:nvPicPr>
          <p:cNvPr id="28" name="Imagen 27">
            <a:extLst>
              <a:ext uri="{FF2B5EF4-FFF2-40B4-BE49-F238E27FC236}">
                <a16:creationId xmlns:a16="http://schemas.microsoft.com/office/drawing/2014/main" id="{FECEB77E-ED1E-8F8E-3C2D-ACB766CE1BF7}"/>
              </a:ext>
            </a:extLst>
          </p:cNvPr>
          <p:cNvPicPr>
            <a:picLocks noChangeAspect="1"/>
          </p:cNvPicPr>
          <p:nvPr/>
        </p:nvPicPr>
        <p:blipFill>
          <a:blip r:embed="rId7"/>
          <a:stretch>
            <a:fillRect/>
          </a:stretch>
        </p:blipFill>
        <p:spPr>
          <a:xfrm>
            <a:off x="4978450" y="3868536"/>
            <a:ext cx="1672978" cy="328673"/>
          </a:xfrm>
          <a:prstGeom prst="rect">
            <a:avLst/>
          </a:prstGeom>
        </p:spPr>
      </p:pic>
      <p:pic>
        <p:nvPicPr>
          <p:cNvPr id="30" name="Imagen 29">
            <a:extLst>
              <a:ext uri="{FF2B5EF4-FFF2-40B4-BE49-F238E27FC236}">
                <a16:creationId xmlns:a16="http://schemas.microsoft.com/office/drawing/2014/main" id="{4B355C81-732F-237A-879F-21141169EA04}"/>
              </a:ext>
            </a:extLst>
          </p:cNvPr>
          <p:cNvPicPr>
            <a:picLocks noChangeAspect="1"/>
          </p:cNvPicPr>
          <p:nvPr/>
        </p:nvPicPr>
        <p:blipFill>
          <a:blip r:embed="rId8"/>
          <a:stretch>
            <a:fillRect/>
          </a:stretch>
        </p:blipFill>
        <p:spPr>
          <a:xfrm>
            <a:off x="5161089" y="4617518"/>
            <a:ext cx="1421436" cy="292153"/>
          </a:xfrm>
          <a:prstGeom prst="rect">
            <a:avLst/>
          </a:prstGeom>
        </p:spPr>
      </p:pic>
      <p:pic>
        <p:nvPicPr>
          <p:cNvPr id="32" name="Imagen 31">
            <a:extLst>
              <a:ext uri="{FF2B5EF4-FFF2-40B4-BE49-F238E27FC236}">
                <a16:creationId xmlns:a16="http://schemas.microsoft.com/office/drawing/2014/main" id="{BE1F1EE1-721F-7E6E-233F-2103BC853091}"/>
              </a:ext>
            </a:extLst>
          </p:cNvPr>
          <p:cNvPicPr>
            <a:picLocks noChangeAspect="1"/>
          </p:cNvPicPr>
          <p:nvPr/>
        </p:nvPicPr>
        <p:blipFill>
          <a:blip r:embed="rId9"/>
          <a:stretch>
            <a:fillRect/>
          </a:stretch>
        </p:blipFill>
        <p:spPr>
          <a:xfrm>
            <a:off x="4601419" y="4290546"/>
            <a:ext cx="2441555" cy="224511"/>
          </a:xfrm>
          <a:prstGeom prst="rect">
            <a:avLst/>
          </a:prstGeom>
        </p:spPr>
      </p:pic>
      <p:sp>
        <p:nvSpPr>
          <p:cNvPr id="34" name="CuadroTexto 33">
            <a:extLst>
              <a:ext uri="{FF2B5EF4-FFF2-40B4-BE49-F238E27FC236}">
                <a16:creationId xmlns:a16="http://schemas.microsoft.com/office/drawing/2014/main" id="{8B02FCE3-5BE1-E943-9CFD-AFA7DBB6B750}"/>
              </a:ext>
            </a:extLst>
          </p:cNvPr>
          <p:cNvSpPr txBox="1"/>
          <p:nvPr/>
        </p:nvSpPr>
        <p:spPr>
          <a:xfrm>
            <a:off x="4601419" y="6203193"/>
            <a:ext cx="2922532" cy="276999"/>
          </a:xfrm>
          <a:prstGeom prst="rect">
            <a:avLst/>
          </a:prstGeom>
          <a:noFill/>
        </p:spPr>
        <p:txBody>
          <a:bodyPr wrap="square">
            <a:spAutoFit/>
          </a:bodyPr>
          <a:lstStyle/>
          <a:p>
            <a:r>
              <a:rPr lang="es-ES" sz="1200" b="1" dirty="0"/>
              <a:t>IEEE 802.3 (Ethernet), IEEE 802.11</a:t>
            </a:r>
          </a:p>
        </p:txBody>
      </p:sp>
      <p:pic>
        <p:nvPicPr>
          <p:cNvPr id="36" name="Imagen 35">
            <a:extLst>
              <a:ext uri="{FF2B5EF4-FFF2-40B4-BE49-F238E27FC236}">
                <a16:creationId xmlns:a16="http://schemas.microsoft.com/office/drawing/2014/main" id="{86B6E774-D6ED-AFD3-F77D-3175F9BA9C1D}"/>
              </a:ext>
            </a:extLst>
          </p:cNvPr>
          <p:cNvPicPr>
            <a:picLocks noChangeAspect="1"/>
          </p:cNvPicPr>
          <p:nvPr/>
        </p:nvPicPr>
        <p:blipFill>
          <a:blip r:embed="rId10"/>
          <a:stretch>
            <a:fillRect/>
          </a:stretch>
        </p:blipFill>
        <p:spPr>
          <a:xfrm>
            <a:off x="7359664" y="6199098"/>
            <a:ext cx="659306" cy="243315"/>
          </a:xfrm>
          <a:prstGeom prst="rect">
            <a:avLst/>
          </a:prstGeom>
        </p:spPr>
      </p:pic>
      <p:pic>
        <p:nvPicPr>
          <p:cNvPr id="38" name="Imagen 37">
            <a:extLst>
              <a:ext uri="{FF2B5EF4-FFF2-40B4-BE49-F238E27FC236}">
                <a16:creationId xmlns:a16="http://schemas.microsoft.com/office/drawing/2014/main" id="{F407ADD0-631F-EF79-680A-3645A7602103}"/>
              </a:ext>
            </a:extLst>
          </p:cNvPr>
          <p:cNvPicPr>
            <a:picLocks noChangeAspect="1"/>
          </p:cNvPicPr>
          <p:nvPr/>
        </p:nvPicPr>
        <p:blipFill>
          <a:blip r:embed="rId11"/>
          <a:stretch>
            <a:fillRect/>
          </a:stretch>
        </p:blipFill>
        <p:spPr>
          <a:xfrm>
            <a:off x="7291012" y="5834438"/>
            <a:ext cx="832620" cy="248014"/>
          </a:xfrm>
          <a:prstGeom prst="rect">
            <a:avLst/>
          </a:prstGeom>
        </p:spPr>
      </p:pic>
      <p:pic>
        <p:nvPicPr>
          <p:cNvPr id="40" name="Imagen 39">
            <a:extLst>
              <a:ext uri="{FF2B5EF4-FFF2-40B4-BE49-F238E27FC236}">
                <a16:creationId xmlns:a16="http://schemas.microsoft.com/office/drawing/2014/main" id="{D1803334-6461-6776-8F79-CF181F0EB90A}"/>
              </a:ext>
            </a:extLst>
          </p:cNvPr>
          <p:cNvPicPr>
            <a:picLocks noChangeAspect="1"/>
          </p:cNvPicPr>
          <p:nvPr/>
        </p:nvPicPr>
        <p:blipFill>
          <a:blip r:embed="rId12"/>
          <a:stretch>
            <a:fillRect/>
          </a:stretch>
        </p:blipFill>
        <p:spPr>
          <a:xfrm>
            <a:off x="7317774" y="5454864"/>
            <a:ext cx="855039" cy="254692"/>
          </a:xfrm>
          <a:prstGeom prst="rect">
            <a:avLst/>
          </a:prstGeom>
        </p:spPr>
      </p:pic>
      <p:sp>
        <p:nvSpPr>
          <p:cNvPr id="41" name="CuadroTexto 40">
            <a:extLst>
              <a:ext uri="{FF2B5EF4-FFF2-40B4-BE49-F238E27FC236}">
                <a16:creationId xmlns:a16="http://schemas.microsoft.com/office/drawing/2014/main" id="{A29261A4-0A65-8F11-86FB-1280A64A4175}"/>
              </a:ext>
            </a:extLst>
          </p:cNvPr>
          <p:cNvSpPr txBox="1"/>
          <p:nvPr/>
        </p:nvSpPr>
        <p:spPr>
          <a:xfrm>
            <a:off x="-8058" y="3814764"/>
            <a:ext cx="253094" cy="2677656"/>
          </a:xfrm>
          <a:prstGeom prst="rect">
            <a:avLst/>
          </a:prstGeom>
          <a:noFill/>
        </p:spPr>
        <p:txBody>
          <a:bodyPr wrap="square" rtlCol="0">
            <a:spAutoFit/>
          </a:bodyPr>
          <a:lstStyle/>
          <a:p>
            <a:r>
              <a:rPr lang="es-ES" sz="2400" dirty="0"/>
              <a:t>7</a:t>
            </a:r>
          </a:p>
          <a:p>
            <a:r>
              <a:rPr lang="es-ES" sz="2400" dirty="0"/>
              <a:t>6</a:t>
            </a:r>
          </a:p>
          <a:p>
            <a:r>
              <a:rPr lang="es-ES" sz="2400" dirty="0"/>
              <a:t>5</a:t>
            </a:r>
          </a:p>
          <a:p>
            <a:r>
              <a:rPr lang="es-ES" sz="2400" dirty="0"/>
              <a:t>4</a:t>
            </a:r>
          </a:p>
          <a:p>
            <a:r>
              <a:rPr lang="es-ES" sz="2400" dirty="0"/>
              <a:t>3</a:t>
            </a:r>
          </a:p>
          <a:p>
            <a:r>
              <a:rPr lang="es-ES" sz="2400" dirty="0"/>
              <a:t>2</a:t>
            </a:r>
          </a:p>
          <a:p>
            <a:r>
              <a:rPr lang="es-ES" sz="2400" dirty="0"/>
              <a:t>1</a:t>
            </a:r>
          </a:p>
        </p:txBody>
      </p:sp>
      <p:pic>
        <p:nvPicPr>
          <p:cNvPr id="43" name="Imagen 42">
            <a:extLst>
              <a:ext uri="{FF2B5EF4-FFF2-40B4-BE49-F238E27FC236}">
                <a16:creationId xmlns:a16="http://schemas.microsoft.com/office/drawing/2014/main" id="{6C542D5E-D444-CDEF-ACE4-4D1F3FA49044}"/>
              </a:ext>
            </a:extLst>
          </p:cNvPr>
          <p:cNvPicPr>
            <a:picLocks noChangeAspect="1"/>
          </p:cNvPicPr>
          <p:nvPr/>
        </p:nvPicPr>
        <p:blipFill>
          <a:blip r:embed="rId13"/>
          <a:stretch>
            <a:fillRect/>
          </a:stretch>
        </p:blipFill>
        <p:spPr>
          <a:xfrm>
            <a:off x="7291012" y="5033549"/>
            <a:ext cx="921881" cy="215759"/>
          </a:xfrm>
          <a:prstGeom prst="rect">
            <a:avLst/>
          </a:prstGeom>
        </p:spPr>
      </p:pic>
      <p:pic>
        <p:nvPicPr>
          <p:cNvPr id="45" name="Imagen 44">
            <a:extLst>
              <a:ext uri="{FF2B5EF4-FFF2-40B4-BE49-F238E27FC236}">
                <a16:creationId xmlns:a16="http://schemas.microsoft.com/office/drawing/2014/main" id="{D8FB99A0-D291-5C66-7D39-D68504C1C151}"/>
              </a:ext>
            </a:extLst>
          </p:cNvPr>
          <p:cNvPicPr>
            <a:picLocks noChangeAspect="1"/>
          </p:cNvPicPr>
          <p:nvPr/>
        </p:nvPicPr>
        <p:blipFill>
          <a:blip r:embed="rId14"/>
          <a:stretch>
            <a:fillRect/>
          </a:stretch>
        </p:blipFill>
        <p:spPr>
          <a:xfrm>
            <a:off x="7401538" y="4654655"/>
            <a:ext cx="463574" cy="158758"/>
          </a:xfrm>
          <a:prstGeom prst="rect">
            <a:avLst/>
          </a:prstGeom>
        </p:spPr>
      </p:pic>
      <p:pic>
        <p:nvPicPr>
          <p:cNvPr id="47" name="Imagen 46">
            <a:extLst>
              <a:ext uri="{FF2B5EF4-FFF2-40B4-BE49-F238E27FC236}">
                <a16:creationId xmlns:a16="http://schemas.microsoft.com/office/drawing/2014/main" id="{0294208A-AE71-F5A3-35F0-5C695CAFC383}"/>
              </a:ext>
            </a:extLst>
          </p:cNvPr>
          <p:cNvPicPr>
            <a:picLocks noChangeAspect="1"/>
          </p:cNvPicPr>
          <p:nvPr/>
        </p:nvPicPr>
        <p:blipFill>
          <a:blip r:embed="rId14"/>
          <a:stretch>
            <a:fillRect/>
          </a:stretch>
        </p:blipFill>
        <p:spPr>
          <a:xfrm>
            <a:off x="7401538" y="4319103"/>
            <a:ext cx="463574" cy="158758"/>
          </a:xfrm>
          <a:prstGeom prst="rect">
            <a:avLst/>
          </a:prstGeom>
        </p:spPr>
      </p:pic>
      <p:pic>
        <p:nvPicPr>
          <p:cNvPr id="49" name="Imagen 48">
            <a:extLst>
              <a:ext uri="{FF2B5EF4-FFF2-40B4-BE49-F238E27FC236}">
                <a16:creationId xmlns:a16="http://schemas.microsoft.com/office/drawing/2014/main" id="{C18476D3-5EC9-EA2A-9408-00E06475B2C4}"/>
              </a:ext>
            </a:extLst>
          </p:cNvPr>
          <p:cNvPicPr>
            <a:picLocks noChangeAspect="1"/>
          </p:cNvPicPr>
          <p:nvPr/>
        </p:nvPicPr>
        <p:blipFill>
          <a:blip r:embed="rId14"/>
          <a:stretch>
            <a:fillRect/>
          </a:stretch>
        </p:blipFill>
        <p:spPr>
          <a:xfrm>
            <a:off x="7401538" y="3958505"/>
            <a:ext cx="463574" cy="158758"/>
          </a:xfrm>
          <a:prstGeom prst="rect">
            <a:avLst/>
          </a:prstGeom>
        </p:spPr>
      </p:pic>
      <p:sp>
        <p:nvSpPr>
          <p:cNvPr id="50" name="CuadroTexto 49">
            <a:extLst>
              <a:ext uri="{FF2B5EF4-FFF2-40B4-BE49-F238E27FC236}">
                <a16:creationId xmlns:a16="http://schemas.microsoft.com/office/drawing/2014/main" id="{3D4D41F0-17E0-347A-764E-55FE36BE93AF}"/>
              </a:ext>
            </a:extLst>
          </p:cNvPr>
          <p:cNvSpPr txBox="1"/>
          <p:nvPr/>
        </p:nvSpPr>
        <p:spPr>
          <a:xfrm>
            <a:off x="2442213" y="2577461"/>
            <a:ext cx="6284686" cy="646331"/>
          </a:xfrm>
          <a:prstGeom prst="rect">
            <a:avLst/>
          </a:prstGeom>
          <a:noFill/>
        </p:spPr>
        <p:txBody>
          <a:bodyPr wrap="square" rtlCol="0">
            <a:spAutoFit/>
          </a:bodyPr>
          <a:lstStyle/>
          <a:p>
            <a:r>
              <a:rPr lang="es-ES" dirty="0"/>
              <a:t>Ejemplo de protocolos que funcionan en capas especificas y el nombre que reciben los PDU según la capa del modelo OSI</a:t>
            </a:r>
          </a:p>
        </p:txBody>
      </p:sp>
      <p:sp>
        <p:nvSpPr>
          <p:cNvPr id="51" name="Flecha: hacia abajo 50">
            <a:extLst>
              <a:ext uri="{FF2B5EF4-FFF2-40B4-BE49-F238E27FC236}">
                <a16:creationId xmlns:a16="http://schemas.microsoft.com/office/drawing/2014/main" id="{0322642F-8F5E-1513-1FAA-7D86AB79F1BD}"/>
              </a:ext>
            </a:extLst>
          </p:cNvPr>
          <p:cNvSpPr/>
          <p:nvPr/>
        </p:nvSpPr>
        <p:spPr>
          <a:xfrm>
            <a:off x="5452369" y="3180096"/>
            <a:ext cx="264375" cy="248904"/>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ES" dirty="0"/>
          </a:p>
        </p:txBody>
      </p:sp>
      <p:sp>
        <p:nvSpPr>
          <p:cNvPr id="53" name="CuadroTexto 52">
            <a:extLst>
              <a:ext uri="{FF2B5EF4-FFF2-40B4-BE49-F238E27FC236}">
                <a16:creationId xmlns:a16="http://schemas.microsoft.com/office/drawing/2014/main" id="{3081C149-6213-E8C5-A455-A351EA9173C3}"/>
              </a:ext>
            </a:extLst>
          </p:cNvPr>
          <p:cNvSpPr txBox="1"/>
          <p:nvPr/>
        </p:nvSpPr>
        <p:spPr>
          <a:xfrm>
            <a:off x="7284354" y="2422130"/>
            <a:ext cx="6955722" cy="584775"/>
          </a:xfrm>
          <a:prstGeom prst="rect">
            <a:avLst/>
          </a:prstGeom>
          <a:noFill/>
        </p:spPr>
        <p:txBody>
          <a:bodyPr wrap="square">
            <a:spAutoFit/>
          </a:bodyPr>
          <a:lstStyle/>
          <a:p>
            <a:pPr marL="342900" indent="-342900" algn="ctr">
              <a:buAutoNum type="arabicPeriod"/>
            </a:pPr>
            <a:r>
              <a:rPr lang="es-ES" sz="1600" b="0" cap="none" spc="0" dirty="0">
                <a:ln w="0"/>
                <a:solidFill>
                  <a:schemeClr val="tx1"/>
                </a:solidFill>
                <a:effectLst>
                  <a:outerShdw blurRad="38100" dist="19050" dir="2700000" algn="tl" rotWithShape="0">
                    <a:schemeClr val="dk1">
                      <a:alpha val="40000"/>
                    </a:schemeClr>
                  </a:outerShdw>
                </a:effectLst>
              </a:rPr>
              <a:t>Introducción a las redes</a:t>
            </a:r>
          </a:p>
          <a:p>
            <a:pPr algn="ctr"/>
            <a:r>
              <a:rPr lang="es-ES" sz="1600" b="0" cap="none" spc="0" dirty="0">
                <a:ln w="0"/>
                <a:solidFill>
                  <a:schemeClr val="tx1"/>
                </a:solidFill>
                <a:effectLst>
                  <a:outerShdw blurRad="38100" dist="19050" dir="2700000" algn="tl" rotWithShape="0">
                    <a:schemeClr val="dk1">
                      <a:alpha val="40000"/>
                    </a:schemeClr>
                  </a:outerShdw>
                </a:effectLst>
              </a:rPr>
              <a:t>El Mensaje</a:t>
            </a:r>
          </a:p>
        </p:txBody>
      </p:sp>
      <p:sp>
        <p:nvSpPr>
          <p:cNvPr id="3" name="CuadroTexto 2">
            <a:extLst>
              <a:ext uri="{FF2B5EF4-FFF2-40B4-BE49-F238E27FC236}">
                <a16:creationId xmlns:a16="http://schemas.microsoft.com/office/drawing/2014/main" id="{74D075B3-0D87-E71D-A77B-CCAB6166CE47}"/>
              </a:ext>
            </a:extLst>
          </p:cNvPr>
          <p:cNvSpPr txBox="1"/>
          <p:nvPr/>
        </p:nvSpPr>
        <p:spPr>
          <a:xfrm>
            <a:off x="4629762" y="5941631"/>
            <a:ext cx="2922532" cy="276999"/>
          </a:xfrm>
          <a:prstGeom prst="rect">
            <a:avLst/>
          </a:prstGeom>
          <a:noFill/>
        </p:spPr>
        <p:txBody>
          <a:bodyPr wrap="square">
            <a:spAutoFit/>
          </a:bodyPr>
          <a:lstStyle/>
          <a:p>
            <a:r>
              <a:rPr lang="es-ES" sz="1200" b="1" dirty="0"/>
              <a:t>IEEE 802.3 (Ethernet), IEEE 802.11</a:t>
            </a:r>
          </a:p>
        </p:txBody>
      </p:sp>
      <p:pic>
        <p:nvPicPr>
          <p:cNvPr id="5" name="Imagen 4">
            <a:extLst>
              <a:ext uri="{FF2B5EF4-FFF2-40B4-BE49-F238E27FC236}">
                <a16:creationId xmlns:a16="http://schemas.microsoft.com/office/drawing/2014/main" id="{1B60E6E1-4C79-4F55-97EE-CDFED97805B5}"/>
              </a:ext>
            </a:extLst>
          </p:cNvPr>
          <p:cNvPicPr>
            <a:picLocks noChangeAspect="1"/>
          </p:cNvPicPr>
          <p:nvPr/>
        </p:nvPicPr>
        <p:blipFill>
          <a:blip r:embed="rId15"/>
          <a:stretch>
            <a:fillRect/>
          </a:stretch>
        </p:blipFill>
        <p:spPr>
          <a:xfrm>
            <a:off x="4999016" y="5813475"/>
            <a:ext cx="762039" cy="177809"/>
          </a:xfrm>
          <a:prstGeom prst="rect">
            <a:avLst/>
          </a:prstGeom>
        </p:spPr>
      </p:pic>
      <p:pic>
        <p:nvPicPr>
          <p:cNvPr id="4" name="Imagen 3">
            <a:extLst>
              <a:ext uri="{FF2B5EF4-FFF2-40B4-BE49-F238E27FC236}">
                <a16:creationId xmlns:a16="http://schemas.microsoft.com/office/drawing/2014/main" id="{23AC8A70-585E-12EA-5152-AD201B53C968}"/>
              </a:ext>
            </a:extLst>
          </p:cNvPr>
          <p:cNvPicPr>
            <a:picLocks noChangeAspect="1"/>
          </p:cNvPicPr>
          <p:nvPr/>
        </p:nvPicPr>
        <p:blipFill>
          <a:blip r:embed="rId16"/>
          <a:stretch>
            <a:fillRect/>
          </a:stretch>
        </p:blipFill>
        <p:spPr>
          <a:xfrm>
            <a:off x="6707747" y="3970669"/>
            <a:ext cx="496549" cy="160787"/>
          </a:xfrm>
          <a:prstGeom prst="rect">
            <a:avLst/>
          </a:prstGeom>
        </p:spPr>
      </p:pic>
    </p:spTree>
    <p:extLst>
      <p:ext uri="{BB962C8B-B14F-4D97-AF65-F5344CB8AC3E}">
        <p14:creationId xmlns:p14="http://schemas.microsoft.com/office/powerpoint/2010/main" val="16380495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92313C76-AF9C-B7CB-11BA-31EDB6D9D77F}"/>
              </a:ext>
            </a:extLst>
          </p:cNvPr>
          <p:cNvSpPr txBox="1"/>
          <p:nvPr/>
        </p:nvSpPr>
        <p:spPr>
          <a:xfrm>
            <a:off x="-190209" y="0"/>
            <a:ext cx="2975290" cy="584775"/>
          </a:xfrm>
          <a:prstGeom prst="rect">
            <a:avLst/>
          </a:prstGeom>
          <a:noFill/>
        </p:spPr>
        <p:txBody>
          <a:bodyPr wrap="square">
            <a:spAutoFit/>
          </a:bodyPr>
          <a:lstStyle/>
          <a:p>
            <a:pPr marL="342900" indent="-342900" algn="ctr">
              <a:buAutoNum type="arabicPeriod"/>
            </a:pPr>
            <a:r>
              <a:rPr lang="es-ES" sz="1600" b="0" cap="none" spc="0" dirty="0">
                <a:ln w="0"/>
                <a:solidFill>
                  <a:schemeClr val="tx1"/>
                </a:solidFill>
                <a:effectLst>
                  <a:outerShdw blurRad="38100" dist="19050" dir="2700000" algn="tl" rotWithShape="0">
                    <a:schemeClr val="dk1">
                      <a:alpha val="40000"/>
                    </a:schemeClr>
                  </a:outerShdw>
                </a:effectLst>
              </a:rPr>
              <a:t>Introducción a las redes</a:t>
            </a:r>
          </a:p>
          <a:p>
            <a:pPr algn="ctr"/>
            <a:r>
              <a:rPr lang="es-ES" sz="1600" b="0" cap="none" spc="0" dirty="0">
                <a:ln w="0"/>
                <a:solidFill>
                  <a:schemeClr val="tx1"/>
                </a:solidFill>
                <a:effectLst>
                  <a:outerShdw blurRad="38100" dist="19050" dir="2700000" algn="tl" rotWithShape="0">
                    <a:schemeClr val="dk1">
                      <a:alpha val="40000"/>
                    </a:schemeClr>
                  </a:outerShdw>
                </a:effectLst>
              </a:rPr>
              <a:t>El idioma que usan las redes</a:t>
            </a:r>
          </a:p>
        </p:txBody>
      </p:sp>
      <p:pic>
        <p:nvPicPr>
          <p:cNvPr id="6" name="Imagen 5">
            <a:extLst>
              <a:ext uri="{FF2B5EF4-FFF2-40B4-BE49-F238E27FC236}">
                <a16:creationId xmlns:a16="http://schemas.microsoft.com/office/drawing/2014/main" id="{43EA2108-7184-4154-D17A-F316EEE96C2D}"/>
              </a:ext>
            </a:extLst>
          </p:cNvPr>
          <p:cNvPicPr>
            <a:picLocks noChangeAspect="1"/>
          </p:cNvPicPr>
          <p:nvPr/>
        </p:nvPicPr>
        <p:blipFill>
          <a:blip r:embed="rId2"/>
          <a:stretch>
            <a:fillRect/>
          </a:stretch>
        </p:blipFill>
        <p:spPr>
          <a:xfrm>
            <a:off x="103574" y="1433577"/>
            <a:ext cx="2387723" cy="2692538"/>
          </a:xfrm>
          <a:prstGeom prst="rect">
            <a:avLst/>
          </a:prstGeom>
        </p:spPr>
      </p:pic>
      <p:sp>
        <p:nvSpPr>
          <p:cNvPr id="8" name="CuadroTexto 7">
            <a:extLst>
              <a:ext uri="{FF2B5EF4-FFF2-40B4-BE49-F238E27FC236}">
                <a16:creationId xmlns:a16="http://schemas.microsoft.com/office/drawing/2014/main" id="{1606BA75-7662-ABDB-DB8F-6E52339F8E6B}"/>
              </a:ext>
            </a:extLst>
          </p:cNvPr>
          <p:cNvSpPr txBox="1"/>
          <p:nvPr/>
        </p:nvSpPr>
        <p:spPr>
          <a:xfrm>
            <a:off x="2463976" y="1672362"/>
            <a:ext cx="7318690" cy="338554"/>
          </a:xfrm>
          <a:prstGeom prst="rect">
            <a:avLst/>
          </a:prstGeom>
          <a:noFill/>
        </p:spPr>
        <p:txBody>
          <a:bodyPr wrap="square">
            <a:spAutoFit/>
          </a:bodyPr>
          <a:lstStyle/>
          <a:p>
            <a:r>
              <a:rPr lang="es-ES" sz="1600" dirty="0"/>
              <a:t>  Es la interfaz con la que interactúas directamente (el usuario).</a:t>
            </a:r>
          </a:p>
        </p:txBody>
      </p:sp>
      <p:sp>
        <p:nvSpPr>
          <p:cNvPr id="10" name="CuadroTexto 9">
            <a:extLst>
              <a:ext uri="{FF2B5EF4-FFF2-40B4-BE49-F238E27FC236}">
                <a16:creationId xmlns:a16="http://schemas.microsoft.com/office/drawing/2014/main" id="{C3522004-D849-6000-596E-6A9078BEDC34}"/>
              </a:ext>
            </a:extLst>
          </p:cNvPr>
          <p:cNvSpPr txBox="1"/>
          <p:nvPr/>
        </p:nvSpPr>
        <p:spPr>
          <a:xfrm>
            <a:off x="2436655" y="2011695"/>
            <a:ext cx="7318690" cy="338554"/>
          </a:xfrm>
          <a:prstGeom prst="rect">
            <a:avLst/>
          </a:prstGeom>
          <a:noFill/>
        </p:spPr>
        <p:txBody>
          <a:bodyPr wrap="square">
            <a:spAutoFit/>
          </a:bodyPr>
          <a:lstStyle/>
          <a:p>
            <a:r>
              <a:rPr lang="es-ES" sz="1600" dirty="0"/>
              <a:t>  Traduce, formatea, comprime y cifra la información para que sea legible.</a:t>
            </a:r>
          </a:p>
        </p:txBody>
      </p:sp>
      <p:sp>
        <p:nvSpPr>
          <p:cNvPr id="12" name="CuadroTexto 11">
            <a:extLst>
              <a:ext uri="{FF2B5EF4-FFF2-40B4-BE49-F238E27FC236}">
                <a16:creationId xmlns:a16="http://schemas.microsoft.com/office/drawing/2014/main" id="{BC74BE5B-E4D7-9F1F-1BA9-243BC45C8D69}"/>
              </a:ext>
            </a:extLst>
          </p:cNvPr>
          <p:cNvSpPr txBox="1"/>
          <p:nvPr/>
        </p:nvSpPr>
        <p:spPr>
          <a:xfrm>
            <a:off x="2436655" y="2348690"/>
            <a:ext cx="7667697" cy="338554"/>
          </a:xfrm>
          <a:prstGeom prst="rect">
            <a:avLst/>
          </a:prstGeom>
          <a:noFill/>
        </p:spPr>
        <p:txBody>
          <a:bodyPr wrap="square">
            <a:spAutoFit/>
          </a:bodyPr>
          <a:lstStyle/>
          <a:p>
            <a:r>
              <a:rPr lang="es-ES" sz="1600" dirty="0"/>
              <a:t>  Abre, mantiene y cierra la "conversación" o conexión entre los dos equipos.</a:t>
            </a:r>
          </a:p>
        </p:txBody>
      </p:sp>
      <p:sp>
        <p:nvSpPr>
          <p:cNvPr id="14" name="CuadroTexto 13">
            <a:extLst>
              <a:ext uri="{FF2B5EF4-FFF2-40B4-BE49-F238E27FC236}">
                <a16:creationId xmlns:a16="http://schemas.microsoft.com/office/drawing/2014/main" id="{2EF627A7-1508-D34E-240E-1C8EA8D067B6}"/>
              </a:ext>
            </a:extLst>
          </p:cNvPr>
          <p:cNvSpPr txBox="1"/>
          <p:nvPr/>
        </p:nvSpPr>
        <p:spPr>
          <a:xfrm>
            <a:off x="2436655" y="2685685"/>
            <a:ext cx="10669163" cy="338554"/>
          </a:xfrm>
          <a:prstGeom prst="rect">
            <a:avLst/>
          </a:prstGeom>
          <a:noFill/>
        </p:spPr>
        <p:txBody>
          <a:bodyPr wrap="square">
            <a:spAutoFit/>
          </a:bodyPr>
          <a:lstStyle/>
          <a:p>
            <a:r>
              <a:rPr lang="es-ES" sz="1600" dirty="0"/>
              <a:t>  Decide cómo se envían los datos de forma eficiente y divide los archivos grandes en trozos más pequeños.</a:t>
            </a:r>
          </a:p>
        </p:txBody>
      </p:sp>
      <p:sp>
        <p:nvSpPr>
          <p:cNvPr id="16" name="CuadroTexto 15">
            <a:extLst>
              <a:ext uri="{FF2B5EF4-FFF2-40B4-BE49-F238E27FC236}">
                <a16:creationId xmlns:a16="http://schemas.microsoft.com/office/drawing/2014/main" id="{3E7EE151-37AC-9328-77A4-98ED2032A84D}"/>
              </a:ext>
            </a:extLst>
          </p:cNvPr>
          <p:cNvSpPr txBox="1"/>
          <p:nvPr/>
        </p:nvSpPr>
        <p:spPr>
          <a:xfrm>
            <a:off x="2436655" y="3021121"/>
            <a:ext cx="9609925" cy="338554"/>
          </a:xfrm>
          <a:prstGeom prst="rect">
            <a:avLst/>
          </a:prstGeom>
          <a:noFill/>
        </p:spPr>
        <p:txBody>
          <a:bodyPr wrap="square">
            <a:spAutoFit/>
          </a:bodyPr>
          <a:lstStyle/>
          <a:p>
            <a:r>
              <a:rPr lang="es-ES" sz="1600" dirty="0"/>
              <a:t>  Se encarga del direccionamiento lógico y de buscar la mejor ruta para llegar al destino a través de internet.</a:t>
            </a:r>
          </a:p>
        </p:txBody>
      </p:sp>
      <p:sp>
        <p:nvSpPr>
          <p:cNvPr id="18" name="CuadroTexto 17">
            <a:extLst>
              <a:ext uri="{FF2B5EF4-FFF2-40B4-BE49-F238E27FC236}">
                <a16:creationId xmlns:a16="http://schemas.microsoft.com/office/drawing/2014/main" id="{0735405C-6DE8-72B4-30AE-F86DC59EE343}"/>
              </a:ext>
            </a:extLst>
          </p:cNvPr>
          <p:cNvSpPr txBox="1"/>
          <p:nvPr/>
        </p:nvSpPr>
        <p:spPr>
          <a:xfrm>
            <a:off x="2436655" y="3354998"/>
            <a:ext cx="10524325" cy="338554"/>
          </a:xfrm>
          <a:prstGeom prst="rect">
            <a:avLst/>
          </a:prstGeom>
          <a:noFill/>
        </p:spPr>
        <p:txBody>
          <a:bodyPr wrap="square">
            <a:spAutoFit/>
          </a:bodyPr>
          <a:lstStyle/>
          <a:p>
            <a:r>
              <a:rPr lang="es-ES" sz="1600" dirty="0"/>
              <a:t>  Direcciona físicamente los datos dentro de una misma red local (LAN).</a:t>
            </a:r>
          </a:p>
        </p:txBody>
      </p:sp>
      <p:sp>
        <p:nvSpPr>
          <p:cNvPr id="20" name="CuadroTexto 19">
            <a:extLst>
              <a:ext uri="{FF2B5EF4-FFF2-40B4-BE49-F238E27FC236}">
                <a16:creationId xmlns:a16="http://schemas.microsoft.com/office/drawing/2014/main" id="{E86A28E3-056B-9D50-E449-146C5937A766}"/>
              </a:ext>
            </a:extLst>
          </p:cNvPr>
          <p:cNvSpPr txBox="1"/>
          <p:nvPr/>
        </p:nvSpPr>
        <p:spPr>
          <a:xfrm>
            <a:off x="2436655" y="3685757"/>
            <a:ext cx="10224178" cy="338554"/>
          </a:xfrm>
          <a:prstGeom prst="rect">
            <a:avLst/>
          </a:prstGeom>
          <a:noFill/>
        </p:spPr>
        <p:txBody>
          <a:bodyPr wrap="square">
            <a:spAutoFit/>
          </a:bodyPr>
          <a:lstStyle/>
          <a:p>
            <a:r>
              <a:rPr lang="es-ES" sz="1600" dirty="0"/>
              <a:t>  Es el hardware, el material y las señales reales que permiten que la información viaje de un lugar a otro. </a:t>
            </a:r>
          </a:p>
        </p:txBody>
      </p:sp>
      <p:sp>
        <p:nvSpPr>
          <p:cNvPr id="22" name="Flecha: a la derecha 21">
            <a:extLst>
              <a:ext uri="{FF2B5EF4-FFF2-40B4-BE49-F238E27FC236}">
                <a16:creationId xmlns:a16="http://schemas.microsoft.com/office/drawing/2014/main" id="{F260C5EB-E70D-2E27-D871-9E9EE778DC0E}"/>
              </a:ext>
            </a:extLst>
          </p:cNvPr>
          <p:cNvSpPr/>
          <p:nvPr/>
        </p:nvSpPr>
        <p:spPr>
          <a:xfrm>
            <a:off x="2297651" y="1739080"/>
            <a:ext cx="223365" cy="181484"/>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dirty="0"/>
          </a:p>
        </p:txBody>
      </p:sp>
      <p:sp>
        <p:nvSpPr>
          <p:cNvPr id="23" name="Flecha: a la derecha 22">
            <a:extLst>
              <a:ext uri="{FF2B5EF4-FFF2-40B4-BE49-F238E27FC236}">
                <a16:creationId xmlns:a16="http://schemas.microsoft.com/office/drawing/2014/main" id="{147DF22A-305C-0719-4401-9F8784727F0B}"/>
              </a:ext>
            </a:extLst>
          </p:cNvPr>
          <p:cNvSpPr/>
          <p:nvPr/>
        </p:nvSpPr>
        <p:spPr>
          <a:xfrm>
            <a:off x="2267932" y="2083215"/>
            <a:ext cx="223365" cy="181484"/>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dirty="0"/>
          </a:p>
        </p:txBody>
      </p:sp>
      <p:sp>
        <p:nvSpPr>
          <p:cNvPr id="24" name="Flecha: a la derecha 23">
            <a:extLst>
              <a:ext uri="{FF2B5EF4-FFF2-40B4-BE49-F238E27FC236}">
                <a16:creationId xmlns:a16="http://schemas.microsoft.com/office/drawing/2014/main" id="{8555A8F1-56EC-EF1F-41B0-74433DB0481D}"/>
              </a:ext>
            </a:extLst>
          </p:cNvPr>
          <p:cNvSpPr/>
          <p:nvPr/>
        </p:nvSpPr>
        <p:spPr>
          <a:xfrm>
            <a:off x="2267931" y="2402397"/>
            <a:ext cx="223365" cy="181484"/>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dirty="0"/>
          </a:p>
        </p:txBody>
      </p:sp>
      <p:sp>
        <p:nvSpPr>
          <p:cNvPr id="25" name="Flecha: a la derecha 24">
            <a:extLst>
              <a:ext uri="{FF2B5EF4-FFF2-40B4-BE49-F238E27FC236}">
                <a16:creationId xmlns:a16="http://schemas.microsoft.com/office/drawing/2014/main" id="{8123B5BE-7551-03EF-DB02-88D53027E5EB}"/>
              </a:ext>
            </a:extLst>
          </p:cNvPr>
          <p:cNvSpPr/>
          <p:nvPr/>
        </p:nvSpPr>
        <p:spPr>
          <a:xfrm>
            <a:off x="2267931" y="2749113"/>
            <a:ext cx="223365" cy="181484"/>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dirty="0"/>
          </a:p>
        </p:txBody>
      </p:sp>
      <p:sp>
        <p:nvSpPr>
          <p:cNvPr id="26" name="Flecha: a la derecha 25">
            <a:extLst>
              <a:ext uri="{FF2B5EF4-FFF2-40B4-BE49-F238E27FC236}">
                <a16:creationId xmlns:a16="http://schemas.microsoft.com/office/drawing/2014/main" id="{D01CD113-9899-7C30-2A25-8184BF031CE7}"/>
              </a:ext>
            </a:extLst>
          </p:cNvPr>
          <p:cNvSpPr/>
          <p:nvPr/>
        </p:nvSpPr>
        <p:spPr>
          <a:xfrm>
            <a:off x="2282791" y="3071710"/>
            <a:ext cx="223365" cy="181484"/>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dirty="0"/>
          </a:p>
        </p:txBody>
      </p:sp>
      <p:sp>
        <p:nvSpPr>
          <p:cNvPr id="27" name="Flecha: a la derecha 26">
            <a:extLst>
              <a:ext uri="{FF2B5EF4-FFF2-40B4-BE49-F238E27FC236}">
                <a16:creationId xmlns:a16="http://schemas.microsoft.com/office/drawing/2014/main" id="{54ABA92B-6186-6C13-DBE2-0D68974B328D}"/>
              </a:ext>
            </a:extLst>
          </p:cNvPr>
          <p:cNvSpPr/>
          <p:nvPr/>
        </p:nvSpPr>
        <p:spPr>
          <a:xfrm>
            <a:off x="2282790" y="3417428"/>
            <a:ext cx="223365" cy="181484"/>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dirty="0"/>
          </a:p>
        </p:txBody>
      </p:sp>
      <p:sp>
        <p:nvSpPr>
          <p:cNvPr id="28" name="Flecha: a la derecha 27">
            <a:extLst>
              <a:ext uri="{FF2B5EF4-FFF2-40B4-BE49-F238E27FC236}">
                <a16:creationId xmlns:a16="http://schemas.microsoft.com/office/drawing/2014/main" id="{E4E32F53-61D6-F973-3F1A-2AA0CE6BAC6D}"/>
              </a:ext>
            </a:extLst>
          </p:cNvPr>
          <p:cNvSpPr/>
          <p:nvPr/>
        </p:nvSpPr>
        <p:spPr>
          <a:xfrm>
            <a:off x="2267931" y="3771771"/>
            <a:ext cx="223365" cy="181484"/>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dirty="0"/>
          </a:p>
        </p:txBody>
      </p:sp>
      <p:sp>
        <p:nvSpPr>
          <p:cNvPr id="30" name="CuadroTexto 29">
            <a:extLst>
              <a:ext uri="{FF2B5EF4-FFF2-40B4-BE49-F238E27FC236}">
                <a16:creationId xmlns:a16="http://schemas.microsoft.com/office/drawing/2014/main" id="{195555D8-E60C-9C6D-4C4F-ED965A67AAF3}"/>
              </a:ext>
            </a:extLst>
          </p:cNvPr>
          <p:cNvSpPr txBox="1"/>
          <p:nvPr/>
        </p:nvSpPr>
        <p:spPr>
          <a:xfrm>
            <a:off x="4227937" y="5583678"/>
            <a:ext cx="3896961" cy="923330"/>
          </a:xfrm>
          <a:prstGeom prst="rect">
            <a:avLst/>
          </a:prstGeom>
          <a:noFill/>
        </p:spPr>
        <p:txBody>
          <a:bodyPr wrap="square">
            <a:spAutoFit/>
          </a:bodyPr>
          <a:lstStyle/>
          <a:p>
            <a:r>
              <a:rPr lang="es-ES" dirty="0"/>
              <a:t>💡¿Fallo físico? (Capa 1)</a:t>
            </a:r>
          </a:p>
          <a:p>
            <a:r>
              <a:rPr lang="es-ES" dirty="0"/>
              <a:t>💡¿Fallo de red local? (Capa 2)</a:t>
            </a:r>
          </a:p>
          <a:p>
            <a:r>
              <a:rPr lang="es-ES" dirty="0"/>
              <a:t>💡¿Fallo de internet/rutas? (Capa 3)</a:t>
            </a:r>
          </a:p>
        </p:txBody>
      </p:sp>
      <p:sp>
        <p:nvSpPr>
          <p:cNvPr id="31" name="CuadroTexto 30">
            <a:extLst>
              <a:ext uri="{FF2B5EF4-FFF2-40B4-BE49-F238E27FC236}">
                <a16:creationId xmlns:a16="http://schemas.microsoft.com/office/drawing/2014/main" id="{272CEF21-D329-F859-B397-128BBC9BF6E6}"/>
              </a:ext>
            </a:extLst>
          </p:cNvPr>
          <p:cNvSpPr txBox="1"/>
          <p:nvPr/>
        </p:nvSpPr>
        <p:spPr>
          <a:xfrm>
            <a:off x="1668674" y="4644692"/>
            <a:ext cx="8249234" cy="338554"/>
          </a:xfrm>
          <a:prstGeom prst="rect">
            <a:avLst/>
          </a:prstGeom>
          <a:noFill/>
        </p:spPr>
        <p:txBody>
          <a:bodyPr wrap="square" rtlCol="0">
            <a:spAutoFit/>
          </a:bodyPr>
          <a:lstStyle/>
          <a:p>
            <a:pPr algn="ctr"/>
            <a:r>
              <a:rPr lang="es-ES" sz="1600" dirty="0"/>
              <a:t>Ejemplo de resolución de problemas apoyándonos en el modelo OSI</a:t>
            </a:r>
          </a:p>
        </p:txBody>
      </p:sp>
      <p:sp>
        <p:nvSpPr>
          <p:cNvPr id="32" name="Flecha: hacia abajo 31">
            <a:extLst>
              <a:ext uri="{FF2B5EF4-FFF2-40B4-BE49-F238E27FC236}">
                <a16:creationId xmlns:a16="http://schemas.microsoft.com/office/drawing/2014/main" id="{C033D461-A8E1-A8C5-F077-42D16CCBF267}"/>
              </a:ext>
            </a:extLst>
          </p:cNvPr>
          <p:cNvSpPr/>
          <p:nvPr/>
        </p:nvSpPr>
        <p:spPr>
          <a:xfrm>
            <a:off x="5710344" y="5252919"/>
            <a:ext cx="264375" cy="248904"/>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ES" dirty="0"/>
          </a:p>
        </p:txBody>
      </p:sp>
      <p:sp>
        <p:nvSpPr>
          <p:cNvPr id="33" name="CuadroTexto 32">
            <a:extLst>
              <a:ext uri="{FF2B5EF4-FFF2-40B4-BE49-F238E27FC236}">
                <a16:creationId xmlns:a16="http://schemas.microsoft.com/office/drawing/2014/main" id="{D9B7362B-EB06-9D35-2AD2-E13BCCED3A56}"/>
              </a:ext>
            </a:extLst>
          </p:cNvPr>
          <p:cNvSpPr txBox="1"/>
          <p:nvPr/>
        </p:nvSpPr>
        <p:spPr>
          <a:xfrm>
            <a:off x="3999627" y="942321"/>
            <a:ext cx="3587329" cy="369332"/>
          </a:xfrm>
          <a:prstGeom prst="rect">
            <a:avLst/>
          </a:prstGeom>
          <a:noFill/>
        </p:spPr>
        <p:txBody>
          <a:bodyPr wrap="none" rtlCol="0">
            <a:spAutoFit/>
          </a:bodyPr>
          <a:lstStyle/>
          <a:p>
            <a:r>
              <a:rPr lang="es-ES" b="1" dirty="0"/>
              <a:t>Funciones en las distintas capas</a:t>
            </a:r>
          </a:p>
        </p:txBody>
      </p:sp>
    </p:spTree>
    <p:extLst>
      <p:ext uri="{BB962C8B-B14F-4D97-AF65-F5344CB8AC3E}">
        <p14:creationId xmlns:p14="http://schemas.microsoft.com/office/powerpoint/2010/main" val="22244416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25741D71-8F7C-DE1E-93AC-B4E729F5CF6F}"/>
              </a:ext>
            </a:extLst>
          </p:cNvPr>
          <p:cNvSpPr txBox="1"/>
          <p:nvPr/>
        </p:nvSpPr>
        <p:spPr>
          <a:xfrm>
            <a:off x="460858" y="845671"/>
            <a:ext cx="7943245" cy="584775"/>
          </a:xfrm>
          <a:prstGeom prst="rect">
            <a:avLst/>
          </a:prstGeom>
          <a:noFill/>
        </p:spPr>
        <p:txBody>
          <a:bodyPr wrap="square">
            <a:spAutoFit/>
          </a:bodyPr>
          <a:lstStyle/>
          <a:p>
            <a:r>
              <a:rPr lang="es-ES" sz="1600" b="1" dirty="0"/>
              <a:t>El sistema decimal </a:t>
            </a:r>
            <a:r>
              <a:rPr lang="es-ES" sz="1600" dirty="0"/>
              <a:t>es el sistema de numeración basado en diez dígitos (0 al 9) que los humanos usamos para contar en nuestro día a día.</a:t>
            </a:r>
          </a:p>
        </p:txBody>
      </p:sp>
      <p:sp>
        <p:nvSpPr>
          <p:cNvPr id="9" name="CuadroTexto 8">
            <a:extLst>
              <a:ext uri="{FF2B5EF4-FFF2-40B4-BE49-F238E27FC236}">
                <a16:creationId xmlns:a16="http://schemas.microsoft.com/office/drawing/2014/main" id="{E6C8A041-721F-2409-618E-7F43766BC18B}"/>
              </a:ext>
            </a:extLst>
          </p:cNvPr>
          <p:cNvSpPr txBox="1"/>
          <p:nvPr/>
        </p:nvSpPr>
        <p:spPr>
          <a:xfrm>
            <a:off x="-342074" y="13813"/>
            <a:ext cx="3329579" cy="461665"/>
          </a:xfrm>
          <a:prstGeom prst="rect">
            <a:avLst/>
          </a:prstGeom>
          <a:noFill/>
        </p:spPr>
        <p:txBody>
          <a:bodyPr wrap="square">
            <a:spAutoFit/>
          </a:bodyPr>
          <a:lstStyle/>
          <a:p>
            <a:pPr algn="ctr"/>
            <a:r>
              <a:rPr lang="es-ES" sz="1200" dirty="0">
                <a:ln w="0"/>
                <a:effectLst>
                  <a:outerShdw blurRad="38100" dist="19050" dir="2700000" algn="tl" rotWithShape="0">
                    <a:schemeClr val="dk1">
                      <a:alpha val="40000"/>
                    </a:schemeClr>
                  </a:outerShdw>
                </a:effectLst>
              </a:rPr>
              <a:t>1. Introducción a las redes</a:t>
            </a:r>
          </a:p>
          <a:p>
            <a:pPr algn="ctr"/>
            <a:r>
              <a:rPr lang="es-ES" sz="1200" b="1" dirty="0"/>
              <a:t>El Mensaje</a:t>
            </a:r>
          </a:p>
        </p:txBody>
      </p:sp>
      <p:sp>
        <p:nvSpPr>
          <p:cNvPr id="11" name="CuadroTexto 10">
            <a:extLst>
              <a:ext uri="{FF2B5EF4-FFF2-40B4-BE49-F238E27FC236}">
                <a16:creationId xmlns:a16="http://schemas.microsoft.com/office/drawing/2014/main" id="{68798393-B42A-A88F-AC10-6E148F9682A3}"/>
              </a:ext>
            </a:extLst>
          </p:cNvPr>
          <p:cNvSpPr txBox="1"/>
          <p:nvPr/>
        </p:nvSpPr>
        <p:spPr>
          <a:xfrm>
            <a:off x="4209031" y="290812"/>
            <a:ext cx="4572001" cy="369332"/>
          </a:xfrm>
          <a:prstGeom prst="rect">
            <a:avLst/>
          </a:prstGeom>
          <a:noFill/>
        </p:spPr>
        <p:txBody>
          <a:bodyPr wrap="square" rtlCol="0">
            <a:spAutoFit/>
          </a:bodyPr>
          <a:lstStyle/>
          <a:p>
            <a:r>
              <a:rPr lang="es-ES" b="1" dirty="0"/>
              <a:t>Sistema decimal, binario y hexadecimal</a:t>
            </a:r>
          </a:p>
        </p:txBody>
      </p:sp>
      <p:sp>
        <p:nvSpPr>
          <p:cNvPr id="13" name="CuadroTexto 12">
            <a:extLst>
              <a:ext uri="{FF2B5EF4-FFF2-40B4-BE49-F238E27FC236}">
                <a16:creationId xmlns:a16="http://schemas.microsoft.com/office/drawing/2014/main" id="{86F80E87-6891-0121-813E-63C93CC86D91}"/>
              </a:ext>
            </a:extLst>
          </p:cNvPr>
          <p:cNvSpPr txBox="1"/>
          <p:nvPr/>
        </p:nvSpPr>
        <p:spPr>
          <a:xfrm>
            <a:off x="460858" y="1540992"/>
            <a:ext cx="7943245" cy="1323439"/>
          </a:xfrm>
          <a:prstGeom prst="rect">
            <a:avLst/>
          </a:prstGeom>
          <a:noFill/>
        </p:spPr>
        <p:txBody>
          <a:bodyPr wrap="square">
            <a:spAutoFit/>
          </a:bodyPr>
          <a:lstStyle/>
          <a:p>
            <a:r>
              <a:rPr lang="es-ES" sz="1600" dirty="0"/>
              <a:t>A nivel interno, las computadoras se comunican exclusivamente mediante bits, utilizando el sistema binario.</a:t>
            </a:r>
          </a:p>
          <a:p>
            <a:endParaRPr lang="es-ES" sz="1600" dirty="0"/>
          </a:p>
          <a:p>
            <a:r>
              <a:rPr lang="es-ES" sz="1600" b="1" dirty="0"/>
              <a:t>El sistema binario </a:t>
            </a:r>
            <a:r>
              <a:rPr lang="es-ES" sz="1600" dirty="0"/>
              <a:t>es un sistema numérico que solo utiliza dos dígitos: el 0 y el 1 por </a:t>
            </a:r>
            <a:r>
              <a:rPr lang="es-ES" sz="1600" u="sng" dirty="0"/>
              <a:t>Ejemplo: 01000100 que en decimal seria 68</a:t>
            </a:r>
          </a:p>
        </p:txBody>
      </p:sp>
      <p:pic>
        <p:nvPicPr>
          <p:cNvPr id="17" name="Imagen 16">
            <a:extLst>
              <a:ext uri="{FF2B5EF4-FFF2-40B4-BE49-F238E27FC236}">
                <a16:creationId xmlns:a16="http://schemas.microsoft.com/office/drawing/2014/main" id="{883BEAA4-52DA-BED3-E6B8-CD3A89B67A57}"/>
              </a:ext>
            </a:extLst>
          </p:cNvPr>
          <p:cNvPicPr>
            <a:picLocks noChangeAspect="1"/>
          </p:cNvPicPr>
          <p:nvPr/>
        </p:nvPicPr>
        <p:blipFill>
          <a:blip r:embed="rId2"/>
          <a:stretch>
            <a:fillRect/>
          </a:stretch>
        </p:blipFill>
        <p:spPr>
          <a:xfrm>
            <a:off x="8476138" y="906271"/>
            <a:ext cx="3657788" cy="463574"/>
          </a:xfrm>
          <a:prstGeom prst="rect">
            <a:avLst/>
          </a:prstGeom>
        </p:spPr>
      </p:pic>
      <p:pic>
        <p:nvPicPr>
          <p:cNvPr id="19" name="Picture 10" descr="C:\Users\ecoffey\AppData\Local\Temp\Rar$DRa0.175\30088_Device_terminal_default_256.png">
            <a:extLst>
              <a:ext uri="{FF2B5EF4-FFF2-40B4-BE49-F238E27FC236}">
                <a16:creationId xmlns:a16="http://schemas.microsoft.com/office/drawing/2014/main" id="{9E8F1ACB-90F1-FB29-131D-864D9B9DAC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38419" y="1629762"/>
            <a:ext cx="1215698" cy="1215698"/>
          </a:xfrm>
          <a:prstGeom prst="rect">
            <a:avLst/>
          </a:prstGeom>
          <a:noFill/>
          <a:extLst>
            <a:ext uri="{909E8E84-426E-40DD-AFC4-6F175D3DCCD1}">
              <a14:hiddenFill xmlns:a14="http://schemas.microsoft.com/office/drawing/2010/main">
                <a:solidFill>
                  <a:srgbClr val="FFFFFF"/>
                </a:solidFill>
              </a14:hiddenFill>
            </a:ext>
          </a:extLst>
        </p:spPr>
      </p:pic>
      <p:pic>
        <p:nvPicPr>
          <p:cNvPr id="21" name="Imagen 20">
            <a:extLst>
              <a:ext uri="{FF2B5EF4-FFF2-40B4-BE49-F238E27FC236}">
                <a16:creationId xmlns:a16="http://schemas.microsoft.com/office/drawing/2014/main" id="{09FBBF4B-ADE2-BADF-85D9-70B7EA2DFB3C}"/>
              </a:ext>
            </a:extLst>
          </p:cNvPr>
          <p:cNvPicPr>
            <a:picLocks noChangeAspect="1"/>
          </p:cNvPicPr>
          <p:nvPr/>
        </p:nvPicPr>
        <p:blipFill>
          <a:blip r:embed="rId4"/>
          <a:stretch>
            <a:fillRect/>
          </a:stretch>
        </p:blipFill>
        <p:spPr>
          <a:xfrm>
            <a:off x="10310427" y="1729181"/>
            <a:ext cx="1215698" cy="856126"/>
          </a:xfrm>
          <a:prstGeom prst="rect">
            <a:avLst/>
          </a:prstGeom>
        </p:spPr>
      </p:pic>
      <p:cxnSp>
        <p:nvCxnSpPr>
          <p:cNvPr id="27" name="Conector recto 26">
            <a:extLst>
              <a:ext uri="{FF2B5EF4-FFF2-40B4-BE49-F238E27FC236}">
                <a16:creationId xmlns:a16="http://schemas.microsoft.com/office/drawing/2014/main" id="{84695CD2-2304-879A-DAD5-5CC35684F82C}"/>
              </a:ext>
            </a:extLst>
          </p:cNvPr>
          <p:cNvCxnSpPr>
            <a:cxnSpLocks/>
          </p:cNvCxnSpPr>
          <p:nvPr/>
        </p:nvCxnSpPr>
        <p:spPr>
          <a:xfrm>
            <a:off x="516531" y="1471752"/>
            <a:ext cx="11559133" cy="0"/>
          </a:xfrm>
          <a:prstGeom prst="line">
            <a:avLst/>
          </a:prstGeom>
        </p:spPr>
        <p:style>
          <a:lnRef idx="2">
            <a:schemeClr val="accent1"/>
          </a:lnRef>
          <a:fillRef idx="0">
            <a:schemeClr val="accent1"/>
          </a:fillRef>
          <a:effectRef idx="1">
            <a:schemeClr val="accent1"/>
          </a:effectRef>
          <a:fontRef idx="minor">
            <a:schemeClr val="tx1"/>
          </a:fontRef>
        </p:style>
      </p:cxnSp>
      <p:sp>
        <p:nvSpPr>
          <p:cNvPr id="31" name="CuadroTexto 30">
            <a:extLst>
              <a:ext uri="{FF2B5EF4-FFF2-40B4-BE49-F238E27FC236}">
                <a16:creationId xmlns:a16="http://schemas.microsoft.com/office/drawing/2014/main" id="{D8B55664-D661-4A07-9FF0-24A9625A6AF5}"/>
              </a:ext>
            </a:extLst>
          </p:cNvPr>
          <p:cNvSpPr txBox="1"/>
          <p:nvPr/>
        </p:nvSpPr>
        <p:spPr>
          <a:xfrm>
            <a:off x="439582" y="4355814"/>
            <a:ext cx="7538898" cy="2308324"/>
          </a:xfrm>
          <a:prstGeom prst="rect">
            <a:avLst/>
          </a:prstGeom>
          <a:noFill/>
        </p:spPr>
        <p:txBody>
          <a:bodyPr wrap="square" rtlCol="0">
            <a:spAutoFit/>
          </a:bodyPr>
          <a:lstStyle/>
          <a:p>
            <a:r>
              <a:rPr lang="es-ES" sz="1600" dirty="0"/>
              <a:t>💡En los programas que capturan trafico como Wireshark y en software de programadores existen prefijos para saber cuando un valor esta en binario o hexadecimal:</a:t>
            </a:r>
          </a:p>
          <a:p>
            <a:r>
              <a:rPr lang="es-ES" sz="1600" b="1" dirty="0"/>
              <a:t>0b</a:t>
            </a:r>
            <a:r>
              <a:rPr lang="es-ES" sz="1600" dirty="0"/>
              <a:t>= binario</a:t>
            </a:r>
          </a:p>
          <a:p>
            <a:r>
              <a:rPr lang="es-ES" sz="1600" b="1" dirty="0"/>
              <a:t>0x</a:t>
            </a:r>
            <a:r>
              <a:rPr lang="es-ES" sz="1600" dirty="0"/>
              <a:t> = Hexadecimal</a:t>
            </a:r>
          </a:p>
          <a:p>
            <a:endParaRPr lang="es-ES" sz="1600" dirty="0"/>
          </a:p>
          <a:p>
            <a:r>
              <a:rPr lang="es-ES" sz="1600" dirty="0"/>
              <a:t>💡 Es importante conocer como funciona el sistema binario y hexadecimal ya que son fundamentales en la estructura de las direcciones IP, MAC y protocolos que veremos mas adelante.</a:t>
            </a:r>
          </a:p>
        </p:txBody>
      </p:sp>
      <p:sp>
        <p:nvSpPr>
          <p:cNvPr id="33" name="CuadroTexto 32">
            <a:extLst>
              <a:ext uri="{FF2B5EF4-FFF2-40B4-BE49-F238E27FC236}">
                <a16:creationId xmlns:a16="http://schemas.microsoft.com/office/drawing/2014/main" id="{384EA2BF-6E32-2ADB-4890-D3DF317D1670}"/>
              </a:ext>
            </a:extLst>
          </p:cNvPr>
          <p:cNvSpPr txBox="1"/>
          <p:nvPr/>
        </p:nvSpPr>
        <p:spPr>
          <a:xfrm>
            <a:off x="460858" y="3013501"/>
            <a:ext cx="7176040" cy="1077218"/>
          </a:xfrm>
          <a:prstGeom prst="rect">
            <a:avLst/>
          </a:prstGeom>
          <a:noFill/>
        </p:spPr>
        <p:txBody>
          <a:bodyPr wrap="square">
            <a:spAutoFit/>
          </a:bodyPr>
          <a:lstStyle/>
          <a:p>
            <a:r>
              <a:rPr lang="es-ES" sz="1600" b="1" dirty="0"/>
              <a:t>El sistema hexadecimal </a:t>
            </a:r>
            <a:r>
              <a:rPr lang="es-ES" sz="1600" dirty="0"/>
              <a:t>es un sistema de numeración basado en dieciséis dígitos (0 al 9 y letras de la A a la F) que los ingenieros utilizan para compactar cadenas largas de bits binarios.</a:t>
            </a:r>
          </a:p>
          <a:p>
            <a:r>
              <a:rPr lang="es-ES" sz="1600" u="sng" dirty="0"/>
              <a:t>Ejemplo: 01001100 a hexadecimal seria : 0x4C</a:t>
            </a:r>
          </a:p>
        </p:txBody>
      </p:sp>
      <p:cxnSp>
        <p:nvCxnSpPr>
          <p:cNvPr id="34" name="Conector recto 33">
            <a:extLst>
              <a:ext uri="{FF2B5EF4-FFF2-40B4-BE49-F238E27FC236}">
                <a16:creationId xmlns:a16="http://schemas.microsoft.com/office/drawing/2014/main" id="{E9ADEE94-9864-79A7-5108-80D7D101E80E}"/>
              </a:ext>
            </a:extLst>
          </p:cNvPr>
          <p:cNvCxnSpPr>
            <a:cxnSpLocks/>
          </p:cNvCxnSpPr>
          <p:nvPr/>
        </p:nvCxnSpPr>
        <p:spPr>
          <a:xfrm>
            <a:off x="516531" y="2913783"/>
            <a:ext cx="11559133" cy="0"/>
          </a:xfrm>
          <a:prstGeom prst="line">
            <a:avLst/>
          </a:prstGeom>
        </p:spPr>
        <p:style>
          <a:lnRef idx="2">
            <a:schemeClr val="accent1"/>
          </a:lnRef>
          <a:fillRef idx="0">
            <a:schemeClr val="accent1"/>
          </a:fillRef>
          <a:effectRef idx="1">
            <a:schemeClr val="accent1"/>
          </a:effectRef>
          <a:fontRef idx="minor">
            <a:schemeClr val="tx1"/>
          </a:fontRef>
        </p:style>
      </p:cxnSp>
      <p:pic>
        <p:nvPicPr>
          <p:cNvPr id="3" name="Imagen 2">
            <a:extLst>
              <a:ext uri="{FF2B5EF4-FFF2-40B4-BE49-F238E27FC236}">
                <a16:creationId xmlns:a16="http://schemas.microsoft.com/office/drawing/2014/main" id="{E762E9B2-37DA-8CC4-F3D0-13D91D61AAF3}"/>
              </a:ext>
            </a:extLst>
          </p:cNvPr>
          <p:cNvPicPr>
            <a:picLocks noChangeAspect="1"/>
          </p:cNvPicPr>
          <p:nvPr/>
        </p:nvPicPr>
        <p:blipFill>
          <a:blip r:embed="rId5"/>
          <a:stretch>
            <a:fillRect/>
          </a:stretch>
        </p:blipFill>
        <p:spPr>
          <a:xfrm>
            <a:off x="9194977" y="3023777"/>
            <a:ext cx="2064594" cy="1157336"/>
          </a:xfrm>
          <a:prstGeom prst="rect">
            <a:avLst/>
          </a:prstGeom>
        </p:spPr>
      </p:pic>
      <p:cxnSp>
        <p:nvCxnSpPr>
          <p:cNvPr id="4" name="Conector recto 3">
            <a:extLst>
              <a:ext uri="{FF2B5EF4-FFF2-40B4-BE49-F238E27FC236}">
                <a16:creationId xmlns:a16="http://schemas.microsoft.com/office/drawing/2014/main" id="{5D8BD284-F521-F1D9-F745-7ED023FFF636}"/>
              </a:ext>
            </a:extLst>
          </p:cNvPr>
          <p:cNvCxnSpPr>
            <a:cxnSpLocks/>
          </p:cNvCxnSpPr>
          <p:nvPr/>
        </p:nvCxnSpPr>
        <p:spPr>
          <a:xfrm>
            <a:off x="516531" y="5774482"/>
            <a:ext cx="11559133"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692678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7933CBE9-EA52-4D9D-1A7A-7DDBD8BD29FC}"/>
              </a:ext>
            </a:extLst>
          </p:cNvPr>
          <p:cNvSpPr txBox="1"/>
          <p:nvPr/>
        </p:nvSpPr>
        <p:spPr>
          <a:xfrm>
            <a:off x="531767" y="1690673"/>
            <a:ext cx="6096000" cy="338554"/>
          </a:xfrm>
          <a:prstGeom prst="rect">
            <a:avLst/>
          </a:prstGeom>
          <a:noFill/>
        </p:spPr>
        <p:txBody>
          <a:bodyPr wrap="square">
            <a:spAutoFit/>
          </a:bodyPr>
          <a:lstStyle/>
          <a:p>
            <a:r>
              <a:rPr lang="es-ES" sz="1600" dirty="0"/>
              <a:t>💡El valor decimal de los bits depende de su posición y potencia:</a:t>
            </a:r>
          </a:p>
        </p:txBody>
      </p:sp>
      <p:pic>
        <p:nvPicPr>
          <p:cNvPr id="7" name="Imagen 6">
            <a:extLst>
              <a:ext uri="{FF2B5EF4-FFF2-40B4-BE49-F238E27FC236}">
                <a16:creationId xmlns:a16="http://schemas.microsoft.com/office/drawing/2014/main" id="{DA1BFA00-074A-3182-88C2-1CB8D521F4A6}"/>
              </a:ext>
            </a:extLst>
          </p:cNvPr>
          <p:cNvPicPr>
            <a:picLocks noChangeAspect="1"/>
          </p:cNvPicPr>
          <p:nvPr/>
        </p:nvPicPr>
        <p:blipFill>
          <a:blip r:embed="rId2"/>
          <a:stretch>
            <a:fillRect/>
          </a:stretch>
        </p:blipFill>
        <p:spPr>
          <a:xfrm>
            <a:off x="531767" y="2050979"/>
            <a:ext cx="6121715" cy="1378021"/>
          </a:xfrm>
          <a:prstGeom prst="rect">
            <a:avLst/>
          </a:prstGeom>
        </p:spPr>
      </p:pic>
      <p:sp>
        <p:nvSpPr>
          <p:cNvPr id="9" name="CuadroTexto 8">
            <a:extLst>
              <a:ext uri="{FF2B5EF4-FFF2-40B4-BE49-F238E27FC236}">
                <a16:creationId xmlns:a16="http://schemas.microsoft.com/office/drawing/2014/main" id="{E673EDB0-0292-B14E-7AC9-A0493C1275FB}"/>
              </a:ext>
            </a:extLst>
          </p:cNvPr>
          <p:cNvSpPr txBox="1"/>
          <p:nvPr/>
        </p:nvSpPr>
        <p:spPr>
          <a:xfrm>
            <a:off x="531767" y="3450752"/>
            <a:ext cx="6952232" cy="830997"/>
          </a:xfrm>
          <a:prstGeom prst="rect">
            <a:avLst/>
          </a:prstGeom>
          <a:noFill/>
        </p:spPr>
        <p:txBody>
          <a:bodyPr wrap="square" rtlCol="0">
            <a:spAutoFit/>
          </a:bodyPr>
          <a:lstStyle/>
          <a:p>
            <a:r>
              <a:rPr lang="es-ES" sz="1600" dirty="0"/>
              <a:t>Entonces por ejemplo si tenemos el valor en binario </a:t>
            </a:r>
            <a:r>
              <a:rPr lang="es-ES" sz="1600" b="1" dirty="0"/>
              <a:t>0b</a:t>
            </a:r>
            <a:r>
              <a:rPr lang="es-ES" sz="1600" dirty="0"/>
              <a:t>0101, sumamos los bits que estén en “1” (“bits encendidos”) según su posición y potencia. Y asi nos da su valor decimal : </a:t>
            </a:r>
            <a:r>
              <a:rPr lang="es-ES" sz="1600" b="1" dirty="0"/>
              <a:t>5</a:t>
            </a:r>
          </a:p>
        </p:txBody>
      </p:sp>
      <p:sp>
        <p:nvSpPr>
          <p:cNvPr id="11" name="CuadroTexto 10">
            <a:extLst>
              <a:ext uri="{FF2B5EF4-FFF2-40B4-BE49-F238E27FC236}">
                <a16:creationId xmlns:a16="http://schemas.microsoft.com/office/drawing/2014/main" id="{9853CF5D-9A6C-2C4B-5A68-240EC146688C}"/>
              </a:ext>
            </a:extLst>
          </p:cNvPr>
          <p:cNvSpPr txBox="1"/>
          <p:nvPr/>
        </p:nvSpPr>
        <p:spPr>
          <a:xfrm>
            <a:off x="2502329" y="4685026"/>
            <a:ext cx="3916457" cy="707886"/>
          </a:xfrm>
          <a:prstGeom prst="rect">
            <a:avLst/>
          </a:prstGeom>
          <a:noFill/>
        </p:spPr>
        <p:txBody>
          <a:bodyPr wrap="none" rtlCol="0">
            <a:spAutoFit/>
          </a:bodyPr>
          <a:lstStyle/>
          <a:p>
            <a:r>
              <a:rPr lang="es-ES" sz="4000" dirty="0"/>
              <a:t>0 1 0 1      = </a:t>
            </a:r>
            <a:r>
              <a:rPr lang="es-ES" sz="2800" dirty="0"/>
              <a:t>4+1=  </a:t>
            </a:r>
            <a:r>
              <a:rPr lang="es-ES" sz="4000" dirty="0"/>
              <a:t>5</a:t>
            </a:r>
            <a:endParaRPr lang="es-ES" sz="2400" dirty="0"/>
          </a:p>
        </p:txBody>
      </p:sp>
      <p:sp>
        <p:nvSpPr>
          <p:cNvPr id="13" name="CuadroTexto 12">
            <a:extLst>
              <a:ext uri="{FF2B5EF4-FFF2-40B4-BE49-F238E27FC236}">
                <a16:creationId xmlns:a16="http://schemas.microsoft.com/office/drawing/2014/main" id="{6AAFF473-1918-E4A5-9254-BE6F8DC3FAC5}"/>
              </a:ext>
            </a:extLst>
          </p:cNvPr>
          <p:cNvSpPr txBox="1"/>
          <p:nvPr/>
        </p:nvSpPr>
        <p:spPr>
          <a:xfrm>
            <a:off x="2502329" y="4408026"/>
            <a:ext cx="5856858" cy="400110"/>
          </a:xfrm>
          <a:prstGeom prst="rect">
            <a:avLst/>
          </a:prstGeom>
          <a:noFill/>
        </p:spPr>
        <p:txBody>
          <a:bodyPr wrap="square">
            <a:spAutoFit/>
          </a:bodyPr>
          <a:lstStyle/>
          <a:p>
            <a:r>
              <a:rPr lang="es-ES" sz="2000" dirty="0"/>
              <a:t> 2</a:t>
            </a:r>
            <a:r>
              <a:rPr lang="es-ES" sz="2000" baseline="30000" dirty="0"/>
              <a:t>3    </a:t>
            </a:r>
            <a:r>
              <a:rPr lang="es-ES" sz="2000" dirty="0"/>
              <a:t>2</a:t>
            </a:r>
            <a:r>
              <a:rPr lang="es-ES" sz="2000" baseline="30000" dirty="0"/>
              <a:t>2     </a:t>
            </a:r>
            <a:r>
              <a:rPr lang="es-ES" sz="2000" dirty="0"/>
              <a:t>2</a:t>
            </a:r>
            <a:r>
              <a:rPr lang="es-ES" sz="2000" baseline="30000" dirty="0"/>
              <a:t>1    </a:t>
            </a:r>
            <a:r>
              <a:rPr lang="es-ES" sz="2000" dirty="0"/>
              <a:t>2</a:t>
            </a:r>
            <a:r>
              <a:rPr lang="es-ES" sz="2000" baseline="30000" dirty="0"/>
              <a:t>0</a:t>
            </a:r>
            <a:endParaRPr lang="es-ES" sz="2000" dirty="0"/>
          </a:p>
        </p:txBody>
      </p:sp>
      <p:pic>
        <p:nvPicPr>
          <p:cNvPr id="15" name="Picture 10" descr="C:\Users\ecoffey\AppData\Local\Temp\Rar$DRa0.175\30088_Device_terminal_default_256.png">
            <a:extLst>
              <a:ext uri="{FF2B5EF4-FFF2-40B4-BE49-F238E27FC236}">
                <a16:creationId xmlns:a16="http://schemas.microsoft.com/office/drawing/2014/main" id="{1C553C51-1B01-B016-B178-8D79E18E3D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9654" y="1689482"/>
            <a:ext cx="1215698" cy="1215698"/>
          </a:xfrm>
          <a:prstGeom prst="rect">
            <a:avLst/>
          </a:prstGeom>
          <a:noFill/>
          <a:extLst>
            <a:ext uri="{909E8E84-426E-40DD-AFC4-6F175D3DCCD1}">
              <a14:hiddenFill xmlns:a14="http://schemas.microsoft.com/office/drawing/2010/main">
                <a:solidFill>
                  <a:srgbClr val="FFFFFF"/>
                </a:solidFill>
              </a14:hiddenFill>
            </a:ext>
          </a:extLst>
        </p:spPr>
      </p:pic>
      <p:pic>
        <p:nvPicPr>
          <p:cNvPr id="17" name="Imagen 16">
            <a:extLst>
              <a:ext uri="{FF2B5EF4-FFF2-40B4-BE49-F238E27FC236}">
                <a16:creationId xmlns:a16="http://schemas.microsoft.com/office/drawing/2014/main" id="{4DE5B7A7-CF7B-A5FD-4753-82CA627A21DF}"/>
              </a:ext>
            </a:extLst>
          </p:cNvPr>
          <p:cNvPicPr>
            <a:picLocks noChangeAspect="1"/>
          </p:cNvPicPr>
          <p:nvPr/>
        </p:nvPicPr>
        <p:blipFill>
          <a:blip r:embed="rId4"/>
          <a:stretch>
            <a:fillRect/>
          </a:stretch>
        </p:blipFill>
        <p:spPr>
          <a:xfrm>
            <a:off x="7483999" y="2869446"/>
            <a:ext cx="1215698" cy="856126"/>
          </a:xfrm>
          <a:prstGeom prst="rect">
            <a:avLst/>
          </a:prstGeom>
        </p:spPr>
      </p:pic>
      <p:sp>
        <p:nvSpPr>
          <p:cNvPr id="19" name="CuadroTexto 18">
            <a:extLst>
              <a:ext uri="{FF2B5EF4-FFF2-40B4-BE49-F238E27FC236}">
                <a16:creationId xmlns:a16="http://schemas.microsoft.com/office/drawing/2014/main" id="{DBCBAECE-CD88-6C66-FBFD-01758CE270D8}"/>
              </a:ext>
            </a:extLst>
          </p:cNvPr>
          <p:cNvSpPr txBox="1"/>
          <p:nvPr/>
        </p:nvSpPr>
        <p:spPr>
          <a:xfrm>
            <a:off x="-342074" y="13813"/>
            <a:ext cx="3329579" cy="461665"/>
          </a:xfrm>
          <a:prstGeom prst="rect">
            <a:avLst/>
          </a:prstGeom>
          <a:noFill/>
        </p:spPr>
        <p:txBody>
          <a:bodyPr wrap="square">
            <a:spAutoFit/>
          </a:bodyPr>
          <a:lstStyle/>
          <a:p>
            <a:pPr algn="ctr"/>
            <a:r>
              <a:rPr lang="es-ES" sz="1200" dirty="0">
                <a:ln w="0"/>
                <a:effectLst>
                  <a:outerShdw blurRad="38100" dist="19050" dir="2700000" algn="tl" rotWithShape="0">
                    <a:schemeClr val="dk1">
                      <a:alpha val="40000"/>
                    </a:schemeClr>
                  </a:outerShdw>
                </a:effectLst>
              </a:rPr>
              <a:t>1. Introducción a las redes</a:t>
            </a:r>
          </a:p>
          <a:p>
            <a:pPr algn="ctr"/>
            <a:r>
              <a:rPr lang="es-ES" sz="1200" b="1" dirty="0"/>
              <a:t>El Mensaje</a:t>
            </a:r>
          </a:p>
        </p:txBody>
      </p:sp>
      <p:sp>
        <p:nvSpPr>
          <p:cNvPr id="21" name="CuadroTexto 20">
            <a:extLst>
              <a:ext uri="{FF2B5EF4-FFF2-40B4-BE49-F238E27FC236}">
                <a16:creationId xmlns:a16="http://schemas.microsoft.com/office/drawing/2014/main" id="{CF3CBC69-9C7A-CAAB-6B80-0B9BE96A8273}"/>
              </a:ext>
            </a:extLst>
          </p:cNvPr>
          <p:cNvSpPr txBox="1"/>
          <p:nvPr/>
        </p:nvSpPr>
        <p:spPr>
          <a:xfrm>
            <a:off x="4209031" y="205395"/>
            <a:ext cx="4572001" cy="369332"/>
          </a:xfrm>
          <a:prstGeom prst="rect">
            <a:avLst/>
          </a:prstGeom>
          <a:noFill/>
        </p:spPr>
        <p:txBody>
          <a:bodyPr wrap="square" rtlCol="0">
            <a:spAutoFit/>
          </a:bodyPr>
          <a:lstStyle/>
          <a:p>
            <a:r>
              <a:rPr lang="es-ES" b="1" dirty="0"/>
              <a:t>Sistema decimal, binario y hexadecimal</a:t>
            </a:r>
          </a:p>
        </p:txBody>
      </p:sp>
      <p:sp>
        <p:nvSpPr>
          <p:cNvPr id="22" name="CuadroTexto 21">
            <a:extLst>
              <a:ext uri="{FF2B5EF4-FFF2-40B4-BE49-F238E27FC236}">
                <a16:creationId xmlns:a16="http://schemas.microsoft.com/office/drawing/2014/main" id="{7221EB4C-BFEA-F493-7ABC-15B0BA350C5A}"/>
              </a:ext>
            </a:extLst>
          </p:cNvPr>
          <p:cNvSpPr txBox="1"/>
          <p:nvPr/>
        </p:nvSpPr>
        <p:spPr>
          <a:xfrm>
            <a:off x="531767" y="1078562"/>
            <a:ext cx="4431149" cy="523220"/>
          </a:xfrm>
          <a:prstGeom prst="rect">
            <a:avLst/>
          </a:prstGeom>
          <a:noFill/>
        </p:spPr>
        <p:txBody>
          <a:bodyPr wrap="none" rtlCol="0">
            <a:spAutoFit/>
          </a:bodyPr>
          <a:lstStyle/>
          <a:p>
            <a:r>
              <a:rPr lang="es-ES" sz="2800" b="1" dirty="0"/>
              <a:t>Sistema Binario a decimal</a:t>
            </a:r>
          </a:p>
        </p:txBody>
      </p:sp>
      <p:sp>
        <p:nvSpPr>
          <p:cNvPr id="24" name="CuadroTexto 23">
            <a:extLst>
              <a:ext uri="{FF2B5EF4-FFF2-40B4-BE49-F238E27FC236}">
                <a16:creationId xmlns:a16="http://schemas.microsoft.com/office/drawing/2014/main" id="{727AC055-E1AF-C56C-1FA5-4ED99063CD12}"/>
              </a:ext>
            </a:extLst>
          </p:cNvPr>
          <p:cNvSpPr txBox="1"/>
          <p:nvPr/>
        </p:nvSpPr>
        <p:spPr>
          <a:xfrm>
            <a:off x="2502329" y="5331356"/>
            <a:ext cx="5856858" cy="400110"/>
          </a:xfrm>
          <a:prstGeom prst="rect">
            <a:avLst/>
          </a:prstGeom>
          <a:noFill/>
        </p:spPr>
        <p:txBody>
          <a:bodyPr wrap="square">
            <a:spAutoFit/>
          </a:bodyPr>
          <a:lstStyle/>
          <a:p>
            <a:r>
              <a:rPr lang="es-ES" sz="2000" dirty="0"/>
              <a:t> 8</a:t>
            </a:r>
            <a:r>
              <a:rPr lang="es-ES" sz="2000" baseline="30000" dirty="0"/>
              <a:t>        </a:t>
            </a:r>
            <a:r>
              <a:rPr lang="es-ES" sz="2000" dirty="0"/>
              <a:t>4</a:t>
            </a:r>
            <a:r>
              <a:rPr lang="es-ES" sz="2000" baseline="30000" dirty="0"/>
              <a:t>       </a:t>
            </a:r>
            <a:r>
              <a:rPr lang="es-ES" sz="2000" dirty="0"/>
              <a:t>2</a:t>
            </a:r>
            <a:r>
              <a:rPr lang="es-ES" sz="2000" baseline="30000" dirty="0"/>
              <a:t>      </a:t>
            </a:r>
            <a:r>
              <a:rPr lang="es-ES" sz="2000" dirty="0"/>
              <a:t>1</a:t>
            </a:r>
          </a:p>
        </p:txBody>
      </p:sp>
      <p:pic>
        <p:nvPicPr>
          <p:cNvPr id="26" name="Imagen 25">
            <a:extLst>
              <a:ext uri="{FF2B5EF4-FFF2-40B4-BE49-F238E27FC236}">
                <a16:creationId xmlns:a16="http://schemas.microsoft.com/office/drawing/2014/main" id="{DF5AFC7E-01CA-3026-87A8-7381F10DF3E1}"/>
              </a:ext>
            </a:extLst>
          </p:cNvPr>
          <p:cNvPicPr>
            <a:picLocks noChangeAspect="1"/>
          </p:cNvPicPr>
          <p:nvPr/>
        </p:nvPicPr>
        <p:blipFill>
          <a:blip r:embed="rId5"/>
          <a:stretch>
            <a:fillRect/>
          </a:stretch>
        </p:blipFill>
        <p:spPr>
          <a:xfrm>
            <a:off x="9996344" y="2369412"/>
            <a:ext cx="2100261" cy="291046"/>
          </a:xfrm>
          <a:prstGeom prst="rect">
            <a:avLst/>
          </a:prstGeom>
        </p:spPr>
      </p:pic>
      <p:sp>
        <p:nvSpPr>
          <p:cNvPr id="27" name="Flecha: a la derecha 26">
            <a:extLst>
              <a:ext uri="{FF2B5EF4-FFF2-40B4-BE49-F238E27FC236}">
                <a16:creationId xmlns:a16="http://schemas.microsoft.com/office/drawing/2014/main" id="{F1CE0634-AFAF-AE58-540A-164DE6CF82D6}"/>
              </a:ext>
            </a:extLst>
          </p:cNvPr>
          <p:cNvSpPr/>
          <p:nvPr/>
        </p:nvSpPr>
        <p:spPr>
          <a:xfrm>
            <a:off x="8998182" y="2419232"/>
            <a:ext cx="781777" cy="2412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4" name="Flecha: hacia arriba 3">
            <a:extLst>
              <a:ext uri="{FF2B5EF4-FFF2-40B4-BE49-F238E27FC236}">
                <a16:creationId xmlns:a16="http://schemas.microsoft.com/office/drawing/2014/main" id="{31473B41-B1BD-7EC2-53CA-88160CC8C9F5}"/>
              </a:ext>
            </a:extLst>
          </p:cNvPr>
          <p:cNvSpPr/>
          <p:nvPr/>
        </p:nvSpPr>
        <p:spPr>
          <a:xfrm>
            <a:off x="3043347" y="5779438"/>
            <a:ext cx="167523" cy="188593"/>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8" name="Flecha: hacia arriba 7">
            <a:extLst>
              <a:ext uri="{FF2B5EF4-FFF2-40B4-BE49-F238E27FC236}">
                <a16:creationId xmlns:a16="http://schemas.microsoft.com/office/drawing/2014/main" id="{5FE48C67-FB54-B7EF-6E0D-1E179E6E168F}"/>
              </a:ext>
            </a:extLst>
          </p:cNvPr>
          <p:cNvSpPr/>
          <p:nvPr/>
        </p:nvSpPr>
        <p:spPr>
          <a:xfrm>
            <a:off x="3768120" y="5779438"/>
            <a:ext cx="167523" cy="188593"/>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Tree>
    <p:extLst>
      <p:ext uri="{BB962C8B-B14F-4D97-AF65-F5344CB8AC3E}">
        <p14:creationId xmlns:p14="http://schemas.microsoft.com/office/powerpoint/2010/main" val="21923634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713D35CF-A806-B5E1-B89C-8CA5D8CE71C6}"/>
              </a:ext>
            </a:extLst>
          </p:cNvPr>
          <p:cNvSpPr txBox="1"/>
          <p:nvPr/>
        </p:nvSpPr>
        <p:spPr>
          <a:xfrm>
            <a:off x="-342074" y="13813"/>
            <a:ext cx="3329579" cy="461665"/>
          </a:xfrm>
          <a:prstGeom prst="rect">
            <a:avLst/>
          </a:prstGeom>
          <a:noFill/>
        </p:spPr>
        <p:txBody>
          <a:bodyPr wrap="square">
            <a:spAutoFit/>
          </a:bodyPr>
          <a:lstStyle/>
          <a:p>
            <a:pPr algn="ctr"/>
            <a:r>
              <a:rPr lang="es-ES" sz="1200" dirty="0">
                <a:ln w="0"/>
                <a:effectLst>
                  <a:outerShdw blurRad="38100" dist="19050" dir="2700000" algn="tl" rotWithShape="0">
                    <a:schemeClr val="dk1">
                      <a:alpha val="40000"/>
                    </a:schemeClr>
                  </a:outerShdw>
                </a:effectLst>
              </a:rPr>
              <a:t>1. Introducción a las redes</a:t>
            </a:r>
          </a:p>
          <a:p>
            <a:pPr algn="ctr"/>
            <a:r>
              <a:rPr lang="es-ES" sz="1200" b="1" dirty="0"/>
              <a:t>El Mensaje</a:t>
            </a:r>
          </a:p>
        </p:txBody>
      </p:sp>
      <p:sp>
        <p:nvSpPr>
          <p:cNvPr id="7" name="CuadroTexto 6">
            <a:extLst>
              <a:ext uri="{FF2B5EF4-FFF2-40B4-BE49-F238E27FC236}">
                <a16:creationId xmlns:a16="http://schemas.microsoft.com/office/drawing/2014/main" id="{148E4C57-98CD-DB3C-107A-AF334254DC4D}"/>
              </a:ext>
            </a:extLst>
          </p:cNvPr>
          <p:cNvSpPr txBox="1"/>
          <p:nvPr/>
        </p:nvSpPr>
        <p:spPr>
          <a:xfrm>
            <a:off x="4209031" y="205395"/>
            <a:ext cx="4572001" cy="369332"/>
          </a:xfrm>
          <a:prstGeom prst="rect">
            <a:avLst/>
          </a:prstGeom>
          <a:noFill/>
        </p:spPr>
        <p:txBody>
          <a:bodyPr wrap="square" rtlCol="0">
            <a:spAutoFit/>
          </a:bodyPr>
          <a:lstStyle/>
          <a:p>
            <a:r>
              <a:rPr lang="es-ES" b="1" dirty="0"/>
              <a:t>Sistema decimal, binario y hexadecimal</a:t>
            </a:r>
          </a:p>
        </p:txBody>
      </p:sp>
      <p:sp>
        <p:nvSpPr>
          <p:cNvPr id="9" name="CuadroTexto 8">
            <a:extLst>
              <a:ext uri="{FF2B5EF4-FFF2-40B4-BE49-F238E27FC236}">
                <a16:creationId xmlns:a16="http://schemas.microsoft.com/office/drawing/2014/main" id="{495267FD-B43D-8BC5-D093-7C100667EAC6}"/>
              </a:ext>
            </a:extLst>
          </p:cNvPr>
          <p:cNvSpPr txBox="1"/>
          <p:nvPr/>
        </p:nvSpPr>
        <p:spPr>
          <a:xfrm>
            <a:off x="522835" y="1106314"/>
            <a:ext cx="4461606" cy="523220"/>
          </a:xfrm>
          <a:prstGeom prst="rect">
            <a:avLst/>
          </a:prstGeom>
          <a:noFill/>
        </p:spPr>
        <p:txBody>
          <a:bodyPr wrap="none" rtlCol="0">
            <a:spAutoFit/>
          </a:bodyPr>
          <a:lstStyle/>
          <a:p>
            <a:r>
              <a:rPr lang="es-ES" sz="2800" b="1" dirty="0"/>
              <a:t>Sistema Decimal a binario</a:t>
            </a:r>
          </a:p>
        </p:txBody>
      </p:sp>
      <p:sp>
        <p:nvSpPr>
          <p:cNvPr id="11" name="CuadroTexto 10">
            <a:extLst>
              <a:ext uri="{FF2B5EF4-FFF2-40B4-BE49-F238E27FC236}">
                <a16:creationId xmlns:a16="http://schemas.microsoft.com/office/drawing/2014/main" id="{01733F6A-AB0A-5A50-BCEB-D6056D2438EA}"/>
              </a:ext>
            </a:extLst>
          </p:cNvPr>
          <p:cNvSpPr txBox="1"/>
          <p:nvPr/>
        </p:nvSpPr>
        <p:spPr>
          <a:xfrm>
            <a:off x="458232" y="1690673"/>
            <a:ext cx="6096000" cy="1354217"/>
          </a:xfrm>
          <a:prstGeom prst="rect">
            <a:avLst/>
          </a:prstGeom>
          <a:noFill/>
        </p:spPr>
        <p:txBody>
          <a:bodyPr wrap="square">
            <a:spAutoFit/>
          </a:bodyPr>
          <a:lstStyle/>
          <a:p>
            <a:r>
              <a:rPr lang="es-ES" sz="1600" dirty="0"/>
              <a:t>💡Para transformar un </a:t>
            </a:r>
            <a:r>
              <a:rPr lang="es-ES" b="1" dirty="0"/>
              <a:t>número</a:t>
            </a:r>
            <a:r>
              <a:rPr lang="es-ES" sz="1600" dirty="0"/>
              <a:t> </a:t>
            </a:r>
            <a:r>
              <a:rPr lang="es-ES" b="1" dirty="0"/>
              <a:t>decimal</a:t>
            </a:r>
            <a:r>
              <a:rPr lang="es-ES" sz="1600" dirty="0"/>
              <a:t> a binario existen muchos métodos, el más básico del cual se originan todos los demás métodos consiste simplemente en conocer las potencias y ubicar los bits “encendidos” que suman la cantidad necesaria para llegar al decimal.</a:t>
            </a:r>
          </a:p>
        </p:txBody>
      </p:sp>
      <p:pic>
        <p:nvPicPr>
          <p:cNvPr id="13" name="Picture 10" descr="C:\Users\ecoffey\AppData\Local\Temp\Rar$DRa0.175\30088_Device_terminal_default_256.png">
            <a:extLst>
              <a:ext uri="{FF2B5EF4-FFF2-40B4-BE49-F238E27FC236}">
                <a16:creationId xmlns:a16="http://schemas.microsoft.com/office/drawing/2014/main" id="{AB2F41C1-12A1-81D7-F959-8C8DED01C6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86020" y="1522076"/>
            <a:ext cx="1215698" cy="1215698"/>
          </a:xfrm>
          <a:prstGeom prst="rect">
            <a:avLst/>
          </a:prstGeom>
          <a:noFill/>
          <a:extLst>
            <a:ext uri="{909E8E84-426E-40DD-AFC4-6F175D3DCCD1}">
              <a14:hiddenFill xmlns:a14="http://schemas.microsoft.com/office/drawing/2010/main">
                <a:solidFill>
                  <a:srgbClr val="FFFFFF"/>
                </a:solidFill>
              </a14:hiddenFill>
            </a:ext>
          </a:extLst>
        </p:spPr>
      </p:pic>
      <p:pic>
        <p:nvPicPr>
          <p:cNvPr id="15" name="Imagen 14">
            <a:extLst>
              <a:ext uri="{FF2B5EF4-FFF2-40B4-BE49-F238E27FC236}">
                <a16:creationId xmlns:a16="http://schemas.microsoft.com/office/drawing/2014/main" id="{4975B19F-B0F3-2362-0A3A-5BBACBA74569}"/>
              </a:ext>
            </a:extLst>
          </p:cNvPr>
          <p:cNvPicPr>
            <a:picLocks noChangeAspect="1"/>
          </p:cNvPicPr>
          <p:nvPr/>
        </p:nvPicPr>
        <p:blipFill>
          <a:blip r:embed="rId3"/>
          <a:stretch>
            <a:fillRect/>
          </a:stretch>
        </p:blipFill>
        <p:spPr>
          <a:xfrm>
            <a:off x="10518070" y="2737774"/>
            <a:ext cx="1215698" cy="856126"/>
          </a:xfrm>
          <a:prstGeom prst="rect">
            <a:avLst/>
          </a:prstGeom>
        </p:spPr>
      </p:pic>
      <p:pic>
        <p:nvPicPr>
          <p:cNvPr id="17" name="Imagen 16">
            <a:extLst>
              <a:ext uri="{FF2B5EF4-FFF2-40B4-BE49-F238E27FC236}">
                <a16:creationId xmlns:a16="http://schemas.microsoft.com/office/drawing/2014/main" id="{76BAF707-E664-E093-2AF7-17427CFCD0F5}"/>
              </a:ext>
            </a:extLst>
          </p:cNvPr>
          <p:cNvPicPr>
            <a:picLocks noChangeAspect="1"/>
          </p:cNvPicPr>
          <p:nvPr/>
        </p:nvPicPr>
        <p:blipFill>
          <a:blip r:embed="rId4"/>
          <a:stretch>
            <a:fillRect/>
          </a:stretch>
        </p:blipFill>
        <p:spPr>
          <a:xfrm>
            <a:off x="6798526" y="2218566"/>
            <a:ext cx="2100261" cy="291046"/>
          </a:xfrm>
          <a:prstGeom prst="rect">
            <a:avLst/>
          </a:prstGeom>
        </p:spPr>
      </p:pic>
      <p:sp>
        <p:nvSpPr>
          <p:cNvPr id="19" name="Flecha: a la derecha 18">
            <a:extLst>
              <a:ext uri="{FF2B5EF4-FFF2-40B4-BE49-F238E27FC236}">
                <a16:creationId xmlns:a16="http://schemas.microsoft.com/office/drawing/2014/main" id="{AF3F982A-ACC7-7C44-AC24-8A03C45BA03A}"/>
              </a:ext>
            </a:extLst>
          </p:cNvPr>
          <p:cNvSpPr/>
          <p:nvPr/>
        </p:nvSpPr>
        <p:spPr>
          <a:xfrm>
            <a:off x="9351515" y="2275448"/>
            <a:ext cx="781777" cy="2412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1" name="Imagen 20">
            <a:extLst>
              <a:ext uri="{FF2B5EF4-FFF2-40B4-BE49-F238E27FC236}">
                <a16:creationId xmlns:a16="http://schemas.microsoft.com/office/drawing/2014/main" id="{06600EF0-3640-7AAB-2D90-A3914E238717}"/>
              </a:ext>
            </a:extLst>
          </p:cNvPr>
          <p:cNvPicPr>
            <a:picLocks noChangeAspect="1"/>
          </p:cNvPicPr>
          <p:nvPr/>
        </p:nvPicPr>
        <p:blipFill>
          <a:blip r:embed="rId5"/>
          <a:stretch>
            <a:fillRect/>
          </a:stretch>
        </p:blipFill>
        <p:spPr>
          <a:xfrm>
            <a:off x="506052" y="3002501"/>
            <a:ext cx="6121715" cy="1378021"/>
          </a:xfrm>
          <a:prstGeom prst="rect">
            <a:avLst/>
          </a:prstGeom>
        </p:spPr>
      </p:pic>
      <p:sp>
        <p:nvSpPr>
          <p:cNvPr id="23" name="CuadroTexto 22">
            <a:extLst>
              <a:ext uri="{FF2B5EF4-FFF2-40B4-BE49-F238E27FC236}">
                <a16:creationId xmlns:a16="http://schemas.microsoft.com/office/drawing/2014/main" id="{54D0F6DF-D720-D307-1554-B15E1D3E03F0}"/>
              </a:ext>
            </a:extLst>
          </p:cNvPr>
          <p:cNvSpPr txBox="1"/>
          <p:nvPr/>
        </p:nvSpPr>
        <p:spPr>
          <a:xfrm>
            <a:off x="458232" y="5087576"/>
            <a:ext cx="6952232" cy="1815882"/>
          </a:xfrm>
          <a:prstGeom prst="rect">
            <a:avLst/>
          </a:prstGeom>
          <a:noFill/>
        </p:spPr>
        <p:txBody>
          <a:bodyPr wrap="square" rtlCol="0">
            <a:spAutoFit/>
          </a:bodyPr>
          <a:lstStyle/>
          <a:p>
            <a:r>
              <a:rPr lang="es-ES" sz="1600" dirty="0"/>
              <a:t>Entonces por ejemplo si tenemos el valor decimal </a:t>
            </a:r>
            <a:r>
              <a:rPr lang="es-ES" sz="1600" b="1" dirty="0"/>
              <a:t>193</a:t>
            </a:r>
            <a:r>
              <a:rPr lang="es-ES" sz="1600" dirty="0"/>
              <a:t> y conocemos muy bien las potencias en binario “encendemos” los bits que hacen la suma y los demas bits los dejamos en 0 y asi lo convertimos a binario.</a:t>
            </a:r>
          </a:p>
          <a:p>
            <a:endParaRPr lang="es-ES" sz="1600" b="1" dirty="0"/>
          </a:p>
          <a:p>
            <a:r>
              <a:rPr lang="es-ES" sz="1600" b="1" dirty="0"/>
              <a:t>128 + 64 +1 = 193</a:t>
            </a:r>
          </a:p>
          <a:p>
            <a:endParaRPr lang="es-ES" sz="1600" b="1" dirty="0"/>
          </a:p>
          <a:p>
            <a:r>
              <a:rPr lang="es-ES" sz="1600" b="1" dirty="0"/>
              <a:t>193 en binario es : 11000001</a:t>
            </a:r>
          </a:p>
        </p:txBody>
      </p:sp>
      <p:sp>
        <p:nvSpPr>
          <p:cNvPr id="24" name="Flecha: hacia arriba 23">
            <a:extLst>
              <a:ext uri="{FF2B5EF4-FFF2-40B4-BE49-F238E27FC236}">
                <a16:creationId xmlns:a16="http://schemas.microsoft.com/office/drawing/2014/main" id="{DE4946C8-B0A3-CEEE-52CA-BDBFE4C44DC5}"/>
              </a:ext>
            </a:extLst>
          </p:cNvPr>
          <p:cNvSpPr/>
          <p:nvPr/>
        </p:nvSpPr>
        <p:spPr>
          <a:xfrm>
            <a:off x="1724098" y="4281273"/>
            <a:ext cx="174504" cy="220925"/>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6" name="Flecha: hacia arriba 25">
            <a:extLst>
              <a:ext uri="{FF2B5EF4-FFF2-40B4-BE49-F238E27FC236}">
                <a16:creationId xmlns:a16="http://schemas.microsoft.com/office/drawing/2014/main" id="{64579360-6CE8-B562-BE7A-105C1A774B53}"/>
              </a:ext>
            </a:extLst>
          </p:cNvPr>
          <p:cNvSpPr/>
          <p:nvPr/>
        </p:nvSpPr>
        <p:spPr>
          <a:xfrm>
            <a:off x="2358129" y="4281272"/>
            <a:ext cx="174504" cy="220925"/>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8" name="Flecha: hacia arriba 27">
            <a:extLst>
              <a:ext uri="{FF2B5EF4-FFF2-40B4-BE49-F238E27FC236}">
                <a16:creationId xmlns:a16="http://schemas.microsoft.com/office/drawing/2014/main" id="{534274AA-421F-0E7F-FF00-42AB52D83430}"/>
              </a:ext>
            </a:extLst>
          </p:cNvPr>
          <p:cNvSpPr/>
          <p:nvPr/>
        </p:nvSpPr>
        <p:spPr>
          <a:xfrm>
            <a:off x="6096000" y="4322466"/>
            <a:ext cx="174504" cy="220925"/>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9" name="CuadroTexto 28">
            <a:extLst>
              <a:ext uri="{FF2B5EF4-FFF2-40B4-BE49-F238E27FC236}">
                <a16:creationId xmlns:a16="http://schemas.microsoft.com/office/drawing/2014/main" id="{70B9B397-0120-0808-6876-97C82DC3CAE9}"/>
              </a:ext>
            </a:extLst>
          </p:cNvPr>
          <p:cNvSpPr txBox="1"/>
          <p:nvPr/>
        </p:nvSpPr>
        <p:spPr>
          <a:xfrm>
            <a:off x="1724098" y="4610221"/>
            <a:ext cx="4658648" cy="369332"/>
          </a:xfrm>
          <a:prstGeom prst="rect">
            <a:avLst/>
          </a:prstGeom>
          <a:noFill/>
        </p:spPr>
        <p:txBody>
          <a:bodyPr wrap="none" rtlCol="0">
            <a:spAutoFit/>
          </a:bodyPr>
          <a:lstStyle/>
          <a:p>
            <a:r>
              <a:rPr lang="es-ES" b="1" dirty="0"/>
              <a:t>1         1            0            0           0          0          0           1</a:t>
            </a:r>
          </a:p>
        </p:txBody>
      </p:sp>
    </p:spTree>
    <p:extLst>
      <p:ext uri="{BB962C8B-B14F-4D97-AF65-F5344CB8AC3E}">
        <p14:creationId xmlns:p14="http://schemas.microsoft.com/office/powerpoint/2010/main" val="22299466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a 4">
            <a:extLst>
              <a:ext uri="{FF2B5EF4-FFF2-40B4-BE49-F238E27FC236}">
                <a16:creationId xmlns:a16="http://schemas.microsoft.com/office/drawing/2014/main" id="{DCC12B80-8B9F-8B33-D672-B87F755FD7CC}"/>
              </a:ext>
            </a:extLst>
          </p:cNvPr>
          <p:cNvGraphicFramePr>
            <a:graphicFrameLocks noGrp="1"/>
          </p:cNvGraphicFramePr>
          <p:nvPr>
            <p:extLst>
              <p:ext uri="{D42A27DB-BD31-4B8C-83A1-F6EECF244321}">
                <p14:modId xmlns:p14="http://schemas.microsoft.com/office/powerpoint/2010/main" val="409807762"/>
              </p:ext>
            </p:extLst>
          </p:nvPr>
        </p:nvGraphicFramePr>
        <p:xfrm>
          <a:off x="8020008" y="2048736"/>
          <a:ext cx="3657788" cy="3883764"/>
        </p:xfrm>
        <a:graphic>
          <a:graphicData uri="http://schemas.openxmlformats.org/drawingml/2006/table">
            <a:tbl>
              <a:tblPr/>
              <a:tblGrid>
                <a:gridCol w="1828894">
                  <a:extLst>
                    <a:ext uri="{9D8B030D-6E8A-4147-A177-3AD203B41FA5}">
                      <a16:colId xmlns:a16="http://schemas.microsoft.com/office/drawing/2014/main" val="1441590231"/>
                    </a:ext>
                  </a:extLst>
                </a:gridCol>
                <a:gridCol w="1828894">
                  <a:extLst>
                    <a:ext uri="{9D8B030D-6E8A-4147-A177-3AD203B41FA5}">
                      <a16:colId xmlns:a16="http://schemas.microsoft.com/office/drawing/2014/main" val="2641110229"/>
                    </a:ext>
                  </a:extLst>
                </a:gridCol>
              </a:tblGrid>
              <a:tr h="200749">
                <a:tc>
                  <a:txBody>
                    <a:bodyPr/>
                    <a:lstStyle/>
                    <a:p>
                      <a:pPr>
                        <a:buNone/>
                      </a:pPr>
                      <a:r>
                        <a:rPr lang="es-ES" sz="1100" dirty="0">
                          <a:effectLst/>
                        </a:rPr>
                        <a:t>Decimal</a:t>
                      </a:r>
                    </a:p>
                  </a:txBody>
                  <a:tcPr marL="59472" marR="59472" marT="29736" marB="2973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buNone/>
                      </a:pPr>
                      <a:r>
                        <a:rPr lang="es-ES" sz="1100" dirty="0">
                          <a:effectLst/>
                        </a:rPr>
                        <a:t>Hexadecimal</a:t>
                      </a:r>
                    </a:p>
                  </a:txBody>
                  <a:tcPr marL="59472" marR="59472" marT="29736" marB="2973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97644804"/>
                  </a:ext>
                </a:extLst>
              </a:tr>
              <a:tr h="200749">
                <a:tc>
                  <a:txBody>
                    <a:bodyPr/>
                    <a:lstStyle/>
                    <a:p>
                      <a:pPr>
                        <a:buNone/>
                      </a:pPr>
                      <a:r>
                        <a:rPr lang="es-ES" sz="1100" dirty="0">
                          <a:effectLst/>
                        </a:rPr>
                        <a:t>0</a:t>
                      </a:r>
                    </a:p>
                  </a:txBody>
                  <a:tcPr marL="59472" marR="59472" marT="29736" marB="2973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buNone/>
                      </a:pPr>
                      <a:r>
                        <a:rPr lang="es-ES" sz="1100" dirty="0">
                          <a:effectLst/>
                        </a:rPr>
                        <a:t>0</a:t>
                      </a:r>
                    </a:p>
                  </a:txBody>
                  <a:tcPr marL="59472" marR="59472" marT="29736" marB="2973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452652745"/>
                  </a:ext>
                </a:extLst>
              </a:tr>
              <a:tr h="200749">
                <a:tc>
                  <a:txBody>
                    <a:bodyPr/>
                    <a:lstStyle/>
                    <a:p>
                      <a:pPr>
                        <a:buNone/>
                      </a:pPr>
                      <a:r>
                        <a:rPr lang="es-ES" sz="1100" dirty="0">
                          <a:effectLst/>
                        </a:rPr>
                        <a:t>1</a:t>
                      </a:r>
                    </a:p>
                  </a:txBody>
                  <a:tcPr marL="59472" marR="59472" marT="29736" marB="2973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buNone/>
                      </a:pPr>
                      <a:r>
                        <a:rPr lang="es-ES" sz="1100" dirty="0">
                          <a:effectLst/>
                        </a:rPr>
                        <a:t>1</a:t>
                      </a:r>
                    </a:p>
                  </a:txBody>
                  <a:tcPr marL="59472" marR="59472" marT="29736" marB="2973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290894479"/>
                  </a:ext>
                </a:extLst>
              </a:tr>
              <a:tr h="200749">
                <a:tc>
                  <a:txBody>
                    <a:bodyPr/>
                    <a:lstStyle/>
                    <a:p>
                      <a:pPr>
                        <a:buNone/>
                      </a:pPr>
                      <a:r>
                        <a:rPr lang="es-ES" sz="1100" dirty="0">
                          <a:effectLst/>
                        </a:rPr>
                        <a:t>2</a:t>
                      </a:r>
                    </a:p>
                  </a:txBody>
                  <a:tcPr marL="59472" marR="59472" marT="29736" marB="2973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buNone/>
                      </a:pPr>
                      <a:r>
                        <a:rPr lang="es-ES" sz="1100" dirty="0">
                          <a:effectLst/>
                        </a:rPr>
                        <a:t>2</a:t>
                      </a:r>
                    </a:p>
                  </a:txBody>
                  <a:tcPr marL="59472" marR="59472" marT="29736" marB="2973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2918544358"/>
                  </a:ext>
                </a:extLst>
              </a:tr>
              <a:tr h="200749">
                <a:tc>
                  <a:txBody>
                    <a:bodyPr/>
                    <a:lstStyle/>
                    <a:p>
                      <a:pPr>
                        <a:buNone/>
                      </a:pPr>
                      <a:r>
                        <a:rPr lang="es-ES" sz="1100" dirty="0">
                          <a:effectLst/>
                        </a:rPr>
                        <a:t>3</a:t>
                      </a:r>
                    </a:p>
                  </a:txBody>
                  <a:tcPr marL="59472" marR="59472" marT="29736" marB="2973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buNone/>
                      </a:pPr>
                      <a:r>
                        <a:rPr lang="es-ES" sz="1100" dirty="0">
                          <a:effectLst/>
                        </a:rPr>
                        <a:t>3</a:t>
                      </a:r>
                    </a:p>
                  </a:txBody>
                  <a:tcPr marL="59472" marR="59472" marT="29736" marB="2973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647962194"/>
                  </a:ext>
                </a:extLst>
              </a:tr>
              <a:tr h="200749">
                <a:tc>
                  <a:txBody>
                    <a:bodyPr/>
                    <a:lstStyle/>
                    <a:p>
                      <a:pPr>
                        <a:buNone/>
                      </a:pPr>
                      <a:r>
                        <a:rPr lang="es-ES" sz="1100" dirty="0">
                          <a:effectLst/>
                        </a:rPr>
                        <a:t>4</a:t>
                      </a:r>
                    </a:p>
                  </a:txBody>
                  <a:tcPr marL="59472" marR="59472" marT="29736" marB="2973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buNone/>
                      </a:pPr>
                      <a:r>
                        <a:rPr lang="es-ES" sz="1100" dirty="0">
                          <a:effectLst/>
                        </a:rPr>
                        <a:t>4</a:t>
                      </a:r>
                    </a:p>
                  </a:txBody>
                  <a:tcPr marL="59472" marR="59472" marT="29736" marB="2973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1403633944"/>
                  </a:ext>
                </a:extLst>
              </a:tr>
              <a:tr h="200749">
                <a:tc>
                  <a:txBody>
                    <a:bodyPr/>
                    <a:lstStyle/>
                    <a:p>
                      <a:pPr>
                        <a:buNone/>
                      </a:pPr>
                      <a:r>
                        <a:rPr lang="es-ES" sz="1100" dirty="0">
                          <a:effectLst/>
                        </a:rPr>
                        <a:t>5</a:t>
                      </a:r>
                    </a:p>
                  </a:txBody>
                  <a:tcPr marL="59472" marR="59472" marT="29736" marB="2973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buNone/>
                      </a:pPr>
                      <a:r>
                        <a:rPr lang="es-ES" sz="1100" dirty="0">
                          <a:effectLst/>
                        </a:rPr>
                        <a:t>5</a:t>
                      </a:r>
                    </a:p>
                  </a:txBody>
                  <a:tcPr marL="59472" marR="59472" marT="29736" marB="2973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619996447"/>
                  </a:ext>
                </a:extLst>
              </a:tr>
              <a:tr h="200749">
                <a:tc>
                  <a:txBody>
                    <a:bodyPr/>
                    <a:lstStyle/>
                    <a:p>
                      <a:pPr>
                        <a:buNone/>
                      </a:pPr>
                      <a:r>
                        <a:rPr lang="es-ES" sz="1100" dirty="0">
                          <a:effectLst/>
                        </a:rPr>
                        <a:t>6</a:t>
                      </a:r>
                    </a:p>
                  </a:txBody>
                  <a:tcPr marL="59472" marR="59472" marT="29736" marB="2973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buNone/>
                      </a:pPr>
                      <a:r>
                        <a:rPr lang="es-ES" sz="1100" dirty="0">
                          <a:effectLst/>
                        </a:rPr>
                        <a:t>6</a:t>
                      </a:r>
                    </a:p>
                  </a:txBody>
                  <a:tcPr marL="59472" marR="59472" marT="29736" marB="2973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2252067114"/>
                  </a:ext>
                </a:extLst>
              </a:tr>
              <a:tr h="200749">
                <a:tc>
                  <a:txBody>
                    <a:bodyPr/>
                    <a:lstStyle/>
                    <a:p>
                      <a:pPr>
                        <a:buNone/>
                      </a:pPr>
                      <a:r>
                        <a:rPr lang="es-ES" sz="1100" dirty="0">
                          <a:effectLst/>
                        </a:rPr>
                        <a:t>7</a:t>
                      </a:r>
                    </a:p>
                  </a:txBody>
                  <a:tcPr marL="59472" marR="59472" marT="29736" marB="2973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buNone/>
                      </a:pPr>
                      <a:r>
                        <a:rPr lang="es-ES" sz="1100" dirty="0">
                          <a:effectLst/>
                        </a:rPr>
                        <a:t>7</a:t>
                      </a:r>
                    </a:p>
                  </a:txBody>
                  <a:tcPr marL="59472" marR="59472" marT="29736" marB="2973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961388798"/>
                  </a:ext>
                </a:extLst>
              </a:tr>
              <a:tr h="200749">
                <a:tc>
                  <a:txBody>
                    <a:bodyPr/>
                    <a:lstStyle/>
                    <a:p>
                      <a:pPr>
                        <a:buNone/>
                      </a:pPr>
                      <a:r>
                        <a:rPr lang="es-ES" sz="1100" dirty="0">
                          <a:effectLst/>
                        </a:rPr>
                        <a:t>8</a:t>
                      </a:r>
                    </a:p>
                  </a:txBody>
                  <a:tcPr marL="59472" marR="59472" marT="29736" marB="2973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buNone/>
                      </a:pPr>
                      <a:r>
                        <a:rPr lang="es-ES" sz="1100" dirty="0">
                          <a:effectLst/>
                        </a:rPr>
                        <a:t>8</a:t>
                      </a:r>
                    </a:p>
                  </a:txBody>
                  <a:tcPr marL="59472" marR="59472" marT="29736" marB="2973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1985419872"/>
                  </a:ext>
                </a:extLst>
              </a:tr>
              <a:tr h="200749">
                <a:tc>
                  <a:txBody>
                    <a:bodyPr/>
                    <a:lstStyle/>
                    <a:p>
                      <a:pPr>
                        <a:buNone/>
                      </a:pPr>
                      <a:r>
                        <a:rPr lang="es-ES" sz="1100" dirty="0">
                          <a:effectLst/>
                        </a:rPr>
                        <a:t>9</a:t>
                      </a:r>
                    </a:p>
                  </a:txBody>
                  <a:tcPr marL="59472" marR="59472" marT="29736" marB="2973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buNone/>
                      </a:pPr>
                      <a:r>
                        <a:rPr lang="es-ES" sz="1100" dirty="0">
                          <a:effectLst/>
                        </a:rPr>
                        <a:t>9</a:t>
                      </a:r>
                    </a:p>
                  </a:txBody>
                  <a:tcPr marL="59472" marR="59472" marT="29736" marB="2973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2009073190"/>
                  </a:ext>
                </a:extLst>
              </a:tr>
              <a:tr h="200749">
                <a:tc>
                  <a:txBody>
                    <a:bodyPr/>
                    <a:lstStyle/>
                    <a:p>
                      <a:pPr>
                        <a:buNone/>
                      </a:pPr>
                      <a:r>
                        <a:rPr lang="es-ES" sz="1100" dirty="0">
                          <a:effectLst/>
                        </a:rPr>
                        <a:t>10</a:t>
                      </a:r>
                    </a:p>
                  </a:txBody>
                  <a:tcPr marL="59472" marR="59472" marT="29736" marB="2973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buNone/>
                      </a:pPr>
                      <a:r>
                        <a:rPr lang="es-ES" sz="1100" dirty="0">
                          <a:effectLst/>
                        </a:rPr>
                        <a:t>A</a:t>
                      </a:r>
                    </a:p>
                  </a:txBody>
                  <a:tcPr marL="59472" marR="59472" marT="29736" marB="2973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1091288794"/>
                  </a:ext>
                </a:extLst>
              </a:tr>
              <a:tr h="200749">
                <a:tc>
                  <a:txBody>
                    <a:bodyPr/>
                    <a:lstStyle/>
                    <a:p>
                      <a:pPr>
                        <a:buNone/>
                      </a:pPr>
                      <a:r>
                        <a:rPr lang="es-ES" sz="1100" dirty="0">
                          <a:effectLst/>
                        </a:rPr>
                        <a:t>11</a:t>
                      </a:r>
                    </a:p>
                  </a:txBody>
                  <a:tcPr marL="59472" marR="59472" marT="29736" marB="2973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buNone/>
                      </a:pPr>
                      <a:r>
                        <a:rPr lang="es-ES" sz="1100" dirty="0">
                          <a:effectLst/>
                        </a:rPr>
                        <a:t>B</a:t>
                      </a:r>
                    </a:p>
                  </a:txBody>
                  <a:tcPr marL="59472" marR="59472" marT="29736" marB="2973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174242806"/>
                  </a:ext>
                </a:extLst>
              </a:tr>
              <a:tr h="200749">
                <a:tc>
                  <a:txBody>
                    <a:bodyPr/>
                    <a:lstStyle/>
                    <a:p>
                      <a:pPr>
                        <a:buNone/>
                      </a:pPr>
                      <a:r>
                        <a:rPr lang="es-ES" sz="1100" dirty="0">
                          <a:effectLst/>
                        </a:rPr>
                        <a:t>12</a:t>
                      </a:r>
                    </a:p>
                  </a:txBody>
                  <a:tcPr marL="59472" marR="59472" marT="29736" marB="2973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buNone/>
                      </a:pPr>
                      <a:r>
                        <a:rPr lang="es-ES" sz="1100" dirty="0">
                          <a:effectLst/>
                        </a:rPr>
                        <a:t>C</a:t>
                      </a:r>
                    </a:p>
                  </a:txBody>
                  <a:tcPr marL="59472" marR="59472" marT="29736" marB="2973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631838343"/>
                  </a:ext>
                </a:extLst>
              </a:tr>
              <a:tr h="200749">
                <a:tc>
                  <a:txBody>
                    <a:bodyPr/>
                    <a:lstStyle/>
                    <a:p>
                      <a:pPr>
                        <a:buNone/>
                      </a:pPr>
                      <a:r>
                        <a:rPr lang="es-ES" sz="1100" dirty="0">
                          <a:effectLst/>
                        </a:rPr>
                        <a:t>13</a:t>
                      </a:r>
                    </a:p>
                  </a:txBody>
                  <a:tcPr marL="59472" marR="59472" marT="29736" marB="2973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buNone/>
                      </a:pPr>
                      <a:r>
                        <a:rPr lang="es-ES" sz="1100" dirty="0">
                          <a:effectLst/>
                        </a:rPr>
                        <a:t>D</a:t>
                      </a:r>
                    </a:p>
                  </a:txBody>
                  <a:tcPr marL="59472" marR="59472" marT="29736" marB="2973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075590305"/>
                  </a:ext>
                </a:extLst>
              </a:tr>
              <a:tr h="200749">
                <a:tc>
                  <a:txBody>
                    <a:bodyPr/>
                    <a:lstStyle/>
                    <a:p>
                      <a:pPr>
                        <a:buNone/>
                      </a:pPr>
                      <a:r>
                        <a:rPr lang="es-ES" sz="1100" dirty="0">
                          <a:effectLst/>
                        </a:rPr>
                        <a:t>14</a:t>
                      </a:r>
                    </a:p>
                  </a:txBody>
                  <a:tcPr marL="59472" marR="59472" marT="29736" marB="2973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buNone/>
                      </a:pPr>
                      <a:r>
                        <a:rPr lang="es-ES" sz="1100" dirty="0">
                          <a:effectLst/>
                        </a:rPr>
                        <a:t>E</a:t>
                      </a:r>
                    </a:p>
                  </a:txBody>
                  <a:tcPr marL="59472" marR="59472" marT="29736" marB="2973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960662161"/>
                  </a:ext>
                </a:extLst>
              </a:tr>
              <a:tr h="0">
                <a:tc>
                  <a:txBody>
                    <a:bodyPr/>
                    <a:lstStyle/>
                    <a:p>
                      <a:pPr>
                        <a:buNone/>
                      </a:pPr>
                      <a:r>
                        <a:rPr lang="es-ES" sz="1100" dirty="0">
                          <a:effectLst/>
                        </a:rPr>
                        <a:t>15</a:t>
                      </a:r>
                    </a:p>
                  </a:txBody>
                  <a:tcPr marL="59472" marR="59472" marT="29736" marB="2973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fontAlgn="t">
                        <a:lnSpc>
                          <a:spcPts val="1500"/>
                        </a:lnSpc>
                        <a:buNone/>
                      </a:pPr>
                      <a:r>
                        <a:rPr lang="es-ES" sz="1100" dirty="0">
                          <a:effectLst/>
                        </a:rPr>
                        <a:t>F</a:t>
                      </a:r>
                      <a:endParaRPr lang="es-ES" sz="600" b="0" i="0" dirty="0">
                        <a:effectLst/>
                        <a:latin typeface="Segoe UI" panose="020B0502040204020203" pitchFamily="34" charset="0"/>
                      </a:endParaRPr>
                    </a:p>
                  </a:txBody>
                  <a:tcPr marL="59472" marR="59472" marT="29736" marB="2973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1118785264"/>
                  </a:ext>
                </a:extLst>
              </a:tr>
            </a:tbl>
          </a:graphicData>
        </a:graphic>
      </p:graphicFrame>
      <p:sp>
        <p:nvSpPr>
          <p:cNvPr id="7" name="CuadroTexto 6">
            <a:extLst>
              <a:ext uri="{FF2B5EF4-FFF2-40B4-BE49-F238E27FC236}">
                <a16:creationId xmlns:a16="http://schemas.microsoft.com/office/drawing/2014/main" id="{330BB6D4-C8E5-2775-4084-7DE42D43D94A}"/>
              </a:ext>
            </a:extLst>
          </p:cNvPr>
          <p:cNvSpPr txBox="1"/>
          <p:nvPr/>
        </p:nvSpPr>
        <p:spPr>
          <a:xfrm>
            <a:off x="522835" y="1106314"/>
            <a:ext cx="5248296" cy="523220"/>
          </a:xfrm>
          <a:prstGeom prst="rect">
            <a:avLst/>
          </a:prstGeom>
          <a:noFill/>
        </p:spPr>
        <p:txBody>
          <a:bodyPr wrap="none" rtlCol="0">
            <a:spAutoFit/>
          </a:bodyPr>
          <a:lstStyle/>
          <a:p>
            <a:r>
              <a:rPr lang="es-ES" sz="2800" b="1" dirty="0"/>
              <a:t>Sistema Hexadecimal a binario</a:t>
            </a:r>
          </a:p>
        </p:txBody>
      </p:sp>
      <p:sp>
        <p:nvSpPr>
          <p:cNvPr id="9" name="CuadroTexto 8">
            <a:extLst>
              <a:ext uri="{FF2B5EF4-FFF2-40B4-BE49-F238E27FC236}">
                <a16:creationId xmlns:a16="http://schemas.microsoft.com/office/drawing/2014/main" id="{BBA26A8F-3FC5-4559-80F3-AABF45808AB2}"/>
              </a:ext>
            </a:extLst>
          </p:cNvPr>
          <p:cNvSpPr txBox="1"/>
          <p:nvPr/>
        </p:nvSpPr>
        <p:spPr>
          <a:xfrm>
            <a:off x="-342074" y="13813"/>
            <a:ext cx="3329579" cy="461665"/>
          </a:xfrm>
          <a:prstGeom prst="rect">
            <a:avLst/>
          </a:prstGeom>
          <a:noFill/>
        </p:spPr>
        <p:txBody>
          <a:bodyPr wrap="square">
            <a:spAutoFit/>
          </a:bodyPr>
          <a:lstStyle/>
          <a:p>
            <a:pPr algn="ctr"/>
            <a:r>
              <a:rPr lang="es-ES" sz="1200" dirty="0">
                <a:ln w="0"/>
                <a:effectLst>
                  <a:outerShdw blurRad="38100" dist="19050" dir="2700000" algn="tl" rotWithShape="0">
                    <a:schemeClr val="dk1">
                      <a:alpha val="40000"/>
                    </a:schemeClr>
                  </a:outerShdw>
                </a:effectLst>
              </a:rPr>
              <a:t>1. Introducción a las redes</a:t>
            </a:r>
          </a:p>
          <a:p>
            <a:pPr algn="ctr"/>
            <a:r>
              <a:rPr lang="es-ES" sz="1200" b="1" dirty="0"/>
              <a:t>El Mensaje</a:t>
            </a:r>
          </a:p>
        </p:txBody>
      </p:sp>
      <p:sp>
        <p:nvSpPr>
          <p:cNvPr id="11" name="CuadroTexto 10">
            <a:extLst>
              <a:ext uri="{FF2B5EF4-FFF2-40B4-BE49-F238E27FC236}">
                <a16:creationId xmlns:a16="http://schemas.microsoft.com/office/drawing/2014/main" id="{052E42AB-4FA2-8688-B7DB-75A799706D8D}"/>
              </a:ext>
            </a:extLst>
          </p:cNvPr>
          <p:cNvSpPr txBox="1"/>
          <p:nvPr/>
        </p:nvSpPr>
        <p:spPr>
          <a:xfrm>
            <a:off x="4209031" y="205395"/>
            <a:ext cx="4572001" cy="369332"/>
          </a:xfrm>
          <a:prstGeom prst="rect">
            <a:avLst/>
          </a:prstGeom>
          <a:noFill/>
        </p:spPr>
        <p:txBody>
          <a:bodyPr wrap="square" rtlCol="0">
            <a:spAutoFit/>
          </a:bodyPr>
          <a:lstStyle/>
          <a:p>
            <a:r>
              <a:rPr lang="es-ES" b="1" dirty="0"/>
              <a:t>Sistema decimal, binario y hexadecimal</a:t>
            </a:r>
          </a:p>
        </p:txBody>
      </p:sp>
      <p:sp>
        <p:nvSpPr>
          <p:cNvPr id="13" name="CuadroTexto 12">
            <a:extLst>
              <a:ext uri="{FF2B5EF4-FFF2-40B4-BE49-F238E27FC236}">
                <a16:creationId xmlns:a16="http://schemas.microsoft.com/office/drawing/2014/main" id="{55501397-C36A-BDD0-9300-03EA689272A3}"/>
              </a:ext>
            </a:extLst>
          </p:cNvPr>
          <p:cNvSpPr txBox="1"/>
          <p:nvPr/>
        </p:nvSpPr>
        <p:spPr>
          <a:xfrm>
            <a:off x="458232" y="1690673"/>
            <a:ext cx="7038452" cy="4616648"/>
          </a:xfrm>
          <a:prstGeom prst="rect">
            <a:avLst/>
          </a:prstGeom>
          <a:noFill/>
        </p:spPr>
        <p:txBody>
          <a:bodyPr wrap="square">
            <a:spAutoFit/>
          </a:bodyPr>
          <a:lstStyle/>
          <a:p>
            <a:r>
              <a:rPr lang="es-ES" sz="1600" dirty="0"/>
              <a:t>💡Para transformar un </a:t>
            </a:r>
            <a:r>
              <a:rPr lang="es-ES" b="1" dirty="0"/>
              <a:t>número</a:t>
            </a:r>
            <a:r>
              <a:rPr lang="es-ES" sz="1600" dirty="0"/>
              <a:t> </a:t>
            </a:r>
            <a:r>
              <a:rPr lang="es-ES" b="1" dirty="0"/>
              <a:t>hexadecimal </a:t>
            </a:r>
            <a:r>
              <a:rPr lang="es-ES" dirty="0"/>
              <a:t>a binario debemos conocer sus valores en la tabla que tenemos en la diapositiva y además conocer el sistema binario.</a:t>
            </a:r>
          </a:p>
          <a:p>
            <a:endParaRPr lang="es-ES" sz="1600" dirty="0"/>
          </a:p>
          <a:p>
            <a:r>
              <a:rPr lang="es-ES" sz="1600" dirty="0"/>
              <a:t>Un valor hexadecimal 0x2, 0xA , 0xB…etc consta de </a:t>
            </a:r>
            <a:r>
              <a:rPr lang="es-ES" sz="1600" b="1" dirty="0"/>
              <a:t>4</a:t>
            </a:r>
            <a:r>
              <a:rPr lang="es-ES" sz="1600" dirty="0"/>
              <a:t> bits</a:t>
            </a:r>
          </a:p>
          <a:p>
            <a:endParaRPr lang="es-ES" sz="1600" dirty="0"/>
          </a:p>
          <a:p>
            <a:r>
              <a:rPr lang="es-ES" sz="1600" u="sng" dirty="0"/>
              <a:t>Ejemplo con 1 digito hexadecimal:</a:t>
            </a:r>
          </a:p>
          <a:p>
            <a:endParaRPr lang="es-ES" sz="1600" dirty="0"/>
          </a:p>
          <a:p>
            <a:r>
              <a:rPr lang="es-ES" sz="1600" dirty="0"/>
              <a:t>0x</a:t>
            </a:r>
            <a:r>
              <a:rPr lang="es-ES" sz="1600" b="1" dirty="0"/>
              <a:t>?</a:t>
            </a:r>
            <a:r>
              <a:rPr lang="es-ES" sz="1600" dirty="0"/>
              <a:t>  </a:t>
            </a:r>
            <a:r>
              <a:rPr lang="es-ES" sz="1600" dirty="0">
                <a:sym typeface="Wingdings" panose="05000000000000000000" pitchFamily="2" charset="2"/>
              </a:rPr>
              <a:t>  0000    (Un hexadecimal consta de 4 bits)</a:t>
            </a:r>
          </a:p>
          <a:p>
            <a:endParaRPr lang="es-ES" sz="1600" dirty="0">
              <a:sym typeface="Wingdings" panose="05000000000000000000" pitchFamily="2" charset="2"/>
            </a:endParaRPr>
          </a:p>
          <a:p>
            <a:r>
              <a:rPr lang="es-ES" sz="1600" dirty="0">
                <a:sym typeface="Wingdings" panose="05000000000000000000" pitchFamily="2" charset="2"/>
              </a:rPr>
              <a:t>0x2    0010    (El valor decimal 2 representado en binario)</a:t>
            </a:r>
          </a:p>
          <a:p>
            <a:endParaRPr lang="es-ES" sz="1600" dirty="0">
              <a:sym typeface="Wingdings" panose="05000000000000000000" pitchFamily="2" charset="2"/>
            </a:endParaRPr>
          </a:p>
          <a:p>
            <a:r>
              <a:rPr lang="es-ES" sz="1600" u="sng" dirty="0">
                <a:sym typeface="Wingdings" panose="05000000000000000000" pitchFamily="2" charset="2"/>
              </a:rPr>
              <a:t>Otros ejemplos con mas dígitos hexadecimales:</a:t>
            </a:r>
          </a:p>
          <a:p>
            <a:endParaRPr lang="es-ES" sz="1600" dirty="0">
              <a:sym typeface="Wingdings" panose="05000000000000000000" pitchFamily="2" charset="2"/>
            </a:endParaRPr>
          </a:p>
          <a:p>
            <a:r>
              <a:rPr lang="es-ES" sz="1600" dirty="0">
                <a:sym typeface="Wingdings" panose="05000000000000000000" pitchFamily="2" charset="2"/>
              </a:rPr>
              <a:t>0x</a:t>
            </a:r>
            <a:r>
              <a:rPr lang="es-ES" sz="1600" b="1" dirty="0">
                <a:sym typeface="Wingdings" panose="05000000000000000000" pitchFamily="2" charset="2"/>
              </a:rPr>
              <a:t>??</a:t>
            </a:r>
            <a:r>
              <a:rPr lang="es-ES" sz="1600" dirty="0">
                <a:sym typeface="Wingdings" panose="05000000000000000000" pitchFamily="2" charset="2"/>
              </a:rPr>
              <a:t>   0000 0000 (2 hexadecimales = 2 bloques de 4 bits)</a:t>
            </a:r>
          </a:p>
          <a:p>
            <a:endParaRPr lang="es-ES" sz="1600" dirty="0">
              <a:sym typeface="Wingdings" panose="05000000000000000000" pitchFamily="2" charset="2"/>
            </a:endParaRPr>
          </a:p>
          <a:p>
            <a:r>
              <a:rPr lang="es-ES" sz="1600" dirty="0">
                <a:sym typeface="Wingdings" panose="05000000000000000000" pitchFamily="2" charset="2"/>
              </a:rPr>
              <a:t>0xB8  1011 1000  1er bloque  (</a:t>
            </a:r>
            <a:r>
              <a:rPr lang="es-ES" sz="1600" b="1" dirty="0">
                <a:sym typeface="Wingdings" panose="05000000000000000000" pitchFamily="2" charset="2"/>
              </a:rPr>
              <a:t>B </a:t>
            </a:r>
            <a:r>
              <a:rPr lang="es-ES" sz="1600" dirty="0">
                <a:sym typeface="Wingdings" panose="05000000000000000000" pitchFamily="2" charset="2"/>
              </a:rPr>
              <a:t>equivale a 11 que equivale a 1011 en binario)</a:t>
            </a:r>
          </a:p>
          <a:p>
            <a:r>
              <a:rPr lang="es-ES" sz="1600" b="1" dirty="0">
                <a:sym typeface="Wingdings" panose="05000000000000000000" pitchFamily="2" charset="2"/>
              </a:rPr>
              <a:t>                                         </a:t>
            </a:r>
            <a:r>
              <a:rPr lang="es-ES" sz="1600" dirty="0">
                <a:sym typeface="Wingdings" panose="05000000000000000000" pitchFamily="2" charset="2"/>
              </a:rPr>
              <a:t>2do bloque (</a:t>
            </a:r>
            <a:r>
              <a:rPr lang="es-ES" sz="1600" b="1" dirty="0">
                <a:sym typeface="Wingdings" panose="05000000000000000000" pitchFamily="2" charset="2"/>
              </a:rPr>
              <a:t>8</a:t>
            </a:r>
            <a:r>
              <a:rPr lang="es-ES" sz="1600" dirty="0">
                <a:sym typeface="Wingdings" panose="05000000000000000000" pitchFamily="2" charset="2"/>
              </a:rPr>
              <a:t> equivale a 1000 en binario)</a:t>
            </a:r>
            <a:endParaRPr lang="es-ES" sz="1600" b="1" dirty="0"/>
          </a:p>
        </p:txBody>
      </p:sp>
      <p:pic>
        <p:nvPicPr>
          <p:cNvPr id="15" name="Imagen 14">
            <a:extLst>
              <a:ext uri="{FF2B5EF4-FFF2-40B4-BE49-F238E27FC236}">
                <a16:creationId xmlns:a16="http://schemas.microsoft.com/office/drawing/2014/main" id="{167ABC4B-7B40-DB9C-02C6-983A1FD32BEF}"/>
              </a:ext>
            </a:extLst>
          </p:cNvPr>
          <p:cNvPicPr>
            <a:picLocks noChangeAspect="1"/>
          </p:cNvPicPr>
          <p:nvPr/>
        </p:nvPicPr>
        <p:blipFill>
          <a:blip r:embed="rId2"/>
          <a:stretch>
            <a:fillRect/>
          </a:stretch>
        </p:blipFill>
        <p:spPr>
          <a:xfrm>
            <a:off x="5549151" y="2837759"/>
            <a:ext cx="546849" cy="201813"/>
          </a:xfrm>
          <a:prstGeom prst="rect">
            <a:avLst/>
          </a:prstGeom>
        </p:spPr>
      </p:pic>
    </p:spTree>
    <p:extLst>
      <p:ext uri="{BB962C8B-B14F-4D97-AF65-F5344CB8AC3E}">
        <p14:creationId xmlns:p14="http://schemas.microsoft.com/office/powerpoint/2010/main" val="12911541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05D155D-C2AB-BAC8-1F47-2E7B34CCB966}"/>
              </a:ext>
            </a:extLst>
          </p:cNvPr>
          <p:cNvSpPr txBox="1"/>
          <p:nvPr/>
        </p:nvSpPr>
        <p:spPr>
          <a:xfrm>
            <a:off x="-342074" y="13813"/>
            <a:ext cx="3329579" cy="646331"/>
          </a:xfrm>
          <a:prstGeom prst="rect">
            <a:avLst/>
          </a:prstGeom>
          <a:noFill/>
        </p:spPr>
        <p:txBody>
          <a:bodyPr wrap="square">
            <a:spAutoFit/>
          </a:bodyPr>
          <a:lstStyle/>
          <a:p>
            <a:pPr algn="ctr"/>
            <a:r>
              <a:rPr lang="es-ES" sz="1200" dirty="0">
                <a:ln w="0"/>
                <a:effectLst>
                  <a:outerShdw blurRad="38100" dist="19050" dir="2700000" algn="tl" rotWithShape="0">
                    <a:schemeClr val="dk1">
                      <a:alpha val="40000"/>
                    </a:schemeClr>
                  </a:outerShdw>
                </a:effectLst>
              </a:rPr>
              <a:t>1. Introducción a las redes</a:t>
            </a:r>
          </a:p>
          <a:p>
            <a:pPr algn="ctr"/>
            <a:r>
              <a:rPr lang="es-ES" sz="1200" b="1" dirty="0"/>
              <a:t>¿Cómo se comunican los dispositivos informáticos (Cliente/Servidor)?</a:t>
            </a:r>
          </a:p>
        </p:txBody>
      </p:sp>
      <p:pic>
        <p:nvPicPr>
          <p:cNvPr id="8" name="Picture 10" descr="C:\Users\ecoffey\AppData\Local\Temp\Rar$DRa0.175\30088_Device_terminal_default_256.png">
            <a:extLst>
              <a:ext uri="{FF2B5EF4-FFF2-40B4-BE49-F238E27FC236}">
                <a16:creationId xmlns:a16="http://schemas.microsoft.com/office/drawing/2014/main" id="{6714AD7B-668C-5E0D-0514-A9659A54B6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3168" y="1162414"/>
            <a:ext cx="1353624" cy="135362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0" descr="C:\Users\ecoffey\AppData\Local\Temp\Rar$DRa0.324\30072_Device_server_default_256.png">
            <a:extLst>
              <a:ext uri="{FF2B5EF4-FFF2-40B4-BE49-F238E27FC236}">
                <a16:creationId xmlns:a16="http://schemas.microsoft.com/office/drawing/2014/main" id="{A1240A36-32A0-7DFE-8B89-305E7BFA96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86300" y="1162413"/>
            <a:ext cx="1353625" cy="135362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B9546D2A-A697-5DAD-B0DC-59B1FC7DA473}"/>
              </a:ext>
            </a:extLst>
          </p:cNvPr>
          <p:cNvSpPr txBox="1"/>
          <p:nvPr/>
        </p:nvSpPr>
        <p:spPr>
          <a:xfrm>
            <a:off x="55842" y="4030459"/>
            <a:ext cx="12191999" cy="1846659"/>
          </a:xfrm>
          <a:prstGeom prst="rect">
            <a:avLst/>
          </a:prstGeom>
          <a:noFill/>
        </p:spPr>
        <p:txBody>
          <a:bodyPr wrap="square">
            <a:spAutoFit/>
          </a:bodyPr>
          <a:lstStyle/>
          <a:p>
            <a:r>
              <a:rPr lang="es-ES" sz="1600" b="1" u="none" strike="noStrike" dirty="0">
                <a:effectLst/>
                <a:latin typeface="Google Sans"/>
              </a:rPr>
              <a:t>Si usas cable de cobre (Ethernet)</a:t>
            </a:r>
            <a:r>
              <a:rPr lang="es-ES" sz="1600" b="0" u="none" strike="noStrike" dirty="0">
                <a:effectLst/>
                <a:latin typeface="Google Sans"/>
              </a:rPr>
              <a:t>: El bit se convierte en un </a:t>
            </a:r>
            <a:r>
              <a:rPr lang="es-ES" sz="1600" b="1" u="none" strike="noStrike" dirty="0">
                <a:effectLst/>
                <a:latin typeface="Google Sans"/>
              </a:rPr>
              <a:t>pulso eléctrico</a:t>
            </a:r>
            <a:r>
              <a:rPr lang="es-ES" sz="1600" b="0" u="none" strike="noStrike" dirty="0">
                <a:effectLst/>
                <a:latin typeface="Google Sans"/>
              </a:rPr>
              <a:t> (por ejemplo, 5 voltios de electricidad significan un "1" y 0 voltios significan un "0").</a:t>
            </a:r>
          </a:p>
          <a:p>
            <a:endParaRPr lang="es-ES" sz="1600" b="0" u="none" strike="noStrike" dirty="0">
              <a:effectLst/>
              <a:latin typeface="Google Sans"/>
            </a:endParaRPr>
          </a:p>
          <a:p>
            <a:r>
              <a:rPr lang="es-ES" sz="1600" b="1" u="none" strike="noStrike" dirty="0">
                <a:effectLst/>
                <a:latin typeface="Google Sans"/>
              </a:rPr>
              <a:t>Si usas fibra óptica</a:t>
            </a:r>
            <a:r>
              <a:rPr lang="es-ES" sz="1600" b="0" u="none" strike="noStrike" dirty="0">
                <a:effectLst/>
                <a:latin typeface="Google Sans"/>
              </a:rPr>
              <a:t>: El bit se convierte en un </a:t>
            </a:r>
            <a:r>
              <a:rPr lang="es-ES" sz="1600" b="1" u="none" strike="noStrike" dirty="0">
                <a:effectLst/>
                <a:latin typeface="Google Sans"/>
              </a:rPr>
              <a:t>pulso de luz</a:t>
            </a:r>
            <a:r>
              <a:rPr lang="es-ES" sz="1600" b="0" u="none" strike="noStrike" dirty="0">
                <a:effectLst/>
                <a:latin typeface="Google Sans"/>
              </a:rPr>
              <a:t> (láser encendido es un "1", láser apagado es un "0").</a:t>
            </a:r>
          </a:p>
          <a:p>
            <a:endParaRPr lang="es-ES" sz="1600" b="0" u="none" strike="noStrike" dirty="0">
              <a:effectLst/>
              <a:latin typeface="Google Sans"/>
            </a:endParaRPr>
          </a:p>
          <a:p>
            <a:r>
              <a:rPr lang="es-ES" sz="1600" b="1" u="none" strike="noStrike" dirty="0">
                <a:effectLst/>
                <a:latin typeface="Google Sans"/>
              </a:rPr>
              <a:t>Si usas Wi-Fi</a:t>
            </a:r>
            <a:r>
              <a:rPr lang="es-ES" sz="1600" b="0" u="none" strike="noStrike" dirty="0">
                <a:effectLst/>
                <a:latin typeface="Google Sans"/>
              </a:rPr>
              <a:t>: El bit se convierte en una </a:t>
            </a:r>
            <a:r>
              <a:rPr lang="es-ES" sz="1600" b="1" u="none" strike="noStrike" dirty="0">
                <a:effectLst/>
                <a:latin typeface="Google Sans"/>
              </a:rPr>
              <a:t>onda de radio</a:t>
            </a:r>
            <a:r>
              <a:rPr lang="es-ES" sz="1600" b="0" u="none" strike="noStrike" dirty="0">
                <a:effectLst/>
                <a:latin typeface="Google Sans"/>
              </a:rPr>
              <a:t>.</a:t>
            </a:r>
          </a:p>
          <a:p>
            <a:endParaRPr lang="es-ES" dirty="0"/>
          </a:p>
        </p:txBody>
      </p:sp>
      <p:sp>
        <p:nvSpPr>
          <p:cNvPr id="13" name="CuadroTexto 12">
            <a:extLst>
              <a:ext uri="{FF2B5EF4-FFF2-40B4-BE49-F238E27FC236}">
                <a16:creationId xmlns:a16="http://schemas.microsoft.com/office/drawing/2014/main" id="{23DBA39A-63EA-29B8-77AF-A353C34A6022}"/>
              </a:ext>
            </a:extLst>
          </p:cNvPr>
          <p:cNvSpPr txBox="1"/>
          <p:nvPr/>
        </p:nvSpPr>
        <p:spPr>
          <a:xfrm>
            <a:off x="2664691" y="693186"/>
            <a:ext cx="6480941" cy="461665"/>
          </a:xfrm>
          <a:prstGeom prst="rect">
            <a:avLst/>
          </a:prstGeom>
          <a:noFill/>
        </p:spPr>
        <p:txBody>
          <a:bodyPr wrap="none" rtlCol="0">
            <a:spAutoFit/>
          </a:bodyPr>
          <a:lstStyle/>
          <a:p>
            <a:r>
              <a:rPr lang="es-ES" sz="2400" b="1" dirty="0"/>
              <a:t>Comunicación de 2 dispositivos informáticos</a:t>
            </a:r>
          </a:p>
        </p:txBody>
      </p:sp>
      <p:sp>
        <p:nvSpPr>
          <p:cNvPr id="15" name="CuadroTexto 14">
            <a:extLst>
              <a:ext uri="{FF2B5EF4-FFF2-40B4-BE49-F238E27FC236}">
                <a16:creationId xmlns:a16="http://schemas.microsoft.com/office/drawing/2014/main" id="{F641B8B3-B6A3-0266-5793-4A7B37D9A5C7}"/>
              </a:ext>
            </a:extLst>
          </p:cNvPr>
          <p:cNvSpPr txBox="1"/>
          <p:nvPr/>
        </p:nvSpPr>
        <p:spPr>
          <a:xfrm>
            <a:off x="991133" y="2844225"/>
            <a:ext cx="10875078" cy="923330"/>
          </a:xfrm>
          <a:prstGeom prst="rect">
            <a:avLst/>
          </a:prstGeom>
          <a:noFill/>
        </p:spPr>
        <p:txBody>
          <a:bodyPr wrap="square">
            <a:spAutoFit/>
          </a:bodyPr>
          <a:lstStyle/>
          <a:p>
            <a:r>
              <a:rPr lang="es-ES" dirty="0"/>
              <a:t>Esta imagen ejemplifica la comunicación bidireccional en la capa física entre una computadora y un servidor, mostrando cómo toda la información (correos, páginas web o videos) se reduce al final del día a un flujo constante de unos y ceros (</a:t>
            </a:r>
            <a:r>
              <a:rPr lang="es-ES" b="1" dirty="0"/>
              <a:t>bits binarios</a:t>
            </a:r>
            <a:r>
              <a:rPr lang="es-ES" dirty="0"/>
              <a:t>) transportados a través de un cable o del aire.</a:t>
            </a:r>
          </a:p>
        </p:txBody>
      </p:sp>
      <p:pic>
        <p:nvPicPr>
          <p:cNvPr id="17" name="Imagen 16">
            <a:extLst>
              <a:ext uri="{FF2B5EF4-FFF2-40B4-BE49-F238E27FC236}">
                <a16:creationId xmlns:a16="http://schemas.microsoft.com/office/drawing/2014/main" id="{C21EDF20-4931-8703-2006-FE9760BB0934}"/>
              </a:ext>
            </a:extLst>
          </p:cNvPr>
          <p:cNvPicPr>
            <a:picLocks noChangeAspect="1"/>
          </p:cNvPicPr>
          <p:nvPr/>
        </p:nvPicPr>
        <p:blipFill>
          <a:blip r:embed="rId4"/>
          <a:stretch>
            <a:fillRect/>
          </a:stretch>
        </p:blipFill>
        <p:spPr>
          <a:xfrm>
            <a:off x="132624" y="2790519"/>
            <a:ext cx="787440" cy="692186"/>
          </a:xfrm>
          <a:prstGeom prst="rect">
            <a:avLst/>
          </a:prstGeom>
        </p:spPr>
      </p:pic>
      <p:sp>
        <p:nvSpPr>
          <p:cNvPr id="20" name="CuadroTexto 19">
            <a:extLst>
              <a:ext uri="{FF2B5EF4-FFF2-40B4-BE49-F238E27FC236}">
                <a16:creationId xmlns:a16="http://schemas.microsoft.com/office/drawing/2014/main" id="{341E408C-F4E6-C9FC-8D7B-48EC2F676331}"/>
              </a:ext>
            </a:extLst>
          </p:cNvPr>
          <p:cNvSpPr txBox="1"/>
          <p:nvPr/>
        </p:nvSpPr>
        <p:spPr>
          <a:xfrm>
            <a:off x="3084101" y="1541321"/>
            <a:ext cx="4502199" cy="646331"/>
          </a:xfrm>
          <a:prstGeom prst="rect">
            <a:avLst/>
          </a:prstGeom>
          <a:noFill/>
        </p:spPr>
        <p:txBody>
          <a:bodyPr wrap="square" rtlCol="0">
            <a:spAutoFit/>
          </a:bodyPr>
          <a:lstStyle/>
          <a:p>
            <a:r>
              <a:rPr lang="es-ES" dirty="0"/>
              <a:t>1001010101011011001010101010110101</a:t>
            </a:r>
          </a:p>
          <a:p>
            <a:r>
              <a:rPr lang="es-ES" dirty="0"/>
              <a:t>1010100010101010101011011011010100</a:t>
            </a:r>
          </a:p>
        </p:txBody>
      </p:sp>
      <p:cxnSp>
        <p:nvCxnSpPr>
          <p:cNvPr id="22" name="Conector recto de flecha 21">
            <a:extLst>
              <a:ext uri="{FF2B5EF4-FFF2-40B4-BE49-F238E27FC236}">
                <a16:creationId xmlns:a16="http://schemas.microsoft.com/office/drawing/2014/main" id="{C0688D42-733C-7F07-62A4-EFD7C2D7CF0D}"/>
              </a:ext>
            </a:extLst>
          </p:cNvPr>
          <p:cNvCxnSpPr>
            <a:cxnSpLocks/>
          </p:cNvCxnSpPr>
          <p:nvPr/>
        </p:nvCxnSpPr>
        <p:spPr>
          <a:xfrm flipH="1">
            <a:off x="3529637" y="2296470"/>
            <a:ext cx="335977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Conector recto de flecha 23">
            <a:extLst>
              <a:ext uri="{FF2B5EF4-FFF2-40B4-BE49-F238E27FC236}">
                <a16:creationId xmlns:a16="http://schemas.microsoft.com/office/drawing/2014/main" id="{46767E97-E852-B560-D37C-7EE3D13E4AB9}"/>
              </a:ext>
            </a:extLst>
          </p:cNvPr>
          <p:cNvCxnSpPr>
            <a:cxnSpLocks/>
          </p:cNvCxnSpPr>
          <p:nvPr/>
        </p:nvCxnSpPr>
        <p:spPr>
          <a:xfrm>
            <a:off x="3529637" y="1465504"/>
            <a:ext cx="348541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CuadroTexto 28">
            <a:extLst>
              <a:ext uri="{FF2B5EF4-FFF2-40B4-BE49-F238E27FC236}">
                <a16:creationId xmlns:a16="http://schemas.microsoft.com/office/drawing/2014/main" id="{2557D1E5-CA81-F792-753A-8CF017D479C8}"/>
              </a:ext>
            </a:extLst>
          </p:cNvPr>
          <p:cNvSpPr txBox="1"/>
          <p:nvPr/>
        </p:nvSpPr>
        <p:spPr>
          <a:xfrm>
            <a:off x="799892" y="5986134"/>
            <a:ext cx="10194457" cy="646331"/>
          </a:xfrm>
          <a:prstGeom prst="rect">
            <a:avLst/>
          </a:prstGeom>
          <a:noFill/>
        </p:spPr>
        <p:txBody>
          <a:bodyPr wrap="none" rtlCol="0">
            <a:spAutoFit/>
          </a:bodyPr>
          <a:lstStyle/>
          <a:p>
            <a:r>
              <a:rPr lang="es-ES" b="1" dirty="0"/>
              <a:t>💡La combinación organizada o el patrón de estos bits es lo que da forma a los mensajes de los </a:t>
            </a:r>
          </a:p>
          <a:p>
            <a:r>
              <a:rPr lang="es-ES" b="1" dirty="0"/>
              <a:t>protocolos y a los datos reales que viajan por la red (imágenes, textos, vídeos).</a:t>
            </a:r>
            <a:endParaRPr lang="es-ES" dirty="0"/>
          </a:p>
        </p:txBody>
      </p:sp>
    </p:spTree>
    <p:extLst>
      <p:ext uri="{BB962C8B-B14F-4D97-AF65-F5344CB8AC3E}">
        <p14:creationId xmlns:p14="http://schemas.microsoft.com/office/powerpoint/2010/main" val="1660938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96BE5947-182D-36E6-A52B-6248765ED018}"/>
              </a:ext>
            </a:extLst>
          </p:cNvPr>
          <p:cNvSpPr txBox="1"/>
          <p:nvPr/>
        </p:nvSpPr>
        <p:spPr>
          <a:xfrm>
            <a:off x="-342074" y="13813"/>
            <a:ext cx="3329579" cy="646331"/>
          </a:xfrm>
          <a:prstGeom prst="rect">
            <a:avLst/>
          </a:prstGeom>
          <a:noFill/>
        </p:spPr>
        <p:txBody>
          <a:bodyPr wrap="square">
            <a:spAutoFit/>
          </a:bodyPr>
          <a:lstStyle/>
          <a:p>
            <a:pPr algn="ctr"/>
            <a:r>
              <a:rPr lang="es-ES" sz="1200" dirty="0">
                <a:ln w="0"/>
                <a:effectLst>
                  <a:outerShdw blurRad="38100" dist="19050" dir="2700000" algn="tl" rotWithShape="0">
                    <a:schemeClr val="dk1">
                      <a:alpha val="40000"/>
                    </a:schemeClr>
                  </a:outerShdw>
                </a:effectLst>
              </a:rPr>
              <a:t>1. Introducción a las redes</a:t>
            </a:r>
          </a:p>
          <a:p>
            <a:pPr algn="ctr"/>
            <a:r>
              <a:rPr lang="es-ES" sz="1200" b="1" dirty="0"/>
              <a:t>¿Cómo se comunican los dispositivos informáticos (Cliente/Servidor)?</a:t>
            </a:r>
          </a:p>
        </p:txBody>
      </p:sp>
      <p:sp>
        <p:nvSpPr>
          <p:cNvPr id="7" name="CuadroTexto 6">
            <a:extLst>
              <a:ext uri="{FF2B5EF4-FFF2-40B4-BE49-F238E27FC236}">
                <a16:creationId xmlns:a16="http://schemas.microsoft.com/office/drawing/2014/main" id="{8139E78C-56FB-2116-08F2-39E5B2AC82F5}"/>
              </a:ext>
            </a:extLst>
          </p:cNvPr>
          <p:cNvSpPr txBox="1"/>
          <p:nvPr/>
        </p:nvSpPr>
        <p:spPr>
          <a:xfrm>
            <a:off x="2699592" y="418248"/>
            <a:ext cx="6480941" cy="461665"/>
          </a:xfrm>
          <a:prstGeom prst="rect">
            <a:avLst/>
          </a:prstGeom>
          <a:noFill/>
        </p:spPr>
        <p:txBody>
          <a:bodyPr wrap="none" rtlCol="0">
            <a:spAutoFit/>
          </a:bodyPr>
          <a:lstStyle/>
          <a:p>
            <a:r>
              <a:rPr lang="es-ES" sz="2400" b="1" dirty="0"/>
              <a:t>Comunicación de 2 dispositivos informáticos</a:t>
            </a:r>
          </a:p>
        </p:txBody>
      </p:sp>
      <p:pic>
        <p:nvPicPr>
          <p:cNvPr id="9" name="Picture 10" descr="C:\Users\ecoffey\AppData\Local\Temp\Rar$DRa0.175\30088_Device_terminal_default_256.png">
            <a:extLst>
              <a:ext uri="{FF2B5EF4-FFF2-40B4-BE49-F238E27FC236}">
                <a16:creationId xmlns:a16="http://schemas.microsoft.com/office/drawing/2014/main" id="{B884E82B-2C32-6721-7203-2FB0AA0634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2509333" y="2090775"/>
            <a:ext cx="778068" cy="77806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C:\Users\ecoffey\AppData\Local\Temp\Rar$DRa0.324\30072_Device_server_default_256.png">
            <a:extLst>
              <a:ext uri="{FF2B5EF4-FFF2-40B4-BE49-F238E27FC236}">
                <a16:creationId xmlns:a16="http://schemas.microsoft.com/office/drawing/2014/main" id="{45859F18-C9AD-F042-CE76-A7CE2FA838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8402464" y="2090774"/>
            <a:ext cx="778069" cy="778069"/>
          </a:xfrm>
          <a:prstGeom prst="rect">
            <a:avLst/>
          </a:prstGeom>
          <a:noFill/>
          <a:extLst>
            <a:ext uri="{909E8E84-426E-40DD-AFC4-6F175D3DCCD1}">
              <a14:hiddenFill xmlns:a14="http://schemas.microsoft.com/office/drawing/2010/main">
                <a:solidFill>
                  <a:srgbClr val="FFFFFF"/>
                </a:solidFill>
              </a14:hiddenFill>
            </a:ext>
          </a:extLst>
        </p:spPr>
      </p:pic>
      <p:sp>
        <p:nvSpPr>
          <p:cNvPr id="14" name="CuadroTexto 13">
            <a:extLst>
              <a:ext uri="{FF2B5EF4-FFF2-40B4-BE49-F238E27FC236}">
                <a16:creationId xmlns:a16="http://schemas.microsoft.com/office/drawing/2014/main" id="{460E4DE3-F68D-8F66-F537-0EDCBF8CAA8A}"/>
              </a:ext>
            </a:extLst>
          </p:cNvPr>
          <p:cNvSpPr txBox="1"/>
          <p:nvPr/>
        </p:nvSpPr>
        <p:spPr>
          <a:xfrm>
            <a:off x="62823" y="4277959"/>
            <a:ext cx="3908884" cy="2554545"/>
          </a:xfrm>
          <a:prstGeom prst="rect">
            <a:avLst/>
          </a:prstGeom>
          <a:noFill/>
        </p:spPr>
        <p:txBody>
          <a:bodyPr wrap="square">
            <a:spAutoFit/>
          </a:bodyPr>
          <a:lstStyle/>
          <a:p>
            <a:r>
              <a:rPr lang="es-ES" sz="1600" b="1" u="none" strike="noStrike" dirty="0">
                <a:effectLst/>
                <a:latin typeface="Google Sans"/>
              </a:rPr>
              <a:t>1:</a:t>
            </a:r>
            <a:r>
              <a:rPr lang="es-ES" sz="1600" b="0" u="none" strike="noStrike" dirty="0">
                <a:effectLst/>
                <a:latin typeface="Google Sans"/>
              </a:rPr>
              <a:t> Su aplicación genera los </a:t>
            </a:r>
            <a:r>
              <a:rPr lang="es-ES" sz="1600" b="1" u="none" strike="noStrike" dirty="0">
                <a:effectLst/>
                <a:latin typeface="Google Sans"/>
              </a:rPr>
              <a:t>datos</a:t>
            </a:r>
            <a:r>
              <a:rPr lang="es-ES" sz="1600" b="0" u="none" strike="noStrike" dirty="0">
                <a:effectLst/>
                <a:latin typeface="Google Sans"/>
              </a:rPr>
              <a:t>.</a:t>
            </a:r>
          </a:p>
          <a:p>
            <a:r>
              <a:rPr lang="es-ES" sz="1600" b="1" u="none" strike="noStrike" dirty="0">
                <a:effectLst/>
                <a:latin typeface="Google Sans"/>
              </a:rPr>
              <a:t>2:</a:t>
            </a:r>
            <a:r>
              <a:rPr lang="es-ES" sz="1600" b="0" u="none" strike="noStrike" dirty="0">
                <a:effectLst/>
                <a:latin typeface="Google Sans"/>
              </a:rPr>
              <a:t> El sistema los divide y añade etiquetas de transporte, creando un </a:t>
            </a:r>
            <a:r>
              <a:rPr lang="es-ES" sz="1600" b="1" u="none" strike="noStrike" dirty="0">
                <a:effectLst/>
                <a:latin typeface="Google Sans"/>
              </a:rPr>
              <a:t>segmento</a:t>
            </a:r>
            <a:r>
              <a:rPr lang="es-ES" sz="1600" b="0" u="none" strike="noStrike" dirty="0">
                <a:effectLst/>
                <a:latin typeface="Google Sans"/>
              </a:rPr>
              <a:t>.</a:t>
            </a:r>
          </a:p>
          <a:p>
            <a:r>
              <a:rPr lang="es-ES" sz="1600" b="1" u="none" strike="noStrike" dirty="0">
                <a:effectLst/>
                <a:latin typeface="Google Sans"/>
              </a:rPr>
              <a:t>3:</a:t>
            </a:r>
            <a:r>
              <a:rPr lang="es-ES" sz="1600" b="0" u="none" strike="noStrike" dirty="0">
                <a:effectLst/>
                <a:latin typeface="Google Sans"/>
              </a:rPr>
              <a:t> Se añade la dirección de origen y destino. Aquí nace el </a:t>
            </a:r>
            <a:r>
              <a:rPr lang="es-ES" sz="1600" b="1" u="none" strike="noStrike" dirty="0">
                <a:effectLst/>
                <a:latin typeface="Google Sans"/>
              </a:rPr>
              <a:t>paquete</a:t>
            </a:r>
            <a:r>
              <a:rPr lang="es-ES" sz="1600" b="0" u="none" strike="noStrike" dirty="0">
                <a:effectLst/>
                <a:latin typeface="Google Sans"/>
              </a:rPr>
              <a:t>.</a:t>
            </a:r>
          </a:p>
          <a:p>
            <a:r>
              <a:rPr lang="es-ES" sz="1600" b="1" u="none" strike="noStrike" dirty="0">
                <a:effectLst/>
                <a:latin typeface="Google Sans"/>
              </a:rPr>
              <a:t>4:</a:t>
            </a:r>
            <a:r>
              <a:rPr lang="es-ES" sz="1600" b="0" u="none" strike="noStrike" dirty="0">
                <a:effectLst/>
                <a:latin typeface="Google Sans"/>
              </a:rPr>
              <a:t> El paquete se introduce dentro de una </a:t>
            </a:r>
            <a:r>
              <a:rPr lang="es-ES" sz="1600" b="1" u="none" strike="noStrike" dirty="0">
                <a:effectLst/>
                <a:latin typeface="Google Sans"/>
              </a:rPr>
              <a:t>trama</a:t>
            </a:r>
            <a:r>
              <a:rPr lang="es-ES" sz="1600" b="0" u="none" strike="noStrike" dirty="0">
                <a:effectLst/>
                <a:latin typeface="Google Sans"/>
              </a:rPr>
              <a:t>, agregando las direcciones físicas del router y su tarjeta de red.</a:t>
            </a:r>
          </a:p>
          <a:p>
            <a:r>
              <a:rPr lang="es-ES" sz="1600" b="1" u="none" strike="noStrike" dirty="0">
                <a:effectLst/>
                <a:latin typeface="Google Sans"/>
              </a:rPr>
              <a:t>5:</a:t>
            </a:r>
            <a:r>
              <a:rPr lang="es-ES" sz="1600" b="0" u="none" strike="noStrike" dirty="0">
                <a:effectLst/>
                <a:latin typeface="Google Sans"/>
              </a:rPr>
              <a:t> La trama se convierte en </a:t>
            </a:r>
            <a:r>
              <a:rPr lang="es-ES" sz="1600" b="1" u="none" strike="noStrike" dirty="0">
                <a:effectLst/>
                <a:latin typeface="Google Sans"/>
              </a:rPr>
              <a:t>bits</a:t>
            </a:r>
            <a:r>
              <a:rPr lang="es-ES" sz="1600" b="0" u="none" strike="noStrike" dirty="0">
                <a:effectLst/>
                <a:latin typeface="Google Sans"/>
              </a:rPr>
              <a:t> (ceros y unos) y se transmite por el cable o el aire</a:t>
            </a:r>
            <a:endParaRPr lang="es-ES" sz="1600" dirty="0"/>
          </a:p>
        </p:txBody>
      </p:sp>
      <p:pic>
        <p:nvPicPr>
          <p:cNvPr id="16" name="Imagen 15">
            <a:extLst>
              <a:ext uri="{FF2B5EF4-FFF2-40B4-BE49-F238E27FC236}">
                <a16:creationId xmlns:a16="http://schemas.microsoft.com/office/drawing/2014/main" id="{CF74292F-4C59-4117-6A72-80AB5BEBD90D}"/>
              </a:ext>
            </a:extLst>
          </p:cNvPr>
          <p:cNvPicPr>
            <a:picLocks noChangeAspect="1"/>
          </p:cNvPicPr>
          <p:nvPr/>
        </p:nvPicPr>
        <p:blipFill>
          <a:blip r:embed="rId4"/>
          <a:stretch>
            <a:fillRect/>
          </a:stretch>
        </p:blipFill>
        <p:spPr>
          <a:xfrm>
            <a:off x="3971707" y="4818225"/>
            <a:ext cx="921881" cy="215759"/>
          </a:xfrm>
          <a:prstGeom prst="rect">
            <a:avLst/>
          </a:prstGeom>
        </p:spPr>
      </p:pic>
      <p:pic>
        <p:nvPicPr>
          <p:cNvPr id="18" name="Imagen 17">
            <a:extLst>
              <a:ext uri="{FF2B5EF4-FFF2-40B4-BE49-F238E27FC236}">
                <a16:creationId xmlns:a16="http://schemas.microsoft.com/office/drawing/2014/main" id="{0B083A94-75F6-9502-D541-CF74C512C447}"/>
              </a:ext>
            </a:extLst>
          </p:cNvPr>
          <p:cNvPicPr>
            <a:picLocks noChangeAspect="1"/>
          </p:cNvPicPr>
          <p:nvPr/>
        </p:nvPicPr>
        <p:blipFill>
          <a:blip r:embed="rId5"/>
          <a:stretch>
            <a:fillRect/>
          </a:stretch>
        </p:blipFill>
        <p:spPr>
          <a:xfrm>
            <a:off x="4210166" y="4380973"/>
            <a:ext cx="463574" cy="158758"/>
          </a:xfrm>
          <a:prstGeom prst="rect">
            <a:avLst/>
          </a:prstGeom>
        </p:spPr>
      </p:pic>
      <p:pic>
        <p:nvPicPr>
          <p:cNvPr id="20" name="Imagen 19">
            <a:extLst>
              <a:ext uri="{FF2B5EF4-FFF2-40B4-BE49-F238E27FC236}">
                <a16:creationId xmlns:a16="http://schemas.microsoft.com/office/drawing/2014/main" id="{B4AC87A1-DB7F-52DF-784C-A92DC822FC96}"/>
              </a:ext>
            </a:extLst>
          </p:cNvPr>
          <p:cNvPicPr>
            <a:picLocks noChangeAspect="1"/>
          </p:cNvPicPr>
          <p:nvPr/>
        </p:nvPicPr>
        <p:blipFill>
          <a:blip r:embed="rId6"/>
          <a:stretch>
            <a:fillRect/>
          </a:stretch>
        </p:blipFill>
        <p:spPr>
          <a:xfrm>
            <a:off x="4005127" y="5258613"/>
            <a:ext cx="855039" cy="254692"/>
          </a:xfrm>
          <a:prstGeom prst="rect">
            <a:avLst/>
          </a:prstGeom>
        </p:spPr>
      </p:pic>
      <p:pic>
        <p:nvPicPr>
          <p:cNvPr id="22" name="Imagen 21">
            <a:extLst>
              <a:ext uri="{FF2B5EF4-FFF2-40B4-BE49-F238E27FC236}">
                <a16:creationId xmlns:a16="http://schemas.microsoft.com/office/drawing/2014/main" id="{2A0DF81C-E045-0960-15DA-E2CE316E7DA0}"/>
              </a:ext>
            </a:extLst>
          </p:cNvPr>
          <p:cNvPicPr>
            <a:picLocks noChangeAspect="1"/>
          </p:cNvPicPr>
          <p:nvPr/>
        </p:nvPicPr>
        <p:blipFill>
          <a:blip r:embed="rId7"/>
          <a:stretch>
            <a:fillRect/>
          </a:stretch>
        </p:blipFill>
        <p:spPr>
          <a:xfrm>
            <a:off x="4013340" y="5809237"/>
            <a:ext cx="832620" cy="248014"/>
          </a:xfrm>
          <a:prstGeom prst="rect">
            <a:avLst/>
          </a:prstGeom>
        </p:spPr>
      </p:pic>
      <p:pic>
        <p:nvPicPr>
          <p:cNvPr id="24" name="Imagen 23">
            <a:extLst>
              <a:ext uri="{FF2B5EF4-FFF2-40B4-BE49-F238E27FC236}">
                <a16:creationId xmlns:a16="http://schemas.microsoft.com/office/drawing/2014/main" id="{042E3719-0DF2-C2C6-2820-5FDCCA0F8B82}"/>
              </a:ext>
            </a:extLst>
          </p:cNvPr>
          <p:cNvPicPr>
            <a:picLocks noChangeAspect="1"/>
          </p:cNvPicPr>
          <p:nvPr/>
        </p:nvPicPr>
        <p:blipFill>
          <a:blip r:embed="rId8"/>
          <a:stretch>
            <a:fillRect/>
          </a:stretch>
        </p:blipFill>
        <p:spPr>
          <a:xfrm>
            <a:off x="4099997" y="6353183"/>
            <a:ext cx="659306" cy="243315"/>
          </a:xfrm>
          <a:prstGeom prst="rect">
            <a:avLst/>
          </a:prstGeom>
        </p:spPr>
      </p:pic>
      <p:sp>
        <p:nvSpPr>
          <p:cNvPr id="25" name="CuadroTexto 24">
            <a:extLst>
              <a:ext uri="{FF2B5EF4-FFF2-40B4-BE49-F238E27FC236}">
                <a16:creationId xmlns:a16="http://schemas.microsoft.com/office/drawing/2014/main" id="{A8DD2A16-8C79-7B46-4B7B-0C921F1F16B5}"/>
              </a:ext>
            </a:extLst>
          </p:cNvPr>
          <p:cNvSpPr txBox="1"/>
          <p:nvPr/>
        </p:nvSpPr>
        <p:spPr>
          <a:xfrm>
            <a:off x="471112" y="835403"/>
            <a:ext cx="10937899" cy="1169551"/>
          </a:xfrm>
          <a:prstGeom prst="rect">
            <a:avLst/>
          </a:prstGeom>
          <a:noFill/>
        </p:spPr>
        <p:txBody>
          <a:bodyPr wrap="square" rtlCol="0">
            <a:spAutoFit/>
          </a:bodyPr>
          <a:lstStyle/>
          <a:p>
            <a:r>
              <a:rPr lang="es-ES" sz="1400" dirty="0"/>
              <a:t>Ejemplo de como ocurre la comunicación entre 2 dispositivos usando el protocolo </a:t>
            </a:r>
            <a:r>
              <a:rPr lang="es-ES" sz="1400" b="1" dirty="0"/>
              <a:t>HTTP</a:t>
            </a:r>
          </a:p>
          <a:p>
            <a:endParaRPr lang="es-ES" sz="1400" b="1" dirty="0"/>
          </a:p>
          <a:p>
            <a:r>
              <a:rPr lang="es-ES" sz="1400" dirty="0"/>
              <a:t>El HTTP (Hypertext Transfer Protocol o Protocolo de Transferencia de Hipertexto) es el conjunto de reglas que permite la transferencia de archivos en la World Wide Web, como textos, imágenes, videos y páginas web. Este protocolo es el que nos permite acceder a una pagina web como www.google.com</a:t>
            </a:r>
          </a:p>
        </p:txBody>
      </p:sp>
      <p:pic>
        <p:nvPicPr>
          <p:cNvPr id="29" name="Imagen 28">
            <a:extLst>
              <a:ext uri="{FF2B5EF4-FFF2-40B4-BE49-F238E27FC236}">
                <a16:creationId xmlns:a16="http://schemas.microsoft.com/office/drawing/2014/main" id="{6E886B54-612C-CD44-DE2D-5C0DC7589AD9}"/>
              </a:ext>
            </a:extLst>
          </p:cNvPr>
          <p:cNvPicPr>
            <a:picLocks noChangeAspect="1"/>
          </p:cNvPicPr>
          <p:nvPr/>
        </p:nvPicPr>
        <p:blipFill>
          <a:blip r:embed="rId9"/>
          <a:stretch>
            <a:fillRect/>
          </a:stretch>
        </p:blipFill>
        <p:spPr>
          <a:xfrm>
            <a:off x="7377841" y="879913"/>
            <a:ext cx="815218" cy="263975"/>
          </a:xfrm>
          <a:prstGeom prst="rect">
            <a:avLst/>
          </a:prstGeom>
        </p:spPr>
      </p:pic>
      <p:sp>
        <p:nvSpPr>
          <p:cNvPr id="31" name="CuadroTexto 30">
            <a:extLst>
              <a:ext uri="{FF2B5EF4-FFF2-40B4-BE49-F238E27FC236}">
                <a16:creationId xmlns:a16="http://schemas.microsoft.com/office/drawing/2014/main" id="{24B81A74-5815-5F0B-BD73-7FF922BD1617}"/>
              </a:ext>
            </a:extLst>
          </p:cNvPr>
          <p:cNvSpPr txBox="1"/>
          <p:nvPr/>
        </p:nvSpPr>
        <p:spPr>
          <a:xfrm>
            <a:off x="0" y="2927069"/>
            <a:ext cx="5011750" cy="523220"/>
          </a:xfrm>
          <a:prstGeom prst="rect">
            <a:avLst/>
          </a:prstGeom>
          <a:noFill/>
        </p:spPr>
        <p:txBody>
          <a:bodyPr wrap="square">
            <a:spAutoFit/>
          </a:bodyPr>
          <a:lstStyle/>
          <a:p>
            <a:r>
              <a:rPr lang="es-ES" sz="1400" dirty="0"/>
              <a:t>La Petición (Request): El navegador del usuario (cliente) solicita un archivo específico o una página web al servidor.</a:t>
            </a:r>
          </a:p>
        </p:txBody>
      </p:sp>
      <p:sp>
        <p:nvSpPr>
          <p:cNvPr id="33" name="CuadroTexto 32">
            <a:extLst>
              <a:ext uri="{FF2B5EF4-FFF2-40B4-BE49-F238E27FC236}">
                <a16:creationId xmlns:a16="http://schemas.microsoft.com/office/drawing/2014/main" id="{EBEC9B83-3B75-5A9C-DBC7-C83DEF3D8AEE}"/>
              </a:ext>
            </a:extLst>
          </p:cNvPr>
          <p:cNvSpPr txBox="1"/>
          <p:nvPr/>
        </p:nvSpPr>
        <p:spPr>
          <a:xfrm>
            <a:off x="6754462" y="2927069"/>
            <a:ext cx="5437538" cy="523220"/>
          </a:xfrm>
          <a:prstGeom prst="rect">
            <a:avLst/>
          </a:prstGeom>
          <a:noFill/>
        </p:spPr>
        <p:txBody>
          <a:bodyPr wrap="square">
            <a:spAutoFit/>
          </a:bodyPr>
          <a:lstStyle/>
          <a:p>
            <a:r>
              <a:rPr lang="es-ES" sz="1400" dirty="0"/>
              <a:t>La Respuesta (Response): El servidor web procesa la solicitud y envía de vuelta los recursos solicitados.</a:t>
            </a:r>
          </a:p>
        </p:txBody>
      </p:sp>
      <p:cxnSp>
        <p:nvCxnSpPr>
          <p:cNvPr id="34" name="Conector recto de flecha 33">
            <a:extLst>
              <a:ext uri="{FF2B5EF4-FFF2-40B4-BE49-F238E27FC236}">
                <a16:creationId xmlns:a16="http://schemas.microsoft.com/office/drawing/2014/main" id="{D6278642-0B3E-1945-28EB-044905736541}"/>
              </a:ext>
            </a:extLst>
          </p:cNvPr>
          <p:cNvCxnSpPr>
            <a:cxnSpLocks/>
          </p:cNvCxnSpPr>
          <p:nvPr/>
        </p:nvCxnSpPr>
        <p:spPr>
          <a:xfrm>
            <a:off x="3892425" y="2317082"/>
            <a:ext cx="348541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Conector recto de flecha 34">
            <a:extLst>
              <a:ext uri="{FF2B5EF4-FFF2-40B4-BE49-F238E27FC236}">
                <a16:creationId xmlns:a16="http://schemas.microsoft.com/office/drawing/2014/main" id="{84300D94-6D94-3C34-C2E4-4E44B9722C24}"/>
              </a:ext>
            </a:extLst>
          </p:cNvPr>
          <p:cNvCxnSpPr>
            <a:cxnSpLocks/>
          </p:cNvCxnSpPr>
          <p:nvPr/>
        </p:nvCxnSpPr>
        <p:spPr>
          <a:xfrm flipH="1">
            <a:off x="3892425" y="2433595"/>
            <a:ext cx="335977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CuadroTexto 35">
            <a:extLst>
              <a:ext uri="{FF2B5EF4-FFF2-40B4-BE49-F238E27FC236}">
                <a16:creationId xmlns:a16="http://schemas.microsoft.com/office/drawing/2014/main" id="{BADA2CD9-B33E-C076-FA00-764FD0BA36E4}"/>
              </a:ext>
            </a:extLst>
          </p:cNvPr>
          <p:cNvSpPr txBox="1"/>
          <p:nvPr/>
        </p:nvSpPr>
        <p:spPr>
          <a:xfrm>
            <a:off x="3644439" y="1968254"/>
            <a:ext cx="3691010" cy="307777"/>
          </a:xfrm>
          <a:prstGeom prst="rect">
            <a:avLst/>
          </a:prstGeom>
          <a:noFill/>
        </p:spPr>
        <p:txBody>
          <a:bodyPr wrap="none" rtlCol="0">
            <a:spAutoFit/>
          </a:bodyPr>
          <a:lstStyle/>
          <a:p>
            <a:r>
              <a:rPr lang="es-ES" sz="1400" dirty="0"/>
              <a:t>Te solicito la pagina web desde mi navegador </a:t>
            </a:r>
          </a:p>
        </p:txBody>
      </p:sp>
      <p:sp>
        <p:nvSpPr>
          <p:cNvPr id="38" name="CuadroTexto 37">
            <a:extLst>
              <a:ext uri="{FF2B5EF4-FFF2-40B4-BE49-F238E27FC236}">
                <a16:creationId xmlns:a16="http://schemas.microsoft.com/office/drawing/2014/main" id="{19AF354B-9C61-D8D2-8708-B8676764CB3A}"/>
              </a:ext>
            </a:extLst>
          </p:cNvPr>
          <p:cNvSpPr txBox="1"/>
          <p:nvPr/>
        </p:nvSpPr>
        <p:spPr>
          <a:xfrm>
            <a:off x="3500481" y="2433595"/>
            <a:ext cx="4901983" cy="307777"/>
          </a:xfrm>
          <a:prstGeom prst="rect">
            <a:avLst/>
          </a:prstGeom>
          <a:noFill/>
        </p:spPr>
        <p:txBody>
          <a:bodyPr wrap="none" rtlCol="0">
            <a:spAutoFit/>
          </a:bodyPr>
          <a:lstStyle/>
          <a:p>
            <a:r>
              <a:rPr lang="es-ES" sz="1400" dirty="0"/>
              <a:t>Te envio el archivo que contiene la pagina de inicio de mi web</a:t>
            </a:r>
          </a:p>
        </p:txBody>
      </p:sp>
      <p:sp>
        <p:nvSpPr>
          <p:cNvPr id="39" name="CuadroTexto 38">
            <a:extLst>
              <a:ext uri="{FF2B5EF4-FFF2-40B4-BE49-F238E27FC236}">
                <a16:creationId xmlns:a16="http://schemas.microsoft.com/office/drawing/2014/main" id="{9D105D28-91A6-98B4-BEDD-505F4C364C75}"/>
              </a:ext>
            </a:extLst>
          </p:cNvPr>
          <p:cNvSpPr txBox="1"/>
          <p:nvPr/>
        </p:nvSpPr>
        <p:spPr>
          <a:xfrm>
            <a:off x="2017265" y="2343958"/>
            <a:ext cx="562975" cy="369332"/>
          </a:xfrm>
          <a:prstGeom prst="rect">
            <a:avLst/>
          </a:prstGeom>
          <a:noFill/>
        </p:spPr>
        <p:txBody>
          <a:bodyPr wrap="none" rtlCol="0">
            <a:spAutoFit/>
          </a:bodyPr>
          <a:lstStyle/>
          <a:p>
            <a:r>
              <a:rPr lang="es-ES" dirty="0"/>
              <a:t>Pc1</a:t>
            </a:r>
          </a:p>
        </p:txBody>
      </p:sp>
      <p:sp>
        <p:nvSpPr>
          <p:cNvPr id="40" name="CuadroTexto 39">
            <a:extLst>
              <a:ext uri="{FF2B5EF4-FFF2-40B4-BE49-F238E27FC236}">
                <a16:creationId xmlns:a16="http://schemas.microsoft.com/office/drawing/2014/main" id="{B33257DC-07B4-F845-9433-0D792316CAF4}"/>
              </a:ext>
            </a:extLst>
          </p:cNvPr>
          <p:cNvSpPr txBox="1"/>
          <p:nvPr/>
        </p:nvSpPr>
        <p:spPr>
          <a:xfrm>
            <a:off x="9198500" y="2295142"/>
            <a:ext cx="940899" cy="369332"/>
          </a:xfrm>
          <a:prstGeom prst="rect">
            <a:avLst/>
          </a:prstGeom>
          <a:noFill/>
        </p:spPr>
        <p:txBody>
          <a:bodyPr wrap="none" rtlCol="0">
            <a:spAutoFit/>
          </a:bodyPr>
          <a:lstStyle/>
          <a:p>
            <a:r>
              <a:rPr lang="es-ES" dirty="0"/>
              <a:t>Server1</a:t>
            </a:r>
          </a:p>
        </p:txBody>
      </p:sp>
      <p:sp>
        <p:nvSpPr>
          <p:cNvPr id="41" name="Flecha: a la derecha 40">
            <a:extLst>
              <a:ext uri="{FF2B5EF4-FFF2-40B4-BE49-F238E27FC236}">
                <a16:creationId xmlns:a16="http://schemas.microsoft.com/office/drawing/2014/main" id="{2FA40818-376E-D23B-9DCC-0AFAD883371F}"/>
              </a:ext>
            </a:extLst>
          </p:cNvPr>
          <p:cNvSpPr/>
          <p:nvPr/>
        </p:nvSpPr>
        <p:spPr>
          <a:xfrm>
            <a:off x="5349124" y="5396473"/>
            <a:ext cx="746876" cy="15875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43" name="CuadroTexto 42">
            <a:extLst>
              <a:ext uri="{FF2B5EF4-FFF2-40B4-BE49-F238E27FC236}">
                <a16:creationId xmlns:a16="http://schemas.microsoft.com/office/drawing/2014/main" id="{3B26B257-865C-1A3C-858D-1355D7E78E83}"/>
              </a:ext>
            </a:extLst>
          </p:cNvPr>
          <p:cNvSpPr txBox="1"/>
          <p:nvPr/>
        </p:nvSpPr>
        <p:spPr>
          <a:xfrm>
            <a:off x="6754462" y="3862465"/>
            <a:ext cx="5437537" cy="3046988"/>
          </a:xfrm>
          <a:prstGeom prst="rect">
            <a:avLst/>
          </a:prstGeom>
          <a:noFill/>
        </p:spPr>
        <p:txBody>
          <a:bodyPr wrap="square">
            <a:spAutoFit/>
          </a:bodyPr>
          <a:lstStyle/>
          <a:p>
            <a:r>
              <a:rPr lang="es-ES" sz="1600" b="1" u="none" strike="noStrike" dirty="0">
                <a:effectLst/>
                <a:latin typeface="Google Sans"/>
              </a:rPr>
              <a:t>1:</a:t>
            </a:r>
            <a:r>
              <a:rPr lang="es-ES" sz="1600" b="0" u="none" strike="noStrike" dirty="0">
                <a:effectLst/>
                <a:latin typeface="Google Sans"/>
              </a:rPr>
              <a:t> La aplicación (navegador web) utiliza el protocolo </a:t>
            </a:r>
            <a:r>
              <a:rPr lang="es-ES" sz="1600" b="1" u="none" strike="noStrike" dirty="0">
                <a:effectLst/>
                <a:latin typeface="Google Sans"/>
              </a:rPr>
              <a:t>HTTP </a:t>
            </a:r>
          </a:p>
          <a:p>
            <a:r>
              <a:rPr lang="es-ES" sz="1600" b="1" u="none" strike="noStrike" dirty="0">
                <a:effectLst/>
                <a:latin typeface="Google Sans"/>
              </a:rPr>
              <a:t>2:</a:t>
            </a:r>
            <a:r>
              <a:rPr lang="es-ES" sz="1600" b="0" u="none" strike="noStrike" dirty="0">
                <a:effectLst/>
                <a:latin typeface="Google Sans"/>
              </a:rPr>
              <a:t> </a:t>
            </a:r>
            <a:r>
              <a:rPr lang="es-ES" sz="1600" dirty="0">
                <a:latin typeface="Google Sans"/>
              </a:rPr>
              <a:t>El protocolo HTTP se apoya en el nivel de transporte para dividir la petición en segmentos y asegurar que lleguen completos.</a:t>
            </a:r>
          </a:p>
          <a:p>
            <a:r>
              <a:rPr lang="es-ES" sz="1600" b="1" u="none" strike="noStrike" dirty="0">
                <a:effectLst/>
                <a:latin typeface="Google Sans"/>
              </a:rPr>
              <a:t>3:</a:t>
            </a:r>
            <a:r>
              <a:rPr lang="es-ES" sz="1600" b="0" u="none" strike="noStrike" dirty="0">
                <a:effectLst/>
                <a:latin typeface="Google Sans"/>
              </a:rPr>
              <a:t> </a:t>
            </a:r>
            <a:r>
              <a:rPr lang="es-ES" sz="1600" dirty="0">
                <a:latin typeface="Google Sans"/>
              </a:rPr>
              <a:t>El protocolo HTTP viaja empaquetado con las direcciones IP del cliente y del servidor para poder localizar la web en internet.</a:t>
            </a:r>
          </a:p>
          <a:p>
            <a:r>
              <a:rPr lang="es-ES" sz="1600" b="1" u="none" strike="noStrike" dirty="0">
                <a:effectLst/>
                <a:latin typeface="Google Sans"/>
              </a:rPr>
              <a:t>4:</a:t>
            </a:r>
            <a:r>
              <a:rPr lang="es-ES" sz="1600" b="0" u="none" strike="noStrike" dirty="0">
                <a:effectLst/>
                <a:latin typeface="Google Sans"/>
              </a:rPr>
              <a:t> </a:t>
            </a:r>
            <a:r>
              <a:rPr lang="es-ES" sz="1600" dirty="0">
                <a:latin typeface="Google Sans"/>
              </a:rPr>
              <a:t>El protocolo HTTP se encapsula en una trama local para poder viajar físicamente desde la tarjeta de red del cliente hacia el router.</a:t>
            </a:r>
          </a:p>
          <a:p>
            <a:r>
              <a:rPr lang="es-ES" sz="1600" b="1" u="none" strike="noStrike" dirty="0">
                <a:effectLst/>
                <a:latin typeface="Google Sans"/>
              </a:rPr>
              <a:t>5:</a:t>
            </a:r>
            <a:r>
              <a:rPr lang="es-ES" sz="1600" dirty="0">
                <a:latin typeface="Google Sans"/>
              </a:rPr>
              <a:t>El protocolo HTTP se traduce finalmente en bits (impulsos eléctricos o luz) para transmitirse por el cable o el aire.</a:t>
            </a:r>
          </a:p>
        </p:txBody>
      </p:sp>
      <p:pic>
        <p:nvPicPr>
          <p:cNvPr id="45" name="Picture 10">
            <a:extLst>
              <a:ext uri="{FF2B5EF4-FFF2-40B4-BE49-F238E27FC236}">
                <a16:creationId xmlns:a16="http://schemas.microsoft.com/office/drawing/2014/main" id="{F0B4E477-1C5B-CFA6-8053-73015AEFAA8B}"/>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8171" t="28931" r="8368" b="21666"/>
          <a:stretch/>
        </p:blipFill>
        <p:spPr bwMode="auto">
          <a:xfrm>
            <a:off x="5151519" y="2229384"/>
            <a:ext cx="551267" cy="3263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99081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4381136-95B8-F261-8CD1-374AEF29DA0F}"/>
              </a:ext>
            </a:extLst>
          </p:cNvPr>
          <p:cNvSpPr txBox="1"/>
          <p:nvPr/>
        </p:nvSpPr>
        <p:spPr>
          <a:xfrm>
            <a:off x="-321133" y="0"/>
            <a:ext cx="3329579" cy="461665"/>
          </a:xfrm>
          <a:prstGeom prst="rect">
            <a:avLst/>
          </a:prstGeom>
          <a:noFill/>
        </p:spPr>
        <p:txBody>
          <a:bodyPr wrap="square">
            <a:spAutoFit/>
          </a:bodyPr>
          <a:lstStyle/>
          <a:p>
            <a:pPr algn="ctr"/>
            <a:r>
              <a:rPr lang="es-ES" sz="1200" dirty="0">
                <a:ln w="0"/>
                <a:effectLst>
                  <a:outerShdw blurRad="38100" dist="19050" dir="2700000" algn="tl" rotWithShape="0">
                    <a:schemeClr val="dk1">
                      <a:alpha val="40000"/>
                    </a:schemeClr>
                  </a:outerShdw>
                </a:effectLst>
              </a:rPr>
              <a:t>1. Introducción a las redes</a:t>
            </a:r>
          </a:p>
          <a:p>
            <a:pPr algn="ctr"/>
            <a:r>
              <a:rPr lang="es-ES" sz="1200" b="1" dirty="0"/>
              <a:t>Ethernet y ¿Cómo funciona una LAN?</a:t>
            </a:r>
          </a:p>
        </p:txBody>
      </p:sp>
      <p:sp>
        <p:nvSpPr>
          <p:cNvPr id="2" name="Rectángulo 1">
            <a:extLst>
              <a:ext uri="{FF2B5EF4-FFF2-40B4-BE49-F238E27FC236}">
                <a16:creationId xmlns:a16="http://schemas.microsoft.com/office/drawing/2014/main" id="{300A3D4A-73F8-7525-8AAA-7FAD185EAA92}"/>
              </a:ext>
            </a:extLst>
          </p:cNvPr>
          <p:cNvSpPr/>
          <p:nvPr/>
        </p:nvSpPr>
        <p:spPr>
          <a:xfrm>
            <a:off x="1859068" y="56817"/>
            <a:ext cx="8213293" cy="707886"/>
          </a:xfrm>
          <a:prstGeom prst="rect">
            <a:avLst/>
          </a:prstGeom>
          <a:noFill/>
        </p:spPr>
        <p:txBody>
          <a:bodyPr wrap="square" lIns="91440" tIns="45720" rIns="91440" bIns="45720">
            <a:spAutoFit/>
          </a:bodyPr>
          <a:lstStyle/>
          <a:p>
            <a:pPr algn="ctr"/>
            <a:r>
              <a:rPr lang="es-ES" sz="4000" b="0" cap="none" spc="0" dirty="0">
                <a:ln w="0"/>
                <a:solidFill>
                  <a:schemeClr val="tx1"/>
                </a:solidFill>
                <a:effectLst>
                  <a:outerShdw blurRad="38100" dist="19050" dir="2700000" algn="tl" rotWithShape="0">
                    <a:schemeClr val="dk1">
                      <a:alpha val="40000"/>
                    </a:schemeClr>
                  </a:outerShdw>
                </a:effectLst>
              </a:rPr>
              <a:t>Ethernet LAN</a:t>
            </a:r>
          </a:p>
        </p:txBody>
      </p:sp>
      <p:sp>
        <p:nvSpPr>
          <p:cNvPr id="8" name="CuadroTexto 7">
            <a:extLst>
              <a:ext uri="{FF2B5EF4-FFF2-40B4-BE49-F238E27FC236}">
                <a16:creationId xmlns:a16="http://schemas.microsoft.com/office/drawing/2014/main" id="{ABC40F87-1515-8CEC-D275-F4E8A0EF80B5}"/>
              </a:ext>
            </a:extLst>
          </p:cNvPr>
          <p:cNvSpPr txBox="1"/>
          <p:nvPr/>
        </p:nvSpPr>
        <p:spPr>
          <a:xfrm>
            <a:off x="53515" y="657365"/>
            <a:ext cx="12138485" cy="4031873"/>
          </a:xfrm>
          <a:prstGeom prst="rect">
            <a:avLst/>
          </a:prstGeom>
          <a:noFill/>
        </p:spPr>
        <p:txBody>
          <a:bodyPr wrap="square" rtlCol="0">
            <a:spAutoFit/>
          </a:bodyPr>
          <a:lstStyle/>
          <a:p>
            <a:r>
              <a:rPr lang="es-ES" sz="1600" dirty="0"/>
              <a:t>Una LAN se compone de lo que hemos visto antes:</a:t>
            </a:r>
            <a:br>
              <a:rPr lang="es-ES" sz="1600" dirty="0"/>
            </a:br>
            <a:r>
              <a:rPr lang="es-ES" sz="1600" dirty="0"/>
              <a:t>-Dispositivos</a:t>
            </a:r>
          </a:p>
          <a:p>
            <a:r>
              <a:rPr lang="es-ES" sz="1600" dirty="0"/>
              <a:t>-Medios</a:t>
            </a:r>
          </a:p>
          <a:p>
            <a:r>
              <a:rPr lang="es-ES" sz="1600" dirty="0"/>
              <a:t>-Estándares y protocolos</a:t>
            </a:r>
          </a:p>
          <a:p>
            <a:r>
              <a:rPr lang="es-ES" sz="1600" dirty="0"/>
              <a:t>-Tipo de mensaje</a:t>
            </a:r>
          </a:p>
          <a:p>
            <a:endParaRPr lang="es-ES" sz="1600" dirty="0"/>
          </a:p>
          <a:p>
            <a:r>
              <a:rPr lang="es-ES" sz="1600" dirty="0"/>
              <a:t>La base de una LAN se comprende en la </a:t>
            </a:r>
            <a:r>
              <a:rPr lang="es-ES" sz="1600" b="1" dirty="0"/>
              <a:t>Capa 1 y Capa 2 del Modelo OSI </a:t>
            </a:r>
            <a:r>
              <a:rPr lang="es-ES" sz="1600" dirty="0"/>
              <a:t>que son el medio físico o inalámbrico y el hardware.</a:t>
            </a:r>
          </a:p>
          <a:p>
            <a:r>
              <a:rPr lang="es-ES" sz="1600" dirty="0"/>
              <a:t>Ejemplos:</a:t>
            </a:r>
          </a:p>
          <a:p>
            <a:br>
              <a:rPr lang="es-ES" sz="1600" dirty="0"/>
            </a:br>
            <a:r>
              <a:rPr lang="es-ES" sz="1600" b="1" dirty="0"/>
              <a:t>Capa 1</a:t>
            </a:r>
            <a:r>
              <a:rPr lang="es-ES" sz="1600" dirty="0"/>
              <a:t>: Aquí tenemos los medios físicos que rigen el cableado o la transmisión por ondas de radio y su </a:t>
            </a:r>
            <a:r>
              <a:rPr lang="es-ES" sz="1600" b="1" dirty="0"/>
              <a:t>PDU</a:t>
            </a:r>
            <a:r>
              <a:rPr lang="es-ES" sz="1600" dirty="0"/>
              <a:t> se llama </a:t>
            </a:r>
            <a:r>
              <a:rPr lang="es-ES" sz="1600" b="1" dirty="0"/>
              <a:t>BIT </a:t>
            </a:r>
          </a:p>
          <a:p>
            <a:r>
              <a:rPr lang="es-ES" sz="1600" b="1" dirty="0"/>
              <a:t>Capa 2</a:t>
            </a:r>
            <a:r>
              <a:rPr lang="es-ES" sz="1600" dirty="0"/>
              <a:t>: Aquí funcionan los protocolos encargados de direccionar los datos en una misma red y su </a:t>
            </a:r>
            <a:r>
              <a:rPr lang="es-ES" sz="1600" b="1" dirty="0"/>
              <a:t>PDU</a:t>
            </a:r>
            <a:r>
              <a:rPr lang="es-ES" sz="1600" dirty="0"/>
              <a:t> se llama </a:t>
            </a:r>
            <a:r>
              <a:rPr lang="es-ES" sz="1600" b="1" dirty="0"/>
              <a:t>TRAMA o FRAME</a:t>
            </a:r>
          </a:p>
          <a:p>
            <a:endParaRPr lang="es-ES" sz="1600" b="1" dirty="0"/>
          </a:p>
          <a:p>
            <a:r>
              <a:rPr lang="es-ES" sz="1600" b="1" dirty="0"/>
              <a:t>Ethernet</a:t>
            </a:r>
            <a:r>
              <a:rPr lang="es-ES" sz="1600" dirty="0"/>
              <a:t>: es el nombre común del estándar IEEE 802.3 que comprende la Capa 1 y 2</a:t>
            </a:r>
          </a:p>
          <a:p>
            <a:endParaRPr lang="es-ES" sz="1600" dirty="0"/>
          </a:p>
          <a:p>
            <a:r>
              <a:rPr lang="es-ES" sz="1600" b="1" dirty="0"/>
              <a:t>IEEE (Institute of Electrical and Electronics Engineers): </a:t>
            </a:r>
            <a:r>
              <a:rPr lang="es-ES" sz="1600" dirty="0"/>
              <a:t>Es la asociación profesional técnica más grande del mundo dedicada al avance de la innovación tecnológica que se encarga de diseñar estos estándares globales</a:t>
            </a:r>
          </a:p>
        </p:txBody>
      </p:sp>
      <p:sp>
        <p:nvSpPr>
          <p:cNvPr id="9" name="CuadroTexto 8">
            <a:extLst>
              <a:ext uri="{FF2B5EF4-FFF2-40B4-BE49-F238E27FC236}">
                <a16:creationId xmlns:a16="http://schemas.microsoft.com/office/drawing/2014/main" id="{060C485D-4AAF-D3DA-B30D-FB607AC4548F}"/>
              </a:ext>
            </a:extLst>
          </p:cNvPr>
          <p:cNvSpPr txBox="1"/>
          <p:nvPr/>
        </p:nvSpPr>
        <p:spPr>
          <a:xfrm>
            <a:off x="53515" y="4826675"/>
            <a:ext cx="9479631" cy="2031325"/>
          </a:xfrm>
          <a:prstGeom prst="rect">
            <a:avLst/>
          </a:prstGeom>
          <a:noFill/>
        </p:spPr>
        <p:txBody>
          <a:bodyPr wrap="square" rtlCol="0">
            <a:spAutoFit/>
          </a:bodyPr>
          <a:lstStyle/>
          <a:p>
            <a:r>
              <a:rPr lang="es-ES" dirty="0"/>
              <a:t>💡</a:t>
            </a:r>
            <a:r>
              <a:rPr lang="es-ES" b="1" dirty="0"/>
              <a:t>¿Qué pasa con las demas capas y sus protocolos?</a:t>
            </a:r>
          </a:p>
          <a:p>
            <a:endParaRPr lang="es-ES" b="1" dirty="0"/>
          </a:p>
          <a:p>
            <a:r>
              <a:rPr lang="es-ES" dirty="0"/>
              <a:t>-Con la capa 1 y 2 tenemos listo la carretera de datos.</a:t>
            </a:r>
          </a:p>
          <a:p>
            <a:r>
              <a:rPr lang="es-ES" dirty="0"/>
              <a:t>-Las capas de la 3 a la 7 se encargan del direccionamiento global, las reglas de transporte, el formato, la sincronización, el acceso a los servicios y el origen de los datos.</a:t>
            </a:r>
          </a:p>
          <a:p>
            <a:r>
              <a:rPr lang="es-ES" dirty="0"/>
              <a:t>-Todos estos protocolos y su información de las capas superiores viajaran en forma de BITS y </a:t>
            </a:r>
            <a:r>
              <a:rPr lang="es-ES" b="1" dirty="0"/>
              <a:t>encapsulados</a:t>
            </a:r>
            <a:r>
              <a:rPr lang="es-ES" dirty="0"/>
              <a:t> en TRAMAS o FRAMES.</a:t>
            </a:r>
          </a:p>
        </p:txBody>
      </p:sp>
      <p:pic>
        <p:nvPicPr>
          <p:cNvPr id="7" name="Imagen 6">
            <a:extLst>
              <a:ext uri="{FF2B5EF4-FFF2-40B4-BE49-F238E27FC236}">
                <a16:creationId xmlns:a16="http://schemas.microsoft.com/office/drawing/2014/main" id="{7E6A74A4-5B80-2A49-5E46-6B1E700E560C}"/>
              </a:ext>
            </a:extLst>
          </p:cNvPr>
          <p:cNvPicPr>
            <a:picLocks noChangeAspect="1"/>
          </p:cNvPicPr>
          <p:nvPr/>
        </p:nvPicPr>
        <p:blipFill>
          <a:blip r:embed="rId2"/>
          <a:stretch>
            <a:fillRect/>
          </a:stretch>
        </p:blipFill>
        <p:spPr>
          <a:xfrm>
            <a:off x="8353909" y="305270"/>
            <a:ext cx="2535129" cy="1684392"/>
          </a:xfrm>
          <a:prstGeom prst="rect">
            <a:avLst/>
          </a:prstGeom>
        </p:spPr>
      </p:pic>
    </p:spTree>
    <p:extLst>
      <p:ext uri="{BB962C8B-B14F-4D97-AF65-F5344CB8AC3E}">
        <p14:creationId xmlns:p14="http://schemas.microsoft.com/office/powerpoint/2010/main" val="37781877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0" descr="C:\Users\ecoffey\AppData\Local\Temp\Rar$DRa0.175\30088_Device_terminal_default_256.png">
            <a:extLst>
              <a:ext uri="{FF2B5EF4-FFF2-40B4-BE49-F238E27FC236}">
                <a16:creationId xmlns:a16="http://schemas.microsoft.com/office/drawing/2014/main" id="{361AEADD-5DBF-1645-57C5-495C740EBF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248" y="2155476"/>
            <a:ext cx="911357" cy="91135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0" descr="C:\Users\ecoffey\AppData\Local\Temp\Rar$DRa0.608\30080_Device_switch_default_256.png">
            <a:extLst>
              <a:ext uri="{FF2B5EF4-FFF2-40B4-BE49-F238E27FC236}">
                <a16:creationId xmlns:a16="http://schemas.microsoft.com/office/drawing/2014/main" id="{9A6B5F34-9C4C-0C7E-E373-F13B0F0A8E5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7154" b="26465"/>
          <a:stretch/>
        </p:blipFill>
        <p:spPr bwMode="auto">
          <a:xfrm>
            <a:off x="1867638" y="2351487"/>
            <a:ext cx="1119713" cy="519333"/>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Conector recto 10">
            <a:extLst>
              <a:ext uri="{FF2B5EF4-FFF2-40B4-BE49-F238E27FC236}">
                <a16:creationId xmlns:a16="http://schemas.microsoft.com/office/drawing/2014/main" id="{EF7594B6-1156-A3BC-AC25-D85EEFFBD64D}"/>
              </a:ext>
            </a:extLst>
          </p:cNvPr>
          <p:cNvCxnSpPr/>
          <p:nvPr/>
        </p:nvCxnSpPr>
        <p:spPr>
          <a:xfrm>
            <a:off x="956281" y="2567935"/>
            <a:ext cx="101610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Conector recto 11">
            <a:extLst>
              <a:ext uri="{FF2B5EF4-FFF2-40B4-BE49-F238E27FC236}">
                <a16:creationId xmlns:a16="http://schemas.microsoft.com/office/drawing/2014/main" id="{184DD7AC-235A-B50C-DF6E-345DE63074F6}"/>
              </a:ext>
            </a:extLst>
          </p:cNvPr>
          <p:cNvCxnSpPr>
            <a:cxnSpLocks/>
          </p:cNvCxnSpPr>
          <p:nvPr/>
        </p:nvCxnSpPr>
        <p:spPr>
          <a:xfrm>
            <a:off x="2909561" y="2574915"/>
            <a:ext cx="1062117" cy="0"/>
          </a:xfrm>
          <a:prstGeom prst="line">
            <a:avLst/>
          </a:prstGeom>
        </p:spPr>
        <p:style>
          <a:lnRef idx="2">
            <a:schemeClr val="accent1"/>
          </a:lnRef>
          <a:fillRef idx="0">
            <a:schemeClr val="accent1"/>
          </a:fillRef>
          <a:effectRef idx="1">
            <a:schemeClr val="accent1"/>
          </a:effectRef>
          <a:fontRef idx="minor">
            <a:schemeClr val="tx1"/>
          </a:fontRef>
        </p:style>
      </p:cxnSp>
      <p:pic>
        <p:nvPicPr>
          <p:cNvPr id="15" name="Picture 10">
            <a:extLst>
              <a:ext uri="{FF2B5EF4-FFF2-40B4-BE49-F238E27FC236}">
                <a16:creationId xmlns:a16="http://schemas.microsoft.com/office/drawing/2014/main" id="{93D12E2C-D63A-D2DC-4375-1D214B1DF53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8171" t="28931" r="8368" b="21666"/>
          <a:stretch/>
        </p:blipFill>
        <p:spPr bwMode="auto">
          <a:xfrm>
            <a:off x="3863546" y="1222067"/>
            <a:ext cx="898119" cy="531632"/>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Conector recto 15">
            <a:extLst>
              <a:ext uri="{FF2B5EF4-FFF2-40B4-BE49-F238E27FC236}">
                <a16:creationId xmlns:a16="http://schemas.microsoft.com/office/drawing/2014/main" id="{09BE6B74-4BC8-9BA1-234F-C5E7D4E91EEC}"/>
              </a:ext>
            </a:extLst>
          </p:cNvPr>
          <p:cNvCxnSpPr>
            <a:cxnSpLocks/>
          </p:cNvCxnSpPr>
          <p:nvPr/>
        </p:nvCxnSpPr>
        <p:spPr>
          <a:xfrm>
            <a:off x="4300555" y="1693699"/>
            <a:ext cx="0" cy="723856"/>
          </a:xfrm>
          <a:prstGeom prst="line">
            <a:avLst/>
          </a:prstGeom>
        </p:spPr>
        <p:style>
          <a:lnRef idx="2">
            <a:schemeClr val="accent1"/>
          </a:lnRef>
          <a:fillRef idx="0">
            <a:schemeClr val="accent1"/>
          </a:fillRef>
          <a:effectRef idx="1">
            <a:schemeClr val="accent1"/>
          </a:effectRef>
          <a:fontRef idx="minor">
            <a:schemeClr val="tx1"/>
          </a:fontRef>
        </p:style>
      </p:cxnSp>
      <p:pic>
        <p:nvPicPr>
          <p:cNvPr id="22" name="Picture 10" descr="C:\Users\ecoffey\AppData\Local\Temp\Rar$DRa0.403\30001_Device_access_point_default_256.png">
            <a:extLst>
              <a:ext uri="{FF2B5EF4-FFF2-40B4-BE49-F238E27FC236}">
                <a16:creationId xmlns:a16="http://schemas.microsoft.com/office/drawing/2014/main" id="{9CBE1520-46EA-3DF7-2A64-D1E9CEC7EE9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39445" y="2131229"/>
            <a:ext cx="922220" cy="922220"/>
          </a:xfrm>
          <a:prstGeom prst="rect">
            <a:avLst/>
          </a:prstGeom>
          <a:noFill/>
          <a:extLst>
            <a:ext uri="{909E8E84-426E-40DD-AFC4-6F175D3DCCD1}">
              <a14:hiddenFill xmlns:a14="http://schemas.microsoft.com/office/drawing/2010/main">
                <a:solidFill>
                  <a:srgbClr val="FFFFFF"/>
                </a:solidFill>
              </a14:hiddenFill>
            </a:ext>
          </a:extLst>
        </p:spPr>
      </p:pic>
      <p:pic>
        <p:nvPicPr>
          <p:cNvPr id="25" name="Imagen 24">
            <a:extLst>
              <a:ext uri="{FF2B5EF4-FFF2-40B4-BE49-F238E27FC236}">
                <a16:creationId xmlns:a16="http://schemas.microsoft.com/office/drawing/2014/main" id="{1A340505-A333-2688-6B9F-75B386D3F3BE}"/>
              </a:ext>
            </a:extLst>
          </p:cNvPr>
          <p:cNvPicPr>
            <a:picLocks noChangeAspect="1"/>
          </p:cNvPicPr>
          <p:nvPr/>
        </p:nvPicPr>
        <p:blipFill>
          <a:blip r:embed="rId6"/>
          <a:stretch>
            <a:fillRect/>
          </a:stretch>
        </p:blipFill>
        <p:spPr>
          <a:xfrm>
            <a:off x="3964385" y="3542838"/>
            <a:ext cx="1048359" cy="1048359"/>
          </a:xfrm>
          <a:prstGeom prst="rect">
            <a:avLst/>
          </a:prstGeom>
        </p:spPr>
      </p:pic>
      <p:pic>
        <p:nvPicPr>
          <p:cNvPr id="32" name="Imagen 31">
            <a:extLst>
              <a:ext uri="{FF2B5EF4-FFF2-40B4-BE49-F238E27FC236}">
                <a16:creationId xmlns:a16="http://schemas.microsoft.com/office/drawing/2014/main" id="{B85D13C3-857E-A980-9AA0-EEFDB408BDE7}"/>
              </a:ext>
            </a:extLst>
          </p:cNvPr>
          <p:cNvPicPr>
            <a:picLocks noChangeAspect="1"/>
          </p:cNvPicPr>
          <p:nvPr/>
        </p:nvPicPr>
        <p:blipFill>
          <a:blip r:embed="rId7"/>
          <a:stretch>
            <a:fillRect/>
          </a:stretch>
        </p:blipFill>
        <p:spPr>
          <a:xfrm rot="10800000">
            <a:off x="4276094" y="2988659"/>
            <a:ext cx="379112" cy="519332"/>
          </a:xfrm>
          <a:prstGeom prst="rect">
            <a:avLst/>
          </a:prstGeom>
        </p:spPr>
      </p:pic>
      <p:sp>
        <p:nvSpPr>
          <p:cNvPr id="36" name="CuadroTexto 35">
            <a:extLst>
              <a:ext uri="{FF2B5EF4-FFF2-40B4-BE49-F238E27FC236}">
                <a16:creationId xmlns:a16="http://schemas.microsoft.com/office/drawing/2014/main" id="{7AC87302-E00F-4E76-0A74-C7BF550BCF3F}"/>
              </a:ext>
            </a:extLst>
          </p:cNvPr>
          <p:cNvSpPr txBox="1"/>
          <p:nvPr/>
        </p:nvSpPr>
        <p:spPr>
          <a:xfrm>
            <a:off x="101100" y="1384367"/>
            <a:ext cx="2212465" cy="646331"/>
          </a:xfrm>
          <a:prstGeom prst="rect">
            <a:avLst/>
          </a:prstGeom>
          <a:noFill/>
        </p:spPr>
        <p:txBody>
          <a:bodyPr wrap="none" rtlCol="0">
            <a:spAutoFit/>
          </a:bodyPr>
          <a:lstStyle/>
          <a:p>
            <a:r>
              <a:rPr lang="es-ES" dirty="0"/>
              <a:t>Ej: Red </a:t>
            </a:r>
            <a:r>
              <a:rPr lang="es-ES" b="1" dirty="0"/>
              <a:t>Small Office</a:t>
            </a:r>
          </a:p>
          <a:p>
            <a:r>
              <a:rPr lang="es-ES" dirty="0"/>
              <a:t>O Empresa</a:t>
            </a:r>
          </a:p>
        </p:txBody>
      </p:sp>
      <p:sp>
        <p:nvSpPr>
          <p:cNvPr id="37" name="CuadroTexto 36">
            <a:extLst>
              <a:ext uri="{FF2B5EF4-FFF2-40B4-BE49-F238E27FC236}">
                <a16:creationId xmlns:a16="http://schemas.microsoft.com/office/drawing/2014/main" id="{70E8CA67-D5F7-BA8E-4197-0C3CF711913D}"/>
              </a:ext>
            </a:extLst>
          </p:cNvPr>
          <p:cNvSpPr txBox="1"/>
          <p:nvPr/>
        </p:nvSpPr>
        <p:spPr>
          <a:xfrm>
            <a:off x="3136472" y="16768"/>
            <a:ext cx="4901342" cy="646331"/>
          </a:xfrm>
          <a:prstGeom prst="rect">
            <a:avLst/>
          </a:prstGeom>
          <a:noFill/>
        </p:spPr>
        <p:txBody>
          <a:bodyPr wrap="none" rtlCol="0">
            <a:spAutoFit/>
          </a:bodyPr>
          <a:lstStyle/>
          <a:p>
            <a:pPr algn="ctr"/>
            <a:r>
              <a:rPr lang="es-ES" b="1" dirty="0"/>
              <a:t>Categorías de red LAN</a:t>
            </a:r>
          </a:p>
          <a:p>
            <a:pPr algn="ctr"/>
            <a:r>
              <a:rPr lang="es-ES" b="1" dirty="0"/>
              <a:t>SOHO: Small Office / Home Office o Empresa</a:t>
            </a:r>
          </a:p>
        </p:txBody>
      </p:sp>
      <p:sp>
        <p:nvSpPr>
          <p:cNvPr id="39" name="CuadroTexto 38">
            <a:extLst>
              <a:ext uri="{FF2B5EF4-FFF2-40B4-BE49-F238E27FC236}">
                <a16:creationId xmlns:a16="http://schemas.microsoft.com/office/drawing/2014/main" id="{806308AC-82F7-11A6-60D8-C88AB6999CBE}"/>
              </a:ext>
            </a:extLst>
          </p:cNvPr>
          <p:cNvSpPr txBox="1"/>
          <p:nvPr/>
        </p:nvSpPr>
        <p:spPr>
          <a:xfrm>
            <a:off x="9927434" y="1458399"/>
            <a:ext cx="2239716" cy="369332"/>
          </a:xfrm>
          <a:prstGeom prst="rect">
            <a:avLst/>
          </a:prstGeom>
          <a:noFill/>
        </p:spPr>
        <p:txBody>
          <a:bodyPr wrap="none" rtlCol="0">
            <a:spAutoFit/>
          </a:bodyPr>
          <a:lstStyle/>
          <a:p>
            <a:r>
              <a:rPr lang="es-ES" dirty="0"/>
              <a:t>Ej: Red </a:t>
            </a:r>
            <a:r>
              <a:rPr lang="es-ES" b="1" dirty="0"/>
              <a:t>Home Office</a:t>
            </a:r>
          </a:p>
        </p:txBody>
      </p:sp>
      <p:pic>
        <p:nvPicPr>
          <p:cNvPr id="40" name="Imagen 39" descr="21.000+ Router Icono Wi Fi Ilustraciones de Stock, gráficos vectoriales  libres de derechos y clip art - iStock">
            <a:extLst>
              <a:ext uri="{FF2B5EF4-FFF2-40B4-BE49-F238E27FC236}">
                <a16:creationId xmlns:a16="http://schemas.microsoft.com/office/drawing/2014/main" id="{05EBE211-1A2C-E7A4-DBCA-9E1CB31067A7}"/>
              </a:ext>
            </a:extLst>
          </p:cNvPr>
          <p:cNvPicPr>
            <a:picLocks noChangeAspect="1"/>
          </p:cNvPicPr>
          <p:nvPr/>
        </p:nvPicPr>
        <p:blipFill>
          <a:blip r:embed="rId8"/>
          <a:stretch>
            <a:fillRect/>
          </a:stretch>
        </p:blipFill>
        <p:spPr>
          <a:xfrm>
            <a:off x="8211741" y="886137"/>
            <a:ext cx="1203491" cy="1203491"/>
          </a:xfrm>
          <a:prstGeom prst="rect">
            <a:avLst/>
          </a:prstGeom>
        </p:spPr>
      </p:pic>
      <p:cxnSp>
        <p:nvCxnSpPr>
          <p:cNvPr id="41" name="Conector recto 40">
            <a:extLst>
              <a:ext uri="{FF2B5EF4-FFF2-40B4-BE49-F238E27FC236}">
                <a16:creationId xmlns:a16="http://schemas.microsoft.com/office/drawing/2014/main" id="{57AAEC58-2B5E-6A56-862D-503F96E8F072}"/>
              </a:ext>
            </a:extLst>
          </p:cNvPr>
          <p:cNvCxnSpPr>
            <a:cxnSpLocks/>
          </p:cNvCxnSpPr>
          <p:nvPr/>
        </p:nvCxnSpPr>
        <p:spPr>
          <a:xfrm flipH="1">
            <a:off x="7460410" y="1964796"/>
            <a:ext cx="858941" cy="1015126"/>
          </a:xfrm>
          <a:prstGeom prst="line">
            <a:avLst/>
          </a:prstGeom>
        </p:spPr>
        <p:style>
          <a:lnRef idx="2">
            <a:schemeClr val="accent1"/>
          </a:lnRef>
          <a:fillRef idx="0">
            <a:schemeClr val="accent1"/>
          </a:fillRef>
          <a:effectRef idx="1">
            <a:schemeClr val="accent1"/>
          </a:effectRef>
          <a:fontRef idx="minor">
            <a:schemeClr val="tx1"/>
          </a:fontRef>
        </p:style>
      </p:cxnSp>
      <p:pic>
        <p:nvPicPr>
          <p:cNvPr id="44" name="Picture 10" descr="C:\Users\ecoffey\AppData\Local\Temp\Rar$DRa0.175\30088_Device_terminal_default_256.png">
            <a:extLst>
              <a:ext uri="{FF2B5EF4-FFF2-40B4-BE49-F238E27FC236}">
                <a16:creationId xmlns:a16="http://schemas.microsoft.com/office/drawing/2014/main" id="{2C023FE3-60DD-87AF-D8F6-654B63ECA3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95726" y="2729353"/>
            <a:ext cx="911357" cy="911357"/>
          </a:xfrm>
          <a:prstGeom prst="rect">
            <a:avLst/>
          </a:prstGeom>
          <a:noFill/>
          <a:extLst>
            <a:ext uri="{909E8E84-426E-40DD-AFC4-6F175D3DCCD1}">
              <a14:hiddenFill xmlns:a14="http://schemas.microsoft.com/office/drawing/2010/main">
                <a:solidFill>
                  <a:srgbClr val="FFFFFF"/>
                </a:solidFill>
              </a14:hiddenFill>
            </a:ext>
          </a:extLst>
        </p:spPr>
      </p:pic>
      <p:pic>
        <p:nvPicPr>
          <p:cNvPr id="46" name="Imagen 45">
            <a:extLst>
              <a:ext uri="{FF2B5EF4-FFF2-40B4-BE49-F238E27FC236}">
                <a16:creationId xmlns:a16="http://schemas.microsoft.com/office/drawing/2014/main" id="{577387AA-9343-B24C-295B-B51F58BE7775}"/>
              </a:ext>
            </a:extLst>
          </p:cNvPr>
          <p:cNvPicPr>
            <a:picLocks noChangeAspect="1"/>
          </p:cNvPicPr>
          <p:nvPr/>
        </p:nvPicPr>
        <p:blipFill>
          <a:blip r:embed="rId9"/>
          <a:stretch>
            <a:fillRect/>
          </a:stretch>
        </p:blipFill>
        <p:spPr>
          <a:xfrm>
            <a:off x="7839178" y="3127346"/>
            <a:ext cx="1942373" cy="1942373"/>
          </a:xfrm>
          <a:prstGeom prst="rect">
            <a:avLst/>
          </a:prstGeom>
        </p:spPr>
      </p:pic>
      <p:cxnSp>
        <p:nvCxnSpPr>
          <p:cNvPr id="47" name="Conector recto 46">
            <a:extLst>
              <a:ext uri="{FF2B5EF4-FFF2-40B4-BE49-F238E27FC236}">
                <a16:creationId xmlns:a16="http://schemas.microsoft.com/office/drawing/2014/main" id="{3649D288-373A-F7CC-1090-150557287908}"/>
              </a:ext>
            </a:extLst>
          </p:cNvPr>
          <p:cNvCxnSpPr>
            <a:cxnSpLocks/>
          </p:cNvCxnSpPr>
          <p:nvPr/>
        </p:nvCxnSpPr>
        <p:spPr>
          <a:xfrm>
            <a:off x="8819011" y="1964796"/>
            <a:ext cx="0" cy="1758170"/>
          </a:xfrm>
          <a:prstGeom prst="line">
            <a:avLst/>
          </a:prstGeom>
        </p:spPr>
        <p:style>
          <a:lnRef idx="2">
            <a:schemeClr val="accent1"/>
          </a:lnRef>
          <a:fillRef idx="0">
            <a:schemeClr val="accent1"/>
          </a:fillRef>
          <a:effectRef idx="1">
            <a:schemeClr val="accent1"/>
          </a:effectRef>
          <a:fontRef idx="minor">
            <a:schemeClr val="tx1"/>
          </a:fontRef>
        </p:style>
      </p:cxnSp>
      <p:pic>
        <p:nvPicPr>
          <p:cNvPr id="51" name="Imagen 50">
            <a:extLst>
              <a:ext uri="{FF2B5EF4-FFF2-40B4-BE49-F238E27FC236}">
                <a16:creationId xmlns:a16="http://schemas.microsoft.com/office/drawing/2014/main" id="{4096C20B-E7F7-7353-CA8D-E86C540C9823}"/>
              </a:ext>
            </a:extLst>
          </p:cNvPr>
          <p:cNvPicPr>
            <a:picLocks noChangeAspect="1"/>
          </p:cNvPicPr>
          <p:nvPr/>
        </p:nvPicPr>
        <p:blipFill>
          <a:blip r:embed="rId7"/>
          <a:stretch>
            <a:fillRect/>
          </a:stretch>
        </p:blipFill>
        <p:spPr>
          <a:xfrm rot="8957466">
            <a:off x="9339216" y="1828619"/>
            <a:ext cx="858088" cy="1175464"/>
          </a:xfrm>
          <a:prstGeom prst="rect">
            <a:avLst/>
          </a:prstGeom>
        </p:spPr>
      </p:pic>
      <p:pic>
        <p:nvPicPr>
          <p:cNvPr id="53" name="Imagen 52">
            <a:extLst>
              <a:ext uri="{FF2B5EF4-FFF2-40B4-BE49-F238E27FC236}">
                <a16:creationId xmlns:a16="http://schemas.microsoft.com/office/drawing/2014/main" id="{4F1354C3-2973-D304-3D33-4DB86E0464DA}"/>
              </a:ext>
            </a:extLst>
          </p:cNvPr>
          <p:cNvPicPr>
            <a:picLocks noChangeAspect="1"/>
          </p:cNvPicPr>
          <p:nvPr/>
        </p:nvPicPr>
        <p:blipFill>
          <a:blip r:embed="rId6"/>
          <a:stretch>
            <a:fillRect/>
          </a:stretch>
        </p:blipFill>
        <p:spPr>
          <a:xfrm>
            <a:off x="9768261" y="2766197"/>
            <a:ext cx="1048359" cy="1048359"/>
          </a:xfrm>
          <a:prstGeom prst="rect">
            <a:avLst/>
          </a:prstGeom>
        </p:spPr>
      </p:pic>
      <p:sp>
        <p:nvSpPr>
          <p:cNvPr id="60" name="CuadroTexto 59">
            <a:extLst>
              <a:ext uri="{FF2B5EF4-FFF2-40B4-BE49-F238E27FC236}">
                <a16:creationId xmlns:a16="http://schemas.microsoft.com/office/drawing/2014/main" id="{36D8BEEF-822A-5627-B059-59A337661AEE}"/>
              </a:ext>
            </a:extLst>
          </p:cNvPr>
          <p:cNvSpPr txBox="1"/>
          <p:nvPr/>
        </p:nvSpPr>
        <p:spPr>
          <a:xfrm>
            <a:off x="34259" y="3781721"/>
            <a:ext cx="4075427" cy="3046988"/>
          </a:xfrm>
          <a:prstGeom prst="rect">
            <a:avLst/>
          </a:prstGeom>
          <a:noFill/>
        </p:spPr>
        <p:txBody>
          <a:bodyPr wrap="square" rtlCol="0">
            <a:spAutoFit/>
          </a:bodyPr>
          <a:lstStyle/>
          <a:p>
            <a:r>
              <a:rPr lang="es-ES" sz="1600" b="1" dirty="0"/>
              <a:t>En una red de oficina o de empresa donde un profesional de redes ejerce sus labores nos encontraremos dispositivos dedicados únicamente a sus propias funciones.</a:t>
            </a:r>
          </a:p>
          <a:p>
            <a:r>
              <a:rPr lang="es-ES" sz="1600" dirty="0"/>
              <a:t>Por ejemplo:</a:t>
            </a:r>
          </a:p>
          <a:p>
            <a:r>
              <a:rPr lang="es-ES" sz="1600" dirty="0"/>
              <a:t>Un </a:t>
            </a:r>
            <a:r>
              <a:rPr lang="es-ES" sz="1600" b="1" dirty="0"/>
              <a:t>Router</a:t>
            </a:r>
            <a:r>
              <a:rPr lang="es-ES" sz="1600" dirty="0"/>
              <a:t> que nos conecta a internet y a otras redes. (💡WAN)</a:t>
            </a:r>
          </a:p>
          <a:p>
            <a:r>
              <a:rPr lang="es-ES" sz="1600" dirty="0"/>
              <a:t>Un </a:t>
            </a:r>
            <a:r>
              <a:rPr lang="es-ES" sz="1600" b="1" dirty="0"/>
              <a:t>Switch</a:t>
            </a:r>
            <a:r>
              <a:rPr lang="es-ES" sz="1600" dirty="0"/>
              <a:t> que interconecta dispositivos en la misma red. (💡LAN)</a:t>
            </a:r>
          </a:p>
          <a:p>
            <a:r>
              <a:rPr lang="es-ES" sz="1600" dirty="0"/>
              <a:t>Un </a:t>
            </a:r>
            <a:r>
              <a:rPr lang="es-ES" sz="1600" b="1" dirty="0"/>
              <a:t>Access Point </a:t>
            </a:r>
            <a:r>
              <a:rPr lang="es-ES" sz="1600" dirty="0"/>
              <a:t>que conecta dispositivos inalámbricos a la red local (💡WLAN)</a:t>
            </a:r>
          </a:p>
        </p:txBody>
      </p:sp>
      <p:sp>
        <p:nvSpPr>
          <p:cNvPr id="62" name="CuadroTexto 61">
            <a:extLst>
              <a:ext uri="{FF2B5EF4-FFF2-40B4-BE49-F238E27FC236}">
                <a16:creationId xmlns:a16="http://schemas.microsoft.com/office/drawing/2014/main" id="{07E78BE9-670C-A998-C1C9-59AF7FDFD2D8}"/>
              </a:ext>
            </a:extLst>
          </p:cNvPr>
          <p:cNvSpPr txBox="1"/>
          <p:nvPr/>
        </p:nvSpPr>
        <p:spPr>
          <a:xfrm>
            <a:off x="3932386" y="882742"/>
            <a:ext cx="814964" cy="338554"/>
          </a:xfrm>
          <a:prstGeom prst="rect">
            <a:avLst/>
          </a:prstGeom>
          <a:noFill/>
        </p:spPr>
        <p:txBody>
          <a:bodyPr wrap="square">
            <a:spAutoFit/>
          </a:bodyPr>
          <a:lstStyle/>
          <a:p>
            <a:r>
              <a:rPr lang="es-ES" sz="1600" b="1" dirty="0"/>
              <a:t>Router</a:t>
            </a:r>
            <a:endParaRPr lang="es-ES" dirty="0"/>
          </a:p>
        </p:txBody>
      </p:sp>
      <p:sp>
        <p:nvSpPr>
          <p:cNvPr id="64" name="CuadroTexto 63">
            <a:extLst>
              <a:ext uri="{FF2B5EF4-FFF2-40B4-BE49-F238E27FC236}">
                <a16:creationId xmlns:a16="http://schemas.microsoft.com/office/drawing/2014/main" id="{313C0BBF-CE56-2F8E-5C06-1EAA8D19FD58}"/>
              </a:ext>
            </a:extLst>
          </p:cNvPr>
          <p:cNvSpPr txBox="1"/>
          <p:nvPr/>
        </p:nvSpPr>
        <p:spPr>
          <a:xfrm>
            <a:off x="2045520" y="1969516"/>
            <a:ext cx="883804" cy="338554"/>
          </a:xfrm>
          <a:prstGeom prst="rect">
            <a:avLst/>
          </a:prstGeom>
          <a:noFill/>
        </p:spPr>
        <p:txBody>
          <a:bodyPr wrap="square">
            <a:spAutoFit/>
          </a:bodyPr>
          <a:lstStyle/>
          <a:p>
            <a:r>
              <a:rPr lang="es-ES" sz="1600" b="1" dirty="0"/>
              <a:t>Switch</a:t>
            </a:r>
            <a:endParaRPr lang="es-ES" dirty="0"/>
          </a:p>
        </p:txBody>
      </p:sp>
      <p:sp>
        <p:nvSpPr>
          <p:cNvPr id="66" name="CuadroTexto 65">
            <a:extLst>
              <a:ext uri="{FF2B5EF4-FFF2-40B4-BE49-F238E27FC236}">
                <a16:creationId xmlns:a16="http://schemas.microsoft.com/office/drawing/2014/main" id="{84A54985-8FE3-020C-D46E-30FD4B2DE41F}"/>
              </a:ext>
            </a:extLst>
          </p:cNvPr>
          <p:cNvSpPr txBox="1"/>
          <p:nvPr/>
        </p:nvSpPr>
        <p:spPr>
          <a:xfrm>
            <a:off x="3619103" y="2680048"/>
            <a:ext cx="1441529" cy="338554"/>
          </a:xfrm>
          <a:prstGeom prst="rect">
            <a:avLst/>
          </a:prstGeom>
          <a:noFill/>
        </p:spPr>
        <p:txBody>
          <a:bodyPr wrap="square">
            <a:spAutoFit/>
          </a:bodyPr>
          <a:lstStyle/>
          <a:p>
            <a:r>
              <a:rPr lang="es-ES" sz="1600" b="1" dirty="0"/>
              <a:t>Access Point </a:t>
            </a:r>
            <a:endParaRPr lang="es-ES" dirty="0"/>
          </a:p>
        </p:txBody>
      </p:sp>
      <p:sp>
        <p:nvSpPr>
          <p:cNvPr id="68" name="CuadroTexto 67">
            <a:extLst>
              <a:ext uri="{FF2B5EF4-FFF2-40B4-BE49-F238E27FC236}">
                <a16:creationId xmlns:a16="http://schemas.microsoft.com/office/drawing/2014/main" id="{D084DFBF-F075-8991-9CDB-29A667B25A26}"/>
              </a:ext>
            </a:extLst>
          </p:cNvPr>
          <p:cNvSpPr txBox="1"/>
          <p:nvPr/>
        </p:nvSpPr>
        <p:spPr>
          <a:xfrm>
            <a:off x="5276206" y="4487523"/>
            <a:ext cx="6915794" cy="2062103"/>
          </a:xfrm>
          <a:prstGeom prst="rect">
            <a:avLst/>
          </a:prstGeom>
          <a:noFill/>
        </p:spPr>
        <p:txBody>
          <a:bodyPr wrap="square">
            <a:spAutoFit/>
          </a:bodyPr>
          <a:lstStyle/>
          <a:p>
            <a:r>
              <a:rPr lang="es-ES" sz="1600" b="1" dirty="0"/>
              <a:t>En una red de hogar encontraremos un único dispositivo multifunción (normalmente proporcionado por el proveedor de internet) que integra todas las capacidades en un solo equipo físico.</a:t>
            </a:r>
            <a:br>
              <a:rPr lang="es-ES" sz="1600" dirty="0"/>
            </a:br>
            <a:r>
              <a:rPr lang="es-ES" sz="1600" dirty="0"/>
              <a:t>Por ejemplo:</a:t>
            </a:r>
            <a:br>
              <a:rPr lang="es-ES" sz="1600" dirty="0"/>
            </a:br>
            <a:r>
              <a:rPr lang="es-ES" sz="1600" dirty="0"/>
              <a:t>Un único Router que realiza simultáneamente las funciones de enrutamiento hacia internet (WAN), conmutación de puertos cableados (LAN) y emisión de señal inalámbrica (WLAN) para conectar televisores, computadoras y celulares.</a:t>
            </a:r>
          </a:p>
        </p:txBody>
      </p:sp>
      <p:cxnSp>
        <p:nvCxnSpPr>
          <p:cNvPr id="70" name="Conector recto 69">
            <a:extLst>
              <a:ext uri="{FF2B5EF4-FFF2-40B4-BE49-F238E27FC236}">
                <a16:creationId xmlns:a16="http://schemas.microsoft.com/office/drawing/2014/main" id="{A05A0906-5D58-6D81-F2D8-DF512AD453E8}"/>
              </a:ext>
            </a:extLst>
          </p:cNvPr>
          <p:cNvCxnSpPr>
            <a:cxnSpLocks/>
          </p:cNvCxnSpPr>
          <p:nvPr/>
        </p:nvCxnSpPr>
        <p:spPr>
          <a:xfrm>
            <a:off x="5179273" y="746876"/>
            <a:ext cx="0" cy="5960061"/>
          </a:xfrm>
          <a:prstGeom prst="line">
            <a:avLst/>
          </a:prstGeom>
        </p:spPr>
        <p:style>
          <a:lnRef idx="2">
            <a:schemeClr val="accent1"/>
          </a:lnRef>
          <a:fillRef idx="0">
            <a:schemeClr val="accent1"/>
          </a:fillRef>
          <a:effectRef idx="1">
            <a:schemeClr val="accent1"/>
          </a:effectRef>
          <a:fontRef idx="minor">
            <a:schemeClr val="tx1"/>
          </a:fontRef>
        </p:style>
      </p:cxnSp>
      <p:pic>
        <p:nvPicPr>
          <p:cNvPr id="73" name="Picture 4">
            <a:extLst>
              <a:ext uri="{FF2B5EF4-FFF2-40B4-BE49-F238E27FC236}">
                <a16:creationId xmlns:a16="http://schemas.microsoft.com/office/drawing/2014/main" id="{9B034CD9-D511-BB76-E611-C4430147325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23549" y="438913"/>
            <a:ext cx="861917" cy="861917"/>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4">
            <a:extLst>
              <a:ext uri="{FF2B5EF4-FFF2-40B4-BE49-F238E27FC236}">
                <a16:creationId xmlns:a16="http://schemas.microsoft.com/office/drawing/2014/main" id="{BB2C3162-E306-23D2-79F8-084AB0A4D11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68436" y="562519"/>
            <a:ext cx="1125676" cy="1125676"/>
          </a:xfrm>
          <a:prstGeom prst="rect">
            <a:avLst/>
          </a:prstGeom>
          <a:noFill/>
          <a:extLst>
            <a:ext uri="{909E8E84-426E-40DD-AFC4-6F175D3DCCD1}">
              <a14:hiddenFill xmlns:a14="http://schemas.microsoft.com/office/drawing/2010/main">
                <a:solidFill>
                  <a:srgbClr val="FFFFFF"/>
                </a:solidFill>
              </a14:hiddenFill>
            </a:ext>
          </a:extLst>
        </p:spPr>
      </p:pic>
      <p:cxnSp>
        <p:nvCxnSpPr>
          <p:cNvPr id="76" name="Conector recto 75">
            <a:extLst>
              <a:ext uri="{FF2B5EF4-FFF2-40B4-BE49-F238E27FC236}">
                <a16:creationId xmlns:a16="http://schemas.microsoft.com/office/drawing/2014/main" id="{AEDACEDB-A62D-9ABC-D2AA-525AA2561A62}"/>
              </a:ext>
            </a:extLst>
          </p:cNvPr>
          <p:cNvCxnSpPr>
            <a:cxnSpLocks/>
          </p:cNvCxnSpPr>
          <p:nvPr/>
        </p:nvCxnSpPr>
        <p:spPr>
          <a:xfrm>
            <a:off x="3197401" y="1052019"/>
            <a:ext cx="774277" cy="316091"/>
          </a:xfrm>
          <a:prstGeom prst="line">
            <a:avLst/>
          </a:prstGeom>
        </p:spPr>
        <p:style>
          <a:lnRef idx="2">
            <a:schemeClr val="accent1"/>
          </a:lnRef>
          <a:fillRef idx="0">
            <a:schemeClr val="accent1"/>
          </a:fillRef>
          <a:effectRef idx="1">
            <a:schemeClr val="accent1"/>
          </a:effectRef>
          <a:fontRef idx="minor">
            <a:schemeClr val="tx1"/>
          </a:fontRef>
        </p:style>
      </p:cxnSp>
      <p:cxnSp>
        <p:nvCxnSpPr>
          <p:cNvPr id="78" name="Conector recto 77">
            <a:extLst>
              <a:ext uri="{FF2B5EF4-FFF2-40B4-BE49-F238E27FC236}">
                <a16:creationId xmlns:a16="http://schemas.microsoft.com/office/drawing/2014/main" id="{AA7FFEB2-FFA1-1783-E42D-07781DFF431F}"/>
              </a:ext>
            </a:extLst>
          </p:cNvPr>
          <p:cNvCxnSpPr>
            <a:cxnSpLocks/>
          </p:cNvCxnSpPr>
          <p:nvPr/>
        </p:nvCxnSpPr>
        <p:spPr>
          <a:xfrm>
            <a:off x="6805266" y="1337400"/>
            <a:ext cx="1496176" cy="479972"/>
          </a:xfrm>
          <a:prstGeom prst="line">
            <a:avLst/>
          </a:prstGeom>
        </p:spPr>
        <p:style>
          <a:lnRef idx="2">
            <a:schemeClr val="accent1"/>
          </a:lnRef>
          <a:fillRef idx="0">
            <a:schemeClr val="accent1"/>
          </a:fillRef>
          <a:effectRef idx="1">
            <a:schemeClr val="accent1"/>
          </a:effectRef>
          <a:fontRef idx="minor">
            <a:schemeClr val="tx1"/>
          </a:fontRef>
        </p:style>
      </p:cxnSp>
      <p:sp>
        <p:nvSpPr>
          <p:cNvPr id="81" name="CuadroTexto 80">
            <a:extLst>
              <a:ext uri="{FF2B5EF4-FFF2-40B4-BE49-F238E27FC236}">
                <a16:creationId xmlns:a16="http://schemas.microsoft.com/office/drawing/2014/main" id="{7051CB92-2C34-B614-7035-832487469782}"/>
              </a:ext>
            </a:extLst>
          </p:cNvPr>
          <p:cNvSpPr txBox="1"/>
          <p:nvPr/>
        </p:nvSpPr>
        <p:spPr>
          <a:xfrm>
            <a:off x="5937030" y="1384367"/>
            <a:ext cx="967381" cy="369332"/>
          </a:xfrm>
          <a:prstGeom prst="rect">
            <a:avLst/>
          </a:prstGeom>
          <a:noFill/>
        </p:spPr>
        <p:txBody>
          <a:bodyPr wrap="none" rtlCol="0">
            <a:spAutoFit/>
          </a:bodyPr>
          <a:lstStyle/>
          <a:p>
            <a:r>
              <a:rPr lang="es-ES" dirty="0"/>
              <a:t>Internet</a:t>
            </a:r>
          </a:p>
        </p:txBody>
      </p:sp>
      <p:sp>
        <p:nvSpPr>
          <p:cNvPr id="83" name="CuadroTexto 82">
            <a:extLst>
              <a:ext uri="{FF2B5EF4-FFF2-40B4-BE49-F238E27FC236}">
                <a16:creationId xmlns:a16="http://schemas.microsoft.com/office/drawing/2014/main" id="{91C75B86-2DDE-A774-BC42-E1B0522E35E2}"/>
              </a:ext>
            </a:extLst>
          </p:cNvPr>
          <p:cNvSpPr txBox="1"/>
          <p:nvPr/>
        </p:nvSpPr>
        <p:spPr>
          <a:xfrm>
            <a:off x="2356190" y="998293"/>
            <a:ext cx="967381" cy="369332"/>
          </a:xfrm>
          <a:prstGeom prst="rect">
            <a:avLst/>
          </a:prstGeom>
          <a:noFill/>
        </p:spPr>
        <p:txBody>
          <a:bodyPr wrap="none" rtlCol="0">
            <a:spAutoFit/>
          </a:bodyPr>
          <a:lstStyle/>
          <a:p>
            <a:r>
              <a:rPr lang="es-ES" dirty="0"/>
              <a:t>Internet</a:t>
            </a:r>
          </a:p>
        </p:txBody>
      </p:sp>
      <p:sp>
        <p:nvSpPr>
          <p:cNvPr id="86" name="CuadroTexto 85">
            <a:extLst>
              <a:ext uri="{FF2B5EF4-FFF2-40B4-BE49-F238E27FC236}">
                <a16:creationId xmlns:a16="http://schemas.microsoft.com/office/drawing/2014/main" id="{16105B8D-90F3-3889-46D3-8CCA8AF4BDC5}"/>
              </a:ext>
            </a:extLst>
          </p:cNvPr>
          <p:cNvSpPr txBox="1"/>
          <p:nvPr/>
        </p:nvSpPr>
        <p:spPr>
          <a:xfrm>
            <a:off x="-321133" y="0"/>
            <a:ext cx="3329579" cy="461665"/>
          </a:xfrm>
          <a:prstGeom prst="rect">
            <a:avLst/>
          </a:prstGeom>
          <a:noFill/>
        </p:spPr>
        <p:txBody>
          <a:bodyPr wrap="square">
            <a:spAutoFit/>
          </a:bodyPr>
          <a:lstStyle/>
          <a:p>
            <a:pPr algn="ctr"/>
            <a:r>
              <a:rPr lang="es-ES" sz="1200" dirty="0">
                <a:ln w="0"/>
                <a:effectLst>
                  <a:outerShdw blurRad="38100" dist="19050" dir="2700000" algn="tl" rotWithShape="0">
                    <a:schemeClr val="dk1">
                      <a:alpha val="40000"/>
                    </a:schemeClr>
                  </a:outerShdw>
                </a:effectLst>
              </a:rPr>
              <a:t>1. Introducción a las redes</a:t>
            </a:r>
          </a:p>
          <a:p>
            <a:pPr algn="ctr"/>
            <a:r>
              <a:rPr lang="es-ES" sz="1200" b="1" dirty="0"/>
              <a:t>Ethernet y ¿Cómo funciona una LAN?</a:t>
            </a:r>
          </a:p>
        </p:txBody>
      </p:sp>
    </p:spTree>
    <p:extLst>
      <p:ext uri="{BB962C8B-B14F-4D97-AF65-F5344CB8AC3E}">
        <p14:creationId xmlns:p14="http://schemas.microsoft.com/office/powerpoint/2010/main" val="38130650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3B41FCF9-6977-9F95-EABE-2FE4C9A14504}"/>
              </a:ext>
            </a:extLst>
          </p:cNvPr>
          <p:cNvSpPr txBox="1"/>
          <p:nvPr/>
        </p:nvSpPr>
        <p:spPr>
          <a:xfrm>
            <a:off x="-321133" y="0"/>
            <a:ext cx="3329579" cy="461665"/>
          </a:xfrm>
          <a:prstGeom prst="rect">
            <a:avLst/>
          </a:prstGeom>
          <a:noFill/>
        </p:spPr>
        <p:txBody>
          <a:bodyPr wrap="square">
            <a:spAutoFit/>
          </a:bodyPr>
          <a:lstStyle/>
          <a:p>
            <a:pPr algn="ctr"/>
            <a:r>
              <a:rPr lang="es-ES" sz="1200" dirty="0">
                <a:ln w="0"/>
                <a:effectLst>
                  <a:outerShdw blurRad="38100" dist="19050" dir="2700000" algn="tl" rotWithShape="0">
                    <a:schemeClr val="dk1">
                      <a:alpha val="40000"/>
                    </a:schemeClr>
                  </a:outerShdw>
                </a:effectLst>
              </a:rPr>
              <a:t>1. Introducción a las redes</a:t>
            </a:r>
          </a:p>
          <a:p>
            <a:pPr algn="ctr"/>
            <a:r>
              <a:rPr lang="es-ES" sz="1200" b="1" dirty="0"/>
              <a:t>Ethernet y ¿Cómo funciona una LAN?</a:t>
            </a:r>
          </a:p>
        </p:txBody>
      </p:sp>
      <p:pic>
        <p:nvPicPr>
          <p:cNvPr id="10" name="Imagen 9">
            <a:extLst>
              <a:ext uri="{FF2B5EF4-FFF2-40B4-BE49-F238E27FC236}">
                <a16:creationId xmlns:a16="http://schemas.microsoft.com/office/drawing/2014/main" id="{21F3803D-635A-989E-F314-14349B29B177}"/>
              </a:ext>
            </a:extLst>
          </p:cNvPr>
          <p:cNvPicPr>
            <a:picLocks noChangeAspect="1"/>
          </p:cNvPicPr>
          <p:nvPr/>
        </p:nvPicPr>
        <p:blipFill>
          <a:blip r:embed="rId2"/>
          <a:stretch>
            <a:fillRect/>
          </a:stretch>
        </p:blipFill>
        <p:spPr>
          <a:xfrm>
            <a:off x="8586252" y="2434621"/>
            <a:ext cx="2089965" cy="1287197"/>
          </a:xfrm>
          <a:prstGeom prst="rect">
            <a:avLst/>
          </a:prstGeom>
        </p:spPr>
      </p:pic>
      <p:sp>
        <p:nvSpPr>
          <p:cNvPr id="12" name="CuadroTexto 11">
            <a:extLst>
              <a:ext uri="{FF2B5EF4-FFF2-40B4-BE49-F238E27FC236}">
                <a16:creationId xmlns:a16="http://schemas.microsoft.com/office/drawing/2014/main" id="{96B93418-219A-B787-56B1-DAA1090A1617}"/>
              </a:ext>
            </a:extLst>
          </p:cNvPr>
          <p:cNvSpPr txBox="1"/>
          <p:nvPr/>
        </p:nvSpPr>
        <p:spPr>
          <a:xfrm>
            <a:off x="167523" y="2640802"/>
            <a:ext cx="7112776" cy="1077218"/>
          </a:xfrm>
          <a:prstGeom prst="rect">
            <a:avLst/>
          </a:prstGeom>
          <a:noFill/>
        </p:spPr>
        <p:txBody>
          <a:bodyPr wrap="square" rtlCol="0">
            <a:spAutoFit/>
          </a:bodyPr>
          <a:lstStyle/>
          <a:p>
            <a:r>
              <a:rPr lang="es-ES" sz="1600" dirty="0"/>
              <a:t>Una </a:t>
            </a:r>
            <a:r>
              <a:rPr lang="es-ES" sz="1600" b="1" dirty="0"/>
              <a:t>tarjeta de red</a:t>
            </a:r>
            <a:r>
              <a:rPr lang="es-ES" sz="1600" dirty="0"/>
              <a:t> (también llamada </a:t>
            </a:r>
            <a:r>
              <a:rPr lang="es-ES" sz="1600" b="1" dirty="0"/>
              <a:t>NIC</a:t>
            </a:r>
            <a:r>
              <a:rPr lang="es-ES" sz="1600" dirty="0"/>
              <a:t>, </a:t>
            </a:r>
            <a:r>
              <a:rPr lang="es-ES" sz="1600" i="1" dirty="0"/>
              <a:t>Network Interface Card</a:t>
            </a:r>
            <a:r>
              <a:rPr lang="es-ES" sz="1600" dirty="0"/>
              <a:t>) es el componente de hardware que conecta un dispositivo a la red.</a:t>
            </a:r>
          </a:p>
          <a:p>
            <a:r>
              <a:rPr lang="es-ES" sz="1600" dirty="0"/>
              <a:t>Aquí se encuentran los chips que activan los estándares Ethernet ( 802.3u , 802.3ab, 802.3an , etc…)</a:t>
            </a:r>
          </a:p>
        </p:txBody>
      </p:sp>
      <p:sp>
        <p:nvSpPr>
          <p:cNvPr id="16" name="CuadroTexto 15">
            <a:extLst>
              <a:ext uri="{FF2B5EF4-FFF2-40B4-BE49-F238E27FC236}">
                <a16:creationId xmlns:a16="http://schemas.microsoft.com/office/drawing/2014/main" id="{2F7B6749-5A8D-32E7-CDD2-5C3FE0CCC3BF}"/>
              </a:ext>
            </a:extLst>
          </p:cNvPr>
          <p:cNvSpPr txBox="1"/>
          <p:nvPr/>
        </p:nvSpPr>
        <p:spPr>
          <a:xfrm>
            <a:off x="97722" y="4298125"/>
            <a:ext cx="6257706" cy="1107996"/>
          </a:xfrm>
          <a:prstGeom prst="rect">
            <a:avLst/>
          </a:prstGeom>
          <a:noFill/>
        </p:spPr>
        <p:txBody>
          <a:bodyPr wrap="square">
            <a:spAutoFit/>
          </a:bodyPr>
          <a:lstStyle/>
          <a:p>
            <a:r>
              <a:rPr lang="es-ES" sz="1600" dirty="0"/>
              <a:t>El </a:t>
            </a:r>
            <a:r>
              <a:rPr lang="es-ES" sz="1600" b="1" dirty="0"/>
              <a:t>Puerto</a:t>
            </a:r>
            <a:r>
              <a:rPr lang="es-ES" sz="1600" dirty="0"/>
              <a:t> físico es la ranura donde conectara el cable Ethernet. </a:t>
            </a:r>
          </a:p>
          <a:p>
            <a:r>
              <a:rPr lang="es-ES" sz="1600" dirty="0"/>
              <a:t>El Puerto Ethernet de un switch comercial o cisco utiliza puertos RJ45 (Conector Hembra) .</a:t>
            </a:r>
          </a:p>
          <a:p>
            <a:endParaRPr lang="es-ES" sz="1800" dirty="0"/>
          </a:p>
        </p:txBody>
      </p:sp>
      <p:pic>
        <p:nvPicPr>
          <p:cNvPr id="18" name="Imagen 17">
            <a:extLst>
              <a:ext uri="{FF2B5EF4-FFF2-40B4-BE49-F238E27FC236}">
                <a16:creationId xmlns:a16="http://schemas.microsoft.com/office/drawing/2014/main" id="{51D1D5E2-0BDB-38BB-45A1-EC1733E3CCBD}"/>
              </a:ext>
            </a:extLst>
          </p:cNvPr>
          <p:cNvPicPr>
            <a:picLocks noChangeAspect="1"/>
          </p:cNvPicPr>
          <p:nvPr/>
        </p:nvPicPr>
        <p:blipFill>
          <a:blip r:embed="rId3"/>
          <a:stretch>
            <a:fillRect/>
          </a:stretch>
        </p:blipFill>
        <p:spPr>
          <a:xfrm>
            <a:off x="8531008" y="4041127"/>
            <a:ext cx="2200455" cy="1199248"/>
          </a:xfrm>
          <a:prstGeom prst="rect">
            <a:avLst/>
          </a:prstGeom>
        </p:spPr>
      </p:pic>
      <p:sp>
        <p:nvSpPr>
          <p:cNvPr id="20" name="CuadroTexto 19">
            <a:extLst>
              <a:ext uri="{FF2B5EF4-FFF2-40B4-BE49-F238E27FC236}">
                <a16:creationId xmlns:a16="http://schemas.microsoft.com/office/drawing/2014/main" id="{F66EEA60-278E-371A-82E2-F21EDFBE97B3}"/>
              </a:ext>
            </a:extLst>
          </p:cNvPr>
          <p:cNvSpPr txBox="1"/>
          <p:nvPr/>
        </p:nvSpPr>
        <p:spPr>
          <a:xfrm>
            <a:off x="97722" y="5589677"/>
            <a:ext cx="6257706" cy="1077218"/>
          </a:xfrm>
          <a:prstGeom prst="rect">
            <a:avLst/>
          </a:prstGeom>
          <a:noFill/>
        </p:spPr>
        <p:txBody>
          <a:bodyPr wrap="square">
            <a:spAutoFit/>
          </a:bodyPr>
          <a:lstStyle/>
          <a:p>
            <a:r>
              <a:rPr lang="es-ES" sz="1600" dirty="0"/>
              <a:t>El </a:t>
            </a:r>
            <a:r>
              <a:rPr lang="es-ES" sz="1600" b="1" dirty="0"/>
              <a:t>RJ45 </a:t>
            </a:r>
            <a:r>
              <a:rPr lang="es-ES" sz="1600" dirty="0"/>
              <a:t>(Registered Jack 45) es el conector estándar de 8 pines utilizado en los extremos de los cables de red Ethernet (Conector Macho). Este conector de plástico transparente posee </a:t>
            </a:r>
            <a:r>
              <a:rPr lang="es-ES" sz="1600" b="1" dirty="0"/>
              <a:t>8 pines metálicos</a:t>
            </a:r>
            <a:r>
              <a:rPr lang="es-ES" sz="1600" dirty="0"/>
              <a:t> que permiten la transmisión de datos</a:t>
            </a:r>
          </a:p>
        </p:txBody>
      </p:sp>
      <p:pic>
        <p:nvPicPr>
          <p:cNvPr id="22" name="Imagen 21">
            <a:extLst>
              <a:ext uri="{FF2B5EF4-FFF2-40B4-BE49-F238E27FC236}">
                <a16:creationId xmlns:a16="http://schemas.microsoft.com/office/drawing/2014/main" id="{03052CE8-CC6C-33DB-8EF7-06282CC95DF3}"/>
              </a:ext>
            </a:extLst>
          </p:cNvPr>
          <p:cNvPicPr>
            <a:picLocks noChangeAspect="1"/>
          </p:cNvPicPr>
          <p:nvPr/>
        </p:nvPicPr>
        <p:blipFill>
          <a:blip r:embed="rId4"/>
          <a:stretch>
            <a:fillRect/>
          </a:stretch>
        </p:blipFill>
        <p:spPr>
          <a:xfrm>
            <a:off x="8733296" y="5406121"/>
            <a:ext cx="1998167" cy="1426801"/>
          </a:xfrm>
          <a:prstGeom prst="rect">
            <a:avLst/>
          </a:prstGeom>
        </p:spPr>
      </p:pic>
      <p:sp>
        <p:nvSpPr>
          <p:cNvPr id="2" name="CuadroTexto 1">
            <a:extLst>
              <a:ext uri="{FF2B5EF4-FFF2-40B4-BE49-F238E27FC236}">
                <a16:creationId xmlns:a16="http://schemas.microsoft.com/office/drawing/2014/main" id="{AF06FC6E-D36B-7232-41AF-C7A0083C2FDE}"/>
              </a:ext>
            </a:extLst>
          </p:cNvPr>
          <p:cNvSpPr txBox="1"/>
          <p:nvPr/>
        </p:nvSpPr>
        <p:spPr>
          <a:xfrm>
            <a:off x="167523" y="796366"/>
            <a:ext cx="7980253" cy="1354217"/>
          </a:xfrm>
          <a:prstGeom prst="rect">
            <a:avLst/>
          </a:prstGeom>
          <a:noFill/>
        </p:spPr>
        <p:txBody>
          <a:bodyPr wrap="square" rtlCol="0">
            <a:spAutoFit/>
          </a:bodyPr>
          <a:lstStyle/>
          <a:p>
            <a:r>
              <a:rPr lang="es-ES" sz="1600" b="1" dirty="0"/>
              <a:t>El cable de cobre </a:t>
            </a:r>
            <a:r>
              <a:rPr lang="es-ES" sz="1600" dirty="0"/>
              <a:t>es el cable universal para conectar computadoras, switches, impresoras, consolas de videojuegos y routers dentro de una casa u oficina. Su uso técnico ideal es para trayectos menores a 100 metros y es menos costoso que la fibra.</a:t>
            </a:r>
          </a:p>
          <a:p>
            <a:r>
              <a:rPr lang="es-ES" sz="1600" dirty="0"/>
              <a:t> Sin embargo, los cables de cobre son </a:t>
            </a:r>
            <a:r>
              <a:rPr lang="es-ES" b="1" dirty="0"/>
              <a:t>muy vulnerables a la EMI</a:t>
            </a:r>
            <a:r>
              <a:rPr lang="es-ES" sz="1600" dirty="0"/>
              <a:t> (Interferencia Electromagnética). </a:t>
            </a:r>
          </a:p>
        </p:txBody>
      </p:sp>
      <p:pic>
        <p:nvPicPr>
          <p:cNvPr id="4" name="Imagen 3">
            <a:extLst>
              <a:ext uri="{FF2B5EF4-FFF2-40B4-BE49-F238E27FC236}">
                <a16:creationId xmlns:a16="http://schemas.microsoft.com/office/drawing/2014/main" id="{5B65BE66-9A21-5043-76AF-EC5E033756DE}"/>
              </a:ext>
            </a:extLst>
          </p:cNvPr>
          <p:cNvPicPr>
            <a:picLocks noChangeAspect="1"/>
          </p:cNvPicPr>
          <p:nvPr/>
        </p:nvPicPr>
        <p:blipFill>
          <a:blip r:embed="rId5"/>
          <a:stretch>
            <a:fillRect/>
          </a:stretch>
        </p:blipFill>
        <p:spPr>
          <a:xfrm>
            <a:off x="9110890" y="701047"/>
            <a:ext cx="1242981" cy="1018649"/>
          </a:xfrm>
          <a:prstGeom prst="rect">
            <a:avLst/>
          </a:prstGeom>
        </p:spPr>
      </p:pic>
    </p:spTree>
    <p:extLst>
      <p:ext uri="{BB962C8B-B14F-4D97-AF65-F5344CB8AC3E}">
        <p14:creationId xmlns:p14="http://schemas.microsoft.com/office/powerpoint/2010/main" val="38317351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CuadroTexto 67">
            <a:extLst>
              <a:ext uri="{FF2B5EF4-FFF2-40B4-BE49-F238E27FC236}">
                <a16:creationId xmlns:a16="http://schemas.microsoft.com/office/drawing/2014/main" id="{5A7FFD68-20AB-FC71-CBE7-2870AFFDC551}"/>
              </a:ext>
            </a:extLst>
          </p:cNvPr>
          <p:cNvSpPr txBox="1"/>
          <p:nvPr/>
        </p:nvSpPr>
        <p:spPr>
          <a:xfrm>
            <a:off x="6053803" y="4306446"/>
            <a:ext cx="4078155" cy="73866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s-ES" sz="1400" b="1" dirty="0"/>
              <a:t>Network Interface Card</a:t>
            </a:r>
          </a:p>
          <a:p>
            <a:r>
              <a:rPr lang="es-ES" sz="1400" dirty="0"/>
              <a:t>Identificador específico de la tarjeta de red.</a:t>
            </a:r>
          </a:p>
          <a:p>
            <a:endParaRPr lang="es-ES" sz="1400" dirty="0"/>
          </a:p>
        </p:txBody>
      </p:sp>
      <p:sp>
        <p:nvSpPr>
          <p:cNvPr id="70" name="CuadroTexto 69">
            <a:extLst>
              <a:ext uri="{FF2B5EF4-FFF2-40B4-BE49-F238E27FC236}">
                <a16:creationId xmlns:a16="http://schemas.microsoft.com/office/drawing/2014/main" id="{5CF39B37-1C36-1D95-B98D-C25C859703C8}"/>
              </a:ext>
            </a:extLst>
          </p:cNvPr>
          <p:cNvSpPr txBox="1"/>
          <p:nvPr/>
        </p:nvSpPr>
        <p:spPr>
          <a:xfrm>
            <a:off x="1862382" y="4294997"/>
            <a:ext cx="4003956" cy="73866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s-ES" sz="1400" b="1" dirty="0"/>
              <a:t>Organizationally Unique Identifier</a:t>
            </a:r>
          </a:p>
          <a:p>
            <a:r>
              <a:rPr lang="es-ES" sz="1400" dirty="0"/>
              <a:t>Es un número asignado por la IEEE a cada empresa fabricante</a:t>
            </a:r>
          </a:p>
        </p:txBody>
      </p:sp>
      <p:sp>
        <p:nvSpPr>
          <p:cNvPr id="72" name="CuadroTexto 71">
            <a:extLst>
              <a:ext uri="{FF2B5EF4-FFF2-40B4-BE49-F238E27FC236}">
                <a16:creationId xmlns:a16="http://schemas.microsoft.com/office/drawing/2014/main" id="{5DD11F3D-5ADE-1778-9DBD-206773C13937}"/>
              </a:ext>
            </a:extLst>
          </p:cNvPr>
          <p:cNvSpPr txBox="1"/>
          <p:nvPr/>
        </p:nvSpPr>
        <p:spPr>
          <a:xfrm>
            <a:off x="3275772" y="3892089"/>
            <a:ext cx="1185689" cy="307777"/>
          </a:xfrm>
          <a:prstGeom prst="rect">
            <a:avLst/>
          </a:prstGeom>
          <a:noFill/>
        </p:spPr>
        <p:txBody>
          <a:bodyPr wrap="square">
            <a:spAutoFit/>
          </a:bodyPr>
          <a:lstStyle/>
          <a:p>
            <a:r>
              <a:rPr lang="es-ES" sz="1400" dirty="0"/>
              <a:t>3C:7D:92</a:t>
            </a:r>
            <a:endParaRPr lang="es-ES" dirty="0"/>
          </a:p>
        </p:txBody>
      </p:sp>
      <p:sp>
        <p:nvSpPr>
          <p:cNvPr id="74" name="CuadroTexto 73">
            <a:extLst>
              <a:ext uri="{FF2B5EF4-FFF2-40B4-BE49-F238E27FC236}">
                <a16:creationId xmlns:a16="http://schemas.microsoft.com/office/drawing/2014/main" id="{00843D68-ED1C-FAFC-D1CA-DF58496D4C8C}"/>
              </a:ext>
            </a:extLst>
          </p:cNvPr>
          <p:cNvSpPr txBox="1"/>
          <p:nvPr/>
        </p:nvSpPr>
        <p:spPr>
          <a:xfrm>
            <a:off x="7604192" y="3895887"/>
            <a:ext cx="1185689" cy="307777"/>
          </a:xfrm>
          <a:prstGeom prst="rect">
            <a:avLst/>
          </a:prstGeom>
          <a:noFill/>
        </p:spPr>
        <p:txBody>
          <a:bodyPr wrap="square">
            <a:spAutoFit/>
          </a:bodyPr>
          <a:lstStyle/>
          <a:p>
            <a:r>
              <a:rPr lang="es-ES" sz="1400" dirty="0"/>
              <a:t>AB:CD:EF</a:t>
            </a:r>
            <a:endParaRPr lang="es-ES" dirty="0"/>
          </a:p>
        </p:txBody>
      </p:sp>
      <p:sp>
        <p:nvSpPr>
          <p:cNvPr id="75" name="CuadroTexto 74">
            <a:extLst>
              <a:ext uri="{FF2B5EF4-FFF2-40B4-BE49-F238E27FC236}">
                <a16:creationId xmlns:a16="http://schemas.microsoft.com/office/drawing/2014/main" id="{A57B8720-6253-24DB-C12D-C036AD62949E}"/>
              </a:ext>
            </a:extLst>
          </p:cNvPr>
          <p:cNvSpPr txBox="1"/>
          <p:nvPr/>
        </p:nvSpPr>
        <p:spPr>
          <a:xfrm>
            <a:off x="2622320" y="3861311"/>
            <a:ext cx="582211" cy="369332"/>
          </a:xfrm>
          <a:prstGeom prst="rect">
            <a:avLst/>
          </a:prstGeom>
          <a:noFill/>
        </p:spPr>
        <p:txBody>
          <a:bodyPr wrap="none" rtlCol="0">
            <a:spAutoFit/>
          </a:bodyPr>
          <a:lstStyle/>
          <a:p>
            <a:r>
              <a:rPr lang="es-ES" b="1" dirty="0"/>
              <a:t>OUI</a:t>
            </a:r>
          </a:p>
        </p:txBody>
      </p:sp>
      <p:sp>
        <p:nvSpPr>
          <p:cNvPr id="77" name="CuadroTexto 76">
            <a:extLst>
              <a:ext uri="{FF2B5EF4-FFF2-40B4-BE49-F238E27FC236}">
                <a16:creationId xmlns:a16="http://schemas.microsoft.com/office/drawing/2014/main" id="{D81ABFA0-3340-E4FE-5413-DA69ED4D95E3}"/>
              </a:ext>
            </a:extLst>
          </p:cNvPr>
          <p:cNvSpPr txBox="1"/>
          <p:nvPr/>
        </p:nvSpPr>
        <p:spPr>
          <a:xfrm>
            <a:off x="6966835" y="3857989"/>
            <a:ext cx="639858" cy="369332"/>
          </a:xfrm>
          <a:prstGeom prst="rect">
            <a:avLst/>
          </a:prstGeom>
          <a:noFill/>
        </p:spPr>
        <p:txBody>
          <a:bodyPr wrap="square">
            <a:spAutoFit/>
          </a:bodyPr>
          <a:lstStyle/>
          <a:p>
            <a:r>
              <a:rPr lang="es-ES" sz="1800" b="1" dirty="0"/>
              <a:t>NIC</a:t>
            </a:r>
            <a:endParaRPr lang="es-ES" dirty="0"/>
          </a:p>
        </p:txBody>
      </p:sp>
      <p:sp>
        <p:nvSpPr>
          <p:cNvPr id="79" name="CuadroTexto 78">
            <a:extLst>
              <a:ext uri="{FF2B5EF4-FFF2-40B4-BE49-F238E27FC236}">
                <a16:creationId xmlns:a16="http://schemas.microsoft.com/office/drawing/2014/main" id="{0864C6BB-8F15-3E48-23F5-D806E8FAA3A7}"/>
              </a:ext>
            </a:extLst>
          </p:cNvPr>
          <p:cNvSpPr txBox="1"/>
          <p:nvPr/>
        </p:nvSpPr>
        <p:spPr>
          <a:xfrm>
            <a:off x="3864360" y="3454551"/>
            <a:ext cx="3305126" cy="338554"/>
          </a:xfrm>
          <a:prstGeom prst="rect">
            <a:avLst/>
          </a:prstGeom>
          <a:noFill/>
        </p:spPr>
        <p:txBody>
          <a:bodyPr wrap="square">
            <a:spAutoFit/>
          </a:bodyPr>
          <a:lstStyle/>
          <a:p>
            <a:r>
              <a:rPr lang="es-ES" sz="1400" b="1" dirty="0"/>
              <a:t>Ej de una MAC</a:t>
            </a:r>
            <a:r>
              <a:rPr lang="es-ES" sz="1600" b="1" dirty="0"/>
              <a:t>:  3C:7D:92:AB:CD:EF</a:t>
            </a:r>
            <a:endParaRPr lang="es-ES" sz="1400" b="1" dirty="0"/>
          </a:p>
        </p:txBody>
      </p:sp>
      <p:cxnSp>
        <p:nvCxnSpPr>
          <p:cNvPr id="81" name="Conector recto 80">
            <a:extLst>
              <a:ext uri="{FF2B5EF4-FFF2-40B4-BE49-F238E27FC236}">
                <a16:creationId xmlns:a16="http://schemas.microsoft.com/office/drawing/2014/main" id="{67CC85CA-1046-82CA-9A27-6C83568B1044}"/>
              </a:ext>
            </a:extLst>
          </p:cNvPr>
          <p:cNvCxnSpPr>
            <a:cxnSpLocks/>
            <a:endCxn id="86" idx="1"/>
          </p:cNvCxnSpPr>
          <p:nvPr/>
        </p:nvCxnSpPr>
        <p:spPr>
          <a:xfrm flipV="1">
            <a:off x="4301518" y="3951241"/>
            <a:ext cx="1268119" cy="102911"/>
          </a:xfrm>
          <a:prstGeom prst="line">
            <a:avLst/>
          </a:prstGeom>
        </p:spPr>
        <p:style>
          <a:lnRef idx="2">
            <a:schemeClr val="accent1"/>
          </a:lnRef>
          <a:fillRef idx="0">
            <a:schemeClr val="accent1"/>
          </a:fillRef>
          <a:effectRef idx="1">
            <a:schemeClr val="accent1"/>
          </a:effectRef>
          <a:fontRef idx="minor">
            <a:schemeClr val="tx1"/>
          </a:fontRef>
        </p:style>
      </p:cxnSp>
      <p:cxnSp>
        <p:nvCxnSpPr>
          <p:cNvPr id="82" name="Conector recto 81">
            <a:extLst>
              <a:ext uri="{FF2B5EF4-FFF2-40B4-BE49-F238E27FC236}">
                <a16:creationId xmlns:a16="http://schemas.microsoft.com/office/drawing/2014/main" id="{0EFD07B6-64CF-EE80-B3B5-C81C9DF54578}"/>
              </a:ext>
            </a:extLst>
          </p:cNvPr>
          <p:cNvCxnSpPr>
            <a:cxnSpLocks/>
            <a:stCxn id="89" idx="1"/>
            <a:endCxn id="77" idx="1"/>
          </p:cNvCxnSpPr>
          <p:nvPr/>
        </p:nvCxnSpPr>
        <p:spPr>
          <a:xfrm>
            <a:off x="6524816" y="3956418"/>
            <a:ext cx="442019" cy="86237"/>
          </a:xfrm>
          <a:prstGeom prst="line">
            <a:avLst/>
          </a:prstGeom>
        </p:spPr>
        <p:style>
          <a:lnRef idx="2">
            <a:schemeClr val="accent2"/>
          </a:lnRef>
          <a:fillRef idx="0">
            <a:schemeClr val="accent2"/>
          </a:fillRef>
          <a:effectRef idx="1">
            <a:schemeClr val="accent2"/>
          </a:effectRef>
          <a:fontRef idx="minor">
            <a:schemeClr val="tx1"/>
          </a:fontRef>
        </p:style>
      </p:cxnSp>
      <p:sp>
        <p:nvSpPr>
          <p:cNvPr id="86" name="Abrir llave 85">
            <a:extLst>
              <a:ext uri="{FF2B5EF4-FFF2-40B4-BE49-F238E27FC236}">
                <a16:creationId xmlns:a16="http://schemas.microsoft.com/office/drawing/2014/main" id="{64067915-4C5B-7233-883C-505F9F1B044A}"/>
              </a:ext>
            </a:extLst>
          </p:cNvPr>
          <p:cNvSpPr/>
          <p:nvPr/>
        </p:nvSpPr>
        <p:spPr>
          <a:xfrm rot="16200000">
            <a:off x="5506658" y="3454965"/>
            <a:ext cx="125958" cy="866594"/>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dirty="0"/>
          </a:p>
        </p:txBody>
      </p:sp>
      <p:sp>
        <p:nvSpPr>
          <p:cNvPr id="89" name="Abrir llave 88">
            <a:extLst>
              <a:ext uri="{FF2B5EF4-FFF2-40B4-BE49-F238E27FC236}">
                <a16:creationId xmlns:a16="http://schemas.microsoft.com/office/drawing/2014/main" id="{682230E2-1D79-E2FB-FC02-3D6012E349F9}"/>
              </a:ext>
            </a:extLst>
          </p:cNvPr>
          <p:cNvSpPr/>
          <p:nvPr/>
        </p:nvSpPr>
        <p:spPr>
          <a:xfrm rot="16200000">
            <a:off x="6448675" y="3476782"/>
            <a:ext cx="152281" cy="806990"/>
          </a:xfrm>
          <a:prstGeom prst="leftBrace">
            <a:avLst/>
          </a:prstGeom>
        </p:spPr>
        <p:style>
          <a:lnRef idx="2">
            <a:schemeClr val="accent2"/>
          </a:lnRef>
          <a:fillRef idx="0">
            <a:schemeClr val="accent2"/>
          </a:fillRef>
          <a:effectRef idx="1">
            <a:schemeClr val="accent2"/>
          </a:effectRef>
          <a:fontRef idx="minor">
            <a:schemeClr val="tx1"/>
          </a:fontRef>
        </p:style>
        <p:txBody>
          <a:bodyPr rtlCol="0" anchor="ctr"/>
          <a:lstStyle/>
          <a:p>
            <a:pPr algn="ctr"/>
            <a:endParaRPr lang="es-ES" b="1" dirty="0">
              <a:ln w="22225">
                <a:solidFill>
                  <a:schemeClr val="accent2"/>
                </a:solidFill>
                <a:prstDash val="solid"/>
              </a:ln>
              <a:solidFill>
                <a:schemeClr val="accent2">
                  <a:lumMod val="40000"/>
                  <a:lumOff val="60000"/>
                </a:schemeClr>
              </a:solidFill>
            </a:endParaRPr>
          </a:p>
        </p:txBody>
      </p:sp>
      <p:sp>
        <p:nvSpPr>
          <p:cNvPr id="6" name="CuadroTexto 5">
            <a:extLst>
              <a:ext uri="{FF2B5EF4-FFF2-40B4-BE49-F238E27FC236}">
                <a16:creationId xmlns:a16="http://schemas.microsoft.com/office/drawing/2014/main" id="{88601C3D-52CE-BC13-CF65-B59BF6E519DE}"/>
              </a:ext>
            </a:extLst>
          </p:cNvPr>
          <p:cNvSpPr txBox="1"/>
          <p:nvPr/>
        </p:nvSpPr>
        <p:spPr>
          <a:xfrm>
            <a:off x="2017264" y="725456"/>
            <a:ext cx="7386693" cy="738664"/>
          </a:xfrm>
          <a:prstGeom prst="rect">
            <a:avLst/>
          </a:prstGeom>
          <a:noFill/>
        </p:spPr>
        <p:txBody>
          <a:bodyPr wrap="square">
            <a:spAutoFit/>
          </a:bodyPr>
          <a:lstStyle/>
          <a:p>
            <a:r>
              <a:rPr lang="es-ES" sz="1400" dirty="0"/>
              <a:t>Una dirección </a:t>
            </a:r>
            <a:r>
              <a:rPr lang="es-ES" sz="1400" b="1" dirty="0"/>
              <a:t>MAC o MAC Address</a:t>
            </a:r>
            <a:r>
              <a:rPr lang="es-ES" sz="1400" dirty="0"/>
              <a:t> (Media Access Control o Control de Acceso al Medio) es el identificador único y permanente que el fabricante asigna a cada tarjeta de red (NIC) o a un puerto de un dispositivo.</a:t>
            </a:r>
          </a:p>
        </p:txBody>
      </p:sp>
      <p:sp>
        <p:nvSpPr>
          <p:cNvPr id="9" name="CuadroTexto 8">
            <a:extLst>
              <a:ext uri="{FF2B5EF4-FFF2-40B4-BE49-F238E27FC236}">
                <a16:creationId xmlns:a16="http://schemas.microsoft.com/office/drawing/2014/main" id="{028750DE-F11E-80EF-AC31-076D32946E9C}"/>
              </a:ext>
            </a:extLst>
          </p:cNvPr>
          <p:cNvSpPr txBox="1"/>
          <p:nvPr/>
        </p:nvSpPr>
        <p:spPr>
          <a:xfrm>
            <a:off x="-321133" y="0"/>
            <a:ext cx="3329579" cy="461665"/>
          </a:xfrm>
          <a:prstGeom prst="rect">
            <a:avLst/>
          </a:prstGeom>
          <a:noFill/>
        </p:spPr>
        <p:txBody>
          <a:bodyPr wrap="square">
            <a:spAutoFit/>
          </a:bodyPr>
          <a:lstStyle/>
          <a:p>
            <a:pPr algn="ctr"/>
            <a:r>
              <a:rPr lang="es-ES" sz="1200" dirty="0">
                <a:ln w="0"/>
                <a:effectLst>
                  <a:outerShdw blurRad="38100" dist="19050" dir="2700000" algn="tl" rotWithShape="0">
                    <a:schemeClr val="dk1">
                      <a:alpha val="40000"/>
                    </a:schemeClr>
                  </a:outerShdw>
                </a:effectLst>
              </a:rPr>
              <a:t>1. Introducción a las redes</a:t>
            </a:r>
          </a:p>
          <a:p>
            <a:pPr algn="ctr"/>
            <a:r>
              <a:rPr lang="es-ES" sz="1200" b="1" dirty="0"/>
              <a:t>Ethernet y ¿Cómo funciona una LAN?</a:t>
            </a:r>
          </a:p>
        </p:txBody>
      </p:sp>
      <p:sp>
        <p:nvSpPr>
          <p:cNvPr id="10" name="CuadroTexto 9">
            <a:extLst>
              <a:ext uri="{FF2B5EF4-FFF2-40B4-BE49-F238E27FC236}">
                <a16:creationId xmlns:a16="http://schemas.microsoft.com/office/drawing/2014/main" id="{BF307F91-1A14-4F3E-2A90-9C64FC0C1A19}"/>
              </a:ext>
            </a:extLst>
          </p:cNvPr>
          <p:cNvSpPr txBox="1"/>
          <p:nvPr/>
        </p:nvSpPr>
        <p:spPr>
          <a:xfrm>
            <a:off x="4298309" y="181562"/>
            <a:ext cx="3483069" cy="369332"/>
          </a:xfrm>
          <a:prstGeom prst="rect">
            <a:avLst/>
          </a:prstGeom>
          <a:noFill/>
        </p:spPr>
        <p:txBody>
          <a:bodyPr wrap="none" rtlCol="0">
            <a:spAutoFit/>
          </a:bodyPr>
          <a:lstStyle/>
          <a:p>
            <a:r>
              <a:rPr lang="es-ES" b="1" dirty="0"/>
              <a:t>MAC ADDRESS (Dirección MAC)</a:t>
            </a:r>
          </a:p>
        </p:txBody>
      </p:sp>
      <p:sp>
        <p:nvSpPr>
          <p:cNvPr id="12" name="CuadroTexto 11">
            <a:extLst>
              <a:ext uri="{FF2B5EF4-FFF2-40B4-BE49-F238E27FC236}">
                <a16:creationId xmlns:a16="http://schemas.microsoft.com/office/drawing/2014/main" id="{5BACD928-871F-6AB7-35DF-645870AD42A7}"/>
              </a:ext>
            </a:extLst>
          </p:cNvPr>
          <p:cNvSpPr txBox="1"/>
          <p:nvPr/>
        </p:nvSpPr>
        <p:spPr>
          <a:xfrm>
            <a:off x="2017263" y="1579802"/>
            <a:ext cx="7386693" cy="1169551"/>
          </a:xfrm>
          <a:prstGeom prst="rect">
            <a:avLst/>
          </a:prstGeom>
          <a:noFill/>
        </p:spPr>
        <p:txBody>
          <a:bodyPr wrap="square">
            <a:spAutoFit/>
          </a:bodyPr>
          <a:lstStyle/>
          <a:p>
            <a:r>
              <a:rPr lang="es-ES" sz="1400" dirty="0"/>
              <a:t>Los dispositivos en una </a:t>
            </a:r>
            <a:r>
              <a:rPr lang="es-ES" sz="1400" b="1" dirty="0"/>
              <a:t>LAN </a:t>
            </a:r>
            <a:r>
              <a:rPr lang="es-ES" sz="1400" dirty="0"/>
              <a:t>necesitan sus propios “nombres” o identificativos para poder comunicarse.</a:t>
            </a:r>
          </a:p>
          <a:p>
            <a:endParaRPr lang="es-ES" sz="1400" dirty="0"/>
          </a:p>
          <a:p>
            <a:r>
              <a:rPr lang="es-ES" sz="1400" dirty="0"/>
              <a:t>Todos los dispositivos que se conecten a una red tienen su propia MAC grabada en el chip o tarjeta de red del dispositivo.</a:t>
            </a:r>
          </a:p>
        </p:txBody>
      </p:sp>
      <p:sp>
        <p:nvSpPr>
          <p:cNvPr id="13" name="CuadroTexto 12">
            <a:extLst>
              <a:ext uri="{FF2B5EF4-FFF2-40B4-BE49-F238E27FC236}">
                <a16:creationId xmlns:a16="http://schemas.microsoft.com/office/drawing/2014/main" id="{71C67183-6836-F9D1-BBDE-D2A1AFAFE362}"/>
              </a:ext>
            </a:extLst>
          </p:cNvPr>
          <p:cNvSpPr txBox="1"/>
          <p:nvPr/>
        </p:nvSpPr>
        <p:spPr>
          <a:xfrm>
            <a:off x="4278483" y="2854731"/>
            <a:ext cx="2467342" cy="369332"/>
          </a:xfrm>
          <a:prstGeom prst="rect">
            <a:avLst/>
          </a:prstGeom>
          <a:noFill/>
        </p:spPr>
        <p:txBody>
          <a:bodyPr wrap="none" rtlCol="0">
            <a:spAutoFit/>
          </a:bodyPr>
          <a:lstStyle/>
          <a:p>
            <a:r>
              <a:rPr lang="es-ES" dirty="0"/>
              <a:t>Estructura de una MAC</a:t>
            </a:r>
          </a:p>
        </p:txBody>
      </p:sp>
      <p:pic>
        <p:nvPicPr>
          <p:cNvPr id="15" name="Imagen 14">
            <a:extLst>
              <a:ext uri="{FF2B5EF4-FFF2-40B4-BE49-F238E27FC236}">
                <a16:creationId xmlns:a16="http://schemas.microsoft.com/office/drawing/2014/main" id="{5AA4611E-5514-91FC-EA08-6F57DA682E7D}"/>
              </a:ext>
            </a:extLst>
          </p:cNvPr>
          <p:cNvPicPr>
            <a:picLocks noChangeAspect="1"/>
          </p:cNvPicPr>
          <p:nvPr/>
        </p:nvPicPr>
        <p:blipFill>
          <a:blip r:embed="rId2"/>
          <a:stretch>
            <a:fillRect/>
          </a:stretch>
        </p:blipFill>
        <p:spPr>
          <a:xfrm>
            <a:off x="9547749" y="1130222"/>
            <a:ext cx="2325490" cy="1034355"/>
          </a:xfrm>
          <a:prstGeom prst="rect">
            <a:avLst/>
          </a:prstGeom>
        </p:spPr>
      </p:pic>
      <p:pic>
        <p:nvPicPr>
          <p:cNvPr id="17" name="Imagen 16">
            <a:extLst>
              <a:ext uri="{FF2B5EF4-FFF2-40B4-BE49-F238E27FC236}">
                <a16:creationId xmlns:a16="http://schemas.microsoft.com/office/drawing/2014/main" id="{743ADADD-6654-48F9-A1ED-43ECECD1FE2F}"/>
              </a:ext>
            </a:extLst>
          </p:cNvPr>
          <p:cNvPicPr>
            <a:picLocks noChangeAspect="1"/>
          </p:cNvPicPr>
          <p:nvPr/>
        </p:nvPicPr>
        <p:blipFill>
          <a:blip r:embed="rId3"/>
          <a:stretch>
            <a:fillRect/>
          </a:stretch>
        </p:blipFill>
        <p:spPr>
          <a:xfrm>
            <a:off x="1601793" y="3208377"/>
            <a:ext cx="1126059" cy="249444"/>
          </a:xfrm>
          <a:prstGeom prst="rect">
            <a:avLst/>
          </a:prstGeom>
        </p:spPr>
      </p:pic>
      <p:sp>
        <p:nvSpPr>
          <p:cNvPr id="19" name="CuadroTexto 18">
            <a:extLst>
              <a:ext uri="{FF2B5EF4-FFF2-40B4-BE49-F238E27FC236}">
                <a16:creationId xmlns:a16="http://schemas.microsoft.com/office/drawing/2014/main" id="{C8BBF4B7-B3EB-BCAC-A854-38CAE991613C}"/>
              </a:ext>
            </a:extLst>
          </p:cNvPr>
          <p:cNvSpPr txBox="1"/>
          <p:nvPr/>
        </p:nvSpPr>
        <p:spPr>
          <a:xfrm>
            <a:off x="2847587" y="3180240"/>
            <a:ext cx="6966507" cy="307777"/>
          </a:xfrm>
          <a:prstGeom prst="rect">
            <a:avLst/>
          </a:prstGeom>
          <a:noFill/>
        </p:spPr>
        <p:txBody>
          <a:bodyPr wrap="square" rtlCol="0">
            <a:spAutoFit/>
          </a:bodyPr>
          <a:lstStyle/>
          <a:p>
            <a:r>
              <a:rPr lang="es-ES" sz="1400" b="1" dirty="0"/>
              <a:t>:</a:t>
            </a:r>
            <a:r>
              <a:rPr lang="es-ES" sz="1400" dirty="0"/>
              <a:t> Longitud de una MAC: 6 Bytes ( 48 bits) representados en 12 dígitos Hexadecimales. </a:t>
            </a:r>
          </a:p>
        </p:txBody>
      </p:sp>
      <p:sp>
        <p:nvSpPr>
          <p:cNvPr id="20" name="CuadroTexto 19">
            <a:extLst>
              <a:ext uri="{FF2B5EF4-FFF2-40B4-BE49-F238E27FC236}">
                <a16:creationId xmlns:a16="http://schemas.microsoft.com/office/drawing/2014/main" id="{DB77D69B-3246-5D6B-2E6D-5C3DA008E90D}"/>
              </a:ext>
            </a:extLst>
          </p:cNvPr>
          <p:cNvSpPr txBox="1"/>
          <p:nvPr/>
        </p:nvSpPr>
        <p:spPr>
          <a:xfrm>
            <a:off x="1903715" y="5565642"/>
            <a:ext cx="7925246" cy="369332"/>
          </a:xfrm>
          <a:prstGeom prst="rect">
            <a:avLst/>
          </a:prstGeom>
          <a:noFill/>
        </p:spPr>
        <p:txBody>
          <a:bodyPr wrap="none" rtlCol="0">
            <a:spAutoFit/>
          </a:bodyPr>
          <a:lstStyle/>
          <a:p>
            <a:r>
              <a:rPr lang="es-ES" dirty="0"/>
              <a:t>💡Las tramas de la Capa 2 utilizan las direcciones MAC para la comunicación</a:t>
            </a:r>
          </a:p>
        </p:txBody>
      </p:sp>
    </p:spTree>
    <p:extLst>
      <p:ext uri="{BB962C8B-B14F-4D97-AF65-F5344CB8AC3E}">
        <p14:creationId xmlns:p14="http://schemas.microsoft.com/office/powerpoint/2010/main" val="35938113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3529F9EB-AE8E-174D-21C4-B4346391A4EA}"/>
              </a:ext>
            </a:extLst>
          </p:cNvPr>
          <p:cNvSpPr txBox="1"/>
          <p:nvPr/>
        </p:nvSpPr>
        <p:spPr>
          <a:xfrm>
            <a:off x="-321133" y="0"/>
            <a:ext cx="3329579" cy="461665"/>
          </a:xfrm>
          <a:prstGeom prst="rect">
            <a:avLst/>
          </a:prstGeom>
          <a:noFill/>
        </p:spPr>
        <p:txBody>
          <a:bodyPr wrap="square">
            <a:spAutoFit/>
          </a:bodyPr>
          <a:lstStyle/>
          <a:p>
            <a:pPr algn="ctr"/>
            <a:r>
              <a:rPr lang="es-ES" sz="1200" dirty="0">
                <a:ln w="0"/>
                <a:effectLst>
                  <a:outerShdw blurRad="38100" dist="19050" dir="2700000" algn="tl" rotWithShape="0">
                    <a:schemeClr val="dk1">
                      <a:alpha val="40000"/>
                    </a:schemeClr>
                  </a:outerShdw>
                </a:effectLst>
              </a:rPr>
              <a:t>1. Introducción a las redes</a:t>
            </a:r>
          </a:p>
          <a:p>
            <a:pPr algn="ctr"/>
            <a:r>
              <a:rPr lang="es-ES" sz="1200" b="1" dirty="0"/>
              <a:t>Ethernet y ¿Cómo funciona una LAN?</a:t>
            </a:r>
          </a:p>
        </p:txBody>
      </p:sp>
      <p:sp>
        <p:nvSpPr>
          <p:cNvPr id="6" name="Rectángulo 5">
            <a:extLst>
              <a:ext uri="{FF2B5EF4-FFF2-40B4-BE49-F238E27FC236}">
                <a16:creationId xmlns:a16="http://schemas.microsoft.com/office/drawing/2014/main" id="{3B65FBE8-11B4-A3F5-8A74-4D1DF92F40C3}"/>
              </a:ext>
            </a:extLst>
          </p:cNvPr>
          <p:cNvSpPr/>
          <p:nvPr/>
        </p:nvSpPr>
        <p:spPr>
          <a:xfrm>
            <a:off x="2248835" y="18678"/>
            <a:ext cx="7728185" cy="954107"/>
          </a:xfrm>
          <a:prstGeom prst="rect">
            <a:avLst/>
          </a:prstGeom>
          <a:noFill/>
        </p:spPr>
        <p:txBody>
          <a:bodyPr wrap="square" lIns="91440" tIns="45720" rIns="91440" bIns="45720">
            <a:spAutoFit/>
          </a:bodyPr>
          <a:lstStyle/>
          <a:p>
            <a:pPr algn="ctr"/>
            <a:r>
              <a:rPr lang="es-ES" sz="2800" b="0" cap="none" spc="0" dirty="0">
                <a:ln w="0"/>
                <a:solidFill>
                  <a:schemeClr val="tx1"/>
                </a:solidFill>
                <a:effectLst>
                  <a:outerShdw blurRad="38100" dist="19050" dir="2700000" algn="tl" rotWithShape="0">
                    <a:schemeClr val="dk1">
                      <a:alpha val="40000"/>
                    </a:schemeClr>
                  </a:outerShdw>
                </a:effectLst>
              </a:rPr>
              <a:t>Estándares de la capa física en una LAN</a:t>
            </a:r>
          </a:p>
          <a:p>
            <a:pPr algn="ctr"/>
            <a:r>
              <a:rPr lang="es-ES" sz="2800" dirty="0">
                <a:ln w="0"/>
                <a:effectLst>
                  <a:outerShdw blurRad="38100" dist="19050" dir="2700000" algn="tl" rotWithShape="0">
                    <a:schemeClr val="dk1">
                      <a:alpha val="40000"/>
                    </a:schemeClr>
                  </a:outerShdw>
                </a:effectLst>
              </a:rPr>
              <a:t>-Ethernet</a:t>
            </a:r>
            <a:endParaRPr lang="es-ES" sz="2800" b="0" cap="none" spc="0" dirty="0">
              <a:ln w="0"/>
              <a:solidFill>
                <a:schemeClr val="tx1"/>
              </a:solidFill>
              <a:effectLst>
                <a:outerShdw blurRad="38100" dist="19050" dir="2700000" algn="tl" rotWithShape="0">
                  <a:schemeClr val="dk1">
                    <a:alpha val="40000"/>
                  </a:schemeClr>
                </a:outerShdw>
              </a:effectLst>
            </a:endParaRPr>
          </a:p>
        </p:txBody>
      </p:sp>
      <p:sp>
        <p:nvSpPr>
          <p:cNvPr id="7" name="CuadroTexto 6">
            <a:extLst>
              <a:ext uri="{FF2B5EF4-FFF2-40B4-BE49-F238E27FC236}">
                <a16:creationId xmlns:a16="http://schemas.microsoft.com/office/drawing/2014/main" id="{AF6D8937-A5BC-349C-2430-FC3BE3B9404C}"/>
              </a:ext>
            </a:extLst>
          </p:cNvPr>
          <p:cNvSpPr txBox="1"/>
          <p:nvPr/>
        </p:nvSpPr>
        <p:spPr>
          <a:xfrm>
            <a:off x="-48861" y="958825"/>
            <a:ext cx="12075664" cy="3108543"/>
          </a:xfrm>
          <a:prstGeom prst="rect">
            <a:avLst/>
          </a:prstGeom>
          <a:noFill/>
        </p:spPr>
        <p:txBody>
          <a:bodyPr wrap="square" rtlCol="0">
            <a:spAutoFit/>
          </a:bodyPr>
          <a:lstStyle/>
          <a:p>
            <a:r>
              <a:rPr lang="es-ES" sz="1600" b="1" dirty="0"/>
              <a:t>Ethernet</a:t>
            </a:r>
            <a:r>
              <a:rPr lang="es-ES" sz="1600" dirty="0"/>
              <a:t> es la familia de los estándares de la capa física y se refiere al tipo de cableado que utilizamos para conectar los dispositivos. </a:t>
            </a:r>
          </a:p>
          <a:p>
            <a:r>
              <a:rPr lang="es-ES" sz="1600" dirty="0"/>
              <a:t>El estándar IEEE 802.3 define la velocidad de transmisión del cable, tipo de conectores y distancia máxima de la señal.</a:t>
            </a:r>
          </a:p>
          <a:p>
            <a:endParaRPr lang="es-ES" sz="1600" dirty="0"/>
          </a:p>
          <a:p>
            <a:r>
              <a:rPr lang="es-ES" sz="1600" dirty="0"/>
              <a:t>En estos estándares, la velocidad de transmisión se mide en </a:t>
            </a:r>
            <a:r>
              <a:rPr lang="es-ES" sz="1600" b="1" dirty="0"/>
              <a:t>megabits por segundo </a:t>
            </a:r>
            <a:r>
              <a:rPr lang="es-ES" sz="1600" dirty="0"/>
              <a:t>(Mbps) donde un megabit representa </a:t>
            </a:r>
            <a:r>
              <a:rPr lang="es-ES" sz="1600" b="1" dirty="0"/>
              <a:t>1 millón de bits</a:t>
            </a:r>
            <a:r>
              <a:rPr lang="es-ES" sz="1600" dirty="0"/>
              <a:t>    de información transmitida.</a:t>
            </a:r>
          </a:p>
          <a:p>
            <a:endParaRPr lang="es-ES" sz="1600" dirty="0"/>
          </a:p>
          <a:p>
            <a:r>
              <a:rPr lang="es-ES" sz="1600" dirty="0"/>
              <a:t>Cuando utilizamos cables de cobre por ejemplo el mas común es el cable </a:t>
            </a:r>
            <a:r>
              <a:rPr lang="es-ES" sz="1600" b="1" dirty="0"/>
              <a:t>UTP (Unshielded Twisted Pair) este termino define como esta construido el cable.</a:t>
            </a:r>
          </a:p>
          <a:p>
            <a:endParaRPr lang="es-ES" sz="1600" b="1" dirty="0"/>
          </a:p>
          <a:p>
            <a:r>
              <a:rPr lang="es-ES" sz="1600" dirty="0"/>
              <a:t>En el cable </a:t>
            </a:r>
            <a:r>
              <a:rPr lang="es-ES" sz="1600" b="1" dirty="0"/>
              <a:t>UTP </a:t>
            </a:r>
            <a:r>
              <a:rPr lang="es-ES" sz="1600" dirty="0"/>
              <a:t>los hilos de cobre van trenzados para evitar interferencias electromagnéticas y no tiene un escudo extra que lo proteja.</a:t>
            </a:r>
            <a:endParaRPr lang="es-ES" sz="1600" b="1" dirty="0"/>
          </a:p>
          <a:p>
            <a:endParaRPr lang="es-ES" dirty="0"/>
          </a:p>
          <a:p>
            <a:r>
              <a:rPr lang="es-ES" dirty="0"/>
              <a:t>Ahora, un cable </a:t>
            </a:r>
            <a:r>
              <a:rPr lang="es-ES" b="1" dirty="0"/>
              <a:t>UTP </a:t>
            </a:r>
            <a:r>
              <a:rPr lang="es-ES" dirty="0"/>
              <a:t>o cualquier otro modelo de cobre que se utiliza para las redes se diferencia por sus estándares:</a:t>
            </a:r>
          </a:p>
        </p:txBody>
      </p:sp>
      <p:pic>
        <p:nvPicPr>
          <p:cNvPr id="9" name="Imagen 8">
            <a:extLst>
              <a:ext uri="{FF2B5EF4-FFF2-40B4-BE49-F238E27FC236}">
                <a16:creationId xmlns:a16="http://schemas.microsoft.com/office/drawing/2014/main" id="{E2D16BF3-29D1-FDD1-A752-EF6F9F2934E3}"/>
              </a:ext>
            </a:extLst>
          </p:cNvPr>
          <p:cNvPicPr>
            <a:picLocks noChangeAspect="1"/>
          </p:cNvPicPr>
          <p:nvPr/>
        </p:nvPicPr>
        <p:blipFill>
          <a:blip r:embed="rId2"/>
          <a:stretch>
            <a:fillRect/>
          </a:stretch>
        </p:blipFill>
        <p:spPr>
          <a:xfrm>
            <a:off x="0" y="2017875"/>
            <a:ext cx="546849" cy="201813"/>
          </a:xfrm>
          <a:prstGeom prst="rect">
            <a:avLst/>
          </a:prstGeom>
        </p:spPr>
      </p:pic>
      <p:graphicFrame>
        <p:nvGraphicFramePr>
          <p:cNvPr id="10" name="Tabla 9">
            <a:extLst>
              <a:ext uri="{FF2B5EF4-FFF2-40B4-BE49-F238E27FC236}">
                <a16:creationId xmlns:a16="http://schemas.microsoft.com/office/drawing/2014/main" id="{8391C519-B73C-4FF0-041B-126D4B247084}"/>
              </a:ext>
            </a:extLst>
          </p:cNvPr>
          <p:cNvGraphicFramePr>
            <a:graphicFrameLocks noGrp="1"/>
          </p:cNvGraphicFramePr>
          <p:nvPr>
            <p:extLst>
              <p:ext uri="{D42A27DB-BD31-4B8C-83A1-F6EECF244321}">
                <p14:modId xmlns:p14="http://schemas.microsoft.com/office/powerpoint/2010/main" val="3475629848"/>
              </p:ext>
            </p:extLst>
          </p:nvPr>
        </p:nvGraphicFramePr>
        <p:xfrm>
          <a:off x="1863701" y="4315795"/>
          <a:ext cx="7650247" cy="2340421"/>
        </p:xfrm>
        <a:graphic>
          <a:graphicData uri="http://schemas.openxmlformats.org/drawingml/2006/table">
            <a:tbl>
              <a:tblPr>
                <a:tableStyleId>{BDBED569-4797-4DF1-A0F4-6AAB3CD982D8}</a:tableStyleId>
              </a:tblPr>
              <a:tblGrid>
                <a:gridCol w="1114114">
                  <a:extLst>
                    <a:ext uri="{9D8B030D-6E8A-4147-A177-3AD203B41FA5}">
                      <a16:colId xmlns:a16="http://schemas.microsoft.com/office/drawing/2014/main" val="4002321167"/>
                    </a:ext>
                  </a:extLst>
                </a:gridCol>
                <a:gridCol w="1875424">
                  <a:extLst>
                    <a:ext uri="{9D8B030D-6E8A-4147-A177-3AD203B41FA5}">
                      <a16:colId xmlns:a16="http://schemas.microsoft.com/office/drawing/2014/main" val="3325578887"/>
                    </a:ext>
                  </a:extLst>
                </a:gridCol>
                <a:gridCol w="1429779">
                  <a:extLst>
                    <a:ext uri="{9D8B030D-6E8A-4147-A177-3AD203B41FA5}">
                      <a16:colId xmlns:a16="http://schemas.microsoft.com/office/drawing/2014/main" val="1288476471"/>
                    </a:ext>
                  </a:extLst>
                </a:gridCol>
                <a:gridCol w="1485485">
                  <a:extLst>
                    <a:ext uri="{9D8B030D-6E8A-4147-A177-3AD203B41FA5}">
                      <a16:colId xmlns:a16="http://schemas.microsoft.com/office/drawing/2014/main" val="1644044100"/>
                    </a:ext>
                  </a:extLst>
                </a:gridCol>
                <a:gridCol w="1745445">
                  <a:extLst>
                    <a:ext uri="{9D8B030D-6E8A-4147-A177-3AD203B41FA5}">
                      <a16:colId xmlns:a16="http://schemas.microsoft.com/office/drawing/2014/main" val="2219674449"/>
                    </a:ext>
                  </a:extLst>
                </a:gridCol>
              </a:tblGrid>
              <a:tr h="450506">
                <a:tc>
                  <a:txBody>
                    <a:bodyPr/>
                    <a:lstStyle/>
                    <a:p>
                      <a:pPr algn="ctr" fontAlgn="b">
                        <a:buNone/>
                      </a:pPr>
                      <a:r>
                        <a:rPr lang="es-ES" sz="1400" b="1" u="none" strike="noStrike" dirty="0">
                          <a:effectLst/>
                        </a:rPr>
                        <a:t>Velocidad</a:t>
                      </a:r>
                      <a:endParaRPr lang="es-ES" sz="1400" b="1" i="0" u="none" strike="noStrike" dirty="0">
                        <a:solidFill>
                          <a:srgbClr val="000000"/>
                        </a:solidFill>
                        <a:effectLst/>
                        <a:latin typeface="Aptos Narrow" panose="020B0004020202020204" pitchFamily="34" charset="0"/>
                      </a:endParaRPr>
                    </a:p>
                  </a:txBody>
                  <a:tcPr marL="6350" marR="6350" marT="6350" marB="0" anchor="ctr">
                    <a:cell3D prstMaterial="dkEdge">
                      <a:bevel/>
                      <a:lightRig rig="flood" dir="t"/>
                    </a:cell3D>
                  </a:tcPr>
                </a:tc>
                <a:tc>
                  <a:txBody>
                    <a:bodyPr/>
                    <a:lstStyle/>
                    <a:p>
                      <a:pPr marL="0" algn="ctr" defTabSz="914400" rtl="0" eaLnBrk="1" fontAlgn="b" latinLnBrk="0" hangingPunct="1">
                        <a:buNone/>
                      </a:pPr>
                      <a:r>
                        <a:rPr lang="es-ES" sz="1400" b="1" u="none" strike="noStrike" kern="1200" dirty="0">
                          <a:solidFill>
                            <a:schemeClr val="tx1"/>
                          </a:solidFill>
                          <a:effectLst/>
                          <a:latin typeface="+mn-lt"/>
                          <a:ea typeface="+mn-ea"/>
                          <a:cs typeface="+mn-cs"/>
                        </a:rPr>
                        <a:t>Nombre Común</a:t>
                      </a:r>
                    </a:p>
                  </a:txBody>
                  <a:tcPr marL="6350" marR="6350" marT="6350" marB="0" anchor="ctr">
                    <a:cell3D prstMaterial="dkEdge">
                      <a:bevel/>
                      <a:lightRig rig="flood" dir="t"/>
                    </a:cell3D>
                  </a:tcPr>
                </a:tc>
                <a:tc>
                  <a:txBody>
                    <a:bodyPr/>
                    <a:lstStyle/>
                    <a:p>
                      <a:pPr marL="0" algn="ctr" defTabSz="914400" rtl="0" eaLnBrk="1" fontAlgn="b" latinLnBrk="0" hangingPunct="1">
                        <a:buNone/>
                      </a:pPr>
                      <a:r>
                        <a:rPr lang="es-ES" sz="1400" b="1" u="none" strike="noStrike" kern="1200" dirty="0">
                          <a:solidFill>
                            <a:schemeClr val="tx1"/>
                          </a:solidFill>
                          <a:effectLst/>
                          <a:latin typeface="+mn-lt"/>
                          <a:ea typeface="+mn-ea"/>
                          <a:cs typeface="+mn-cs"/>
                        </a:rPr>
                        <a:t>Estándar IEEE</a:t>
                      </a:r>
                    </a:p>
                  </a:txBody>
                  <a:tcPr marL="6350" marR="6350" marT="6350" marB="0" anchor="ctr">
                    <a:cell3D prstMaterial="dkEdge">
                      <a:bevel/>
                      <a:lightRig rig="flood" dir="t"/>
                    </a:cell3D>
                  </a:tcPr>
                </a:tc>
                <a:tc>
                  <a:txBody>
                    <a:bodyPr/>
                    <a:lstStyle/>
                    <a:p>
                      <a:pPr marL="0" algn="ctr" defTabSz="914400" rtl="0" eaLnBrk="1" fontAlgn="b" latinLnBrk="0" hangingPunct="1">
                        <a:buNone/>
                      </a:pPr>
                      <a:r>
                        <a:rPr lang="es-ES" sz="1400" b="1" u="none" strike="noStrike" kern="1200" dirty="0">
                          <a:solidFill>
                            <a:schemeClr val="tx1"/>
                          </a:solidFill>
                          <a:effectLst/>
                          <a:latin typeface="+mn-lt"/>
                          <a:ea typeface="+mn-ea"/>
                          <a:cs typeface="+mn-cs"/>
                        </a:rPr>
                        <a:t>Apodo</a:t>
                      </a:r>
                    </a:p>
                  </a:txBody>
                  <a:tcPr marL="6350" marR="6350" marT="6350" marB="0" anchor="ctr">
                    <a:cell3D prstMaterial="dkEdge">
                      <a:bevel/>
                      <a:lightRig rig="flood" dir="t"/>
                    </a:cell3D>
                  </a:tcPr>
                </a:tc>
                <a:tc>
                  <a:txBody>
                    <a:bodyPr/>
                    <a:lstStyle/>
                    <a:p>
                      <a:pPr marL="0" algn="ctr" defTabSz="914400" rtl="0" eaLnBrk="1" fontAlgn="b" latinLnBrk="0" hangingPunct="1">
                        <a:buNone/>
                      </a:pPr>
                      <a:r>
                        <a:rPr lang="es-ES" sz="1400" b="1" u="none" strike="noStrike" kern="1200" dirty="0">
                          <a:solidFill>
                            <a:schemeClr val="tx1"/>
                          </a:solidFill>
                          <a:effectLst/>
                          <a:latin typeface="+mn-lt"/>
                          <a:ea typeface="+mn-ea"/>
                          <a:cs typeface="+mn-cs"/>
                        </a:rPr>
                        <a:t>Longitud máxima</a:t>
                      </a:r>
                    </a:p>
                  </a:txBody>
                  <a:tcPr marL="6350" marR="6350" marT="6350" marB="0" anchor="ctr">
                    <a:cell3D prstMaterial="dkEdge">
                      <a:bevel/>
                      <a:lightRig rig="flood" dir="t"/>
                    </a:cell3D>
                  </a:tcPr>
                </a:tc>
                <a:extLst>
                  <a:ext uri="{0D108BD9-81ED-4DB2-BD59-A6C34878D82A}">
                    <a16:rowId xmlns:a16="http://schemas.microsoft.com/office/drawing/2014/main" val="3444425237"/>
                  </a:ext>
                </a:extLst>
              </a:tr>
              <a:tr h="433913">
                <a:tc>
                  <a:txBody>
                    <a:bodyPr/>
                    <a:lstStyle/>
                    <a:p>
                      <a:pPr algn="ctr" fontAlgn="b">
                        <a:buNone/>
                      </a:pPr>
                      <a:r>
                        <a:rPr lang="es-ES" sz="1800" u="none" strike="noStrike" dirty="0">
                          <a:effectLst/>
                        </a:rPr>
                        <a:t>10 Mbps</a:t>
                      </a:r>
                      <a:endParaRPr lang="es-ES" sz="1800" b="0"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ctr" fontAlgn="b">
                        <a:buNone/>
                      </a:pPr>
                      <a:r>
                        <a:rPr lang="es-ES" sz="1800" u="none" strike="noStrike" dirty="0">
                          <a:effectLst/>
                        </a:rPr>
                        <a:t>Ethernet</a:t>
                      </a:r>
                      <a:endParaRPr lang="es-ES" sz="1800" b="0"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ctr" fontAlgn="b">
                        <a:buNone/>
                      </a:pPr>
                      <a:r>
                        <a:rPr lang="es-ES" sz="1800" u="none" strike="noStrike" dirty="0">
                          <a:effectLst/>
                        </a:rPr>
                        <a:t>802.3</a:t>
                      </a:r>
                      <a:r>
                        <a:rPr lang="es-ES" sz="1800" b="1" u="none" strike="noStrike" dirty="0">
                          <a:effectLst/>
                        </a:rPr>
                        <a:t>i</a:t>
                      </a:r>
                      <a:endParaRPr lang="es-ES" sz="1800" b="1"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ctr" fontAlgn="b">
                        <a:buNone/>
                      </a:pPr>
                      <a:r>
                        <a:rPr lang="es-ES" sz="1800" u="none" strike="noStrike" dirty="0">
                          <a:effectLst/>
                        </a:rPr>
                        <a:t>10BASE-T</a:t>
                      </a:r>
                      <a:endParaRPr lang="es-ES" sz="1800" b="0"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ctr" fontAlgn="b">
                        <a:buNone/>
                      </a:pPr>
                      <a:r>
                        <a:rPr lang="es-ES" sz="1800" u="none" strike="noStrike" dirty="0">
                          <a:effectLst/>
                        </a:rPr>
                        <a:t>100 metros</a:t>
                      </a:r>
                      <a:endParaRPr lang="es-ES" sz="18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738437356"/>
                  </a:ext>
                </a:extLst>
              </a:tr>
              <a:tr h="450506">
                <a:tc>
                  <a:txBody>
                    <a:bodyPr/>
                    <a:lstStyle/>
                    <a:p>
                      <a:pPr algn="ctr" fontAlgn="b">
                        <a:buNone/>
                      </a:pPr>
                      <a:r>
                        <a:rPr lang="es-ES" sz="1800" u="none" strike="noStrike" dirty="0">
                          <a:effectLst/>
                        </a:rPr>
                        <a:t>100 Mbps</a:t>
                      </a:r>
                      <a:endParaRPr lang="es-ES" sz="1800" b="0"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ctr" fontAlgn="b">
                        <a:buNone/>
                      </a:pPr>
                      <a:r>
                        <a:rPr lang="es-ES" sz="1800" u="none" strike="noStrike" dirty="0">
                          <a:effectLst/>
                        </a:rPr>
                        <a:t>Fast Ethernet</a:t>
                      </a:r>
                      <a:endParaRPr lang="es-ES" sz="1800" b="0"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ctr" fontAlgn="b">
                        <a:buNone/>
                      </a:pPr>
                      <a:r>
                        <a:rPr lang="es-ES" sz="1800" u="none" strike="noStrike" dirty="0">
                          <a:effectLst/>
                        </a:rPr>
                        <a:t>802.3</a:t>
                      </a:r>
                      <a:r>
                        <a:rPr lang="es-ES" sz="1800" b="1" u="none" strike="noStrike" dirty="0">
                          <a:effectLst/>
                        </a:rPr>
                        <a:t>u</a:t>
                      </a:r>
                      <a:endParaRPr lang="es-ES" sz="1800" b="1"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ctr" fontAlgn="b">
                        <a:buNone/>
                      </a:pPr>
                      <a:r>
                        <a:rPr lang="es-ES" sz="1800" u="none" strike="noStrike" dirty="0">
                          <a:effectLst/>
                        </a:rPr>
                        <a:t>100BASE-T</a:t>
                      </a:r>
                      <a:endParaRPr lang="es-ES" sz="1800" b="0"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ctr" fontAlgn="b">
                        <a:buNone/>
                      </a:pPr>
                      <a:r>
                        <a:rPr lang="es-ES" sz="1800" u="none" strike="noStrike" dirty="0">
                          <a:effectLst/>
                        </a:rPr>
                        <a:t>100 metros</a:t>
                      </a:r>
                      <a:endParaRPr lang="es-ES" sz="18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839181175"/>
                  </a:ext>
                </a:extLst>
              </a:tr>
              <a:tr h="450506">
                <a:tc>
                  <a:txBody>
                    <a:bodyPr/>
                    <a:lstStyle/>
                    <a:p>
                      <a:pPr algn="ctr" fontAlgn="b">
                        <a:buNone/>
                      </a:pPr>
                      <a:r>
                        <a:rPr lang="es-ES" sz="1800" u="none" strike="noStrike" dirty="0">
                          <a:effectLst/>
                        </a:rPr>
                        <a:t>1 Gbps</a:t>
                      </a:r>
                      <a:endParaRPr lang="es-ES" sz="1800" b="0"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ctr" fontAlgn="b">
                        <a:buNone/>
                      </a:pPr>
                      <a:r>
                        <a:rPr lang="es-ES" sz="1800" u="none" strike="noStrike" dirty="0">
                          <a:effectLst/>
                        </a:rPr>
                        <a:t>Gigabit Ethernet</a:t>
                      </a:r>
                      <a:endParaRPr lang="es-ES" sz="1800" b="0"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ctr" fontAlgn="b">
                        <a:buNone/>
                      </a:pPr>
                      <a:r>
                        <a:rPr lang="es-ES" sz="1800" u="none" strike="noStrike" dirty="0">
                          <a:effectLst/>
                        </a:rPr>
                        <a:t>802.3</a:t>
                      </a:r>
                      <a:r>
                        <a:rPr lang="es-ES" sz="1800" b="1" u="none" strike="noStrike" dirty="0">
                          <a:effectLst/>
                        </a:rPr>
                        <a:t>ab</a:t>
                      </a:r>
                      <a:endParaRPr lang="es-ES" sz="1800" b="1"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ctr" fontAlgn="b">
                        <a:buNone/>
                      </a:pPr>
                      <a:r>
                        <a:rPr lang="es-ES" sz="1800" u="none" strike="noStrike" dirty="0">
                          <a:effectLst/>
                        </a:rPr>
                        <a:t>1000BASE-T</a:t>
                      </a:r>
                      <a:endParaRPr lang="es-ES" sz="1800" b="0"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ctr" fontAlgn="b">
                        <a:buNone/>
                      </a:pPr>
                      <a:r>
                        <a:rPr lang="es-ES" sz="1800" u="none" strike="noStrike" dirty="0">
                          <a:effectLst/>
                        </a:rPr>
                        <a:t>100 metros</a:t>
                      </a:r>
                      <a:endParaRPr lang="es-ES" sz="18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897789182"/>
                  </a:ext>
                </a:extLst>
              </a:tr>
              <a:tr h="450506">
                <a:tc>
                  <a:txBody>
                    <a:bodyPr/>
                    <a:lstStyle/>
                    <a:p>
                      <a:pPr algn="ctr" fontAlgn="b">
                        <a:buNone/>
                      </a:pPr>
                      <a:r>
                        <a:rPr lang="es-ES" sz="1800" u="none" strike="noStrike" dirty="0">
                          <a:effectLst/>
                        </a:rPr>
                        <a:t>10 Gbps</a:t>
                      </a:r>
                      <a:endParaRPr lang="es-ES" sz="1800" b="0"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ctr" fontAlgn="b">
                        <a:buNone/>
                      </a:pPr>
                      <a:r>
                        <a:rPr lang="es-ES" sz="1800" u="none" strike="noStrike" dirty="0">
                          <a:effectLst/>
                        </a:rPr>
                        <a:t>10 Gigabit Ethernet</a:t>
                      </a:r>
                      <a:endParaRPr lang="es-ES" sz="1800" b="0"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ctr" fontAlgn="b">
                        <a:buNone/>
                      </a:pPr>
                      <a:r>
                        <a:rPr lang="es-ES" sz="1800" u="none" strike="noStrike" dirty="0">
                          <a:effectLst/>
                        </a:rPr>
                        <a:t>802.3</a:t>
                      </a:r>
                      <a:r>
                        <a:rPr lang="es-ES" sz="1800" b="1" u="none" strike="noStrike" dirty="0">
                          <a:effectLst/>
                        </a:rPr>
                        <a:t>an</a:t>
                      </a:r>
                      <a:endParaRPr lang="es-ES" sz="1800" b="1"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ctr" fontAlgn="b">
                        <a:buNone/>
                      </a:pPr>
                      <a:r>
                        <a:rPr lang="es-ES" sz="1800" u="none" strike="noStrike" dirty="0">
                          <a:effectLst/>
                        </a:rPr>
                        <a:t>10GBASE-T</a:t>
                      </a:r>
                      <a:endParaRPr lang="es-ES" sz="1800" b="0"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ctr" fontAlgn="b">
                        <a:buNone/>
                      </a:pPr>
                      <a:r>
                        <a:rPr lang="es-ES" sz="1800" u="none" strike="noStrike" dirty="0">
                          <a:effectLst/>
                        </a:rPr>
                        <a:t>100 metros</a:t>
                      </a:r>
                      <a:endParaRPr lang="es-ES" sz="18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603875368"/>
                  </a:ext>
                </a:extLst>
              </a:tr>
            </a:tbl>
          </a:graphicData>
        </a:graphic>
      </p:graphicFrame>
      <p:sp>
        <p:nvSpPr>
          <p:cNvPr id="11" name="CuadroTexto 10">
            <a:extLst>
              <a:ext uri="{FF2B5EF4-FFF2-40B4-BE49-F238E27FC236}">
                <a16:creationId xmlns:a16="http://schemas.microsoft.com/office/drawing/2014/main" id="{F5314EF8-837B-DD48-12E7-B4255D19E2DF}"/>
              </a:ext>
            </a:extLst>
          </p:cNvPr>
          <p:cNvSpPr txBox="1"/>
          <p:nvPr/>
        </p:nvSpPr>
        <p:spPr>
          <a:xfrm>
            <a:off x="9977020" y="4315795"/>
            <a:ext cx="2140525" cy="2062103"/>
          </a:xfrm>
          <a:prstGeom prst="rect">
            <a:avLst/>
          </a:prstGeom>
          <a:noFill/>
        </p:spPr>
        <p:txBody>
          <a:bodyPr wrap="square" rtlCol="0">
            <a:spAutoFit/>
          </a:bodyPr>
          <a:lstStyle/>
          <a:p>
            <a:r>
              <a:rPr lang="es-ES" sz="1600" b="1" dirty="0"/>
              <a:t>💡i,u,ab,an</a:t>
            </a:r>
          </a:p>
          <a:p>
            <a:r>
              <a:rPr lang="es-ES" sz="1600" dirty="0"/>
              <a:t>Aprende estas siglas y te será mas fácil recordar asociando la velocidad 10,100,1000,10. La longitud es la misma para todos.</a:t>
            </a:r>
          </a:p>
        </p:txBody>
      </p:sp>
      <p:pic>
        <p:nvPicPr>
          <p:cNvPr id="13" name="Imagen 12">
            <a:extLst>
              <a:ext uri="{FF2B5EF4-FFF2-40B4-BE49-F238E27FC236}">
                <a16:creationId xmlns:a16="http://schemas.microsoft.com/office/drawing/2014/main" id="{B4B97AD9-0B8D-665D-DE5F-8B890B321705}"/>
              </a:ext>
            </a:extLst>
          </p:cNvPr>
          <p:cNvPicPr>
            <a:picLocks noChangeAspect="1"/>
          </p:cNvPicPr>
          <p:nvPr/>
        </p:nvPicPr>
        <p:blipFill>
          <a:blip r:embed="rId3"/>
          <a:stretch>
            <a:fillRect/>
          </a:stretch>
        </p:blipFill>
        <p:spPr>
          <a:xfrm>
            <a:off x="74455" y="4920811"/>
            <a:ext cx="1703544" cy="1130388"/>
          </a:xfrm>
          <a:prstGeom prst="rect">
            <a:avLst/>
          </a:prstGeom>
        </p:spPr>
      </p:pic>
    </p:spTree>
    <p:extLst>
      <p:ext uri="{BB962C8B-B14F-4D97-AF65-F5344CB8AC3E}">
        <p14:creationId xmlns:p14="http://schemas.microsoft.com/office/powerpoint/2010/main" val="4470772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B3A750E-CE5B-3FE7-0801-E3190B17D63C}"/>
              </a:ext>
            </a:extLst>
          </p:cNvPr>
          <p:cNvSpPr txBox="1"/>
          <p:nvPr/>
        </p:nvSpPr>
        <p:spPr>
          <a:xfrm>
            <a:off x="-321133" y="0"/>
            <a:ext cx="3329579" cy="461665"/>
          </a:xfrm>
          <a:prstGeom prst="rect">
            <a:avLst/>
          </a:prstGeom>
          <a:noFill/>
        </p:spPr>
        <p:txBody>
          <a:bodyPr wrap="square">
            <a:spAutoFit/>
          </a:bodyPr>
          <a:lstStyle/>
          <a:p>
            <a:pPr algn="ctr"/>
            <a:r>
              <a:rPr lang="es-ES" sz="1200" dirty="0">
                <a:ln w="0"/>
                <a:effectLst>
                  <a:outerShdw blurRad="38100" dist="19050" dir="2700000" algn="tl" rotWithShape="0">
                    <a:schemeClr val="dk1">
                      <a:alpha val="40000"/>
                    </a:schemeClr>
                  </a:outerShdw>
                </a:effectLst>
              </a:rPr>
              <a:t>1. Introducción a las redes</a:t>
            </a:r>
          </a:p>
          <a:p>
            <a:pPr algn="ctr"/>
            <a:r>
              <a:rPr lang="es-ES" sz="1200" b="1" dirty="0"/>
              <a:t>Ethernet y ¿Cómo funciona una LAN?</a:t>
            </a:r>
          </a:p>
        </p:txBody>
      </p:sp>
      <p:sp>
        <p:nvSpPr>
          <p:cNvPr id="6" name="CuadroTexto 5">
            <a:extLst>
              <a:ext uri="{FF2B5EF4-FFF2-40B4-BE49-F238E27FC236}">
                <a16:creationId xmlns:a16="http://schemas.microsoft.com/office/drawing/2014/main" id="{1819A3C4-DD0F-FFFC-653D-F14B054B414A}"/>
              </a:ext>
            </a:extLst>
          </p:cNvPr>
          <p:cNvSpPr txBox="1"/>
          <p:nvPr/>
        </p:nvSpPr>
        <p:spPr>
          <a:xfrm>
            <a:off x="1079322" y="481158"/>
            <a:ext cx="10426765" cy="369332"/>
          </a:xfrm>
          <a:prstGeom prst="rect">
            <a:avLst/>
          </a:prstGeom>
          <a:noFill/>
        </p:spPr>
        <p:txBody>
          <a:bodyPr wrap="none" rtlCol="0">
            <a:spAutoFit/>
          </a:bodyPr>
          <a:lstStyle/>
          <a:p>
            <a:r>
              <a:rPr lang="es-ES" dirty="0"/>
              <a:t>Un cable UTP tiene 8 hilos de cobre de colores y los usa para transmitir y recibir datos según el estándar</a:t>
            </a:r>
          </a:p>
        </p:txBody>
      </p:sp>
      <p:sp>
        <p:nvSpPr>
          <p:cNvPr id="8" name="CuadroTexto 7">
            <a:extLst>
              <a:ext uri="{FF2B5EF4-FFF2-40B4-BE49-F238E27FC236}">
                <a16:creationId xmlns:a16="http://schemas.microsoft.com/office/drawing/2014/main" id="{D7178D34-BE64-D794-0BD6-E2B3085E5CFD}"/>
              </a:ext>
            </a:extLst>
          </p:cNvPr>
          <p:cNvSpPr txBox="1"/>
          <p:nvPr/>
        </p:nvSpPr>
        <p:spPr>
          <a:xfrm>
            <a:off x="34999" y="2116296"/>
            <a:ext cx="6257706" cy="2285241"/>
          </a:xfrm>
          <a:prstGeom prst="rect">
            <a:avLst/>
          </a:prstGeom>
          <a:noFill/>
        </p:spPr>
        <p:txBody>
          <a:bodyPr wrap="square">
            <a:spAutoFit/>
          </a:bodyPr>
          <a:lstStyle/>
          <a:p>
            <a:pPr marL="0" marR="0">
              <a:spcBef>
                <a:spcPts val="1800"/>
              </a:spcBef>
              <a:spcAft>
                <a:spcPts val="900"/>
              </a:spcAft>
              <a:buNone/>
            </a:pPr>
            <a:r>
              <a:rPr lang="es-ES" sz="1500" b="1" u="none" strike="noStrike" dirty="0">
                <a:effectLst/>
                <a:latin typeface="Google Sans"/>
              </a:rPr>
              <a:t>En velocidades lentas (10BASE-T y 100BASE-TX)</a:t>
            </a:r>
          </a:p>
          <a:p>
            <a:pPr marL="0" marR="0">
              <a:spcBef>
                <a:spcPts val="900"/>
              </a:spcBef>
              <a:spcAft>
                <a:spcPts val="1200"/>
              </a:spcAft>
              <a:buNone/>
            </a:pPr>
            <a:r>
              <a:rPr lang="es-ES" sz="1200" b="0" u="none" strike="noStrike" dirty="0">
                <a:effectLst/>
                <a:latin typeface="Google Sans"/>
              </a:rPr>
              <a:t>En estos estándares, los pares tienen las funciones </a:t>
            </a:r>
            <a:r>
              <a:rPr lang="es-ES" sz="1200" b="1" u="none" strike="noStrike" dirty="0">
                <a:effectLst/>
                <a:latin typeface="Google Sans"/>
              </a:rPr>
              <a:t>separadas y divididas y </a:t>
            </a:r>
            <a:r>
              <a:rPr lang="es-ES" sz="1600" b="1" u="none" strike="noStrike" dirty="0">
                <a:effectLst/>
                <a:latin typeface="Google Sans"/>
              </a:rPr>
              <a:t>solo se usan 2 pares</a:t>
            </a:r>
            <a:r>
              <a:rPr lang="es-ES" sz="1200" b="0" u="none" strike="noStrike" dirty="0">
                <a:effectLst/>
                <a:latin typeface="Google Sans"/>
              </a:rPr>
              <a:t>:</a:t>
            </a:r>
          </a:p>
          <a:p>
            <a:pPr marL="0" marR="0">
              <a:spcBef>
                <a:spcPts val="900"/>
              </a:spcBef>
              <a:spcAft>
                <a:spcPts val="900"/>
              </a:spcAft>
              <a:buFont typeface="Arial" panose="020B0604020202020204" pitchFamily="34" charset="0"/>
              <a:buChar char="•"/>
            </a:pPr>
            <a:r>
              <a:rPr lang="es-ES" sz="1200" b="1" u="none" strike="noStrike" dirty="0">
                <a:effectLst/>
                <a:latin typeface="Google Sans"/>
              </a:rPr>
              <a:t>1 Par para Transmitir (TX):</a:t>
            </a:r>
            <a:r>
              <a:rPr lang="es-ES" sz="1200" b="0" u="none" strike="noStrike" dirty="0">
                <a:effectLst/>
                <a:latin typeface="Google Sans"/>
              </a:rPr>
              <a:t> Dedicado exclusivamente a enviar datos desde el dispositivo A hacia el dispositivo B.</a:t>
            </a:r>
          </a:p>
          <a:p>
            <a:pPr marL="0" marR="0">
              <a:spcBef>
                <a:spcPts val="900"/>
              </a:spcBef>
              <a:spcAft>
                <a:spcPts val="900"/>
              </a:spcAft>
              <a:buFont typeface="Arial" panose="020B0604020202020204" pitchFamily="34" charset="0"/>
              <a:buChar char="•"/>
            </a:pPr>
            <a:r>
              <a:rPr lang="es-ES" sz="1200" b="1" u="none" strike="noStrike" dirty="0">
                <a:effectLst/>
                <a:latin typeface="Google Sans"/>
              </a:rPr>
              <a:t>1 Par para Recibir (RX):</a:t>
            </a:r>
            <a:r>
              <a:rPr lang="es-ES" sz="1200" b="0" u="none" strike="noStrike" dirty="0">
                <a:effectLst/>
                <a:latin typeface="Google Sans"/>
              </a:rPr>
              <a:t> Dedicado exclusivamente a escuchar los datos que vienen del otro extremo.</a:t>
            </a:r>
          </a:p>
        </p:txBody>
      </p:sp>
      <p:sp>
        <p:nvSpPr>
          <p:cNvPr id="10" name="CuadroTexto 9">
            <a:extLst>
              <a:ext uri="{FF2B5EF4-FFF2-40B4-BE49-F238E27FC236}">
                <a16:creationId xmlns:a16="http://schemas.microsoft.com/office/drawing/2014/main" id="{78DBE8F1-225B-EA5D-007C-AEBC95C57F61}"/>
              </a:ext>
            </a:extLst>
          </p:cNvPr>
          <p:cNvSpPr txBox="1"/>
          <p:nvPr/>
        </p:nvSpPr>
        <p:spPr>
          <a:xfrm>
            <a:off x="6679907" y="2116296"/>
            <a:ext cx="5477094" cy="2039020"/>
          </a:xfrm>
          <a:prstGeom prst="rect">
            <a:avLst/>
          </a:prstGeom>
          <a:noFill/>
        </p:spPr>
        <p:txBody>
          <a:bodyPr wrap="square">
            <a:spAutoFit/>
          </a:bodyPr>
          <a:lstStyle/>
          <a:p>
            <a:pPr marL="0" marR="0">
              <a:spcBef>
                <a:spcPts val="1800"/>
              </a:spcBef>
              <a:spcAft>
                <a:spcPts val="900"/>
              </a:spcAft>
              <a:buNone/>
            </a:pPr>
            <a:r>
              <a:rPr lang="es-ES" sz="1500" b="1" u="none" strike="noStrike" dirty="0">
                <a:effectLst/>
                <a:latin typeface="Google Sans"/>
              </a:rPr>
              <a:t>En velocidades Gigabit y superiores (1000BASE-T en adelante)</a:t>
            </a:r>
          </a:p>
          <a:p>
            <a:pPr marL="0" marR="0">
              <a:spcBef>
                <a:spcPts val="900"/>
              </a:spcBef>
              <a:spcAft>
                <a:spcPts val="1200"/>
              </a:spcAft>
              <a:buNone/>
            </a:pPr>
            <a:r>
              <a:rPr lang="es-ES" sz="1200" b="0" u="none" strike="noStrike" dirty="0">
                <a:effectLst/>
                <a:latin typeface="Google Sans"/>
              </a:rPr>
              <a:t>En este estándar moderno, </a:t>
            </a:r>
            <a:r>
              <a:rPr lang="es-ES" sz="1600" b="1" u="none" strike="noStrike" dirty="0">
                <a:effectLst/>
                <a:latin typeface="Google Sans"/>
              </a:rPr>
              <a:t>los 4 pares </a:t>
            </a:r>
            <a:r>
              <a:rPr lang="es-ES" sz="1200" b="1" u="none" strike="noStrike" dirty="0">
                <a:effectLst/>
                <a:latin typeface="Google Sans"/>
              </a:rPr>
              <a:t>transmiten y reciben al mismo tiempo</a:t>
            </a:r>
            <a:r>
              <a:rPr lang="es-ES" sz="1200" b="0" u="none" strike="noStrike" dirty="0">
                <a:effectLst/>
                <a:latin typeface="Google Sans"/>
              </a:rPr>
              <a:t>. </a:t>
            </a:r>
          </a:p>
          <a:p>
            <a:pPr marL="0" marR="0">
              <a:spcBef>
                <a:spcPts val="900"/>
              </a:spcBef>
              <a:spcAft>
                <a:spcPts val="900"/>
              </a:spcAft>
              <a:buFont typeface="Arial" panose="020B0604020202020204" pitchFamily="34" charset="0"/>
              <a:buChar char="•"/>
            </a:pPr>
            <a:r>
              <a:rPr lang="es-ES" sz="1200" b="0" u="none" strike="noStrike" dirty="0">
                <a:effectLst/>
                <a:latin typeface="Google Sans"/>
              </a:rPr>
              <a:t>No hay un par exclusivo para enviar y otro para recibir.</a:t>
            </a:r>
          </a:p>
          <a:p>
            <a:pPr marL="0" marR="0">
              <a:spcBef>
                <a:spcPts val="900"/>
              </a:spcBef>
              <a:spcAft>
                <a:spcPts val="900"/>
              </a:spcAft>
              <a:buFont typeface="Arial" panose="020B0604020202020204" pitchFamily="34" charset="0"/>
              <a:buChar char="•"/>
            </a:pPr>
            <a:r>
              <a:rPr lang="es-ES" sz="1200" b="0" u="none" strike="noStrike" dirty="0">
                <a:effectLst/>
                <a:latin typeface="Google Sans"/>
              </a:rPr>
              <a:t>Gracias a la electrónica de la tarjeta de red, un mismo par de hilos puede enviar un dato e inmediatamente recibir otro en la misma milésima de segundo sin que choquen las señales eléctricas.</a:t>
            </a:r>
          </a:p>
        </p:txBody>
      </p:sp>
      <p:pic>
        <p:nvPicPr>
          <p:cNvPr id="12" name="Imagen 11">
            <a:extLst>
              <a:ext uri="{FF2B5EF4-FFF2-40B4-BE49-F238E27FC236}">
                <a16:creationId xmlns:a16="http://schemas.microsoft.com/office/drawing/2014/main" id="{DA1ECD3D-EF70-B0EE-599A-9C8C98299A80}"/>
              </a:ext>
            </a:extLst>
          </p:cNvPr>
          <p:cNvPicPr>
            <a:picLocks noChangeAspect="1"/>
          </p:cNvPicPr>
          <p:nvPr/>
        </p:nvPicPr>
        <p:blipFill>
          <a:blip r:embed="rId2"/>
          <a:stretch>
            <a:fillRect/>
          </a:stretch>
        </p:blipFill>
        <p:spPr>
          <a:xfrm>
            <a:off x="34999" y="5053422"/>
            <a:ext cx="1113099" cy="1027476"/>
          </a:xfrm>
          <a:prstGeom prst="rect">
            <a:avLst/>
          </a:prstGeom>
        </p:spPr>
      </p:pic>
      <p:pic>
        <p:nvPicPr>
          <p:cNvPr id="14" name="Imagen 13">
            <a:extLst>
              <a:ext uri="{FF2B5EF4-FFF2-40B4-BE49-F238E27FC236}">
                <a16:creationId xmlns:a16="http://schemas.microsoft.com/office/drawing/2014/main" id="{C745804A-5159-3E37-8991-466D6895DBA0}"/>
              </a:ext>
            </a:extLst>
          </p:cNvPr>
          <p:cNvPicPr>
            <a:picLocks noChangeAspect="1"/>
          </p:cNvPicPr>
          <p:nvPr/>
        </p:nvPicPr>
        <p:blipFill>
          <a:blip r:embed="rId2"/>
          <a:stretch>
            <a:fillRect/>
          </a:stretch>
        </p:blipFill>
        <p:spPr>
          <a:xfrm flipH="1">
            <a:off x="4211340" y="5053422"/>
            <a:ext cx="1113099" cy="1027476"/>
          </a:xfrm>
          <a:prstGeom prst="rect">
            <a:avLst/>
          </a:prstGeom>
        </p:spPr>
      </p:pic>
      <p:pic>
        <p:nvPicPr>
          <p:cNvPr id="18" name="Imagen 17">
            <a:extLst>
              <a:ext uri="{FF2B5EF4-FFF2-40B4-BE49-F238E27FC236}">
                <a16:creationId xmlns:a16="http://schemas.microsoft.com/office/drawing/2014/main" id="{30DCD295-2093-DBCD-2649-1875FB18086E}"/>
              </a:ext>
            </a:extLst>
          </p:cNvPr>
          <p:cNvPicPr>
            <a:picLocks noChangeAspect="1"/>
          </p:cNvPicPr>
          <p:nvPr/>
        </p:nvPicPr>
        <p:blipFill>
          <a:blip r:embed="rId3"/>
          <a:stretch>
            <a:fillRect/>
          </a:stretch>
        </p:blipFill>
        <p:spPr>
          <a:xfrm>
            <a:off x="5931048" y="896233"/>
            <a:ext cx="1608921" cy="1148858"/>
          </a:xfrm>
          <a:prstGeom prst="rect">
            <a:avLst/>
          </a:prstGeom>
        </p:spPr>
      </p:pic>
      <p:pic>
        <p:nvPicPr>
          <p:cNvPr id="20" name="Imagen 19">
            <a:extLst>
              <a:ext uri="{FF2B5EF4-FFF2-40B4-BE49-F238E27FC236}">
                <a16:creationId xmlns:a16="http://schemas.microsoft.com/office/drawing/2014/main" id="{5B474BDC-3DF7-E341-3C97-67D0A5AFE41A}"/>
              </a:ext>
            </a:extLst>
          </p:cNvPr>
          <p:cNvPicPr>
            <a:picLocks noChangeAspect="1"/>
          </p:cNvPicPr>
          <p:nvPr/>
        </p:nvPicPr>
        <p:blipFill>
          <a:blip r:embed="rId4"/>
          <a:stretch>
            <a:fillRect/>
          </a:stretch>
        </p:blipFill>
        <p:spPr>
          <a:xfrm>
            <a:off x="8979396" y="836538"/>
            <a:ext cx="1703544" cy="1130388"/>
          </a:xfrm>
          <a:prstGeom prst="rect">
            <a:avLst/>
          </a:prstGeom>
        </p:spPr>
      </p:pic>
      <p:sp>
        <p:nvSpPr>
          <p:cNvPr id="22" name="Signo más 21">
            <a:extLst>
              <a:ext uri="{FF2B5EF4-FFF2-40B4-BE49-F238E27FC236}">
                <a16:creationId xmlns:a16="http://schemas.microsoft.com/office/drawing/2014/main" id="{61AE690D-FAC3-F4CD-F6B0-98153C2CE165}"/>
              </a:ext>
            </a:extLst>
          </p:cNvPr>
          <p:cNvSpPr/>
          <p:nvPr/>
        </p:nvSpPr>
        <p:spPr>
          <a:xfrm>
            <a:off x="4649506" y="1228264"/>
            <a:ext cx="428311" cy="418732"/>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3" name="Es igual a 22">
            <a:extLst>
              <a:ext uri="{FF2B5EF4-FFF2-40B4-BE49-F238E27FC236}">
                <a16:creationId xmlns:a16="http://schemas.microsoft.com/office/drawing/2014/main" id="{E79AD4C1-854D-3FB0-D901-327A188CB378}"/>
              </a:ext>
            </a:extLst>
          </p:cNvPr>
          <p:cNvSpPr/>
          <p:nvPr/>
        </p:nvSpPr>
        <p:spPr>
          <a:xfrm>
            <a:off x="8258629" y="1296572"/>
            <a:ext cx="391886" cy="369332"/>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24" name="CuadroTexto 23">
            <a:extLst>
              <a:ext uri="{FF2B5EF4-FFF2-40B4-BE49-F238E27FC236}">
                <a16:creationId xmlns:a16="http://schemas.microsoft.com/office/drawing/2014/main" id="{30BECD6D-E033-A5FC-1A09-DD41C25DF168}"/>
              </a:ext>
            </a:extLst>
          </p:cNvPr>
          <p:cNvSpPr txBox="1"/>
          <p:nvPr/>
        </p:nvSpPr>
        <p:spPr>
          <a:xfrm>
            <a:off x="1367993" y="5048839"/>
            <a:ext cx="280846" cy="523220"/>
          </a:xfrm>
          <a:prstGeom prst="rect">
            <a:avLst/>
          </a:prstGeom>
          <a:noFill/>
        </p:spPr>
        <p:txBody>
          <a:bodyPr wrap="none" rtlCol="0">
            <a:spAutoFit/>
          </a:bodyPr>
          <a:lstStyle/>
          <a:p>
            <a:r>
              <a:rPr lang="es-ES" sz="1400" dirty="0"/>
              <a:t>1</a:t>
            </a:r>
          </a:p>
          <a:p>
            <a:r>
              <a:rPr lang="es-ES" sz="1400" dirty="0"/>
              <a:t>2</a:t>
            </a:r>
          </a:p>
        </p:txBody>
      </p:sp>
      <p:sp>
        <p:nvSpPr>
          <p:cNvPr id="26" name="CuadroTexto 25">
            <a:extLst>
              <a:ext uri="{FF2B5EF4-FFF2-40B4-BE49-F238E27FC236}">
                <a16:creationId xmlns:a16="http://schemas.microsoft.com/office/drawing/2014/main" id="{D2AFB54B-B19F-AD07-EE30-3F14A039547C}"/>
              </a:ext>
            </a:extLst>
          </p:cNvPr>
          <p:cNvSpPr txBox="1"/>
          <p:nvPr/>
        </p:nvSpPr>
        <p:spPr>
          <a:xfrm>
            <a:off x="3631200" y="5072055"/>
            <a:ext cx="280846" cy="523220"/>
          </a:xfrm>
          <a:prstGeom prst="rect">
            <a:avLst/>
          </a:prstGeom>
          <a:noFill/>
        </p:spPr>
        <p:txBody>
          <a:bodyPr wrap="none" rtlCol="0">
            <a:spAutoFit/>
          </a:bodyPr>
          <a:lstStyle/>
          <a:p>
            <a:r>
              <a:rPr lang="es-ES" sz="1400" dirty="0"/>
              <a:t>1</a:t>
            </a:r>
          </a:p>
          <a:p>
            <a:r>
              <a:rPr lang="es-ES" sz="1400" dirty="0"/>
              <a:t>2</a:t>
            </a:r>
          </a:p>
        </p:txBody>
      </p:sp>
      <p:sp>
        <p:nvSpPr>
          <p:cNvPr id="27" name="CuadroTexto 26">
            <a:extLst>
              <a:ext uri="{FF2B5EF4-FFF2-40B4-BE49-F238E27FC236}">
                <a16:creationId xmlns:a16="http://schemas.microsoft.com/office/drawing/2014/main" id="{08DDB0FC-F623-DBF6-EA9E-D26EB4B0BE2D}"/>
              </a:ext>
            </a:extLst>
          </p:cNvPr>
          <p:cNvSpPr txBox="1"/>
          <p:nvPr/>
        </p:nvSpPr>
        <p:spPr>
          <a:xfrm>
            <a:off x="1361183" y="5683959"/>
            <a:ext cx="280846" cy="523220"/>
          </a:xfrm>
          <a:prstGeom prst="rect">
            <a:avLst/>
          </a:prstGeom>
          <a:noFill/>
        </p:spPr>
        <p:txBody>
          <a:bodyPr wrap="none" rtlCol="0">
            <a:spAutoFit/>
          </a:bodyPr>
          <a:lstStyle/>
          <a:p>
            <a:r>
              <a:rPr lang="es-ES" sz="1400" dirty="0"/>
              <a:t>3</a:t>
            </a:r>
          </a:p>
          <a:p>
            <a:r>
              <a:rPr lang="es-ES" sz="1400" dirty="0"/>
              <a:t>6</a:t>
            </a:r>
          </a:p>
        </p:txBody>
      </p:sp>
      <p:sp>
        <p:nvSpPr>
          <p:cNvPr id="29" name="CuadroTexto 28">
            <a:extLst>
              <a:ext uri="{FF2B5EF4-FFF2-40B4-BE49-F238E27FC236}">
                <a16:creationId xmlns:a16="http://schemas.microsoft.com/office/drawing/2014/main" id="{B235E85C-BA37-1FC6-49EC-C2E22C325C83}"/>
              </a:ext>
            </a:extLst>
          </p:cNvPr>
          <p:cNvSpPr txBox="1"/>
          <p:nvPr/>
        </p:nvSpPr>
        <p:spPr>
          <a:xfrm>
            <a:off x="3631200" y="5686773"/>
            <a:ext cx="280846" cy="523220"/>
          </a:xfrm>
          <a:prstGeom prst="rect">
            <a:avLst/>
          </a:prstGeom>
          <a:noFill/>
        </p:spPr>
        <p:txBody>
          <a:bodyPr wrap="none" rtlCol="0">
            <a:spAutoFit/>
          </a:bodyPr>
          <a:lstStyle/>
          <a:p>
            <a:r>
              <a:rPr lang="es-ES" sz="1400" dirty="0"/>
              <a:t>3</a:t>
            </a:r>
          </a:p>
          <a:p>
            <a:r>
              <a:rPr lang="es-ES" sz="1400" dirty="0"/>
              <a:t>6</a:t>
            </a:r>
          </a:p>
        </p:txBody>
      </p:sp>
      <p:sp>
        <p:nvSpPr>
          <p:cNvPr id="30" name="CuadroTexto 29">
            <a:extLst>
              <a:ext uri="{FF2B5EF4-FFF2-40B4-BE49-F238E27FC236}">
                <a16:creationId xmlns:a16="http://schemas.microsoft.com/office/drawing/2014/main" id="{85A3CBE5-B142-A32B-4745-0A62E1B54B4C}"/>
              </a:ext>
            </a:extLst>
          </p:cNvPr>
          <p:cNvSpPr txBox="1"/>
          <p:nvPr/>
        </p:nvSpPr>
        <p:spPr>
          <a:xfrm>
            <a:off x="0" y="6169396"/>
            <a:ext cx="2809261" cy="738664"/>
          </a:xfrm>
          <a:prstGeom prst="rect">
            <a:avLst/>
          </a:prstGeom>
          <a:noFill/>
        </p:spPr>
        <p:txBody>
          <a:bodyPr wrap="square" rtlCol="0">
            <a:spAutoFit/>
          </a:bodyPr>
          <a:lstStyle/>
          <a:p>
            <a:r>
              <a:rPr lang="es-ES" sz="1400" dirty="0"/>
              <a:t>Ejemplo: Pin 1 y 2 para transmitir (TX)</a:t>
            </a:r>
          </a:p>
          <a:p>
            <a:r>
              <a:rPr lang="es-ES" sz="1400" dirty="0"/>
              <a:t>Pin 3 y 6 para recibir (RX)</a:t>
            </a:r>
          </a:p>
        </p:txBody>
      </p:sp>
      <p:sp>
        <p:nvSpPr>
          <p:cNvPr id="32" name="CuadroTexto 31">
            <a:extLst>
              <a:ext uri="{FF2B5EF4-FFF2-40B4-BE49-F238E27FC236}">
                <a16:creationId xmlns:a16="http://schemas.microsoft.com/office/drawing/2014/main" id="{3B4BF859-5D34-49A6-DD78-8F63FE20CE78}"/>
              </a:ext>
            </a:extLst>
          </p:cNvPr>
          <p:cNvSpPr txBox="1"/>
          <p:nvPr/>
        </p:nvSpPr>
        <p:spPr>
          <a:xfrm>
            <a:off x="3330323" y="6271200"/>
            <a:ext cx="2875131" cy="523220"/>
          </a:xfrm>
          <a:prstGeom prst="rect">
            <a:avLst/>
          </a:prstGeom>
          <a:noFill/>
        </p:spPr>
        <p:txBody>
          <a:bodyPr wrap="square">
            <a:spAutoFit/>
          </a:bodyPr>
          <a:lstStyle/>
          <a:p>
            <a:r>
              <a:rPr lang="es-ES" sz="1400" dirty="0"/>
              <a:t>Ejemplo: Pin 1 y 2 para recibir (RX)</a:t>
            </a:r>
          </a:p>
          <a:p>
            <a:r>
              <a:rPr lang="es-ES" sz="1400" dirty="0"/>
              <a:t>Pin 3 y 6 para transmitir (TX)</a:t>
            </a:r>
          </a:p>
        </p:txBody>
      </p:sp>
      <p:sp>
        <p:nvSpPr>
          <p:cNvPr id="33" name="Cilindro 32">
            <a:extLst>
              <a:ext uri="{FF2B5EF4-FFF2-40B4-BE49-F238E27FC236}">
                <a16:creationId xmlns:a16="http://schemas.microsoft.com/office/drawing/2014/main" id="{327567D7-139A-E5CC-DA05-1D465599C4F7}"/>
              </a:ext>
            </a:extLst>
          </p:cNvPr>
          <p:cNvSpPr/>
          <p:nvPr/>
        </p:nvSpPr>
        <p:spPr>
          <a:xfrm>
            <a:off x="1648840" y="5175787"/>
            <a:ext cx="1908629" cy="45719"/>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5" name="Cilindro 34">
            <a:extLst>
              <a:ext uri="{FF2B5EF4-FFF2-40B4-BE49-F238E27FC236}">
                <a16:creationId xmlns:a16="http://schemas.microsoft.com/office/drawing/2014/main" id="{652BAFA2-BD54-C819-6BE5-8CFD25118D65}"/>
              </a:ext>
            </a:extLst>
          </p:cNvPr>
          <p:cNvSpPr/>
          <p:nvPr/>
        </p:nvSpPr>
        <p:spPr>
          <a:xfrm>
            <a:off x="1648839" y="5394627"/>
            <a:ext cx="1908629" cy="45719"/>
          </a:xfrm>
          <a:prstGeom prst="ca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7" name="Cilindro 36">
            <a:extLst>
              <a:ext uri="{FF2B5EF4-FFF2-40B4-BE49-F238E27FC236}">
                <a16:creationId xmlns:a16="http://schemas.microsoft.com/office/drawing/2014/main" id="{D0361B25-B04B-A351-5B9D-03009352BA83}"/>
              </a:ext>
            </a:extLst>
          </p:cNvPr>
          <p:cNvSpPr/>
          <p:nvPr/>
        </p:nvSpPr>
        <p:spPr>
          <a:xfrm>
            <a:off x="1648839" y="5828124"/>
            <a:ext cx="1908629" cy="45719"/>
          </a:xfrm>
          <a:prstGeom prst="can">
            <a:avLst/>
          </a:prstGeom>
          <a:solidFill>
            <a:schemeClr val="accent6">
              <a:lumMod val="60000"/>
              <a:lumOff val="40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9" name="Cilindro 38">
            <a:extLst>
              <a:ext uri="{FF2B5EF4-FFF2-40B4-BE49-F238E27FC236}">
                <a16:creationId xmlns:a16="http://schemas.microsoft.com/office/drawing/2014/main" id="{9FC935E3-3C51-E57A-A492-A61119DA6974}"/>
              </a:ext>
            </a:extLst>
          </p:cNvPr>
          <p:cNvSpPr/>
          <p:nvPr/>
        </p:nvSpPr>
        <p:spPr>
          <a:xfrm>
            <a:off x="1662625" y="6002586"/>
            <a:ext cx="1908629" cy="54910"/>
          </a:xfrm>
          <a:prstGeom prst="can">
            <a:avLst/>
          </a:prstGeom>
          <a:solidFill>
            <a:schemeClr val="bg1"/>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40" name="CuadroTexto 39">
            <a:extLst>
              <a:ext uri="{FF2B5EF4-FFF2-40B4-BE49-F238E27FC236}">
                <a16:creationId xmlns:a16="http://schemas.microsoft.com/office/drawing/2014/main" id="{3F548B1C-9741-48AB-C399-AA1EBD9B0302}"/>
              </a:ext>
            </a:extLst>
          </p:cNvPr>
          <p:cNvSpPr txBox="1"/>
          <p:nvPr/>
        </p:nvSpPr>
        <p:spPr>
          <a:xfrm>
            <a:off x="1124978" y="5109709"/>
            <a:ext cx="383438" cy="307777"/>
          </a:xfrm>
          <a:prstGeom prst="rect">
            <a:avLst/>
          </a:prstGeom>
          <a:noFill/>
        </p:spPr>
        <p:txBody>
          <a:bodyPr wrap="none" rtlCol="0">
            <a:spAutoFit/>
          </a:bodyPr>
          <a:lstStyle/>
          <a:p>
            <a:r>
              <a:rPr lang="es-ES" sz="1400" b="1" dirty="0"/>
              <a:t>TX</a:t>
            </a:r>
            <a:endParaRPr lang="es-ES" b="1" dirty="0"/>
          </a:p>
        </p:txBody>
      </p:sp>
      <p:sp>
        <p:nvSpPr>
          <p:cNvPr id="42" name="CuadroTexto 41">
            <a:extLst>
              <a:ext uri="{FF2B5EF4-FFF2-40B4-BE49-F238E27FC236}">
                <a16:creationId xmlns:a16="http://schemas.microsoft.com/office/drawing/2014/main" id="{F970FC11-7596-E8E1-DE61-76ED9466201F}"/>
              </a:ext>
            </a:extLst>
          </p:cNvPr>
          <p:cNvSpPr txBox="1"/>
          <p:nvPr/>
        </p:nvSpPr>
        <p:spPr>
          <a:xfrm>
            <a:off x="3844172" y="5828124"/>
            <a:ext cx="383438" cy="307777"/>
          </a:xfrm>
          <a:prstGeom prst="rect">
            <a:avLst/>
          </a:prstGeom>
          <a:noFill/>
        </p:spPr>
        <p:txBody>
          <a:bodyPr wrap="none" rtlCol="0">
            <a:spAutoFit/>
          </a:bodyPr>
          <a:lstStyle/>
          <a:p>
            <a:r>
              <a:rPr lang="es-ES" sz="1400" b="1" dirty="0"/>
              <a:t>TX</a:t>
            </a:r>
            <a:endParaRPr lang="es-ES" b="1" dirty="0"/>
          </a:p>
        </p:txBody>
      </p:sp>
      <p:sp>
        <p:nvSpPr>
          <p:cNvPr id="44" name="CuadroTexto 43">
            <a:extLst>
              <a:ext uri="{FF2B5EF4-FFF2-40B4-BE49-F238E27FC236}">
                <a16:creationId xmlns:a16="http://schemas.microsoft.com/office/drawing/2014/main" id="{C3D77377-F61E-C7B0-CDA7-27001AB28FB1}"/>
              </a:ext>
            </a:extLst>
          </p:cNvPr>
          <p:cNvSpPr txBox="1"/>
          <p:nvPr/>
        </p:nvSpPr>
        <p:spPr>
          <a:xfrm>
            <a:off x="1113757" y="5805669"/>
            <a:ext cx="405880" cy="307777"/>
          </a:xfrm>
          <a:prstGeom prst="rect">
            <a:avLst/>
          </a:prstGeom>
          <a:noFill/>
        </p:spPr>
        <p:txBody>
          <a:bodyPr wrap="none" rtlCol="0">
            <a:spAutoFit/>
          </a:bodyPr>
          <a:lstStyle/>
          <a:p>
            <a:r>
              <a:rPr lang="es-ES" sz="1400" b="1" dirty="0"/>
              <a:t>RX</a:t>
            </a:r>
            <a:endParaRPr lang="es-ES" b="1" dirty="0"/>
          </a:p>
        </p:txBody>
      </p:sp>
      <p:sp>
        <p:nvSpPr>
          <p:cNvPr id="46" name="CuadroTexto 45">
            <a:extLst>
              <a:ext uri="{FF2B5EF4-FFF2-40B4-BE49-F238E27FC236}">
                <a16:creationId xmlns:a16="http://schemas.microsoft.com/office/drawing/2014/main" id="{B6B1C134-B35C-696F-5C84-0ED4F4BB5AC2}"/>
              </a:ext>
            </a:extLst>
          </p:cNvPr>
          <p:cNvSpPr txBox="1"/>
          <p:nvPr/>
        </p:nvSpPr>
        <p:spPr>
          <a:xfrm>
            <a:off x="3852616" y="5123616"/>
            <a:ext cx="405880" cy="307777"/>
          </a:xfrm>
          <a:prstGeom prst="rect">
            <a:avLst/>
          </a:prstGeom>
          <a:noFill/>
        </p:spPr>
        <p:txBody>
          <a:bodyPr wrap="none" rtlCol="0">
            <a:spAutoFit/>
          </a:bodyPr>
          <a:lstStyle/>
          <a:p>
            <a:r>
              <a:rPr lang="es-ES" sz="1400" b="1" dirty="0"/>
              <a:t>RX</a:t>
            </a:r>
            <a:endParaRPr lang="es-ES" b="1" dirty="0"/>
          </a:p>
        </p:txBody>
      </p:sp>
      <p:pic>
        <p:nvPicPr>
          <p:cNvPr id="48" name="Imagen 47">
            <a:extLst>
              <a:ext uri="{FF2B5EF4-FFF2-40B4-BE49-F238E27FC236}">
                <a16:creationId xmlns:a16="http://schemas.microsoft.com/office/drawing/2014/main" id="{F0C61828-2560-2416-B487-D68BF6A8E389}"/>
              </a:ext>
            </a:extLst>
          </p:cNvPr>
          <p:cNvPicPr>
            <a:picLocks noChangeAspect="1"/>
          </p:cNvPicPr>
          <p:nvPr/>
        </p:nvPicPr>
        <p:blipFill>
          <a:blip r:embed="rId2"/>
          <a:stretch>
            <a:fillRect/>
          </a:stretch>
        </p:blipFill>
        <p:spPr>
          <a:xfrm>
            <a:off x="6433231" y="5046394"/>
            <a:ext cx="1113099" cy="1027476"/>
          </a:xfrm>
          <a:prstGeom prst="rect">
            <a:avLst/>
          </a:prstGeom>
        </p:spPr>
      </p:pic>
      <p:pic>
        <p:nvPicPr>
          <p:cNvPr id="50" name="Imagen 49">
            <a:extLst>
              <a:ext uri="{FF2B5EF4-FFF2-40B4-BE49-F238E27FC236}">
                <a16:creationId xmlns:a16="http://schemas.microsoft.com/office/drawing/2014/main" id="{37E696D6-D200-233B-D980-8ED6EF5974D3}"/>
              </a:ext>
            </a:extLst>
          </p:cNvPr>
          <p:cNvPicPr>
            <a:picLocks noChangeAspect="1"/>
          </p:cNvPicPr>
          <p:nvPr/>
        </p:nvPicPr>
        <p:blipFill>
          <a:blip r:embed="rId2"/>
          <a:stretch>
            <a:fillRect/>
          </a:stretch>
        </p:blipFill>
        <p:spPr>
          <a:xfrm flipH="1">
            <a:off x="10754804" y="5046394"/>
            <a:ext cx="1113099" cy="1027476"/>
          </a:xfrm>
          <a:prstGeom prst="rect">
            <a:avLst/>
          </a:prstGeom>
        </p:spPr>
      </p:pic>
      <p:sp>
        <p:nvSpPr>
          <p:cNvPr id="52" name="CuadroTexto 51">
            <a:extLst>
              <a:ext uri="{FF2B5EF4-FFF2-40B4-BE49-F238E27FC236}">
                <a16:creationId xmlns:a16="http://schemas.microsoft.com/office/drawing/2014/main" id="{3A705767-889A-F972-3C66-9F16F8117E57}"/>
              </a:ext>
            </a:extLst>
          </p:cNvPr>
          <p:cNvSpPr txBox="1"/>
          <p:nvPr/>
        </p:nvSpPr>
        <p:spPr>
          <a:xfrm>
            <a:off x="7629059" y="4455318"/>
            <a:ext cx="280846" cy="1815882"/>
          </a:xfrm>
          <a:prstGeom prst="rect">
            <a:avLst/>
          </a:prstGeom>
          <a:noFill/>
        </p:spPr>
        <p:txBody>
          <a:bodyPr wrap="none" rtlCol="0">
            <a:spAutoFit/>
          </a:bodyPr>
          <a:lstStyle/>
          <a:p>
            <a:r>
              <a:rPr lang="es-ES" sz="1400" dirty="0"/>
              <a:t>1</a:t>
            </a:r>
          </a:p>
          <a:p>
            <a:r>
              <a:rPr lang="es-ES" sz="1400" dirty="0"/>
              <a:t>2</a:t>
            </a:r>
          </a:p>
          <a:p>
            <a:r>
              <a:rPr lang="es-ES" sz="1400" dirty="0"/>
              <a:t>3</a:t>
            </a:r>
          </a:p>
          <a:p>
            <a:r>
              <a:rPr lang="es-ES" sz="1400" dirty="0"/>
              <a:t>4</a:t>
            </a:r>
          </a:p>
          <a:p>
            <a:r>
              <a:rPr lang="es-ES" sz="1400" dirty="0"/>
              <a:t>5</a:t>
            </a:r>
          </a:p>
          <a:p>
            <a:r>
              <a:rPr lang="es-ES" sz="1400" dirty="0"/>
              <a:t>6</a:t>
            </a:r>
          </a:p>
          <a:p>
            <a:r>
              <a:rPr lang="es-ES" sz="1400" dirty="0"/>
              <a:t>7</a:t>
            </a:r>
          </a:p>
          <a:p>
            <a:r>
              <a:rPr lang="es-ES" sz="1400" dirty="0"/>
              <a:t>8</a:t>
            </a:r>
          </a:p>
        </p:txBody>
      </p:sp>
      <p:sp>
        <p:nvSpPr>
          <p:cNvPr id="54" name="CuadroTexto 53">
            <a:extLst>
              <a:ext uri="{FF2B5EF4-FFF2-40B4-BE49-F238E27FC236}">
                <a16:creationId xmlns:a16="http://schemas.microsoft.com/office/drawing/2014/main" id="{AC8D7D3A-3DDD-3058-0A63-B7FFB4B55489}"/>
              </a:ext>
            </a:extLst>
          </p:cNvPr>
          <p:cNvSpPr txBox="1"/>
          <p:nvPr/>
        </p:nvSpPr>
        <p:spPr>
          <a:xfrm>
            <a:off x="10334465" y="4455318"/>
            <a:ext cx="280846" cy="1815882"/>
          </a:xfrm>
          <a:prstGeom prst="rect">
            <a:avLst/>
          </a:prstGeom>
          <a:noFill/>
        </p:spPr>
        <p:txBody>
          <a:bodyPr wrap="none" rtlCol="0">
            <a:spAutoFit/>
          </a:bodyPr>
          <a:lstStyle/>
          <a:p>
            <a:r>
              <a:rPr lang="es-ES" sz="1400" dirty="0"/>
              <a:t>1</a:t>
            </a:r>
          </a:p>
          <a:p>
            <a:r>
              <a:rPr lang="es-ES" sz="1400" dirty="0"/>
              <a:t>2</a:t>
            </a:r>
          </a:p>
          <a:p>
            <a:r>
              <a:rPr lang="es-ES" sz="1400" dirty="0"/>
              <a:t>3</a:t>
            </a:r>
          </a:p>
          <a:p>
            <a:r>
              <a:rPr lang="es-ES" sz="1400" dirty="0"/>
              <a:t>4</a:t>
            </a:r>
          </a:p>
          <a:p>
            <a:r>
              <a:rPr lang="es-ES" sz="1400" dirty="0"/>
              <a:t>5</a:t>
            </a:r>
          </a:p>
          <a:p>
            <a:r>
              <a:rPr lang="es-ES" sz="1400" dirty="0"/>
              <a:t>6</a:t>
            </a:r>
          </a:p>
          <a:p>
            <a:r>
              <a:rPr lang="es-ES" sz="1400" dirty="0"/>
              <a:t>7</a:t>
            </a:r>
          </a:p>
          <a:p>
            <a:r>
              <a:rPr lang="es-ES" sz="1400" dirty="0"/>
              <a:t>8</a:t>
            </a:r>
          </a:p>
        </p:txBody>
      </p:sp>
      <p:pic>
        <p:nvPicPr>
          <p:cNvPr id="56" name="Imagen 55">
            <a:extLst>
              <a:ext uri="{FF2B5EF4-FFF2-40B4-BE49-F238E27FC236}">
                <a16:creationId xmlns:a16="http://schemas.microsoft.com/office/drawing/2014/main" id="{75F28FF4-C7DE-FFDF-F4AE-1B801EF18050}"/>
              </a:ext>
            </a:extLst>
          </p:cNvPr>
          <p:cNvPicPr>
            <a:picLocks noChangeAspect="1"/>
          </p:cNvPicPr>
          <p:nvPr/>
        </p:nvPicPr>
        <p:blipFill>
          <a:blip r:embed="rId5"/>
          <a:stretch>
            <a:fillRect/>
          </a:stretch>
        </p:blipFill>
        <p:spPr>
          <a:xfrm>
            <a:off x="2451824" y="938502"/>
            <a:ext cx="1242981" cy="1018649"/>
          </a:xfrm>
          <a:prstGeom prst="rect">
            <a:avLst/>
          </a:prstGeom>
        </p:spPr>
      </p:pic>
      <p:pic>
        <p:nvPicPr>
          <p:cNvPr id="66" name="Imagen 65">
            <a:extLst>
              <a:ext uri="{FF2B5EF4-FFF2-40B4-BE49-F238E27FC236}">
                <a16:creationId xmlns:a16="http://schemas.microsoft.com/office/drawing/2014/main" id="{FE08D706-BC26-ED93-786F-BA0781DF432C}"/>
              </a:ext>
            </a:extLst>
          </p:cNvPr>
          <p:cNvPicPr>
            <a:picLocks noChangeAspect="1"/>
          </p:cNvPicPr>
          <p:nvPr/>
        </p:nvPicPr>
        <p:blipFill>
          <a:blip r:embed="rId6"/>
          <a:stretch>
            <a:fillRect/>
          </a:stretch>
        </p:blipFill>
        <p:spPr>
          <a:xfrm>
            <a:off x="7916490" y="4553592"/>
            <a:ext cx="2417976" cy="1619333"/>
          </a:xfrm>
          <a:prstGeom prst="rect">
            <a:avLst/>
          </a:prstGeom>
        </p:spPr>
      </p:pic>
      <p:sp>
        <p:nvSpPr>
          <p:cNvPr id="67" name="CuadroTexto 66">
            <a:extLst>
              <a:ext uri="{FF2B5EF4-FFF2-40B4-BE49-F238E27FC236}">
                <a16:creationId xmlns:a16="http://schemas.microsoft.com/office/drawing/2014/main" id="{2EEA3019-1563-98F4-1E39-EB264A7A7718}"/>
              </a:ext>
            </a:extLst>
          </p:cNvPr>
          <p:cNvSpPr txBox="1"/>
          <p:nvPr/>
        </p:nvSpPr>
        <p:spPr>
          <a:xfrm>
            <a:off x="7629059" y="6376842"/>
            <a:ext cx="3832844" cy="369332"/>
          </a:xfrm>
          <a:prstGeom prst="rect">
            <a:avLst/>
          </a:prstGeom>
          <a:noFill/>
        </p:spPr>
        <p:txBody>
          <a:bodyPr wrap="none" rtlCol="0">
            <a:spAutoFit/>
          </a:bodyPr>
          <a:lstStyle/>
          <a:p>
            <a:r>
              <a:rPr lang="es-ES" dirty="0"/>
              <a:t>Transmite y recibe en todos los pines</a:t>
            </a:r>
          </a:p>
        </p:txBody>
      </p:sp>
    </p:spTree>
    <p:extLst>
      <p:ext uri="{BB962C8B-B14F-4D97-AF65-F5344CB8AC3E}">
        <p14:creationId xmlns:p14="http://schemas.microsoft.com/office/powerpoint/2010/main" val="18500312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uadroTexto 8">
            <a:extLst>
              <a:ext uri="{FF2B5EF4-FFF2-40B4-BE49-F238E27FC236}">
                <a16:creationId xmlns:a16="http://schemas.microsoft.com/office/drawing/2014/main" id="{B11CDE05-868B-7B49-66AF-A1824595454E}"/>
              </a:ext>
            </a:extLst>
          </p:cNvPr>
          <p:cNvSpPr txBox="1"/>
          <p:nvPr/>
        </p:nvSpPr>
        <p:spPr>
          <a:xfrm>
            <a:off x="-321133" y="0"/>
            <a:ext cx="3329579" cy="461665"/>
          </a:xfrm>
          <a:prstGeom prst="rect">
            <a:avLst/>
          </a:prstGeom>
          <a:noFill/>
        </p:spPr>
        <p:txBody>
          <a:bodyPr wrap="square">
            <a:spAutoFit/>
          </a:bodyPr>
          <a:lstStyle/>
          <a:p>
            <a:pPr algn="ctr"/>
            <a:r>
              <a:rPr lang="es-ES" sz="1200" dirty="0">
                <a:ln w="0"/>
                <a:effectLst>
                  <a:outerShdw blurRad="38100" dist="19050" dir="2700000" algn="tl" rotWithShape="0">
                    <a:schemeClr val="dk1">
                      <a:alpha val="40000"/>
                    </a:schemeClr>
                  </a:outerShdw>
                </a:effectLst>
              </a:rPr>
              <a:t>1. Introducción a las redes</a:t>
            </a:r>
          </a:p>
          <a:p>
            <a:pPr algn="ctr"/>
            <a:r>
              <a:rPr lang="es-ES" sz="1200" b="1" dirty="0"/>
              <a:t>Ethernet y ¿Cómo funciona una LAN?</a:t>
            </a:r>
          </a:p>
        </p:txBody>
      </p:sp>
      <p:sp>
        <p:nvSpPr>
          <p:cNvPr id="4" name="CuadroTexto 3">
            <a:extLst>
              <a:ext uri="{FF2B5EF4-FFF2-40B4-BE49-F238E27FC236}">
                <a16:creationId xmlns:a16="http://schemas.microsoft.com/office/drawing/2014/main" id="{45B7824A-7DDC-17F5-7525-7A6F4FB80E57}"/>
              </a:ext>
            </a:extLst>
          </p:cNvPr>
          <p:cNvSpPr txBox="1"/>
          <p:nvPr/>
        </p:nvSpPr>
        <p:spPr>
          <a:xfrm>
            <a:off x="844883" y="507146"/>
            <a:ext cx="10686613" cy="1877437"/>
          </a:xfrm>
          <a:prstGeom prst="rect">
            <a:avLst/>
          </a:prstGeom>
          <a:noFill/>
        </p:spPr>
        <p:txBody>
          <a:bodyPr wrap="square" rtlCol="0">
            <a:spAutoFit/>
          </a:bodyPr>
          <a:lstStyle/>
          <a:p>
            <a:r>
              <a:rPr lang="es-ES" sz="1600" dirty="0"/>
              <a:t>Los cables UTP se arman de 2 distintas formas bajo dos configuraciones físicas distintas: </a:t>
            </a:r>
          </a:p>
          <a:p>
            <a:r>
              <a:rPr lang="es-ES" sz="1600" dirty="0"/>
              <a:t>el </a:t>
            </a:r>
            <a:r>
              <a:rPr lang="es-ES" sz="1600" b="1" dirty="0"/>
              <a:t>cable directo (straight-through)</a:t>
            </a:r>
            <a:r>
              <a:rPr lang="es-ES" sz="1600" dirty="0"/>
              <a:t> y el </a:t>
            </a:r>
            <a:r>
              <a:rPr lang="es-ES" sz="1600" b="1" dirty="0"/>
              <a:t>cable cruzado (crossover)</a:t>
            </a:r>
          </a:p>
          <a:p>
            <a:endParaRPr lang="es-ES" sz="1600" b="1" dirty="0"/>
          </a:p>
          <a:p>
            <a:r>
              <a:rPr lang="es-ES" sz="1600" b="1" dirty="0"/>
              <a:t>Cable Directo: </a:t>
            </a:r>
            <a:r>
              <a:rPr lang="es-ES" sz="1600" dirty="0"/>
              <a:t>viaja en línea recta pin a pin (Pin 1 al Pin 1).</a:t>
            </a:r>
          </a:p>
          <a:p>
            <a:r>
              <a:rPr lang="es-ES" sz="1600" b="1" dirty="0"/>
              <a:t>Cable Cruzado: </a:t>
            </a:r>
            <a:r>
              <a:rPr lang="es-ES" sz="1600" dirty="0"/>
              <a:t>desvía los hilos para que el pin de transmisión (Tx) de un equipo llegue al pin de recepción (Rx) del otro.</a:t>
            </a:r>
            <a:endParaRPr lang="es-ES" sz="1600" b="1" dirty="0"/>
          </a:p>
          <a:p>
            <a:endParaRPr lang="es-ES" sz="1600" b="1" dirty="0"/>
          </a:p>
          <a:p>
            <a:r>
              <a:rPr lang="es-ES" sz="1600" b="1" dirty="0"/>
              <a:t>¿Por que? : Los pines de los puertos de un dispositivo varían, aquí tenemos una tabla guía:</a:t>
            </a:r>
            <a:endParaRPr lang="es-ES" sz="1600" dirty="0"/>
          </a:p>
        </p:txBody>
      </p:sp>
      <p:graphicFrame>
        <p:nvGraphicFramePr>
          <p:cNvPr id="15" name="Tabla 14">
            <a:extLst>
              <a:ext uri="{FF2B5EF4-FFF2-40B4-BE49-F238E27FC236}">
                <a16:creationId xmlns:a16="http://schemas.microsoft.com/office/drawing/2014/main" id="{FA420D5A-233E-65E4-1960-3C99473E07EC}"/>
              </a:ext>
            </a:extLst>
          </p:cNvPr>
          <p:cNvGraphicFramePr>
            <a:graphicFrameLocks noGrp="1"/>
          </p:cNvGraphicFramePr>
          <p:nvPr>
            <p:extLst>
              <p:ext uri="{D42A27DB-BD31-4B8C-83A1-F6EECF244321}">
                <p14:modId xmlns:p14="http://schemas.microsoft.com/office/powerpoint/2010/main" val="3760845610"/>
              </p:ext>
            </p:extLst>
          </p:nvPr>
        </p:nvGraphicFramePr>
        <p:xfrm>
          <a:off x="229224" y="3275435"/>
          <a:ext cx="6096000" cy="3285908"/>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991714263"/>
                    </a:ext>
                  </a:extLst>
                </a:gridCol>
                <a:gridCol w="2032000">
                  <a:extLst>
                    <a:ext uri="{9D8B030D-6E8A-4147-A177-3AD203B41FA5}">
                      <a16:colId xmlns:a16="http://schemas.microsoft.com/office/drawing/2014/main" val="3401821874"/>
                    </a:ext>
                  </a:extLst>
                </a:gridCol>
                <a:gridCol w="2032000">
                  <a:extLst>
                    <a:ext uri="{9D8B030D-6E8A-4147-A177-3AD203B41FA5}">
                      <a16:colId xmlns:a16="http://schemas.microsoft.com/office/drawing/2014/main" val="290610519"/>
                    </a:ext>
                  </a:extLst>
                </a:gridCol>
              </a:tblGrid>
              <a:tr h="649960">
                <a:tc>
                  <a:txBody>
                    <a:bodyPr/>
                    <a:lstStyle/>
                    <a:p>
                      <a:pPr algn="ctr"/>
                      <a:r>
                        <a:rPr lang="es-ES" dirty="0">
                          <a:solidFill>
                            <a:schemeClr val="tx1"/>
                          </a:solidFill>
                        </a:rPr>
                        <a:t>Dispositivo</a:t>
                      </a:r>
                    </a:p>
                  </a:txBody>
                  <a:tcPr anchor="ctr">
                    <a:solidFill>
                      <a:schemeClr val="tx2">
                        <a:lumMod val="10000"/>
                        <a:lumOff val="90000"/>
                      </a:schemeClr>
                    </a:solidFill>
                  </a:tcPr>
                </a:tc>
                <a:tc>
                  <a:txBody>
                    <a:bodyPr/>
                    <a:lstStyle/>
                    <a:p>
                      <a:pPr algn="ctr"/>
                      <a:r>
                        <a:rPr lang="es-ES" dirty="0">
                          <a:solidFill>
                            <a:schemeClr val="tx1"/>
                          </a:solidFill>
                        </a:rPr>
                        <a:t>Transmite TX</a:t>
                      </a:r>
                    </a:p>
                  </a:txBody>
                  <a:tcPr anchor="ctr">
                    <a:solidFill>
                      <a:schemeClr val="tx2">
                        <a:lumMod val="10000"/>
                        <a:lumOff val="90000"/>
                      </a:schemeClr>
                    </a:solidFill>
                  </a:tcPr>
                </a:tc>
                <a:tc>
                  <a:txBody>
                    <a:bodyPr/>
                    <a:lstStyle/>
                    <a:p>
                      <a:pPr algn="ctr"/>
                      <a:r>
                        <a:rPr lang="es-ES" dirty="0">
                          <a:solidFill>
                            <a:schemeClr val="tx1"/>
                          </a:solidFill>
                        </a:rPr>
                        <a:t>Recibe RX</a:t>
                      </a:r>
                    </a:p>
                  </a:txBody>
                  <a:tcPr anchor="ctr">
                    <a:solidFill>
                      <a:schemeClr val="tx2">
                        <a:lumMod val="10000"/>
                        <a:lumOff val="90000"/>
                      </a:schemeClr>
                    </a:solidFill>
                  </a:tcPr>
                </a:tc>
                <a:extLst>
                  <a:ext uri="{0D108BD9-81ED-4DB2-BD59-A6C34878D82A}">
                    <a16:rowId xmlns:a16="http://schemas.microsoft.com/office/drawing/2014/main" val="1729682440"/>
                  </a:ext>
                </a:extLst>
              </a:tr>
              <a:tr h="658987">
                <a:tc>
                  <a:txBody>
                    <a:bodyPr/>
                    <a:lstStyle/>
                    <a:p>
                      <a:endParaRPr lang="es-ES" dirty="0"/>
                    </a:p>
                  </a:txBody>
                  <a:tcPr/>
                </a:tc>
                <a:tc>
                  <a:txBody>
                    <a:bodyPr/>
                    <a:lstStyle/>
                    <a:p>
                      <a:pPr algn="ctr"/>
                      <a:r>
                        <a:rPr lang="es-ES" b="1" dirty="0"/>
                        <a:t>1 , 2</a:t>
                      </a:r>
                    </a:p>
                  </a:txBody>
                  <a:tcPr anchor="ctr"/>
                </a:tc>
                <a:tc>
                  <a:txBody>
                    <a:bodyPr/>
                    <a:lstStyle/>
                    <a:p>
                      <a:pPr algn="ctr"/>
                      <a:r>
                        <a:rPr lang="es-ES" b="1" dirty="0"/>
                        <a:t>3 , 6</a:t>
                      </a:r>
                    </a:p>
                  </a:txBody>
                  <a:tcPr anchor="ctr"/>
                </a:tc>
                <a:extLst>
                  <a:ext uri="{0D108BD9-81ED-4DB2-BD59-A6C34878D82A}">
                    <a16:rowId xmlns:a16="http://schemas.microsoft.com/office/drawing/2014/main" val="609199109"/>
                  </a:ext>
                </a:extLst>
              </a:tr>
              <a:tr h="658987">
                <a:tc>
                  <a:txBody>
                    <a:bodyPr/>
                    <a:lstStyle/>
                    <a:p>
                      <a:endParaRPr lang="es-ES" dirty="0"/>
                    </a:p>
                  </a:txBody>
                  <a:tcPr/>
                </a:tc>
                <a:tc>
                  <a:txBody>
                    <a:bodyPr/>
                    <a:lstStyle/>
                    <a:p>
                      <a:pPr algn="ctr"/>
                      <a:r>
                        <a:rPr lang="es-ES" b="1" dirty="0"/>
                        <a:t> 1 , 2</a:t>
                      </a:r>
                    </a:p>
                  </a:txBody>
                  <a:tcPr anchor="ctr"/>
                </a:tc>
                <a:tc>
                  <a:txBody>
                    <a:bodyPr/>
                    <a:lstStyle/>
                    <a:p>
                      <a:pPr algn="ctr"/>
                      <a:r>
                        <a:rPr lang="es-ES" b="1" dirty="0"/>
                        <a:t>3 , 6</a:t>
                      </a:r>
                    </a:p>
                  </a:txBody>
                  <a:tcPr anchor="ctr"/>
                </a:tc>
                <a:extLst>
                  <a:ext uri="{0D108BD9-81ED-4DB2-BD59-A6C34878D82A}">
                    <a16:rowId xmlns:a16="http://schemas.microsoft.com/office/drawing/2014/main" val="3784542958"/>
                  </a:ext>
                </a:extLst>
              </a:tr>
              <a:tr h="658987">
                <a:tc>
                  <a:txBody>
                    <a:bodyPr/>
                    <a:lstStyle/>
                    <a:p>
                      <a:endParaRPr lang="es-ES" dirty="0"/>
                    </a:p>
                  </a:txBody>
                  <a:tcPr/>
                </a:tc>
                <a:tc>
                  <a:txBody>
                    <a:bodyPr/>
                    <a:lstStyle/>
                    <a:p>
                      <a:pPr algn="ctr"/>
                      <a:r>
                        <a:rPr lang="es-ES" b="1" dirty="0"/>
                        <a:t>1 , 2</a:t>
                      </a:r>
                    </a:p>
                  </a:txBody>
                  <a:tcPr anchor="ctr"/>
                </a:tc>
                <a:tc>
                  <a:txBody>
                    <a:bodyPr/>
                    <a:lstStyle/>
                    <a:p>
                      <a:pPr algn="ctr"/>
                      <a:r>
                        <a:rPr lang="es-ES" b="1" dirty="0"/>
                        <a:t>3 , 6</a:t>
                      </a:r>
                    </a:p>
                  </a:txBody>
                  <a:tcPr anchor="ctr"/>
                </a:tc>
                <a:extLst>
                  <a:ext uri="{0D108BD9-81ED-4DB2-BD59-A6C34878D82A}">
                    <a16:rowId xmlns:a16="http://schemas.microsoft.com/office/drawing/2014/main" val="647215719"/>
                  </a:ext>
                </a:extLst>
              </a:tr>
              <a:tr h="658987">
                <a:tc>
                  <a:txBody>
                    <a:bodyPr/>
                    <a:lstStyle/>
                    <a:p>
                      <a:endParaRPr lang="es-ES" dirty="0"/>
                    </a:p>
                  </a:txBody>
                  <a:tcPr/>
                </a:tc>
                <a:tc>
                  <a:txBody>
                    <a:bodyPr/>
                    <a:lstStyle/>
                    <a:p>
                      <a:pPr algn="ctr"/>
                      <a:r>
                        <a:rPr lang="es-ES" b="1" dirty="0"/>
                        <a:t>3 , 6</a:t>
                      </a:r>
                    </a:p>
                  </a:txBody>
                  <a:tcPr anchor="ctr"/>
                </a:tc>
                <a:tc>
                  <a:txBody>
                    <a:bodyPr/>
                    <a:lstStyle/>
                    <a:p>
                      <a:pPr algn="ctr"/>
                      <a:r>
                        <a:rPr lang="es-ES" b="1" dirty="0"/>
                        <a:t>1 , 2</a:t>
                      </a:r>
                    </a:p>
                  </a:txBody>
                  <a:tcPr anchor="ctr"/>
                </a:tc>
                <a:extLst>
                  <a:ext uri="{0D108BD9-81ED-4DB2-BD59-A6C34878D82A}">
                    <a16:rowId xmlns:a16="http://schemas.microsoft.com/office/drawing/2014/main" val="2606697983"/>
                  </a:ext>
                </a:extLst>
              </a:tr>
            </a:tbl>
          </a:graphicData>
        </a:graphic>
      </p:graphicFrame>
      <p:pic>
        <p:nvPicPr>
          <p:cNvPr id="11" name="Picture 10" descr="C:\Users\ecoffey\AppData\Local\Temp\Rar$DRa0.295\30029_Device_firewall_default_256.png">
            <a:extLst>
              <a:ext uri="{FF2B5EF4-FFF2-40B4-BE49-F238E27FC236}">
                <a16:creationId xmlns:a16="http://schemas.microsoft.com/office/drawing/2014/main" id="{69B2DF2D-6DD2-C916-ACBD-0733D487FD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4883" y="5275630"/>
            <a:ext cx="666791" cy="66679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0" descr="C:\Users\ecoffey\AppData\Local\Temp\Rar$DRa0.175\30088_Device_terminal_default_256.png">
            <a:extLst>
              <a:ext uri="{FF2B5EF4-FFF2-40B4-BE49-F238E27FC236}">
                <a16:creationId xmlns:a16="http://schemas.microsoft.com/office/drawing/2014/main" id="{2335F956-9942-2C19-1167-2ECEFB618A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3943" y="3897050"/>
            <a:ext cx="699062" cy="69906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0">
            <a:extLst>
              <a:ext uri="{FF2B5EF4-FFF2-40B4-BE49-F238E27FC236}">
                <a16:creationId xmlns:a16="http://schemas.microsoft.com/office/drawing/2014/main" id="{3F0CFDE3-2761-F2EB-6C88-3C7729D7BB1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8171" t="28931" r="8368" b="21666"/>
          <a:stretch/>
        </p:blipFill>
        <p:spPr bwMode="auto">
          <a:xfrm>
            <a:off x="793995" y="4757940"/>
            <a:ext cx="717679" cy="424822"/>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0" descr="C:\Users\ecoffey\AppData\Local\Temp\Rar$DRa0.608\30080_Device_switch_default_256.png">
            <a:extLst>
              <a:ext uri="{FF2B5EF4-FFF2-40B4-BE49-F238E27FC236}">
                <a16:creationId xmlns:a16="http://schemas.microsoft.com/office/drawing/2014/main" id="{BD5820EA-493B-B909-D747-BBCC7F80E2E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27154" b="26465"/>
          <a:stretch/>
        </p:blipFill>
        <p:spPr bwMode="auto">
          <a:xfrm>
            <a:off x="672061" y="6043652"/>
            <a:ext cx="979601" cy="454347"/>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0" descr="C:\Users\ecoffey\AppData\Local\Temp\Rar$DRa0.175\30088_Device_terminal_default_256.png">
            <a:extLst>
              <a:ext uri="{FF2B5EF4-FFF2-40B4-BE49-F238E27FC236}">
                <a16:creationId xmlns:a16="http://schemas.microsoft.com/office/drawing/2014/main" id="{FA0BDC8F-D540-D145-6F42-4A77BFB423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93758" y="3292203"/>
            <a:ext cx="699062" cy="699062"/>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0" descr="C:\Users\ecoffey\AppData\Local\Temp\Rar$DRa0.175\30088_Device_terminal_default_256.png">
            <a:extLst>
              <a:ext uri="{FF2B5EF4-FFF2-40B4-BE49-F238E27FC236}">
                <a16:creationId xmlns:a16="http://schemas.microsoft.com/office/drawing/2014/main" id="{A32963DE-0B19-7343-8706-38196DBA6A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66881" y="3290297"/>
            <a:ext cx="699062" cy="699062"/>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0" descr="C:\Users\ecoffey\AppData\Local\Temp\Rar$DRa0.175\30088_Device_terminal_default_256.png">
            <a:extLst>
              <a:ext uri="{FF2B5EF4-FFF2-40B4-BE49-F238E27FC236}">
                <a16:creationId xmlns:a16="http://schemas.microsoft.com/office/drawing/2014/main" id="{AFC281B7-2105-9955-CCD2-8FD0D4DFFA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93758" y="4141596"/>
            <a:ext cx="699062" cy="699062"/>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10">
            <a:extLst>
              <a:ext uri="{FF2B5EF4-FFF2-40B4-BE49-F238E27FC236}">
                <a16:creationId xmlns:a16="http://schemas.microsoft.com/office/drawing/2014/main" id="{1CBCE77D-F194-F986-7C40-EC03EFAC934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8171" t="28931" r="8368" b="21666"/>
          <a:stretch/>
        </p:blipFill>
        <p:spPr bwMode="auto">
          <a:xfrm>
            <a:off x="10148264" y="4336290"/>
            <a:ext cx="717679" cy="424822"/>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0" descr="C:\Users\ecoffey\AppData\Local\Temp\Rar$DRa0.175\30088_Device_terminal_default_256.png">
            <a:extLst>
              <a:ext uri="{FF2B5EF4-FFF2-40B4-BE49-F238E27FC236}">
                <a16:creationId xmlns:a16="http://schemas.microsoft.com/office/drawing/2014/main" id="{9234575E-5149-8A30-CC3A-99345CE4B7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1138" y="5010564"/>
            <a:ext cx="699062" cy="699062"/>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10" descr="C:\Users\ecoffey\AppData\Local\Temp\Rar$DRa0.608\30080_Device_switch_default_256.png">
            <a:extLst>
              <a:ext uri="{FF2B5EF4-FFF2-40B4-BE49-F238E27FC236}">
                <a16:creationId xmlns:a16="http://schemas.microsoft.com/office/drawing/2014/main" id="{1E4163E9-FF67-203B-4A6C-CF7428C45E8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27154" b="26465"/>
          <a:stretch/>
        </p:blipFill>
        <p:spPr bwMode="auto">
          <a:xfrm>
            <a:off x="10148264" y="5187586"/>
            <a:ext cx="979601" cy="454347"/>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0">
            <a:extLst>
              <a:ext uri="{FF2B5EF4-FFF2-40B4-BE49-F238E27FC236}">
                <a16:creationId xmlns:a16="http://schemas.microsoft.com/office/drawing/2014/main" id="{E17371D4-2CCA-2C04-5556-336CCB82490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8171" t="28931" r="8368" b="21666"/>
          <a:stretch/>
        </p:blipFill>
        <p:spPr bwMode="auto">
          <a:xfrm>
            <a:off x="6942521" y="6087177"/>
            <a:ext cx="717679" cy="424822"/>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10" descr="C:\Users\ecoffey\AppData\Local\Temp\Rar$DRa0.608\30080_Device_switch_default_256.png">
            <a:extLst>
              <a:ext uri="{FF2B5EF4-FFF2-40B4-BE49-F238E27FC236}">
                <a16:creationId xmlns:a16="http://schemas.microsoft.com/office/drawing/2014/main" id="{AA132CBF-7435-2073-D88B-1DD708636DF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27154" b="26465"/>
          <a:stretch/>
        </p:blipFill>
        <p:spPr bwMode="auto">
          <a:xfrm>
            <a:off x="10148264" y="6089825"/>
            <a:ext cx="979601" cy="454347"/>
          </a:xfrm>
          <a:prstGeom prst="rect">
            <a:avLst/>
          </a:prstGeom>
          <a:noFill/>
          <a:extLst>
            <a:ext uri="{909E8E84-426E-40DD-AFC4-6F175D3DCCD1}">
              <a14:hiddenFill xmlns:a14="http://schemas.microsoft.com/office/drawing/2010/main">
                <a:solidFill>
                  <a:srgbClr val="FFFFFF"/>
                </a:solidFill>
              </a14:hiddenFill>
            </a:ext>
          </a:extLst>
        </p:spPr>
      </p:pic>
      <p:sp>
        <p:nvSpPr>
          <p:cNvPr id="33" name="Cilindro 32">
            <a:extLst>
              <a:ext uri="{FF2B5EF4-FFF2-40B4-BE49-F238E27FC236}">
                <a16:creationId xmlns:a16="http://schemas.microsoft.com/office/drawing/2014/main" id="{C3C514B0-86EE-D9A5-B8C9-E0D30A1EDAEB}"/>
              </a:ext>
            </a:extLst>
          </p:cNvPr>
          <p:cNvSpPr/>
          <p:nvPr/>
        </p:nvSpPr>
        <p:spPr>
          <a:xfrm>
            <a:off x="7725075" y="5360095"/>
            <a:ext cx="2306021" cy="45719"/>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5" name="Cilindro 34">
            <a:extLst>
              <a:ext uri="{FF2B5EF4-FFF2-40B4-BE49-F238E27FC236}">
                <a16:creationId xmlns:a16="http://schemas.microsoft.com/office/drawing/2014/main" id="{0EB0E75E-7890-61CA-CC84-25D020A3608B}"/>
              </a:ext>
            </a:extLst>
          </p:cNvPr>
          <p:cNvSpPr/>
          <p:nvPr/>
        </p:nvSpPr>
        <p:spPr>
          <a:xfrm>
            <a:off x="7782870" y="6276728"/>
            <a:ext cx="2198747" cy="45719"/>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7" name="CuadroTexto 36">
            <a:extLst>
              <a:ext uri="{FF2B5EF4-FFF2-40B4-BE49-F238E27FC236}">
                <a16:creationId xmlns:a16="http://schemas.microsoft.com/office/drawing/2014/main" id="{78D37384-DC68-ACA8-C237-9E02FDA1FC12}"/>
              </a:ext>
            </a:extLst>
          </p:cNvPr>
          <p:cNvSpPr txBox="1"/>
          <p:nvPr/>
        </p:nvSpPr>
        <p:spPr>
          <a:xfrm>
            <a:off x="8098721" y="6270825"/>
            <a:ext cx="1882896" cy="369332"/>
          </a:xfrm>
          <a:prstGeom prst="rect">
            <a:avLst/>
          </a:prstGeom>
          <a:noFill/>
        </p:spPr>
        <p:txBody>
          <a:bodyPr wrap="square">
            <a:spAutoFit/>
          </a:bodyPr>
          <a:lstStyle/>
          <a:p>
            <a:r>
              <a:rPr lang="es-ES" b="1" dirty="0"/>
              <a:t>Cable Directo</a:t>
            </a:r>
            <a:endParaRPr lang="es-ES" dirty="0"/>
          </a:p>
        </p:txBody>
      </p:sp>
      <p:sp>
        <p:nvSpPr>
          <p:cNvPr id="39" name="CuadroTexto 38">
            <a:extLst>
              <a:ext uri="{FF2B5EF4-FFF2-40B4-BE49-F238E27FC236}">
                <a16:creationId xmlns:a16="http://schemas.microsoft.com/office/drawing/2014/main" id="{EDB1C67B-EB2C-EE27-53BB-4BE8FC9BBEAC}"/>
              </a:ext>
            </a:extLst>
          </p:cNvPr>
          <p:cNvSpPr txBox="1"/>
          <p:nvPr/>
        </p:nvSpPr>
        <p:spPr>
          <a:xfrm>
            <a:off x="8124389" y="5394384"/>
            <a:ext cx="1711930" cy="369332"/>
          </a:xfrm>
          <a:prstGeom prst="rect">
            <a:avLst/>
          </a:prstGeom>
          <a:noFill/>
        </p:spPr>
        <p:txBody>
          <a:bodyPr wrap="square">
            <a:spAutoFit/>
          </a:bodyPr>
          <a:lstStyle/>
          <a:p>
            <a:r>
              <a:rPr lang="es-ES" sz="1800" b="1" dirty="0"/>
              <a:t>Cable Directo</a:t>
            </a:r>
            <a:endParaRPr lang="es-ES" dirty="0"/>
          </a:p>
        </p:txBody>
      </p:sp>
      <p:cxnSp>
        <p:nvCxnSpPr>
          <p:cNvPr id="41" name="Conector recto 40">
            <a:extLst>
              <a:ext uri="{FF2B5EF4-FFF2-40B4-BE49-F238E27FC236}">
                <a16:creationId xmlns:a16="http://schemas.microsoft.com/office/drawing/2014/main" id="{BD47E785-55F1-C346-10E3-9553C2D73EA1}"/>
              </a:ext>
            </a:extLst>
          </p:cNvPr>
          <p:cNvCxnSpPr/>
          <p:nvPr/>
        </p:nvCxnSpPr>
        <p:spPr>
          <a:xfrm>
            <a:off x="7859651" y="4491127"/>
            <a:ext cx="2052000" cy="0"/>
          </a:xfrm>
          <a:prstGeom prst="line">
            <a:avLst/>
          </a:prstGeom>
          <a:ln w="508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2" name="Conector recto 41">
            <a:extLst>
              <a:ext uri="{FF2B5EF4-FFF2-40B4-BE49-F238E27FC236}">
                <a16:creationId xmlns:a16="http://schemas.microsoft.com/office/drawing/2014/main" id="{F23BD17D-96F3-D63B-E231-2A20D6C2F23F}"/>
              </a:ext>
            </a:extLst>
          </p:cNvPr>
          <p:cNvCxnSpPr/>
          <p:nvPr/>
        </p:nvCxnSpPr>
        <p:spPr>
          <a:xfrm>
            <a:off x="7929617" y="3653298"/>
            <a:ext cx="2052000" cy="0"/>
          </a:xfrm>
          <a:prstGeom prst="line">
            <a:avLst/>
          </a:prstGeom>
          <a:ln w="508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4" name="CuadroTexto 43">
            <a:extLst>
              <a:ext uri="{FF2B5EF4-FFF2-40B4-BE49-F238E27FC236}">
                <a16:creationId xmlns:a16="http://schemas.microsoft.com/office/drawing/2014/main" id="{3D3E8334-70CD-67F8-BD15-6AC202895D8A}"/>
              </a:ext>
            </a:extLst>
          </p:cNvPr>
          <p:cNvSpPr txBox="1"/>
          <p:nvPr/>
        </p:nvSpPr>
        <p:spPr>
          <a:xfrm>
            <a:off x="8111492" y="4498779"/>
            <a:ext cx="1814285" cy="369332"/>
          </a:xfrm>
          <a:prstGeom prst="rect">
            <a:avLst/>
          </a:prstGeom>
          <a:noFill/>
        </p:spPr>
        <p:txBody>
          <a:bodyPr wrap="square">
            <a:spAutoFit/>
          </a:bodyPr>
          <a:lstStyle/>
          <a:p>
            <a:r>
              <a:rPr lang="es-ES" sz="1800" b="1" dirty="0"/>
              <a:t>Cable cruzado </a:t>
            </a:r>
            <a:endParaRPr lang="es-ES" dirty="0"/>
          </a:p>
        </p:txBody>
      </p:sp>
      <p:sp>
        <p:nvSpPr>
          <p:cNvPr id="46" name="CuadroTexto 45">
            <a:extLst>
              <a:ext uri="{FF2B5EF4-FFF2-40B4-BE49-F238E27FC236}">
                <a16:creationId xmlns:a16="http://schemas.microsoft.com/office/drawing/2014/main" id="{48E95DDB-DDA9-A242-4422-58AD8AAA15AC}"/>
              </a:ext>
            </a:extLst>
          </p:cNvPr>
          <p:cNvSpPr txBox="1"/>
          <p:nvPr/>
        </p:nvSpPr>
        <p:spPr>
          <a:xfrm>
            <a:off x="8087726" y="3629811"/>
            <a:ext cx="1785256" cy="369332"/>
          </a:xfrm>
          <a:prstGeom prst="rect">
            <a:avLst/>
          </a:prstGeom>
          <a:noFill/>
        </p:spPr>
        <p:txBody>
          <a:bodyPr wrap="square">
            <a:spAutoFit/>
          </a:bodyPr>
          <a:lstStyle/>
          <a:p>
            <a:r>
              <a:rPr lang="es-ES" sz="1800" b="1" dirty="0"/>
              <a:t>Cable cruzado </a:t>
            </a:r>
            <a:endParaRPr lang="es-ES" sz="1800" dirty="0"/>
          </a:p>
        </p:txBody>
      </p:sp>
      <p:sp>
        <p:nvSpPr>
          <p:cNvPr id="49" name="CuadroTexto 48">
            <a:extLst>
              <a:ext uri="{FF2B5EF4-FFF2-40B4-BE49-F238E27FC236}">
                <a16:creationId xmlns:a16="http://schemas.microsoft.com/office/drawing/2014/main" id="{EB0BE468-4EFF-0C2D-1BD7-DA1EABF6605F}"/>
              </a:ext>
            </a:extLst>
          </p:cNvPr>
          <p:cNvSpPr txBox="1"/>
          <p:nvPr/>
        </p:nvSpPr>
        <p:spPr>
          <a:xfrm>
            <a:off x="577064" y="2429407"/>
            <a:ext cx="10550801" cy="584775"/>
          </a:xfrm>
          <a:prstGeom prst="rect">
            <a:avLst/>
          </a:prstGeom>
          <a:noFill/>
        </p:spPr>
        <p:txBody>
          <a:bodyPr wrap="square" rtlCol="0">
            <a:spAutoFit/>
          </a:bodyPr>
          <a:lstStyle/>
          <a:p>
            <a:r>
              <a:rPr lang="es-ES" sz="1600" dirty="0"/>
              <a:t>💡</a:t>
            </a:r>
            <a:r>
              <a:rPr lang="es-ES" sz="1600" b="1" dirty="0"/>
              <a:t>Auto-MDIX</a:t>
            </a:r>
            <a:r>
              <a:rPr lang="es-ES" sz="1600" dirty="0"/>
              <a:t> (Automatic Medium-Dependent Interface Crossover) es una tecnología que </a:t>
            </a:r>
            <a:r>
              <a:rPr lang="es-ES" sz="1600" b="1" dirty="0"/>
              <a:t>detecta y configura automáticamente la conexión de red</a:t>
            </a:r>
            <a:r>
              <a:rPr lang="es-ES" sz="1600" dirty="0"/>
              <a:t> para que no tengas que preocuparte por usar un cable directo o cruzado.</a:t>
            </a:r>
          </a:p>
        </p:txBody>
      </p:sp>
    </p:spTree>
    <p:extLst>
      <p:ext uri="{BB962C8B-B14F-4D97-AF65-F5344CB8AC3E}">
        <p14:creationId xmlns:p14="http://schemas.microsoft.com/office/powerpoint/2010/main" val="350658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5B59F1B1-7E40-0655-7CE1-02535C81A48A}"/>
              </a:ext>
            </a:extLst>
          </p:cNvPr>
          <p:cNvSpPr txBox="1"/>
          <p:nvPr/>
        </p:nvSpPr>
        <p:spPr>
          <a:xfrm>
            <a:off x="-321133" y="0"/>
            <a:ext cx="3329579" cy="461665"/>
          </a:xfrm>
          <a:prstGeom prst="rect">
            <a:avLst/>
          </a:prstGeom>
          <a:noFill/>
        </p:spPr>
        <p:txBody>
          <a:bodyPr wrap="square">
            <a:spAutoFit/>
          </a:bodyPr>
          <a:lstStyle/>
          <a:p>
            <a:pPr algn="ctr"/>
            <a:r>
              <a:rPr lang="es-ES" sz="1200" dirty="0">
                <a:ln w="0"/>
                <a:effectLst>
                  <a:outerShdw blurRad="38100" dist="19050" dir="2700000" algn="tl" rotWithShape="0">
                    <a:schemeClr val="dk1">
                      <a:alpha val="40000"/>
                    </a:schemeClr>
                  </a:outerShdw>
                </a:effectLst>
              </a:rPr>
              <a:t>1. Introducción a las redes</a:t>
            </a:r>
          </a:p>
          <a:p>
            <a:pPr algn="ctr"/>
            <a:r>
              <a:rPr lang="es-ES" sz="1200" b="1" dirty="0"/>
              <a:t>Ethernet y ¿Cómo funciona una LAN?</a:t>
            </a:r>
          </a:p>
        </p:txBody>
      </p:sp>
      <p:sp>
        <p:nvSpPr>
          <p:cNvPr id="7" name="Rectángulo 6">
            <a:extLst>
              <a:ext uri="{FF2B5EF4-FFF2-40B4-BE49-F238E27FC236}">
                <a16:creationId xmlns:a16="http://schemas.microsoft.com/office/drawing/2014/main" id="{110656DF-64C4-8CE2-B692-EABCDA4E46ED}"/>
              </a:ext>
            </a:extLst>
          </p:cNvPr>
          <p:cNvSpPr/>
          <p:nvPr/>
        </p:nvSpPr>
        <p:spPr>
          <a:xfrm>
            <a:off x="3955402" y="107722"/>
            <a:ext cx="3255095" cy="707886"/>
          </a:xfrm>
          <a:prstGeom prst="rect">
            <a:avLst/>
          </a:prstGeom>
          <a:noFill/>
        </p:spPr>
        <p:txBody>
          <a:bodyPr wrap="square" lIns="91440" tIns="45720" rIns="91440" bIns="45720">
            <a:spAutoFit/>
          </a:bodyPr>
          <a:lstStyle/>
          <a:p>
            <a:pPr algn="ctr"/>
            <a:r>
              <a:rPr lang="es-ES" sz="4000" b="0" cap="none" spc="0" dirty="0">
                <a:ln w="0"/>
                <a:solidFill>
                  <a:schemeClr val="tx1"/>
                </a:solidFill>
                <a:effectLst>
                  <a:outerShdw blurRad="38100" dist="19050" dir="2700000" algn="tl" rotWithShape="0">
                    <a:schemeClr val="dk1">
                      <a:alpha val="40000"/>
                    </a:schemeClr>
                  </a:outerShdw>
                </a:effectLst>
              </a:rPr>
              <a:t>Fibra Óptica</a:t>
            </a:r>
          </a:p>
        </p:txBody>
      </p:sp>
      <p:graphicFrame>
        <p:nvGraphicFramePr>
          <p:cNvPr id="9" name="Tabla 8">
            <a:extLst>
              <a:ext uri="{FF2B5EF4-FFF2-40B4-BE49-F238E27FC236}">
                <a16:creationId xmlns:a16="http://schemas.microsoft.com/office/drawing/2014/main" id="{6ACE4B81-D3BE-9DE4-9001-ED88B1F0FBC2}"/>
              </a:ext>
            </a:extLst>
          </p:cNvPr>
          <p:cNvGraphicFramePr>
            <a:graphicFrameLocks noGrp="1"/>
          </p:cNvGraphicFramePr>
          <p:nvPr>
            <p:extLst>
              <p:ext uri="{D42A27DB-BD31-4B8C-83A1-F6EECF244321}">
                <p14:modId xmlns:p14="http://schemas.microsoft.com/office/powerpoint/2010/main" val="3950308034"/>
              </p:ext>
            </p:extLst>
          </p:nvPr>
        </p:nvGraphicFramePr>
        <p:xfrm>
          <a:off x="1165685" y="3429000"/>
          <a:ext cx="9269642" cy="3153542"/>
        </p:xfrm>
        <a:graphic>
          <a:graphicData uri="http://schemas.openxmlformats.org/drawingml/2006/table">
            <a:tbl>
              <a:tblPr>
                <a:tableStyleId>{BDBED569-4797-4DF1-A0F4-6AAB3CD982D8}</a:tableStyleId>
              </a:tblPr>
              <a:tblGrid>
                <a:gridCol w="1437912">
                  <a:extLst>
                    <a:ext uri="{9D8B030D-6E8A-4147-A177-3AD203B41FA5}">
                      <a16:colId xmlns:a16="http://schemas.microsoft.com/office/drawing/2014/main" val="4002321167"/>
                    </a:ext>
                  </a:extLst>
                </a:gridCol>
                <a:gridCol w="1697745">
                  <a:extLst>
                    <a:ext uri="{9D8B030D-6E8A-4147-A177-3AD203B41FA5}">
                      <a16:colId xmlns:a16="http://schemas.microsoft.com/office/drawing/2014/main" val="1288476471"/>
                    </a:ext>
                  </a:extLst>
                </a:gridCol>
                <a:gridCol w="1831041">
                  <a:extLst>
                    <a:ext uri="{9D8B030D-6E8A-4147-A177-3AD203B41FA5}">
                      <a16:colId xmlns:a16="http://schemas.microsoft.com/office/drawing/2014/main" val="1644044100"/>
                    </a:ext>
                  </a:extLst>
                </a:gridCol>
                <a:gridCol w="2151472">
                  <a:extLst>
                    <a:ext uri="{9D8B030D-6E8A-4147-A177-3AD203B41FA5}">
                      <a16:colId xmlns:a16="http://schemas.microsoft.com/office/drawing/2014/main" val="2219674449"/>
                    </a:ext>
                  </a:extLst>
                </a:gridCol>
                <a:gridCol w="2151472">
                  <a:extLst>
                    <a:ext uri="{9D8B030D-6E8A-4147-A177-3AD203B41FA5}">
                      <a16:colId xmlns:a16="http://schemas.microsoft.com/office/drawing/2014/main" val="124721938"/>
                    </a:ext>
                  </a:extLst>
                </a:gridCol>
              </a:tblGrid>
              <a:tr h="450506">
                <a:tc>
                  <a:txBody>
                    <a:bodyPr/>
                    <a:lstStyle/>
                    <a:p>
                      <a:pPr algn="ctr" fontAlgn="b">
                        <a:buNone/>
                      </a:pPr>
                      <a:r>
                        <a:rPr lang="es-ES" sz="1400" b="1" u="none" strike="noStrike" kern="1200" dirty="0">
                          <a:solidFill>
                            <a:schemeClr val="tx1"/>
                          </a:solidFill>
                          <a:effectLst/>
                          <a:latin typeface="+mn-lt"/>
                          <a:ea typeface="+mn-ea"/>
                          <a:cs typeface="+mn-cs"/>
                        </a:rPr>
                        <a:t>Nombre</a:t>
                      </a:r>
                      <a:endParaRPr lang="es-ES" sz="1400" b="1" i="0" u="none" strike="noStrike" dirty="0">
                        <a:solidFill>
                          <a:srgbClr val="000000"/>
                        </a:solidFill>
                        <a:effectLst/>
                        <a:latin typeface="Aptos Narrow" panose="020B0004020202020204" pitchFamily="34" charset="0"/>
                      </a:endParaRPr>
                    </a:p>
                  </a:txBody>
                  <a:tcPr marL="6350" marR="6350" marT="6350" marB="0" anchor="ctr">
                    <a:cell3D prstMaterial="dkEdge">
                      <a:bevel/>
                      <a:lightRig rig="flood" dir="t"/>
                    </a:cell3D>
                  </a:tcPr>
                </a:tc>
                <a:tc>
                  <a:txBody>
                    <a:bodyPr/>
                    <a:lstStyle/>
                    <a:p>
                      <a:pPr marL="0" algn="ctr" defTabSz="914400" rtl="0" eaLnBrk="1" fontAlgn="b" latinLnBrk="0" hangingPunct="1">
                        <a:buNone/>
                      </a:pPr>
                      <a:r>
                        <a:rPr lang="es-ES" sz="1400" b="1" u="none" strike="noStrike" kern="1200" dirty="0">
                          <a:solidFill>
                            <a:schemeClr val="tx1"/>
                          </a:solidFill>
                          <a:effectLst/>
                          <a:latin typeface="+mn-lt"/>
                          <a:ea typeface="+mn-ea"/>
                          <a:cs typeface="+mn-cs"/>
                        </a:rPr>
                        <a:t>Estándar</a:t>
                      </a:r>
                    </a:p>
                  </a:txBody>
                  <a:tcPr marL="6350" marR="6350" marT="6350" marB="0" anchor="ctr">
                    <a:cell3D prstMaterial="dkEdge">
                      <a:bevel/>
                      <a:lightRig rig="flood" dir="t"/>
                    </a:cell3D>
                  </a:tcPr>
                </a:tc>
                <a:tc>
                  <a:txBody>
                    <a:bodyPr/>
                    <a:lstStyle/>
                    <a:p>
                      <a:pPr marL="0" algn="ctr" defTabSz="914400" rtl="0" eaLnBrk="1" fontAlgn="b" latinLnBrk="0" hangingPunct="1">
                        <a:buNone/>
                      </a:pPr>
                      <a:r>
                        <a:rPr lang="es-ES" sz="1400" b="1" u="none" strike="noStrike" kern="1200" dirty="0">
                          <a:solidFill>
                            <a:schemeClr val="tx1"/>
                          </a:solidFill>
                          <a:effectLst/>
                          <a:latin typeface="+mn-lt"/>
                          <a:ea typeface="+mn-ea"/>
                          <a:cs typeface="+mn-cs"/>
                        </a:rPr>
                        <a:t>Velocidad</a:t>
                      </a:r>
                    </a:p>
                  </a:txBody>
                  <a:tcPr marL="6350" marR="6350" marT="6350" marB="0" anchor="ctr">
                    <a:cell3D prstMaterial="dkEdge">
                      <a:bevel/>
                      <a:lightRig rig="flood" dir="t"/>
                    </a:cell3D>
                  </a:tcPr>
                </a:tc>
                <a:tc>
                  <a:txBody>
                    <a:bodyPr/>
                    <a:lstStyle/>
                    <a:p>
                      <a:pPr marL="0" algn="ctr" defTabSz="914400" rtl="0" eaLnBrk="1" fontAlgn="b" latinLnBrk="0" hangingPunct="1">
                        <a:buNone/>
                      </a:pPr>
                      <a:r>
                        <a:rPr lang="es-ES" sz="1400" b="1" u="none" strike="noStrike" kern="1200" dirty="0">
                          <a:solidFill>
                            <a:schemeClr val="tx1"/>
                          </a:solidFill>
                          <a:effectLst/>
                          <a:latin typeface="+mn-lt"/>
                          <a:ea typeface="+mn-ea"/>
                          <a:cs typeface="+mn-cs"/>
                        </a:rPr>
                        <a:t>Tipo de Cable</a:t>
                      </a:r>
                    </a:p>
                  </a:txBody>
                  <a:tcPr marL="6350" marR="6350" marT="6350" marB="0" anchor="ctr">
                    <a:cell3D prstMaterial="dkEdge">
                      <a:bevel/>
                      <a:lightRig rig="flood" dir="t"/>
                    </a:cell3D>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ES" sz="1400" b="1" u="none" strike="noStrike" kern="1200" dirty="0">
                          <a:solidFill>
                            <a:schemeClr val="tx1"/>
                          </a:solidFill>
                          <a:effectLst/>
                          <a:latin typeface="+mn-lt"/>
                          <a:ea typeface="+mn-ea"/>
                          <a:cs typeface="+mn-cs"/>
                        </a:rPr>
                        <a:t>Longitud máxima</a:t>
                      </a:r>
                    </a:p>
                    <a:p>
                      <a:pPr marL="0" algn="ctr" defTabSz="914400" rtl="0" eaLnBrk="1" fontAlgn="b" latinLnBrk="0" hangingPunct="1">
                        <a:buNone/>
                      </a:pPr>
                      <a:endParaRPr lang="es-ES" sz="1400" b="1" u="none" strike="noStrike" kern="1200" dirty="0">
                        <a:solidFill>
                          <a:schemeClr val="tx1"/>
                        </a:solidFill>
                        <a:effectLst/>
                        <a:latin typeface="+mn-lt"/>
                        <a:ea typeface="+mn-ea"/>
                        <a:cs typeface="+mn-cs"/>
                      </a:endParaRPr>
                    </a:p>
                  </a:txBody>
                  <a:tcPr marL="6350" marR="6350" marT="6350" marB="0" anchor="ctr">
                    <a:cell3D prstMaterial="dkEdge">
                      <a:bevel/>
                      <a:lightRig rig="flood" dir="t"/>
                    </a:cell3D>
                  </a:tcPr>
                </a:tc>
                <a:extLst>
                  <a:ext uri="{0D108BD9-81ED-4DB2-BD59-A6C34878D82A}">
                    <a16:rowId xmlns:a16="http://schemas.microsoft.com/office/drawing/2014/main" val="3444425237"/>
                  </a:ext>
                </a:extLst>
              </a:tr>
              <a:tr h="450506">
                <a:tc>
                  <a:txBody>
                    <a:bodyPr/>
                    <a:lstStyle/>
                    <a:p>
                      <a:pPr algn="ctr" fontAlgn="b">
                        <a:buNone/>
                      </a:pPr>
                      <a:r>
                        <a:rPr lang="es-ES" sz="1800" b="0" i="0" u="none" strike="noStrike" kern="1200" baseline="0" dirty="0">
                          <a:solidFill>
                            <a:schemeClr val="tx1"/>
                          </a:solidFill>
                          <a:latin typeface="+mn-lt"/>
                          <a:ea typeface="+mn-ea"/>
                          <a:cs typeface="+mn-cs"/>
                        </a:rPr>
                        <a:t>1000BASE-LX</a:t>
                      </a:r>
                      <a:endParaRPr lang="es-ES" sz="1800" b="0"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ctr" fontAlgn="b">
                        <a:buNone/>
                      </a:pPr>
                      <a:r>
                        <a:rPr lang="es-ES" sz="1800" b="1" i="0" u="none" strike="noStrike" dirty="0">
                          <a:solidFill>
                            <a:srgbClr val="000000"/>
                          </a:solidFill>
                          <a:effectLst/>
                          <a:latin typeface="Aptos Narrow" panose="020B0004020202020204" pitchFamily="34" charset="0"/>
                        </a:rPr>
                        <a:t>802.3z</a:t>
                      </a:r>
                    </a:p>
                  </a:txBody>
                  <a:tcPr marL="6350" marR="6350" marT="6350" marB="0" anchor="ctr"/>
                </a:tc>
                <a:tc>
                  <a:txBody>
                    <a:bodyPr/>
                    <a:lstStyle/>
                    <a:p>
                      <a:pPr algn="ctr" fontAlgn="b">
                        <a:buNone/>
                      </a:pPr>
                      <a:r>
                        <a:rPr lang="es-ES" sz="1800" b="0" i="0" u="none" strike="noStrike" dirty="0">
                          <a:solidFill>
                            <a:srgbClr val="000000"/>
                          </a:solidFill>
                          <a:effectLst/>
                          <a:latin typeface="Aptos Narrow" panose="020B0004020202020204" pitchFamily="34" charset="0"/>
                        </a:rPr>
                        <a:t>1 Gbps</a:t>
                      </a:r>
                    </a:p>
                  </a:txBody>
                  <a:tcPr marL="6350" marR="6350" marT="6350" marB="0" anchor="ctr"/>
                </a:tc>
                <a:tc>
                  <a:txBody>
                    <a:bodyPr/>
                    <a:lstStyle/>
                    <a:p>
                      <a:pPr algn="ctr" fontAlgn="b">
                        <a:buNone/>
                      </a:pPr>
                      <a:r>
                        <a:rPr lang="es-ES" sz="1800" b="0" i="0" u="none" strike="noStrike" dirty="0">
                          <a:solidFill>
                            <a:srgbClr val="000000"/>
                          </a:solidFill>
                          <a:effectLst/>
                          <a:latin typeface="Aptos Narrow" panose="020B0004020202020204" pitchFamily="34" charset="0"/>
                        </a:rPr>
                        <a:t>Multimode</a:t>
                      </a:r>
                    </a:p>
                  </a:txBody>
                  <a:tcPr marL="6350" marR="6350" marT="6350" marB="0" anchor="ctr"/>
                </a:tc>
                <a:tc>
                  <a:txBody>
                    <a:bodyPr/>
                    <a:lstStyle/>
                    <a:p>
                      <a:pPr algn="ctr" fontAlgn="b">
                        <a:buNone/>
                      </a:pPr>
                      <a:r>
                        <a:rPr lang="es-ES" sz="1800" b="0" i="0" u="none" strike="noStrike" dirty="0">
                          <a:solidFill>
                            <a:srgbClr val="000000"/>
                          </a:solidFill>
                          <a:effectLst/>
                          <a:latin typeface="Aptos Narrow" panose="020B0004020202020204" pitchFamily="34" charset="0"/>
                        </a:rPr>
                        <a:t>300m</a:t>
                      </a:r>
                    </a:p>
                  </a:txBody>
                  <a:tcPr marL="6350" marR="6350" marT="6350" marB="0" anchor="ctr"/>
                </a:tc>
                <a:extLst>
                  <a:ext uri="{0D108BD9-81ED-4DB2-BD59-A6C34878D82A}">
                    <a16:rowId xmlns:a16="http://schemas.microsoft.com/office/drawing/2014/main" val="2709445487"/>
                  </a:ext>
                </a:extLst>
              </a:tr>
              <a:tr h="450506">
                <a:tc>
                  <a:txBody>
                    <a:bodyPr/>
                    <a:lstStyle/>
                    <a:p>
                      <a:pPr algn="ctr" fontAlgn="b">
                        <a:buNone/>
                      </a:pPr>
                      <a:r>
                        <a:rPr lang="es-ES" sz="1800" b="0" i="0" u="none" strike="noStrike" kern="1200" baseline="0" dirty="0">
                          <a:solidFill>
                            <a:schemeClr val="tx1"/>
                          </a:solidFill>
                          <a:latin typeface="+mn-lt"/>
                          <a:ea typeface="+mn-ea"/>
                          <a:cs typeface="+mn-cs"/>
                        </a:rPr>
                        <a:t>1000BASE-LX</a:t>
                      </a:r>
                      <a:endParaRPr lang="es-ES" sz="1800" b="0"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ctr" fontAlgn="b">
                        <a:buNone/>
                      </a:pPr>
                      <a:r>
                        <a:rPr lang="es-ES" sz="1800" b="1" i="0" u="none" strike="noStrike" dirty="0">
                          <a:solidFill>
                            <a:srgbClr val="000000"/>
                          </a:solidFill>
                          <a:effectLst/>
                          <a:latin typeface="Aptos Narrow" panose="020B0004020202020204" pitchFamily="34" charset="0"/>
                        </a:rPr>
                        <a:t>802.3z</a:t>
                      </a:r>
                    </a:p>
                  </a:txBody>
                  <a:tcPr marL="6350" marR="6350" marT="6350" marB="0" anchor="ctr"/>
                </a:tc>
                <a:tc>
                  <a:txBody>
                    <a:bodyPr/>
                    <a:lstStyle/>
                    <a:p>
                      <a:pPr algn="ctr" fontAlgn="b">
                        <a:buNone/>
                      </a:pPr>
                      <a:r>
                        <a:rPr lang="es-ES" sz="1800" b="0" i="0" u="none" strike="noStrike" dirty="0">
                          <a:solidFill>
                            <a:srgbClr val="000000"/>
                          </a:solidFill>
                          <a:effectLst/>
                          <a:latin typeface="Aptos Narrow" panose="020B0004020202020204" pitchFamily="34" charset="0"/>
                        </a:rPr>
                        <a:t>1 Gbps</a:t>
                      </a:r>
                    </a:p>
                  </a:txBody>
                  <a:tcPr marL="6350" marR="6350" marT="6350" marB="0" anchor="ctr"/>
                </a:tc>
                <a:tc>
                  <a:txBody>
                    <a:bodyPr/>
                    <a:lstStyle/>
                    <a:p>
                      <a:pPr algn="ctr" fontAlgn="b">
                        <a:buNone/>
                      </a:pPr>
                      <a:r>
                        <a:rPr lang="es-ES" sz="1800" b="0" i="0" u="none" strike="noStrike" dirty="0">
                          <a:solidFill>
                            <a:srgbClr val="000000"/>
                          </a:solidFill>
                          <a:effectLst/>
                          <a:latin typeface="Aptos Narrow" panose="020B0004020202020204" pitchFamily="34" charset="0"/>
                        </a:rPr>
                        <a:t>Single-mode</a:t>
                      </a:r>
                    </a:p>
                  </a:txBody>
                  <a:tcPr marL="6350" marR="6350" marT="6350" marB="0" anchor="ctr"/>
                </a:tc>
                <a:tc>
                  <a:txBody>
                    <a:bodyPr/>
                    <a:lstStyle/>
                    <a:p>
                      <a:pPr algn="ctr" fontAlgn="b">
                        <a:buNone/>
                      </a:pPr>
                      <a:r>
                        <a:rPr lang="es-ES" sz="1800" b="0" i="0" u="none" strike="noStrike" dirty="0">
                          <a:solidFill>
                            <a:srgbClr val="000000"/>
                          </a:solidFill>
                          <a:effectLst/>
                          <a:latin typeface="Aptos Narrow" panose="020B0004020202020204" pitchFamily="34" charset="0"/>
                        </a:rPr>
                        <a:t>5km</a:t>
                      </a:r>
                    </a:p>
                  </a:txBody>
                  <a:tcPr marL="6350" marR="6350" marT="6350" marB="0" anchor="ctr"/>
                </a:tc>
                <a:extLst>
                  <a:ext uri="{0D108BD9-81ED-4DB2-BD59-A6C34878D82A}">
                    <a16:rowId xmlns:a16="http://schemas.microsoft.com/office/drawing/2014/main" val="3947136293"/>
                  </a:ext>
                </a:extLst>
              </a:tr>
              <a:tr h="450506">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ES" sz="1800" b="0" i="0" u="none" strike="noStrike" kern="1200" baseline="0" dirty="0">
                          <a:solidFill>
                            <a:schemeClr val="tx1"/>
                          </a:solidFill>
                          <a:latin typeface="+mn-lt"/>
                          <a:ea typeface="+mn-ea"/>
                          <a:cs typeface="+mn-cs"/>
                        </a:rPr>
                        <a:t>10GBASE-SR</a:t>
                      </a:r>
                      <a:endParaRPr lang="es-ES" sz="1800" b="0" i="0" u="none" strike="noStrike" dirty="0">
                        <a:solidFill>
                          <a:srgbClr val="000000"/>
                        </a:solidFill>
                        <a:effectLst/>
                        <a:latin typeface="Aptos Narrow" panose="020B0004020202020204" pitchFamily="34" charset="0"/>
                      </a:endParaRPr>
                    </a:p>
                  </a:txBody>
                  <a:tcPr marL="6350" marR="6350" marT="635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ES" sz="1800" b="1" i="0" u="none" strike="noStrike" dirty="0">
                          <a:solidFill>
                            <a:srgbClr val="000000"/>
                          </a:solidFill>
                          <a:effectLst/>
                          <a:latin typeface="Aptos Narrow" panose="020B0004020202020204" pitchFamily="34" charset="0"/>
                        </a:rPr>
                        <a:t>802.3ae</a:t>
                      </a:r>
                    </a:p>
                  </a:txBody>
                  <a:tcPr marL="6350" marR="6350" marT="6350" marB="0" anchor="ctr"/>
                </a:tc>
                <a:tc>
                  <a:txBody>
                    <a:bodyPr/>
                    <a:lstStyle/>
                    <a:p>
                      <a:pPr algn="ctr" fontAlgn="b">
                        <a:buNone/>
                      </a:pPr>
                      <a:r>
                        <a:rPr lang="es-ES" sz="1800" b="0" i="0" u="none" strike="noStrike" dirty="0">
                          <a:solidFill>
                            <a:srgbClr val="000000"/>
                          </a:solidFill>
                          <a:effectLst/>
                          <a:latin typeface="Aptos Narrow" panose="020B0004020202020204" pitchFamily="34" charset="0"/>
                        </a:rPr>
                        <a:t>10 Gbps</a:t>
                      </a:r>
                    </a:p>
                  </a:txBody>
                  <a:tcPr marL="6350" marR="6350" marT="6350" marB="0" anchor="ctr"/>
                </a:tc>
                <a:tc>
                  <a:txBody>
                    <a:bodyPr/>
                    <a:lstStyle/>
                    <a:p>
                      <a:pPr algn="ctr" fontAlgn="b">
                        <a:buNone/>
                      </a:pPr>
                      <a:r>
                        <a:rPr lang="es-ES" sz="1800" b="0" i="0" u="none" strike="noStrike" dirty="0">
                          <a:solidFill>
                            <a:srgbClr val="000000"/>
                          </a:solidFill>
                          <a:effectLst/>
                          <a:latin typeface="Aptos Narrow" panose="020B0004020202020204" pitchFamily="34" charset="0"/>
                        </a:rPr>
                        <a:t>Multimode</a:t>
                      </a:r>
                    </a:p>
                  </a:txBody>
                  <a:tcPr marL="6350" marR="6350" marT="6350" marB="0" anchor="ctr"/>
                </a:tc>
                <a:tc>
                  <a:txBody>
                    <a:bodyPr/>
                    <a:lstStyle/>
                    <a:p>
                      <a:pPr algn="ctr" fontAlgn="b">
                        <a:buNone/>
                      </a:pPr>
                      <a:r>
                        <a:rPr lang="es-ES" sz="1800" b="0" i="0" u="none" strike="noStrike" dirty="0">
                          <a:solidFill>
                            <a:srgbClr val="000000"/>
                          </a:solidFill>
                          <a:effectLst/>
                          <a:latin typeface="Aptos Narrow" panose="020B0004020202020204" pitchFamily="34" charset="0"/>
                        </a:rPr>
                        <a:t>400m</a:t>
                      </a:r>
                    </a:p>
                  </a:txBody>
                  <a:tcPr marL="6350" marR="6350" marT="6350" marB="0" anchor="ctr"/>
                </a:tc>
                <a:extLst>
                  <a:ext uri="{0D108BD9-81ED-4DB2-BD59-A6C34878D82A}">
                    <a16:rowId xmlns:a16="http://schemas.microsoft.com/office/drawing/2014/main" val="1274992176"/>
                  </a:ext>
                </a:extLst>
              </a:tr>
              <a:tr h="450506">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ES" sz="1800" b="0" i="0" u="none" strike="noStrike" dirty="0">
                          <a:solidFill>
                            <a:srgbClr val="000000"/>
                          </a:solidFill>
                          <a:effectLst/>
                          <a:latin typeface="Aptos Narrow" panose="020B0004020202020204" pitchFamily="34" charset="0"/>
                        </a:rPr>
                        <a:t>10GBASE-LR</a:t>
                      </a:r>
                    </a:p>
                  </a:txBody>
                  <a:tcPr marL="6350" marR="6350" marT="635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ES" sz="1800" b="1" i="0" u="none" strike="noStrike" dirty="0">
                          <a:solidFill>
                            <a:srgbClr val="000000"/>
                          </a:solidFill>
                          <a:effectLst/>
                          <a:latin typeface="Aptos Narrow" panose="020B0004020202020204" pitchFamily="34" charset="0"/>
                        </a:rPr>
                        <a:t>802.3ae</a:t>
                      </a:r>
                    </a:p>
                  </a:txBody>
                  <a:tcPr marL="6350" marR="6350" marT="6350" marB="0" anchor="ctr"/>
                </a:tc>
                <a:tc>
                  <a:txBody>
                    <a:bodyPr/>
                    <a:lstStyle/>
                    <a:p>
                      <a:pPr algn="ctr" fontAlgn="b">
                        <a:buNone/>
                      </a:pPr>
                      <a:r>
                        <a:rPr lang="es-ES" sz="1800" b="0" i="0" u="none" strike="noStrike" dirty="0">
                          <a:solidFill>
                            <a:srgbClr val="000000"/>
                          </a:solidFill>
                          <a:effectLst/>
                          <a:latin typeface="Aptos Narrow" panose="020B0004020202020204" pitchFamily="34" charset="0"/>
                        </a:rPr>
                        <a:t>10 Gbps</a:t>
                      </a:r>
                    </a:p>
                  </a:txBody>
                  <a:tcPr marL="6350" marR="6350" marT="6350" marB="0" anchor="ctr"/>
                </a:tc>
                <a:tc>
                  <a:txBody>
                    <a:bodyPr/>
                    <a:lstStyle/>
                    <a:p>
                      <a:pPr algn="ctr" fontAlgn="b">
                        <a:buNone/>
                      </a:pPr>
                      <a:r>
                        <a:rPr lang="es-ES" sz="1800" b="0" i="0" u="none" strike="noStrike" dirty="0">
                          <a:solidFill>
                            <a:srgbClr val="000000"/>
                          </a:solidFill>
                          <a:effectLst/>
                          <a:latin typeface="Aptos Narrow" panose="020B0004020202020204" pitchFamily="34" charset="0"/>
                        </a:rPr>
                        <a:t>Single-mode</a:t>
                      </a:r>
                    </a:p>
                  </a:txBody>
                  <a:tcPr marL="6350" marR="6350" marT="6350" marB="0" anchor="ctr"/>
                </a:tc>
                <a:tc>
                  <a:txBody>
                    <a:bodyPr/>
                    <a:lstStyle/>
                    <a:p>
                      <a:pPr algn="ctr" fontAlgn="b">
                        <a:buNone/>
                      </a:pPr>
                      <a:r>
                        <a:rPr lang="es-ES" sz="1800" b="0" i="0" u="none" strike="noStrike" dirty="0">
                          <a:solidFill>
                            <a:srgbClr val="000000"/>
                          </a:solidFill>
                          <a:effectLst/>
                          <a:latin typeface="Aptos Narrow" panose="020B0004020202020204" pitchFamily="34" charset="0"/>
                        </a:rPr>
                        <a:t>10km</a:t>
                      </a:r>
                    </a:p>
                  </a:txBody>
                  <a:tcPr marL="6350" marR="6350" marT="6350" marB="0" anchor="ctr"/>
                </a:tc>
                <a:extLst>
                  <a:ext uri="{0D108BD9-81ED-4DB2-BD59-A6C34878D82A}">
                    <a16:rowId xmlns:a16="http://schemas.microsoft.com/office/drawing/2014/main" val="1687499731"/>
                  </a:ext>
                </a:extLst>
              </a:tr>
              <a:tr h="450506">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ES" sz="1800" b="0" i="0" u="none" strike="noStrike" dirty="0">
                          <a:solidFill>
                            <a:srgbClr val="000000"/>
                          </a:solidFill>
                          <a:effectLst/>
                          <a:latin typeface="Aptos Narrow" panose="020B0004020202020204" pitchFamily="34" charset="0"/>
                        </a:rPr>
                        <a:t>10GBASE-ER</a:t>
                      </a:r>
                    </a:p>
                  </a:txBody>
                  <a:tcPr marL="6350" marR="6350" marT="635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ES" sz="1800" b="1" i="0" u="none" strike="noStrike" dirty="0">
                          <a:solidFill>
                            <a:srgbClr val="000000"/>
                          </a:solidFill>
                          <a:effectLst/>
                          <a:latin typeface="Aptos Narrow" panose="020B0004020202020204" pitchFamily="34" charset="0"/>
                        </a:rPr>
                        <a:t>802.3ae</a:t>
                      </a:r>
                    </a:p>
                  </a:txBody>
                  <a:tcPr marL="6350" marR="6350" marT="6350" marB="0" anchor="ctr"/>
                </a:tc>
                <a:tc>
                  <a:txBody>
                    <a:bodyPr/>
                    <a:lstStyle/>
                    <a:p>
                      <a:pPr algn="ctr" fontAlgn="b">
                        <a:buNone/>
                      </a:pPr>
                      <a:r>
                        <a:rPr lang="es-ES" sz="1800" b="0" i="0" u="none" strike="noStrike" dirty="0">
                          <a:solidFill>
                            <a:srgbClr val="000000"/>
                          </a:solidFill>
                          <a:effectLst/>
                          <a:latin typeface="Aptos Narrow" panose="020B0004020202020204" pitchFamily="34" charset="0"/>
                        </a:rPr>
                        <a:t>10 Gbps</a:t>
                      </a:r>
                    </a:p>
                  </a:txBody>
                  <a:tcPr marL="6350" marR="6350" marT="6350" marB="0" anchor="ctr"/>
                </a:tc>
                <a:tc>
                  <a:txBody>
                    <a:bodyPr/>
                    <a:lstStyle/>
                    <a:p>
                      <a:pPr algn="ctr" fontAlgn="b">
                        <a:buNone/>
                      </a:pPr>
                      <a:r>
                        <a:rPr lang="es-ES" sz="1800" b="0" i="0" u="none" strike="noStrike" dirty="0">
                          <a:solidFill>
                            <a:srgbClr val="000000"/>
                          </a:solidFill>
                          <a:effectLst/>
                          <a:latin typeface="Aptos Narrow" panose="020B0004020202020204" pitchFamily="34" charset="0"/>
                        </a:rPr>
                        <a:t>Single-mode</a:t>
                      </a:r>
                    </a:p>
                  </a:txBody>
                  <a:tcPr marL="6350" marR="6350" marT="6350" marB="0" anchor="ctr"/>
                </a:tc>
                <a:tc>
                  <a:txBody>
                    <a:bodyPr/>
                    <a:lstStyle/>
                    <a:p>
                      <a:pPr algn="ctr" fontAlgn="b">
                        <a:buNone/>
                      </a:pPr>
                      <a:r>
                        <a:rPr lang="es-ES" sz="1800" b="0" i="0" u="none" strike="noStrike" dirty="0">
                          <a:solidFill>
                            <a:srgbClr val="000000"/>
                          </a:solidFill>
                          <a:effectLst/>
                          <a:latin typeface="Aptos Narrow" panose="020B0004020202020204" pitchFamily="34" charset="0"/>
                        </a:rPr>
                        <a:t>30km</a:t>
                      </a:r>
                    </a:p>
                  </a:txBody>
                  <a:tcPr marL="6350" marR="6350" marT="6350" marB="0" anchor="ctr"/>
                </a:tc>
                <a:extLst>
                  <a:ext uri="{0D108BD9-81ED-4DB2-BD59-A6C34878D82A}">
                    <a16:rowId xmlns:a16="http://schemas.microsoft.com/office/drawing/2014/main" val="799014773"/>
                  </a:ext>
                </a:extLst>
              </a:tr>
              <a:tr h="450506">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ES" sz="1800" b="0" i="0" u="none" strike="noStrike" dirty="0">
                          <a:solidFill>
                            <a:srgbClr val="000000"/>
                          </a:solidFill>
                          <a:effectLst/>
                          <a:latin typeface="Aptos Narrow" panose="020B0004020202020204" pitchFamily="34" charset="0"/>
                        </a:rPr>
                        <a:t>1000BASE-ZX</a:t>
                      </a:r>
                    </a:p>
                  </a:txBody>
                  <a:tcPr marL="6350" marR="6350" marT="635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ES" sz="1800" b="1" i="0" u="none" strike="noStrike" dirty="0">
                          <a:solidFill>
                            <a:srgbClr val="000000"/>
                          </a:solidFill>
                          <a:effectLst/>
                          <a:latin typeface="Aptos Narrow" panose="020B0004020202020204" pitchFamily="34" charset="0"/>
                        </a:rPr>
                        <a:t>802.3z</a:t>
                      </a:r>
                    </a:p>
                  </a:txBody>
                  <a:tcPr marL="6350" marR="6350" marT="6350" marB="0" anchor="ctr"/>
                </a:tc>
                <a:tc>
                  <a:txBody>
                    <a:bodyPr/>
                    <a:lstStyle/>
                    <a:p>
                      <a:pPr algn="ctr" fontAlgn="b">
                        <a:buNone/>
                      </a:pPr>
                      <a:r>
                        <a:rPr lang="es-ES" sz="1800" b="0" i="0" u="none" strike="noStrike" dirty="0">
                          <a:solidFill>
                            <a:srgbClr val="000000"/>
                          </a:solidFill>
                          <a:effectLst/>
                          <a:latin typeface="Aptos Narrow" panose="020B0004020202020204" pitchFamily="34" charset="0"/>
                        </a:rPr>
                        <a:t>1 Gbps</a:t>
                      </a:r>
                    </a:p>
                  </a:txBody>
                  <a:tcPr marL="6350" marR="6350" marT="6350" marB="0" anchor="ctr"/>
                </a:tc>
                <a:tc>
                  <a:txBody>
                    <a:bodyPr/>
                    <a:lstStyle/>
                    <a:p>
                      <a:pPr algn="ctr" fontAlgn="b">
                        <a:buNone/>
                      </a:pPr>
                      <a:r>
                        <a:rPr lang="es-ES" sz="1800" b="0" i="0" u="none" strike="noStrike" dirty="0">
                          <a:solidFill>
                            <a:srgbClr val="000000"/>
                          </a:solidFill>
                          <a:effectLst/>
                          <a:latin typeface="Aptos Narrow" panose="020B0004020202020204" pitchFamily="34" charset="0"/>
                        </a:rPr>
                        <a:t>Single-mode</a:t>
                      </a:r>
                    </a:p>
                  </a:txBody>
                  <a:tcPr marL="6350" marR="6350" marT="6350" marB="0" anchor="ctr"/>
                </a:tc>
                <a:tc>
                  <a:txBody>
                    <a:bodyPr/>
                    <a:lstStyle/>
                    <a:p>
                      <a:pPr algn="ctr" fontAlgn="b">
                        <a:buNone/>
                      </a:pPr>
                      <a:r>
                        <a:rPr lang="es-ES" sz="1800" b="0" i="0" u="none" strike="noStrike" dirty="0">
                          <a:solidFill>
                            <a:srgbClr val="000000"/>
                          </a:solidFill>
                          <a:effectLst/>
                          <a:latin typeface="Aptos Narrow" panose="020B0004020202020204" pitchFamily="34" charset="0"/>
                        </a:rPr>
                        <a:t>70km</a:t>
                      </a:r>
                    </a:p>
                  </a:txBody>
                  <a:tcPr marL="6350" marR="6350" marT="6350" marB="0" anchor="ctr"/>
                </a:tc>
                <a:extLst>
                  <a:ext uri="{0D108BD9-81ED-4DB2-BD59-A6C34878D82A}">
                    <a16:rowId xmlns:a16="http://schemas.microsoft.com/office/drawing/2014/main" val="2461381381"/>
                  </a:ext>
                </a:extLst>
              </a:tr>
            </a:tbl>
          </a:graphicData>
        </a:graphic>
      </p:graphicFrame>
      <p:sp>
        <p:nvSpPr>
          <p:cNvPr id="11" name="CuadroTexto 10">
            <a:extLst>
              <a:ext uri="{FF2B5EF4-FFF2-40B4-BE49-F238E27FC236}">
                <a16:creationId xmlns:a16="http://schemas.microsoft.com/office/drawing/2014/main" id="{A697C18A-67D6-A7C1-955D-5AB481B12C4B}"/>
              </a:ext>
            </a:extLst>
          </p:cNvPr>
          <p:cNvSpPr txBox="1"/>
          <p:nvPr/>
        </p:nvSpPr>
        <p:spPr>
          <a:xfrm>
            <a:off x="0" y="737756"/>
            <a:ext cx="11845319" cy="2308324"/>
          </a:xfrm>
          <a:prstGeom prst="rect">
            <a:avLst/>
          </a:prstGeom>
          <a:noFill/>
        </p:spPr>
        <p:txBody>
          <a:bodyPr wrap="square">
            <a:spAutoFit/>
          </a:bodyPr>
          <a:lstStyle/>
          <a:p>
            <a:r>
              <a:rPr lang="es-ES" sz="1600" b="1" dirty="0"/>
              <a:t>La fibra óptica </a:t>
            </a:r>
            <a:r>
              <a:rPr lang="es-ES" sz="1600" dirty="0"/>
              <a:t>utiliza </a:t>
            </a:r>
            <a:r>
              <a:rPr lang="es-ES" sz="1600" b="1" dirty="0"/>
              <a:t>pulsos de luz</a:t>
            </a:r>
            <a:r>
              <a:rPr lang="es-ES" sz="1600" dirty="0"/>
              <a:t> para enviar grandes volúmenes de datos a altas velocidades y largas distancias. Al no utilizar electricidad, es completamente inmune a las interferencias electromagnéticas (EMI). Dependiendo de las necesidades de la red, se clasifica en dos tipos principales:</a:t>
            </a:r>
          </a:p>
          <a:p>
            <a:endParaRPr lang="es-ES" sz="1600" dirty="0"/>
          </a:p>
          <a:p>
            <a:r>
              <a:rPr lang="es-ES" sz="1600" b="1" dirty="0"/>
              <a:t>Fibra Multimodo (MM):</a:t>
            </a:r>
            <a:r>
              <a:rPr lang="es-ES" sz="1600" dirty="0"/>
              <a:t> Utiliza un núcleo más grueso que permite que la luz viaje rebotando en múltiples caminos. Se genera mediante emisores </a:t>
            </a:r>
            <a:r>
              <a:rPr lang="es-ES" sz="1600" b="1" dirty="0"/>
              <a:t>LED o láseres económicos</a:t>
            </a:r>
            <a:r>
              <a:rPr lang="es-ES" sz="1600" dirty="0"/>
              <a:t>, siendo la opción ideal para </a:t>
            </a:r>
            <a:r>
              <a:rPr lang="es-ES" sz="1600" b="1" dirty="0"/>
              <a:t>distancias cortas</a:t>
            </a:r>
            <a:r>
              <a:rPr lang="es-ES" sz="1600" dirty="0"/>
              <a:t> dentro de edificios o centros de datos.</a:t>
            </a:r>
          </a:p>
          <a:p>
            <a:endParaRPr lang="es-ES" sz="1600" dirty="0"/>
          </a:p>
          <a:p>
            <a:r>
              <a:rPr lang="es-ES" sz="1600" b="1" dirty="0"/>
              <a:t>Fibra Monomodo (SM):</a:t>
            </a:r>
            <a:r>
              <a:rPr lang="es-ES" sz="1600" dirty="0"/>
              <a:t> Cuenta con un núcleo extremadamente delgado por donde la luz viaja en una sola línea recta. Utiliza un </a:t>
            </a:r>
            <a:r>
              <a:rPr lang="es-ES" sz="1600" b="1" dirty="0"/>
              <a:t>láser de alta potencia</a:t>
            </a:r>
            <a:r>
              <a:rPr lang="es-ES" sz="1600" dirty="0"/>
              <a:t>, lo que permite transmitir datos a </a:t>
            </a:r>
            <a:r>
              <a:rPr lang="es-ES" sz="1600" b="1" dirty="0"/>
              <a:t>largas distancias</a:t>
            </a:r>
            <a:r>
              <a:rPr lang="es-ES" sz="1600" dirty="0"/>
              <a:t> (kilómetros enteros) sin perder fuerza en la señal.</a:t>
            </a:r>
          </a:p>
        </p:txBody>
      </p:sp>
      <p:pic>
        <p:nvPicPr>
          <p:cNvPr id="13" name="Imagen 12">
            <a:extLst>
              <a:ext uri="{FF2B5EF4-FFF2-40B4-BE49-F238E27FC236}">
                <a16:creationId xmlns:a16="http://schemas.microsoft.com/office/drawing/2014/main" id="{D3C5FFF8-59E9-F903-8DB8-AD371D209D33}"/>
              </a:ext>
            </a:extLst>
          </p:cNvPr>
          <p:cNvPicPr>
            <a:picLocks noChangeAspect="1"/>
          </p:cNvPicPr>
          <p:nvPr/>
        </p:nvPicPr>
        <p:blipFill>
          <a:blip r:embed="rId2"/>
          <a:stretch>
            <a:fillRect/>
          </a:stretch>
        </p:blipFill>
        <p:spPr>
          <a:xfrm>
            <a:off x="62821" y="4585458"/>
            <a:ext cx="1025628" cy="698518"/>
          </a:xfrm>
          <a:prstGeom prst="rect">
            <a:avLst/>
          </a:prstGeom>
        </p:spPr>
      </p:pic>
    </p:spTree>
    <p:extLst>
      <p:ext uri="{BB962C8B-B14F-4D97-AF65-F5344CB8AC3E}">
        <p14:creationId xmlns:p14="http://schemas.microsoft.com/office/powerpoint/2010/main" val="14850959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7958D456-318D-0A7C-C5B4-2535BE96CCB7}"/>
              </a:ext>
            </a:extLst>
          </p:cNvPr>
          <p:cNvSpPr txBox="1"/>
          <p:nvPr/>
        </p:nvSpPr>
        <p:spPr>
          <a:xfrm>
            <a:off x="-321133" y="0"/>
            <a:ext cx="3329579" cy="461665"/>
          </a:xfrm>
          <a:prstGeom prst="rect">
            <a:avLst/>
          </a:prstGeom>
          <a:noFill/>
        </p:spPr>
        <p:txBody>
          <a:bodyPr wrap="square">
            <a:spAutoFit/>
          </a:bodyPr>
          <a:lstStyle/>
          <a:p>
            <a:pPr algn="ctr"/>
            <a:r>
              <a:rPr lang="es-ES" sz="1200" dirty="0">
                <a:ln w="0"/>
                <a:effectLst>
                  <a:outerShdw blurRad="38100" dist="19050" dir="2700000" algn="tl" rotWithShape="0">
                    <a:schemeClr val="dk1">
                      <a:alpha val="40000"/>
                    </a:schemeClr>
                  </a:outerShdw>
                </a:effectLst>
              </a:rPr>
              <a:t>1. Introducción a las redes</a:t>
            </a:r>
          </a:p>
          <a:p>
            <a:pPr algn="ctr"/>
            <a:r>
              <a:rPr lang="es-ES" sz="1200" b="1" dirty="0"/>
              <a:t>Ethernet y ¿Cómo funciona una LAN?</a:t>
            </a:r>
          </a:p>
        </p:txBody>
      </p:sp>
      <p:sp>
        <p:nvSpPr>
          <p:cNvPr id="7" name="CuadroTexto 6">
            <a:extLst>
              <a:ext uri="{FF2B5EF4-FFF2-40B4-BE49-F238E27FC236}">
                <a16:creationId xmlns:a16="http://schemas.microsoft.com/office/drawing/2014/main" id="{69A3C889-82B6-7B36-BD8C-A2AFD90CBCFA}"/>
              </a:ext>
            </a:extLst>
          </p:cNvPr>
          <p:cNvSpPr txBox="1"/>
          <p:nvPr/>
        </p:nvSpPr>
        <p:spPr>
          <a:xfrm>
            <a:off x="20649" y="2489303"/>
            <a:ext cx="3560169" cy="2385268"/>
          </a:xfrm>
          <a:prstGeom prst="rect">
            <a:avLst/>
          </a:prstGeom>
          <a:noFill/>
        </p:spPr>
        <p:txBody>
          <a:bodyPr wrap="square">
            <a:spAutoFit/>
          </a:bodyPr>
          <a:lstStyle/>
          <a:p>
            <a:pPr marL="0" marR="0">
              <a:spcBef>
                <a:spcPts val="1800"/>
              </a:spcBef>
              <a:spcAft>
                <a:spcPts val="900"/>
              </a:spcAft>
              <a:buNone/>
            </a:pPr>
            <a:r>
              <a:rPr lang="es-ES" sz="1400" b="1" u="none" strike="noStrike" dirty="0">
                <a:effectLst/>
                <a:latin typeface="Google Sans"/>
              </a:rPr>
              <a:t> Fibra Multimodo (MMF)</a:t>
            </a:r>
          </a:p>
          <a:p>
            <a:pPr marL="0" marR="0">
              <a:spcBef>
                <a:spcPts val="900"/>
              </a:spcBef>
              <a:spcAft>
                <a:spcPts val="900"/>
              </a:spcAft>
              <a:buFont typeface="Arial" panose="020B0604020202020204" pitchFamily="34" charset="0"/>
              <a:buChar char="•"/>
            </a:pPr>
            <a:r>
              <a:rPr lang="es-ES" sz="1200" b="1" u="none" strike="noStrike" dirty="0">
                <a:effectLst/>
                <a:latin typeface="Google Sans"/>
              </a:rPr>
              <a:t>Luz</a:t>
            </a:r>
            <a:r>
              <a:rPr lang="es-ES" sz="1200" b="0" u="none" strike="noStrike" dirty="0">
                <a:effectLst/>
                <a:latin typeface="Google Sans"/>
              </a:rPr>
              <a:t>: Usa transmisores LED económicos.</a:t>
            </a:r>
          </a:p>
          <a:p>
            <a:pPr marL="0" marR="0">
              <a:spcBef>
                <a:spcPts val="900"/>
              </a:spcBef>
              <a:spcAft>
                <a:spcPts val="900"/>
              </a:spcAft>
              <a:buFont typeface="Arial" panose="020B0604020202020204" pitchFamily="34" charset="0"/>
              <a:buChar char="•"/>
            </a:pPr>
            <a:r>
              <a:rPr lang="es-ES" sz="1200" b="1" u="none" strike="noStrike" dirty="0">
                <a:effectLst/>
                <a:latin typeface="Google Sans"/>
              </a:rPr>
              <a:t>Ángulos</a:t>
            </a:r>
            <a:r>
              <a:rPr lang="es-ES" sz="1200" b="0" u="none" strike="noStrike" dirty="0">
                <a:effectLst/>
                <a:latin typeface="Google Sans"/>
              </a:rPr>
              <a:t>: Permite múltiples modos de luz.</a:t>
            </a:r>
          </a:p>
          <a:p>
            <a:pPr marL="0" marR="0">
              <a:spcBef>
                <a:spcPts val="900"/>
              </a:spcBef>
              <a:spcAft>
                <a:spcPts val="900"/>
              </a:spcAft>
              <a:buFont typeface="Arial" panose="020B0604020202020204" pitchFamily="34" charset="0"/>
              <a:buChar char="•"/>
            </a:pPr>
            <a:r>
              <a:rPr lang="es-ES" sz="1200" b="1" u="none" strike="noStrike" dirty="0">
                <a:effectLst/>
                <a:latin typeface="Google Sans"/>
              </a:rPr>
              <a:t>Núcleo</a:t>
            </a:r>
            <a:r>
              <a:rPr lang="es-ES" sz="1200" b="0" u="none" strike="noStrike" dirty="0">
                <a:effectLst/>
                <a:latin typeface="Google Sans"/>
              </a:rPr>
              <a:t>: Tiene un diámetro grande.</a:t>
            </a:r>
          </a:p>
          <a:p>
            <a:pPr marL="0" marR="0">
              <a:spcBef>
                <a:spcPts val="900"/>
              </a:spcBef>
              <a:spcAft>
                <a:spcPts val="900"/>
              </a:spcAft>
              <a:buFont typeface="Arial" panose="020B0604020202020204" pitchFamily="34" charset="0"/>
              <a:buChar char="•"/>
            </a:pPr>
            <a:r>
              <a:rPr lang="es-ES" sz="1200" b="1" u="none" strike="noStrike" dirty="0">
                <a:effectLst/>
                <a:latin typeface="Google Sans"/>
              </a:rPr>
              <a:t>Alcance</a:t>
            </a:r>
            <a:r>
              <a:rPr lang="es-ES" sz="1200" b="0" u="none" strike="noStrike" dirty="0">
                <a:effectLst/>
                <a:latin typeface="Google Sans"/>
              </a:rPr>
              <a:t>: Soporta distancias de hasta 400 metros.</a:t>
            </a:r>
          </a:p>
          <a:p>
            <a:pPr marL="0" marR="0">
              <a:spcBef>
                <a:spcPts val="900"/>
              </a:spcBef>
              <a:spcAft>
                <a:spcPts val="900"/>
              </a:spcAft>
              <a:buFont typeface="Arial" panose="020B0604020202020204" pitchFamily="34" charset="0"/>
              <a:buChar char="•"/>
            </a:pPr>
            <a:r>
              <a:rPr lang="es-ES" sz="1200" b="1" u="none" strike="noStrike" dirty="0">
                <a:effectLst/>
                <a:latin typeface="Google Sans"/>
              </a:rPr>
              <a:t>Uso</a:t>
            </a:r>
            <a:r>
              <a:rPr lang="es-ES" sz="1200" b="0" u="none" strike="noStrike" dirty="0">
                <a:effectLst/>
                <a:latin typeface="Google Sans"/>
              </a:rPr>
              <a:t>: Conecta dispositivos en mismos edificios.</a:t>
            </a:r>
          </a:p>
        </p:txBody>
      </p:sp>
      <p:sp>
        <p:nvSpPr>
          <p:cNvPr id="9" name="CuadroTexto 8">
            <a:extLst>
              <a:ext uri="{FF2B5EF4-FFF2-40B4-BE49-F238E27FC236}">
                <a16:creationId xmlns:a16="http://schemas.microsoft.com/office/drawing/2014/main" id="{914DF79F-4091-65E4-5C77-C8D83F3A250C}"/>
              </a:ext>
            </a:extLst>
          </p:cNvPr>
          <p:cNvSpPr txBox="1"/>
          <p:nvPr/>
        </p:nvSpPr>
        <p:spPr>
          <a:xfrm>
            <a:off x="8796028" y="2508059"/>
            <a:ext cx="3395972" cy="2600712"/>
          </a:xfrm>
          <a:prstGeom prst="rect">
            <a:avLst/>
          </a:prstGeom>
          <a:noFill/>
        </p:spPr>
        <p:txBody>
          <a:bodyPr wrap="square">
            <a:spAutoFit/>
          </a:bodyPr>
          <a:lstStyle/>
          <a:p>
            <a:pPr marL="0" marR="0">
              <a:spcBef>
                <a:spcPts val="1800"/>
              </a:spcBef>
              <a:spcAft>
                <a:spcPts val="900"/>
              </a:spcAft>
              <a:buNone/>
            </a:pPr>
            <a:r>
              <a:rPr lang="es-ES" sz="1400" b="1" u="none" strike="noStrike" dirty="0">
                <a:effectLst/>
                <a:latin typeface="Google Sans"/>
              </a:rPr>
              <a:t> Fibra Monomodo (SMF)</a:t>
            </a:r>
          </a:p>
          <a:p>
            <a:pPr marL="0" marR="0">
              <a:spcBef>
                <a:spcPts val="900"/>
              </a:spcBef>
              <a:spcAft>
                <a:spcPts val="900"/>
              </a:spcAft>
              <a:buFont typeface="Arial" panose="020B0604020202020204" pitchFamily="34" charset="0"/>
              <a:buChar char="•"/>
            </a:pPr>
            <a:r>
              <a:rPr lang="es-ES" sz="1200" b="1" u="none" strike="noStrike" dirty="0">
                <a:effectLst/>
                <a:latin typeface="Google Sans"/>
              </a:rPr>
              <a:t>Luz</a:t>
            </a:r>
            <a:r>
              <a:rPr lang="es-ES" sz="1200" b="0" u="none" strike="noStrike" dirty="0">
                <a:effectLst/>
                <a:latin typeface="Google Sans"/>
              </a:rPr>
              <a:t>: Emplea transmisores láser costosos.</a:t>
            </a:r>
          </a:p>
          <a:p>
            <a:pPr marL="0" marR="0">
              <a:spcBef>
                <a:spcPts val="900"/>
              </a:spcBef>
              <a:spcAft>
                <a:spcPts val="900"/>
              </a:spcAft>
              <a:buFont typeface="Arial" panose="020B0604020202020204" pitchFamily="34" charset="0"/>
              <a:buChar char="•"/>
            </a:pPr>
            <a:r>
              <a:rPr lang="es-ES" sz="1200" b="1" u="none" strike="noStrike" dirty="0">
                <a:effectLst/>
                <a:latin typeface="Google Sans"/>
              </a:rPr>
              <a:t>Ángulos</a:t>
            </a:r>
            <a:r>
              <a:rPr lang="es-ES" sz="1200" b="0" u="none" strike="noStrike" dirty="0">
                <a:effectLst/>
                <a:latin typeface="Google Sans"/>
              </a:rPr>
              <a:t>: Envía luz a un solo ángulo.</a:t>
            </a:r>
          </a:p>
          <a:p>
            <a:pPr marL="0" marR="0">
              <a:spcBef>
                <a:spcPts val="900"/>
              </a:spcBef>
              <a:spcAft>
                <a:spcPts val="900"/>
              </a:spcAft>
              <a:buFont typeface="Arial" panose="020B0604020202020204" pitchFamily="34" charset="0"/>
              <a:buChar char="•"/>
            </a:pPr>
            <a:r>
              <a:rPr lang="es-ES" sz="1200" b="1" u="none" strike="noStrike" dirty="0">
                <a:effectLst/>
                <a:latin typeface="Google Sans"/>
              </a:rPr>
              <a:t>Núcleo</a:t>
            </a:r>
            <a:r>
              <a:rPr lang="es-ES" sz="1200" b="0" u="none" strike="noStrike" dirty="0">
                <a:effectLst/>
                <a:latin typeface="Google Sans"/>
              </a:rPr>
              <a:t>: Diámetro cinco veces más pequeño.</a:t>
            </a:r>
          </a:p>
          <a:p>
            <a:pPr marL="0" marR="0">
              <a:spcBef>
                <a:spcPts val="900"/>
              </a:spcBef>
              <a:spcAft>
                <a:spcPts val="900"/>
              </a:spcAft>
              <a:buFont typeface="Arial" panose="020B0604020202020204" pitchFamily="34" charset="0"/>
              <a:buChar char="•"/>
            </a:pPr>
            <a:r>
              <a:rPr lang="es-ES" sz="1200" b="1" u="none" strike="noStrike" dirty="0">
                <a:effectLst/>
                <a:latin typeface="Google Sans"/>
              </a:rPr>
              <a:t>Alcance</a:t>
            </a:r>
            <a:r>
              <a:rPr lang="es-ES" sz="1200" b="0" u="none" strike="noStrike" dirty="0">
                <a:effectLst/>
                <a:latin typeface="Google Sans"/>
              </a:rPr>
              <a:t>: Llega a decenas de kilómetros.</a:t>
            </a:r>
          </a:p>
          <a:p>
            <a:pPr marL="0" marR="0">
              <a:spcBef>
                <a:spcPts val="900"/>
              </a:spcBef>
              <a:spcAft>
                <a:spcPts val="900"/>
              </a:spcAft>
              <a:buFont typeface="Arial" panose="020B0604020202020204" pitchFamily="34" charset="0"/>
              <a:buChar char="•"/>
            </a:pPr>
            <a:r>
              <a:rPr lang="es-ES" sz="1200" b="1" u="none" strike="noStrike" dirty="0">
                <a:effectLst/>
                <a:latin typeface="Google Sans"/>
              </a:rPr>
              <a:t>Hardware</a:t>
            </a:r>
            <a:r>
              <a:rPr lang="es-ES" sz="1200" b="0" u="none" strike="noStrike" dirty="0">
                <a:effectLst/>
                <a:latin typeface="Google Sans"/>
              </a:rPr>
              <a:t>: Requiere componentes SFP/SFP+ más caros</a:t>
            </a:r>
            <a:r>
              <a:rPr lang="es-ES" sz="1400" b="0" u="none" strike="noStrike" dirty="0">
                <a:effectLst/>
                <a:latin typeface="Google Sans"/>
              </a:rPr>
              <a:t>.</a:t>
            </a:r>
          </a:p>
        </p:txBody>
      </p:sp>
      <p:pic>
        <p:nvPicPr>
          <p:cNvPr id="11" name="Imagen 10">
            <a:extLst>
              <a:ext uri="{FF2B5EF4-FFF2-40B4-BE49-F238E27FC236}">
                <a16:creationId xmlns:a16="http://schemas.microsoft.com/office/drawing/2014/main" id="{578BAD81-4DD8-6495-FFFD-F6C72D5B5C9A}"/>
              </a:ext>
            </a:extLst>
          </p:cNvPr>
          <p:cNvPicPr>
            <a:picLocks noChangeAspect="1"/>
          </p:cNvPicPr>
          <p:nvPr/>
        </p:nvPicPr>
        <p:blipFill>
          <a:blip r:embed="rId2"/>
          <a:stretch>
            <a:fillRect/>
          </a:stretch>
        </p:blipFill>
        <p:spPr>
          <a:xfrm>
            <a:off x="10312011" y="1663732"/>
            <a:ext cx="1166824" cy="750873"/>
          </a:xfrm>
          <a:prstGeom prst="rect">
            <a:avLst/>
          </a:prstGeom>
        </p:spPr>
      </p:pic>
      <p:sp>
        <p:nvSpPr>
          <p:cNvPr id="13" name="CuadroTexto 12">
            <a:extLst>
              <a:ext uri="{FF2B5EF4-FFF2-40B4-BE49-F238E27FC236}">
                <a16:creationId xmlns:a16="http://schemas.microsoft.com/office/drawing/2014/main" id="{619A5706-C375-D057-49FC-95276C318EA1}"/>
              </a:ext>
            </a:extLst>
          </p:cNvPr>
          <p:cNvSpPr txBox="1"/>
          <p:nvPr/>
        </p:nvSpPr>
        <p:spPr>
          <a:xfrm>
            <a:off x="2011573" y="566905"/>
            <a:ext cx="7936434" cy="1169551"/>
          </a:xfrm>
          <a:prstGeom prst="rect">
            <a:avLst/>
          </a:prstGeom>
          <a:noFill/>
        </p:spPr>
        <p:txBody>
          <a:bodyPr wrap="square">
            <a:spAutoFit/>
          </a:bodyPr>
          <a:lstStyle/>
          <a:p>
            <a:r>
              <a:rPr lang="es-ES" sz="1400" dirty="0"/>
              <a:t>El método estándar de conectar switches mediante fibra óptica requiere usar un par de hilos de fibra (dos cables independientes), uno para transmisión y otro para recepción de datos.</a:t>
            </a:r>
          </a:p>
          <a:p>
            <a:endParaRPr lang="es-ES" sz="1400" dirty="0"/>
          </a:p>
          <a:p>
            <a:r>
              <a:rPr lang="es-ES" sz="1400" dirty="0"/>
              <a:t>Su puerto en un dispositivo es un transceptor compacto y extraíble utilizado en redes de datos llamado </a:t>
            </a:r>
            <a:r>
              <a:rPr lang="es-ES" sz="1400" b="1" dirty="0"/>
              <a:t>SFP (Small Form-Factor Pluggable).</a:t>
            </a:r>
          </a:p>
        </p:txBody>
      </p:sp>
      <p:pic>
        <p:nvPicPr>
          <p:cNvPr id="15" name="Imagen 14">
            <a:extLst>
              <a:ext uri="{FF2B5EF4-FFF2-40B4-BE49-F238E27FC236}">
                <a16:creationId xmlns:a16="http://schemas.microsoft.com/office/drawing/2014/main" id="{FC62D01D-9D1B-DF98-C48A-233E90B97141}"/>
              </a:ext>
            </a:extLst>
          </p:cNvPr>
          <p:cNvPicPr>
            <a:picLocks noChangeAspect="1"/>
          </p:cNvPicPr>
          <p:nvPr/>
        </p:nvPicPr>
        <p:blipFill>
          <a:blip r:embed="rId3"/>
          <a:stretch>
            <a:fillRect/>
          </a:stretch>
        </p:blipFill>
        <p:spPr>
          <a:xfrm>
            <a:off x="10312011" y="566905"/>
            <a:ext cx="1025628" cy="698518"/>
          </a:xfrm>
          <a:prstGeom prst="rect">
            <a:avLst/>
          </a:prstGeom>
        </p:spPr>
      </p:pic>
      <p:pic>
        <p:nvPicPr>
          <p:cNvPr id="19" name="Imagen 18">
            <a:extLst>
              <a:ext uri="{FF2B5EF4-FFF2-40B4-BE49-F238E27FC236}">
                <a16:creationId xmlns:a16="http://schemas.microsoft.com/office/drawing/2014/main" id="{38D5F0CC-35B8-550D-251D-A505238B83C0}"/>
              </a:ext>
            </a:extLst>
          </p:cNvPr>
          <p:cNvPicPr>
            <a:picLocks noChangeAspect="1"/>
          </p:cNvPicPr>
          <p:nvPr/>
        </p:nvPicPr>
        <p:blipFill>
          <a:blip r:embed="rId4"/>
          <a:stretch>
            <a:fillRect/>
          </a:stretch>
        </p:blipFill>
        <p:spPr>
          <a:xfrm>
            <a:off x="1052191" y="5137392"/>
            <a:ext cx="1474148" cy="1427840"/>
          </a:xfrm>
          <a:prstGeom prst="rect">
            <a:avLst/>
          </a:prstGeom>
        </p:spPr>
      </p:pic>
      <p:pic>
        <p:nvPicPr>
          <p:cNvPr id="21" name="Imagen 20">
            <a:extLst>
              <a:ext uri="{FF2B5EF4-FFF2-40B4-BE49-F238E27FC236}">
                <a16:creationId xmlns:a16="http://schemas.microsoft.com/office/drawing/2014/main" id="{CFA42769-9DA9-18B6-8B33-15C779E52DF0}"/>
              </a:ext>
            </a:extLst>
          </p:cNvPr>
          <p:cNvPicPr>
            <a:picLocks noChangeAspect="1"/>
          </p:cNvPicPr>
          <p:nvPr/>
        </p:nvPicPr>
        <p:blipFill>
          <a:blip r:embed="rId5"/>
          <a:stretch>
            <a:fillRect/>
          </a:stretch>
        </p:blipFill>
        <p:spPr>
          <a:xfrm>
            <a:off x="9948007" y="5194268"/>
            <a:ext cx="1389632" cy="1458922"/>
          </a:xfrm>
          <a:prstGeom prst="rect">
            <a:avLst/>
          </a:prstGeom>
        </p:spPr>
      </p:pic>
      <p:sp>
        <p:nvSpPr>
          <p:cNvPr id="22" name="CuadroTexto 21">
            <a:extLst>
              <a:ext uri="{FF2B5EF4-FFF2-40B4-BE49-F238E27FC236}">
                <a16:creationId xmlns:a16="http://schemas.microsoft.com/office/drawing/2014/main" id="{ECDF7CC4-76BB-79C6-9D8E-8C996A0DA5CC}"/>
              </a:ext>
            </a:extLst>
          </p:cNvPr>
          <p:cNvSpPr txBox="1"/>
          <p:nvPr/>
        </p:nvSpPr>
        <p:spPr>
          <a:xfrm>
            <a:off x="10610729" y="1405911"/>
            <a:ext cx="569387" cy="369332"/>
          </a:xfrm>
          <a:prstGeom prst="rect">
            <a:avLst/>
          </a:prstGeom>
          <a:noFill/>
        </p:spPr>
        <p:txBody>
          <a:bodyPr wrap="none" rtlCol="0">
            <a:spAutoFit/>
          </a:bodyPr>
          <a:lstStyle/>
          <a:p>
            <a:r>
              <a:rPr lang="es-ES" dirty="0"/>
              <a:t>SFP</a:t>
            </a:r>
          </a:p>
        </p:txBody>
      </p:sp>
      <p:pic>
        <p:nvPicPr>
          <p:cNvPr id="3" name="Imagen 2">
            <a:extLst>
              <a:ext uri="{FF2B5EF4-FFF2-40B4-BE49-F238E27FC236}">
                <a16:creationId xmlns:a16="http://schemas.microsoft.com/office/drawing/2014/main" id="{713F5352-428A-7C97-994D-8B29D4BE2065}"/>
              </a:ext>
            </a:extLst>
          </p:cNvPr>
          <p:cNvPicPr>
            <a:picLocks noChangeAspect="1"/>
          </p:cNvPicPr>
          <p:nvPr/>
        </p:nvPicPr>
        <p:blipFill>
          <a:blip r:embed="rId6"/>
          <a:stretch>
            <a:fillRect/>
          </a:stretch>
        </p:blipFill>
        <p:spPr>
          <a:xfrm>
            <a:off x="3604085" y="1921725"/>
            <a:ext cx="4483330" cy="1949550"/>
          </a:xfrm>
          <a:prstGeom prst="rect">
            <a:avLst/>
          </a:prstGeom>
        </p:spPr>
      </p:pic>
      <p:sp>
        <p:nvSpPr>
          <p:cNvPr id="6" name="CuadroTexto 5">
            <a:extLst>
              <a:ext uri="{FF2B5EF4-FFF2-40B4-BE49-F238E27FC236}">
                <a16:creationId xmlns:a16="http://schemas.microsoft.com/office/drawing/2014/main" id="{CE7D769A-B02B-7BA4-9A23-5A870E59F7ED}"/>
              </a:ext>
            </a:extLst>
          </p:cNvPr>
          <p:cNvSpPr txBox="1"/>
          <p:nvPr/>
        </p:nvSpPr>
        <p:spPr>
          <a:xfrm>
            <a:off x="3255532" y="4056544"/>
            <a:ext cx="5540496" cy="2677656"/>
          </a:xfrm>
          <a:prstGeom prst="rect">
            <a:avLst/>
          </a:prstGeom>
          <a:noFill/>
        </p:spPr>
        <p:txBody>
          <a:bodyPr wrap="square">
            <a:spAutoFit/>
          </a:bodyPr>
          <a:lstStyle/>
          <a:p>
            <a:pPr marL="0" marR="0">
              <a:spcBef>
                <a:spcPts val="900"/>
              </a:spcBef>
              <a:spcAft>
                <a:spcPts val="900"/>
              </a:spcAft>
              <a:buFont typeface="Arial" panose="020B0604020202020204" pitchFamily="34" charset="0"/>
              <a:buChar char="•"/>
            </a:pPr>
            <a:r>
              <a:rPr lang="es-ES" sz="1200" b="1" u="none" strike="noStrike" dirty="0">
                <a:effectLst/>
                <a:latin typeface="Google Sans"/>
              </a:rPr>
              <a:t>Core (Núcleo)</a:t>
            </a:r>
            <a:r>
              <a:rPr lang="es-ES" sz="1200" b="0" u="none" strike="noStrike" dirty="0">
                <a:effectLst/>
                <a:latin typeface="Google Sans"/>
              </a:rPr>
              <a:t>: Filamento central de vidrio donde </a:t>
            </a:r>
            <a:r>
              <a:rPr lang="es-ES" sz="1200" b="1" u="none" strike="noStrike" dirty="0">
                <a:effectLst/>
                <a:latin typeface="Google Sans"/>
              </a:rPr>
              <a:t>viaja la luz</a:t>
            </a:r>
            <a:r>
              <a:rPr lang="es-ES" sz="1200" b="0" u="none" strike="noStrike" dirty="0">
                <a:effectLst/>
                <a:latin typeface="Google Sans"/>
              </a:rPr>
              <a:t> con la información.</a:t>
            </a:r>
          </a:p>
          <a:p>
            <a:pPr marL="0" marR="0">
              <a:spcBef>
                <a:spcPts val="900"/>
              </a:spcBef>
              <a:spcAft>
                <a:spcPts val="900"/>
              </a:spcAft>
              <a:buFont typeface="Arial" panose="020B0604020202020204" pitchFamily="34" charset="0"/>
              <a:buChar char="•"/>
            </a:pPr>
            <a:r>
              <a:rPr lang="es-ES" sz="1200" b="1" u="none" strike="noStrike" dirty="0">
                <a:effectLst/>
                <a:latin typeface="Google Sans"/>
              </a:rPr>
              <a:t>Cladding (Revestimiento)</a:t>
            </a:r>
            <a:r>
              <a:rPr lang="es-ES" sz="1200" b="0" u="none" strike="noStrike" dirty="0">
                <a:effectLst/>
                <a:latin typeface="Google Sans"/>
              </a:rPr>
              <a:t>: Capa de vidrio exterior que </a:t>
            </a:r>
            <a:r>
              <a:rPr lang="es-ES" sz="1200" b="1" u="none" strike="noStrike" dirty="0">
                <a:effectLst/>
                <a:latin typeface="Google Sans"/>
              </a:rPr>
              <a:t>refleja la luz</a:t>
            </a:r>
            <a:r>
              <a:rPr lang="es-ES" sz="1200" b="0" u="none" strike="noStrike" dirty="0">
                <a:effectLst/>
                <a:latin typeface="Google Sans"/>
              </a:rPr>
              <a:t> hacia el centro para que no se escape.</a:t>
            </a:r>
          </a:p>
          <a:p>
            <a:pPr marL="0" marR="0">
              <a:spcBef>
                <a:spcPts val="900"/>
              </a:spcBef>
              <a:spcAft>
                <a:spcPts val="900"/>
              </a:spcAft>
              <a:buFont typeface="Arial" panose="020B0604020202020204" pitchFamily="34" charset="0"/>
              <a:buChar char="•"/>
            </a:pPr>
            <a:r>
              <a:rPr lang="es-ES" sz="1200" b="1" u="none" strike="noStrike" dirty="0">
                <a:effectLst/>
                <a:latin typeface="Google Sans"/>
              </a:rPr>
              <a:t>Buffer (Amortiguador)</a:t>
            </a:r>
            <a:r>
              <a:rPr lang="es-ES" sz="1200" b="0" u="none" strike="noStrike" dirty="0">
                <a:effectLst/>
                <a:latin typeface="Google Sans"/>
              </a:rPr>
              <a:t>: Cubierta plástica que </a:t>
            </a:r>
            <a:r>
              <a:rPr lang="es-ES" sz="1200" b="1" u="none" strike="noStrike" dirty="0">
                <a:effectLst/>
                <a:latin typeface="Google Sans"/>
              </a:rPr>
              <a:t>protege el vidrio</a:t>
            </a:r>
            <a:r>
              <a:rPr lang="es-ES" sz="1200" b="0" u="none" strike="noStrike" dirty="0">
                <a:effectLst/>
                <a:latin typeface="Google Sans"/>
              </a:rPr>
              <a:t> contra golpes y humedad.</a:t>
            </a:r>
          </a:p>
          <a:p>
            <a:pPr marL="0" marR="0">
              <a:spcBef>
                <a:spcPts val="900"/>
              </a:spcBef>
              <a:spcAft>
                <a:spcPts val="900"/>
              </a:spcAft>
              <a:buFont typeface="Arial" panose="020B0604020202020204" pitchFamily="34" charset="0"/>
              <a:buChar char="•"/>
            </a:pPr>
            <a:r>
              <a:rPr lang="es-ES" sz="1200" b="1" u="none" strike="noStrike" dirty="0">
                <a:effectLst/>
                <a:latin typeface="Google Sans"/>
              </a:rPr>
              <a:t>Strengthener (Fortalecedor)</a:t>
            </a:r>
            <a:r>
              <a:rPr lang="es-ES" sz="1200" b="0" u="none" strike="noStrike" dirty="0">
                <a:effectLst/>
                <a:latin typeface="Google Sans"/>
              </a:rPr>
              <a:t>: Fibras internas (como Kevlar) que </a:t>
            </a:r>
            <a:r>
              <a:rPr lang="es-ES" sz="1200" b="1" u="none" strike="noStrike" dirty="0">
                <a:effectLst/>
                <a:latin typeface="Google Sans"/>
              </a:rPr>
              <a:t>evitan que el cable se rompa</a:t>
            </a:r>
            <a:r>
              <a:rPr lang="es-ES" sz="1200" b="0" u="none" strike="noStrike" dirty="0">
                <a:effectLst/>
                <a:latin typeface="Google Sans"/>
              </a:rPr>
              <a:t> al estirarlo.</a:t>
            </a:r>
          </a:p>
          <a:p>
            <a:pPr marL="0" marR="0">
              <a:spcBef>
                <a:spcPts val="900"/>
              </a:spcBef>
              <a:spcAft>
                <a:spcPts val="900"/>
              </a:spcAft>
              <a:buFont typeface="Arial" panose="020B0604020202020204" pitchFamily="34" charset="0"/>
              <a:buChar char="•"/>
            </a:pPr>
            <a:r>
              <a:rPr lang="es-ES" sz="1200" b="1" u="none" strike="noStrike" dirty="0">
                <a:effectLst/>
                <a:latin typeface="Google Sans"/>
              </a:rPr>
              <a:t>Outer Jacket (Cubierta exterior)</a:t>
            </a:r>
            <a:r>
              <a:rPr lang="es-ES" sz="1200" b="0" u="none" strike="noStrike" dirty="0">
                <a:effectLst/>
                <a:latin typeface="Google Sans"/>
              </a:rPr>
              <a:t>: Capa plástica externa que </a:t>
            </a:r>
            <a:r>
              <a:rPr lang="es-ES" sz="1200" b="1" u="none" strike="noStrike" dirty="0">
                <a:effectLst/>
                <a:latin typeface="Google Sans"/>
              </a:rPr>
              <a:t>protege todo el cable</a:t>
            </a:r>
            <a:r>
              <a:rPr lang="es-ES" sz="1200" b="0" u="none" strike="noStrike" dirty="0">
                <a:effectLst/>
                <a:latin typeface="Google Sans"/>
              </a:rPr>
              <a:t> del clima y del entorno.</a:t>
            </a:r>
          </a:p>
        </p:txBody>
      </p:sp>
      <p:sp>
        <p:nvSpPr>
          <p:cNvPr id="10" name="Rectángulo 9">
            <a:extLst>
              <a:ext uri="{FF2B5EF4-FFF2-40B4-BE49-F238E27FC236}">
                <a16:creationId xmlns:a16="http://schemas.microsoft.com/office/drawing/2014/main" id="{A45356A9-F0C7-1B3B-55E9-0D15105EF091}"/>
              </a:ext>
            </a:extLst>
          </p:cNvPr>
          <p:cNvSpPr/>
          <p:nvPr/>
        </p:nvSpPr>
        <p:spPr>
          <a:xfrm>
            <a:off x="4143866" y="0"/>
            <a:ext cx="3255095" cy="707886"/>
          </a:xfrm>
          <a:prstGeom prst="rect">
            <a:avLst/>
          </a:prstGeom>
          <a:noFill/>
        </p:spPr>
        <p:txBody>
          <a:bodyPr wrap="square" lIns="91440" tIns="45720" rIns="91440" bIns="45720">
            <a:spAutoFit/>
          </a:bodyPr>
          <a:lstStyle/>
          <a:p>
            <a:pPr algn="ctr"/>
            <a:r>
              <a:rPr lang="es-ES" sz="4000" b="0" cap="none" spc="0" dirty="0">
                <a:ln w="0"/>
                <a:solidFill>
                  <a:schemeClr val="tx1"/>
                </a:solidFill>
                <a:effectLst>
                  <a:outerShdw blurRad="38100" dist="19050" dir="2700000" algn="tl" rotWithShape="0">
                    <a:schemeClr val="dk1">
                      <a:alpha val="40000"/>
                    </a:schemeClr>
                  </a:outerShdw>
                </a:effectLst>
              </a:rPr>
              <a:t>Fibra Óptica</a:t>
            </a:r>
          </a:p>
        </p:txBody>
      </p:sp>
    </p:spTree>
    <p:extLst>
      <p:ext uri="{BB962C8B-B14F-4D97-AF65-F5344CB8AC3E}">
        <p14:creationId xmlns:p14="http://schemas.microsoft.com/office/powerpoint/2010/main" val="24383499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1C5B8C45-E26E-56BE-B893-D15D495E4578}"/>
              </a:ext>
            </a:extLst>
          </p:cNvPr>
          <p:cNvSpPr txBox="1"/>
          <p:nvPr/>
        </p:nvSpPr>
        <p:spPr>
          <a:xfrm>
            <a:off x="-321133" y="0"/>
            <a:ext cx="3329579" cy="461665"/>
          </a:xfrm>
          <a:prstGeom prst="rect">
            <a:avLst/>
          </a:prstGeom>
          <a:noFill/>
        </p:spPr>
        <p:txBody>
          <a:bodyPr wrap="square">
            <a:spAutoFit/>
          </a:bodyPr>
          <a:lstStyle/>
          <a:p>
            <a:pPr algn="ctr"/>
            <a:r>
              <a:rPr lang="es-ES" sz="1200" dirty="0">
                <a:ln w="0"/>
                <a:effectLst>
                  <a:outerShdw blurRad="38100" dist="19050" dir="2700000" algn="tl" rotWithShape="0">
                    <a:schemeClr val="dk1">
                      <a:alpha val="40000"/>
                    </a:schemeClr>
                  </a:outerShdw>
                </a:effectLst>
              </a:rPr>
              <a:t>1. Introducción a las redes</a:t>
            </a:r>
          </a:p>
          <a:p>
            <a:pPr algn="ctr"/>
            <a:r>
              <a:rPr lang="es-ES" sz="1200" b="1" dirty="0"/>
              <a:t>Ethernet y ¿Cómo funciona una LAN?</a:t>
            </a:r>
          </a:p>
        </p:txBody>
      </p:sp>
      <p:sp>
        <p:nvSpPr>
          <p:cNvPr id="7" name="CuadroTexto 6">
            <a:extLst>
              <a:ext uri="{FF2B5EF4-FFF2-40B4-BE49-F238E27FC236}">
                <a16:creationId xmlns:a16="http://schemas.microsoft.com/office/drawing/2014/main" id="{9DB572BA-939E-53CC-08DB-944960B010F0}"/>
              </a:ext>
            </a:extLst>
          </p:cNvPr>
          <p:cNvSpPr txBox="1"/>
          <p:nvPr/>
        </p:nvSpPr>
        <p:spPr>
          <a:xfrm>
            <a:off x="4653528" y="105503"/>
            <a:ext cx="2644442" cy="461665"/>
          </a:xfrm>
          <a:prstGeom prst="rect">
            <a:avLst/>
          </a:prstGeom>
          <a:noFill/>
        </p:spPr>
        <p:txBody>
          <a:bodyPr wrap="none" rtlCol="0">
            <a:spAutoFit/>
          </a:bodyPr>
          <a:lstStyle/>
          <a:p>
            <a:r>
              <a:rPr lang="es-ES" sz="2400" b="1" dirty="0"/>
              <a:t>Encapsulamiento</a:t>
            </a:r>
          </a:p>
        </p:txBody>
      </p:sp>
      <p:sp>
        <p:nvSpPr>
          <p:cNvPr id="8" name="CuadroTexto 7">
            <a:extLst>
              <a:ext uri="{FF2B5EF4-FFF2-40B4-BE49-F238E27FC236}">
                <a16:creationId xmlns:a16="http://schemas.microsoft.com/office/drawing/2014/main" id="{AB7E9D4F-4C54-6E17-AEB5-085AE630EE7F}"/>
              </a:ext>
            </a:extLst>
          </p:cNvPr>
          <p:cNvSpPr txBox="1"/>
          <p:nvPr/>
        </p:nvSpPr>
        <p:spPr>
          <a:xfrm>
            <a:off x="157359" y="583981"/>
            <a:ext cx="11500965" cy="2585323"/>
          </a:xfrm>
          <a:prstGeom prst="rect">
            <a:avLst/>
          </a:prstGeom>
          <a:noFill/>
        </p:spPr>
        <p:txBody>
          <a:bodyPr wrap="square" rtlCol="0">
            <a:spAutoFit/>
          </a:bodyPr>
          <a:lstStyle/>
          <a:p>
            <a:r>
              <a:rPr lang="es-ES" b="1" dirty="0"/>
              <a:t>Encapsulamiento</a:t>
            </a:r>
            <a:br>
              <a:rPr lang="es-ES" dirty="0"/>
            </a:br>
            <a:r>
              <a:rPr lang="es-ES" sz="1600" dirty="0"/>
              <a:t>En el modelo OSI, cada capa procesa la información y le asigna un nombre específico a los datos (llamados PDU). Aunque el mensaje original es el mismo, a medida que baja por las capas se le añade una "etiqueta" conocida como </a:t>
            </a:r>
            <a:r>
              <a:rPr lang="es-ES" sz="1600" b="1" dirty="0"/>
              <a:t>cabecera (header)</a:t>
            </a:r>
            <a:r>
              <a:rPr lang="es-ES" sz="1600" dirty="0"/>
              <a:t>.</a:t>
            </a:r>
          </a:p>
          <a:p>
            <a:r>
              <a:rPr lang="es-ES" sz="1600" dirty="0"/>
              <a:t>Esta cabecera contiene los parámetros y protocolos de cada nivel. A este proceso de empaquetar el mensaje capa por capa se le conoce como </a:t>
            </a:r>
            <a:r>
              <a:rPr lang="es-ES" sz="1600" b="1" dirty="0"/>
              <a:t>encapsulamiento</a:t>
            </a:r>
            <a:r>
              <a:rPr lang="es-ES" sz="1600" dirty="0"/>
              <a:t>.</a:t>
            </a:r>
          </a:p>
          <a:p>
            <a:endParaRPr lang="es-ES" sz="1600" dirty="0"/>
          </a:p>
          <a:p>
            <a:r>
              <a:rPr lang="es-ES" sz="1600" b="1" dirty="0"/>
              <a:t>1.- </a:t>
            </a:r>
            <a:r>
              <a:rPr lang="es-ES" sz="1600" dirty="0"/>
              <a:t>Los “</a:t>
            </a:r>
            <a:r>
              <a:rPr lang="es-ES" sz="1600" b="1" dirty="0"/>
              <a:t>Data</a:t>
            </a:r>
            <a:r>
              <a:rPr lang="es-ES" sz="1600" dirty="0"/>
              <a:t>” se origina desde la capa de aplicación con la interacción del usuario</a:t>
            </a:r>
          </a:p>
          <a:p>
            <a:r>
              <a:rPr lang="es-ES" sz="1600" b="1" dirty="0"/>
              <a:t>2.- </a:t>
            </a:r>
            <a:r>
              <a:rPr lang="es-ES" sz="1600" dirty="0"/>
              <a:t>Se encapsula en un </a:t>
            </a:r>
            <a:r>
              <a:rPr lang="es-ES" sz="1600" b="1" dirty="0"/>
              <a:t>segmento</a:t>
            </a:r>
            <a:r>
              <a:rPr lang="es-ES" sz="1600" dirty="0"/>
              <a:t> TCP/IP o UDP según el tipo de mensaje quedando dentro del </a:t>
            </a:r>
            <a:r>
              <a:rPr lang="es-ES" sz="1600" b="1" dirty="0"/>
              <a:t>TCP HEADER (Layer 4 Header) </a:t>
            </a:r>
          </a:p>
          <a:p>
            <a:r>
              <a:rPr lang="es-ES" sz="1600" b="1" dirty="0"/>
              <a:t>3.- </a:t>
            </a:r>
            <a:r>
              <a:rPr lang="es-ES" sz="1600" dirty="0"/>
              <a:t>Luego se encapsula en un </a:t>
            </a:r>
            <a:r>
              <a:rPr lang="es-ES" sz="1600" b="1" dirty="0"/>
              <a:t>paquete IP</a:t>
            </a:r>
            <a:r>
              <a:rPr lang="es-ES" sz="1600" dirty="0"/>
              <a:t> dentro del </a:t>
            </a:r>
            <a:r>
              <a:rPr lang="es-ES" sz="1600" b="1" dirty="0"/>
              <a:t>IP HEADER (Layer 3 Header)</a:t>
            </a:r>
          </a:p>
          <a:p>
            <a:r>
              <a:rPr lang="es-ES" sz="1600" b="1" dirty="0"/>
              <a:t>4.- </a:t>
            </a:r>
            <a:r>
              <a:rPr lang="es-ES" sz="1600" dirty="0"/>
              <a:t>Y ese paquete se encapsula en una </a:t>
            </a:r>
            <a:r>
              <a:rPr lang="es-ES" sz="1600" b="1" dirty="0"/>
              <a:t>trama </a:t>
            </a:r>
            <a:r>
              <a:rPr lang="es-ES" sz="1600" dirty="0"/>
              <a:t>dentro del </a:t>
            </a:r>
            <a:r>
              <a:rPr lang="es-ES" sz="1600" b="1" dirty="0"/>
              <a:t>Ethernet HEADER (Layer 2 Header) </a:t>
            </a:r>
            <a:r>
              <a:rPr lang="es-ES" sz="1600" dirty="0"/>
              <a:t>y se le agrega el </a:t>
            </a:r>
            <a:r>
              <a:rPr lang="es-ES" sz="1600" b="1" dirty="0"/>
              <a:t>Trailer .</a:t>
            </a:r>
          </a:p>
        </p:txBody>
      </p:sp>
      <p:graphicFrame>
        <p:nvGraphicFramePr>
          <p:cNvPr id="11" name="Tabla 10">
            <a:extLst>
              <a:ext uri="{FF2B5EF4-FFF2-40B4-BE49-F238E27FC236}">
                <a16:creationId xmlns:a16="http://schemas.microsoft.com/office/drawing/2014/main" id="{2576E88D-2663-3B09-C922-6787C9FB7395}"/>
              </a:ext>
            </a:extLst>
          </p:cNvPr>
          <p:cNvGraphicFramePr>
            <a:graphicFrameLocks noGrp="1"/>
          </p:cNvGraphicFramePr>
          <p:nvPr>
            <p:extLst>
              <p:ext uri="{D42A27DB-BD31-4B8C-83A1-F6EECF244321}">
                <p14:modId xmlns:p14="http://schemas.microsoft.com/office/powerpoint/2010/main" val="3291831395"/>
              </p:ext>
            </p:extLst>
          </p:nvPr>
        </p:nvGraphicFramePr>
        <p:xfrm>
          <a:off x="301075" y="3381639"/>
          <a:ext cx="1541839" cy="365760"/>
        </p:xfrm>
        <a:graphic>
          <a:graphicData uri="http://schemas.openxmlformats.org/drawingml/2006/table">
            <a:tbl>
              <a:tblPr firstRow="1" bandRow="1">
                <a:tableStyleId>{5940675A-B579-460E-94D1-54222C63F5DA}</a:tableStyleId>
              </a:tblPr>
              <a:tblGrid>
                <a:gridCol w="1541839">
                  <a:extLst>
                    <a:ext uri="{9D8B030D-6E8A-4147-A177-3AD203B41FA5}">
                      <a16:colId xmlns:a16="http://schemas.microsoft.com/office/drawing/2014/main" val="648160172"/>
                    </a:ext>
                  </a:extLst>
                </a:gridCol>
              </a:tblGrid>
              <a:tr h="0">
                <a:tc>
                  <a:txBody>
                    <a:bodyPr/>
                    <a:lstStyle/>
                    <a:p>
                      <a:pPr algn="ctr"/>
                      <a:r>
                        <a:rPr lang="es-ES" b="1" dirty="0"/>
                        <a:t>Data</a:t>
                      </a:r>
                    </a:p>
                  </a:txBody>
                  <a:tcPr>
                    <a:solidFill>
                      <a:schemeClr val="accent1">
                        <a:lumMod val="20000"/>
                        <a:lumOff val="80000"/>
                      </a:schemeClr>
                    </a:solidFill>
                  </a:tcPr>
                </a:tc>
                <a:extLst>
                  <a:ext uri="{0D108BD9-81ED-4DB2-BD59-A6C34878D82A}">
                    <a16:rowId xmlns:a16="http://schemas.microsoft.com/office/drawing/2014/main" val="2681131541"/>
                  </a:ext>
                </a:extLst>
              </a:tr>
            </a:tbl>
          </a:graphicData>
        </a:graphic>
      </p:graphicFrame>
      <p:graphicFrame>
        <p:nvGraphicFramePr>
          <p:cNvPr id="12" name="Tabla 11">
            <a:extLst>
              <a:ext uri="{FF2B5EF4-FFF2-40B4-BE49-F238E27FC236}">
                <a16:creationId xmlns:a16="http://schemas.microsoft.com/office/drawing/2014/main" id="{A25DA35D-4651-0198-0EBA-0B3E344AAE3E}"/>
              </a:ext>
            </a:extLst>
          </p:cNvPr>
          <p:cNvGraphicFramePr>
            <a:graphicFrameLocks noGrp="1"/>
          </p:cNvGraphicFramePr>
          <p:nvPr>
            <p:extLst>
              <p:ext uri="{D42A27DB-BD31-4B8C-83A1-F6EECF244321}">
                <p14:modId xmlns:p14="http://schemas.microsoft.com/office/powerpoint/2010/main" val="202778888"/>
              </p:ext>
            </p:extLst>
          </p:nvPr>
        </p:nvGraphicFramePr>
        <p:xfrm>
          <a:off x="301075" y="4078312"/>
          <a:ext cx="3267778" cy="370840"/>
        </p:xfrm>
        <a:graphic>
          <a:graphicData uri="http://schemas.openxmlformats.org/drawingml/2006/table">
            <a:tbl>
              <a:tblPr firstRow="1" bandRow="1">
                <a:tableStyleId>{5940675A-B579-460E-94D1-54222C63F5DA}</a:tableStyleId>
              </a:tblPr>
              <a:tblGrid>
                <a:gridCol w="1633889">
                  <a:extLst>
                    <a:ext uri="{9D8B030D-6E8A-4147-A177-3AD203B41FA5}">
                      <a16:colId xmlns:a16="http://schemas.microsoft.com/office/drawing/2014/main" val="1004747653"/>
                    </a:ext>
                  </a:extLst>
                </a:gridCol>
                <a:gridCol w="1633889">
                  <a:extLst>
                    <a:ext uri="{9D8B030D-6E8A-4147-A177-3AD203B41FA5}">
                      <a16:colId xmlns:a16="http://schemas.microsoft.com/office/drawing/2014/main" val="685990747"/>
                    </a:ext>
                  </a:extLst>
                </a:gridCol>
              </a:tblGrid>
              <a:tr h="370840">
                <a:tc>
                  <a:txBody>
                    <a:bodyPr/>
                    <a:lstStyle/>
                    <a:p>
                      <a:r>
                        <a:rPr lang="es-ES" sz="1800" b="1" kern="1200" dirty="0">
                          <a:solidFill>
                            <a:schemeClr val="tx1"/>
                          </a:solidFill>
                          <a:latin typeface="+mn-lt"/>
                          <a:ea typeface="+mn-ea"/>
                          <a:cs typeface="+mn-cs"/>
                        </a:rPr>
                        <a:t>TCP HEADER</a:t>
                      </a:r>
                    </a:p>
                  </a:txBody>
                  <a:tcPr>
                    <a:cell3D prstMaterial="dkEdge">
                      <a:bevel/>
                      <a:lightRig rig="flood" dir="t"/>
                    </a:cell3D>
                    <a:solidFill>
                      <a:srgbClr val="0070C0"/>
                    </a:solidFill>
                  </a:tcPr>
                </a:tc>
                <a:tc>
                  <a:txBody>
                    <a:bodyPr/>
                    <a:lstStyle/>
                    <a:p>
                      <a:pPr algn="ctr"/>
                      <a:r>
                        <a:rPr lang="es-ES" b="0" dirty="0"/>
                        <a:t>Data</a:t>
                      </a:r>
                    </a:p>
                  </a:txBody>
                  <a:tcPr>
                    <a:solidFill>
                      <a:schemeClr val="bg2"/>
                    </a:solidFill>
                  </a:tcPr>
                </a:tc>
                <a:extLst>
                  <a:ext uri="{0D108BD9-81ED-4DB2-BD59-A6C34878D82A}">
                    <a16:rowId xmlns:a16="http://schemas.microsoft.com/office/drawing/2014/main" val="3361046739"/>
                  </a:ext>
                </a:extLst>
              </a:tr>
            </a:tbl>
          </a:graphicData>
        </a:graphic>
      </p:graphicFrame>
      <p:graphicFrame>
        <p:nvGraphicFramePr>
          <p:cNvPr id="14" name="Tabla 13">
            <a:extLst>
              <a:ext uri="{FF2B5EF4-FFF2-40B4-BE49-F238E27FC236}">
                <a16:creationId xmlns:a16="http://schemas.microsoft.com/office/drawing/2014/main" id="{691B9E11-A833-B316-2945-32E1FE912CF2}"/>
              </a:ext>
            </a:extLst>
          </p:cNvPr>
          <p:cNvGraphicFramePr>
            <a:graphicFrameLocks noGrp="1"/>
          </p:cNvGraphicFramePr>
          <p:nvPr>
            <p:extLst>
              <p:ext uri="{D42A27DB-BD31-4B8C-83A1-F6EECF244321}">
                <p14:modId xmlns:p14="http://schemas.microsoft.com/office/powerpoint/2010/main" val="771877643"/>
              </p:ext>
            </p:extLst>
          </p:nvPr>
        </p:nvGraphicFramePr>
        <p:xfrm>
          <a:off x="301075" y="4887451"/>
          <a:ext cx="4866231" cy="370840"/>
        </p:xfrm>
        <a:graphic>
          <a:graphicData uri="http://schemas.openxmlformats.org/drawingml/2006/table">
            <a:tbl>
              <a:tblPr firstRow="1" bandRow="1">
                <a:tableStyleId>{5940675A-B579-460E-94D1-54222C63F5DA}</a:tableStyleId>
              </a:tblPr>
              <a:tblGrid>
                <a:gridCol w="1622077">
                  <a:extLst>
                    <a:ext uri="{9D8B030D-6E8A-4147-A177-3AD203B41FA5}">
                      <a16:colId xmlns:a16="http://schemas.microsoft.com/office/drawing/2014/main" val="4202557909"/>
                    </a:ext>
                  </a:extLst>
                </a:gridCol>
                <a:gridCol w="1622077">
                  <a:extLst>
                    <a:ext uri="{9D8B030D-6E8A-4147-A177-3AD203B41FA5}">
                      <a16:colId xmlns:a16="http://schemas.microsoft.com/office/drawing/2014/main" val="604953500"/>
                    </a:ext>
                  </a:extLst>
                </a:gridCol>
                <a:gridCol w="1622077">
                  <a:extLst>
                    <a:ext uri="{9D8B030D-6E8A-4147-A177-3AD203B41FA5}">
                      <a16:colId xmlns:a16="http://schemas.microsoft.com/office/drawing/2014/main" val="1781172036"/>
                    </a:ext>
                  </a:extLst>
                </a:gridCol>
              </a:tblGrid>
              <a:tr h="370840">
                <a:tc>
                  <a:txBody>
                    <a:bodyPr/>
                    <a:lstStyle/>
                    <a:p>
                      <a:pPr algn="ctr"/>
                      <a:r>
                        <a:rPr lang="es-ES" b="1" dirty="0"/>
                        <a:t>IP HEADER</a:t>
                      </a:r>
                    </a:p>
                  </a:txBody>
                  <a:tcPr>
                    <a:cell3D prstMaterial="dkEdge">
                      <a:bevel/>
                      <a:lightRig rig="flood" dir="t"/>
                    </a:cell3D>
                    <a:solidFill>
                      <a:schemeClr val="accent2">
                        <a:lumMod val="75000"/>
                      </a:schemeClr>
                    </a:solidFill>
                  </a:tcPr>
                </a:tc>
                <a:tc>
                  <a:txBody>
                    <a:bodyPr/>
                    <a:lstStyle/>
                    <a:p>
                      <a:pPr algn="ctr"/>
                      <a:r>
                        <a:rPr lang="es-ES" dirty="0"/>
                        <a:t>TCP Header</a:t>
                      </a:r>
                    </a:p>
                  </a:txBody>
                  <a:tcPr>
                    <a:solidFill>
                      <a:schemeClr val="bg2"/>
                    </a:solidFill>
                  </a:tcPr>
                </a:tc>
                <a:tc>
                  <a:txBody>
                    <a:bodyPr/>
                    <a:lstStyle/>
                    <a:p>
                      <a:pPr algn="ctr"/>
                      <a:r>
                        <a:rPr lang="es-ES" dirty="0"/>
                        <a:t>Data</a:t>
                      </a:r>
                    </a:p>
                  </a:txBody>
                  <a:tcPr>
                    <a:solidFill>
                      <a:schemeClr val="bg2"/>
                    </a:solidFill>
                  </a:tcPr>
                </a:tc>
                <a:extLst>
                  <a:ext uri="{0D108BD9-81ED-4DB2-BD59-A6C34878D82A}">
                    <a16:rowId xmlns:a16="http://schemas.microsoft.com/office/drawing/2014/main" val="2292309522"/>
                  </a:ext>
                </a:extLst>
              </a:tr>
            </a:tbl>
          </a:graphicData>
        </a:graphic>
      </p:graphicFrame>
      <p:graphicFrame>
        <p:nvGraphicFramePr>
          <p:cNvPr id="16" name="Tabla 15">
            <a:extLst>
              <a:ext uri="{FF2B5EF4-FFF2-40B4-BE49-F238E27FC236}">
                <a16:creationId xmlns:a16="http://schemas.microsoft.com/office/drawing/2014/main" id="{B1572029-F4EE-EC7B-9E53-3EE844760043}"/>
              </a:ext>
            </a:extLst>
          </p:cNvPr>
          <p:cNvGraphicFramePr>
            <a:graphicFrameLocks noGrp="1"/>
          </p:cNvGraphicFramePr>
          <p:nvPr>
            <p:extLst>
              <p:ext uri="{D42A27DB-BD31-4B8C-83A1-F6EECF244321}">
                <p14:modId xmlns:p14="http://schemas.microsoft.com/office/powerpoint/2010/main" val="559633433"/>
              </p:ext>
            </p:extLst>
          </p:nvPr>
        </p:nvGraphicFramePr>
        <p:xfrm>
          <a:off x="302239" y="5731805"/>
          <a:ext cx="7873515" cy="640080"/>
        </p:xfrm>
        <a:graphic>
          <a:graphicData uri="http://schemas.openxmlformats.org/drawingml/2006/table">
            <a:tbl>
              <a:tblPr firstRow="1" bandRow="1">
                <a:tableStyleId>{5940675A-B579-460E-94D1-54222C63F5DA}</a:tableStyleId>
              </a:tblPr>
              <a:tblGrid>
                <a:gridCol w="1574703">
                  <a:extLst>
                    <a:ext uri="{9D8B030D-6E8A-4147-A177-3AD203B41FA5}">
                      <a16:colId xmlns:a16="http://schemas.microsoft.com/office/drawing/2014/main" val="1343565177"/>
                    </a:ext>
                  </a:extLst>
                </a:gridCol>
                <a:gridCol w="1574703">
                  <a:extLst>
                    <a:ext uri="{9D8B030D-6E8A-4147-A177-3AD203B41FA5}">
                      <a16:colId xmlns:a16="http://schemas.microsoft.com/office/drawing/2014/main" val="3271444070"/>
                    </a:ext>
                  </a:extLst>
                </a:gridCol>
                <a:gridCol w="1574703">
                  <a:extLst>
                    <a:ext uri="{9D8B030D-6E8A-4147-A177-3AD203B41FA5}">
                      <a16:colId xmlns:a16="http://schemas.microsoft.com/office/drawing/2014/main" val="2948726513"/>
                    </a:ext>
                  </a:extLst>
                </a:gridCol>
                <a:gridCol w="1574703">
                  <a:extLst>
                    <a:ext uri="{9D8B030D-6E8A-4147-A177-3AD203B41FA5}">
                      <a16:colId xmlns:a16="http://schemas.microsoft.com/office/drawing/2014/main" val="517547329"/>
                    </a:ext>
                  </a:extLst>
                </a:gridCol>
                <a:gridCol w="1574703">
                  <a:extLst>
                    <a:ext uri="{9D8B030D-6E8A-4147-A177-3AD203B41FA5}">
                      <a16:colId xmlns:a16="http://schemas.microsoft.com/office/drawing/2014/main" val="2339207603"/>
                    </a:ext>
                  </a:extLst>
                </a:gridCol>
              </a:tblGrid>
              <a:tr h="370840">
                <a:tc>
                  <a:txBody>
                    <a:bodyPr/>
                    <a:lstStyle/>
                    <a:p>
                      <a:pPr algn="ctr"/>
                      <a:r>
                        <a:rPr lang="es-ES" b="1" dirty="0"/>
                        <a:t>Ethernet Header</a:t>
                      </a:r>
                    </a:p>
                  </a:txBody>
                  <a:tcPr anchor="ctr">
                    <a:cell3D prstMaterial="dkEdge">
                      <a:bevel/>
                      <a:lightRig rig="flood" dir="t"/>
                    </a:cell3D>
                    <a:solidFill>
                      <a:schemeClr val="accent6">
                        <a:lumMod val="40000"/>
                        <a:lumOff val="60000"/>
                      </a:schemeClr>
                    </a:solidFill>
                  </a:tcPr>
                </a:tc>
                <a:tc>
                  <a:txBody>
                    <a:bodyPr/>
                    <a:lstStyle/>
                    <a:p>
                      <a:pPr algn="ctr"/>
                      <a:r>
                        <a:rPr lang="es-ES" dirty="0"/>
                        <a:t>IP Header</a:t>
                      </a:r>
                    </a:p>
                  </a:txBody>
                  <a:tcPr anchor="ctr">
                    <a:solidFill>
                      <a:schemeClr val="bg2"/>
                    </a:solidFill>
                  </a:tcPr>
                </a:tc>
                <a:tc>
                  <a:txBody>
                    <a:bodyPr/>
                    <a:lstStyle/>
                    <a:p>
                      <a:pPr algn="ctr"/>
                      <a:r>
                        <a:rPr lang="es-ES" dirty="0"/>
                        <a:t>TCP Header</a:t>
                      </a:r>
                    </a:p>
                  </a:txBody>
                  <a:tcPr anchor="ctr">
                    <a:solidFill>
                      <a:schemeClr val="bg2"/>
                    </a:solidFill>
                  </a:tcPr>
                </a:tc>
                <a:tc>
                  <a:txBody>
                    <a:bodyPr/>
                    <a:lstStyle/>
                    <a:p>
                      <a:pPr algn="ctr"/>
                      <a:r>
                        <a:rPr lang="es-ES" dirty="0"/>
                        <a:t>Data</a:t>
                      </a:r>
                    </a:p>
                  </a:txBody>
                  <a:tcPr anchor="ctr">
                    <a:solidFill>
                      <a:schemeClr val="bg2"/>
                    </a:solidFill>
                  </a:tcPr>
                </a:tc>
                <a:tc>
                  <a:txBody>
                    <a:bodyPr/>
                    <a:lstStyle/>
                    <a:p>
                      <a:pPr algn="ctr"/>
                      <a:r>
                        <a:rPr lang="es-ES" b="1" dirty="0"/>
                        <a:t>Trailer</a:t>
                      </a:r>
                    </a:p>
                  </a:txBody>
                  <a:tcPr anchor="ctr">
                    <a:cell3D prstMaterial="dkEdge">
                      <a:bevel/>
                      <a:lightRig rig="flood" dir="t"/>
                    </a:cell3D>
                    <a:solidFill>
                      <a:schemeClr val="accent6">
                        <a:lumMod val="40000"/>
                        <a:lumOff val="60000"/>
                      </a:schemeClr>
                    </a:solidFill>
                  </a:tcPr>
                </a:tc>
                <a:extLst>
                  <a:ext uri="{0D108BD9-81ED-4DB2-BD59-A6C34878D82A}">
                    <a16:rowId xmlns:a16="http://schemas.microsoft.com/office/drawing/2014/main" val="1678686"/>
                  </a:ext>
                </a:extLst>
              </a:tr>
            </a:tbl>
          </a:graphicData>
        </a:graphic>
      </p:graphicFrame>
      <p:pic>
        <p:nvPicPr>
          <p:cNvPr id="36" name="Imagen 35">
            <a:extLst>
              <a:ext uri="{FF2B5EF4-FFF2-40B4-BE49-F238E27FC236}">
                <a16:creationId xmlns:a16="http://schemas.microsoft.com/office/drawing/2014/main" id="{C1F98C5F-795A-D2A4-747E-508182059C7B}"/>
              </a:ext>
            </a:extLst>
          </p:cNvPr>
          <p:cNvPicPr>
            <a:picLocks noChangeAspect="1"/>
          </p:cNvPicPr>
          <p:nvPr/>
        </p:nvPicPr>
        <p:blipFill>
          <a:blip r:embed="rId2"/>
          <a:stretch>
            <a:fillRect/>
          </a:stretch>
        </p:blipFill>
        <p:spPr>
          <a:xfrm>
            <a:off x="9823432" y="3309814"/>
            <a:ext cx="2077728" cy="2542162"/>
          </a:xfrm>
          <a:prstGeom prst="rect">
            <a:avLst/>
          </a:prstGeom>
        </p:spPr>
      </p:pic>
      <p:pic>
        <p:nvPicPr>
          <p:cNvPr id="38" name="Imagen 37">
            <a:extLst>
              <a:ext uri="{FF2B5EF4-FFF2-40B4-BE49-F238E27FC236}">
                <a16:creationId xmlns:a16="http://schemas.microsoft.com/office/drawing/2014/main" id="{C9F3B1E1-E317-1096-6A27-D44B4412D9FF}"/>
              </a:ext>
            </a:extLst>
          </p:cNvPr>
          <p:cNvPicPr>
            <a:picLocks noChangeAspect="1"/>
          </p:cNvPicPr>
          <p:nvPr/>
        </p:nvPicPr>
        <p:blipFill>
          <a:blip r:embed="rId3"/>
          <a:stretch>
            <a:fillRect/>
          </a:stretch>
        </p:blipFill>
        <p:spPr>
          <a:xfrm>
            <a:off x="8436033" y="5731805"/>
            <a:ext cx="838243" cy="571529"/>
          </a:xfrm>
          <a:prstGeom prst="rect">
            <a:avLst/>
          </a:prstGeom>
        </p:spPr>
      </p:pic>
      <p:pic>
        <p:nvPicPr>
          <p:cNvPr id="40" name="Imagen 39">
            <a:extLst>
              <a:ext uri="{FF2B5EF4-FFF2-40B4-BE49-F238E27FC236}">
                <a16:creationId xmlns:a16="http://schemas.microsoft.com/office/drawing/2014/main" id="{630727EA-7985-8AF0-53C8-A91FEE79C368}"/>
              </a:ext>
            </a:extLst>
          </p:cNvPr>
          <p:cNvPicPr>
            <a:picLocks noChangeAspect="1"/>
          </p:cNvPicPr>
          <p:nvPr/>
        </p:nvPicPr>
        <p:blipFill>
          <a:blip r:embed="rId4"/>
          <a:stretch>
            <a:fillRect/>
          </a:stretch>
        </p:blipFill>
        <p:spPr>
          <a:xfrm>
            <a:off x="3895697" y="3845993"/>
            <a:ext cx="685835" cy="711237"/>
          </a:xfrm>
          <a:prstGeom prst="rect">
            <a:avLst/>
          </a:prstGeom>
        </p:spPr>
      </p:pic>
      <p:pic>
        <p:nvPicPr>
          <p:cNvPr id="42" name="Imagen 41">
            <a:extLst>
              <a:ext uri="{FF2B5EF4-FFF2-40B4-BE49-F238E27FC236}">
                <a16:creationId xmlns:a16="http://schemas.microsoft.com/office/drawing/2014/main" id="{B80CBACD-ECDF-CCFD-7103-692C65094E0E}"/>
              </a:ext>
            </a:extLst>
          </p:cNvPr>
          <p:cNvPicPr>
            <a:picLocks noChangeAspect="1"/>
          </p:cNvPicPr>
          <p:nvPr/>
        </p:nvPicPr>
        <p:blipFill>
          <a:blip r:embed="rId5"/>
          <a:stretch>
            <a:fillRect/>
          </a:stretch>
        </p:blipFill>
        <p:spPr>
          <a:xfrm>
            <a:off x="5555398" y="4739479"/>
            <a:ext cx="704886" cy="666784"/>
          </a:xfrm>
          <a:prstGeom prst="rect">
            <a:avLst/>
          </a:prstGeom>
        </p:spPr>
      </p:pic>
      <p:sp>
        <p:nvSpPr>
          <p:cNvPr id="43" name="CuadroTexto 42">
            <a:extLst>
              <a:ext uri="{FF2B5EF4-FFF2-40B4-BE49-F238E27FC236}">
                <a16:creationId xmlns:a16="http://schemas.microsoft.com/office/drawing/2014/main" id="{780126F7-47B9-937B-1EA6-7C7537E4A472}"/>
              </a:ext>
            </a:extLst>
          </p:cNvPr>
          <p:cNvSpPr txBox="1"/>
          <p:nvPr/>
        </p:nvSpPr>
        <p:spPr>
          <a:xfrm>
            <a:off x="-7023" y="3309814"/>
            <a:ext cx="377026" cy="2862322"/>
          </a:xfrm>
          <a:prstGeom prst="rect">
            <a:avLst/>
          </a:prstGeom>
          <a:noFill/>
        </p:spPr>
        <p:txBody>
          <a:bodyPr wrap="none" rtlCol="0">
            <a:spAutoFit/>
          </a:bodyPr>
          <a:lstStyle/>
          <a:p>
            <a:r>
              <a:rPr lang="es-ES" b="1" dirty="0"/>
              <a:t>1.</a:t>
            </a:r>
          </a:p>
          <a:p>
            <a:endParaRPr lang="es-ES" b="1" dirty="0"/>
          </a:p>
          <a:p>
            <a:endParaRPr lang="es-ES" b="1" dirty="0"/>
          </a:p>
          <a:p>
            <a:r>
              <a:rPr lang="es-ES" b="1" dirty="0"/>
              <a:t>2.</a:t>
            </a:r>
          </a:p>
          <a:p>
            <a:endParaRPr lang="es-ES" b="1" dirty="0"/>
          </a:p>
          <a:p>
            <a:endParaRPr lang="es-ES" b="1" dirty="0"/>
          </a:p>
          <a:p>
            <a:r>
              <a:rPr lang="es-ES" b="1" dirty="0"/>
              <a:t>3.</a:t>
            </a:r>
          </a:p>
          <a:p>
            <a:endParaRPr lang="es-ES" b="1" dirty="0"/>
          </a:p>
          <a:p>
            <a:endParaRPr lang="es-ES" b="1" dirty="0"/>
          </a:p>
          <a:p>
            <a:r>
              <a:rPr lang="es-ES" b="1" dirty="0"/>
              <a:t>4.</a:t>
            </a:r>
          </a:p>
        </p:txBody>
      </p:sp>
      <p:sp>
        <p:nvSpPr>
          <p:cNvPr id="44" name="CuadroTexto 43">
            <a:extLst>
              <a:ext uri="{FF2B5EF4-FFF2-40B4-BE49-F238E27FC236}">
                <a16:creationId xmlns:a16="http://schemas.microsoft.com/office/drawing/2014/main" id="{D9064C6D-AB9F-D52D-0638-545D8425BF63}"/>
              </a:ext>
            </a:extLst>
          </p:cNvPr>
          <p:cNvSpPr txBox="1"/>
          <p:nvPr/>
        </p:nvSpPr>
        <p:spPr>
          <a:xfrm>
            <a:off x="4660665" y="4058319"/>
            <a:ext cx="2103461" cy="369332"/>
          </a:xfrm>
          <a:prstGeom prst="rect">
            <a:avLst/>
          </a:prstGeom>
          <a:noFill/>
        </p:spPr>
        <p:txBody>
          <a:bodyPr wrap="none" rtlCol="0">
            <a:spAutoFit/>
          </a:bodyPr>
          <a:lstStyle/>
          <a:p>
            <a:r>
              <a:rPr lang="es-ES" dirty="0"/>
              <a:t>Capa de transporte</a:t>
            </a:r>
          </a:p>
        </p:txBody>
      </p:sp>
      <p:sp>
        <p:nvSpPr>
          <p:cNvPr id="46" name="CuadroTexto 45">
            <a:extLst>
              <a:ext uri="{FF2B5EF4-FFF2-40B4-BE49-F238E27FC236}">
                <a16:creationId xmlns:a16="http://schemas.microsoft.com/office/drawing/2014/main" id="{78263BAB-F285-084B-9852-75ABB58CAC44}"/>
              </a:ext>
            </a:extLst>
          </p:cNvPr>
          <p:cNvSpPr txBox="1"/>
          <p:nvPr/>
        </p:nvSpPr>
        <p:spPr>
          <a:xfrm>
            <a:off x="6393663" y="4906129"/>
            <a:ext cx="1391791" cy="369332"/>
          </a:xfrm>
          <a:prstGeom prst="rect">
            <a:avLst/>
          </a:prstGeom>
          <a:noFill/>
        </p:spPr>
        <p:txBody>
          <a:bodyPr wrap="none" rtlCol="0">
            <a:spAutoFit/>
          </a:bodyPr>
          <a:lstStyle/>
          <a:p>
            <a:r>
              <a:rPr lang="es-ES" dirty="0"/>
              <a:t>Capa de red</a:t>
            </a:r>
          </a:p>
        </p:txBody>
      </p:sp>
      <p:sp>
        <p:nvSpPr>
          <p:cNvPr id="48" name="CuadroTexto 47">
            <a:extLst>
              <a:ext uri="{FF2B5EF4-FFF2-40B4-BE49-F238E27FC236}">
                <a16:creationId xmlns:a16="http://schemas.microsoft.com/office/drawing/2014/main" id="{E93B1B7B-94D2-04E1-8B39-6FA887B4F98F}"/>
              </a:ext>
            </a:extLst>
          </p:cNvPr>
          <p:cNvSpPr txBox="1"/>
          <p:nvPr/>
        </p:nvSpPr>
        <p:spPr>
          <a:xfrm>
            <a:off x="9281615" y="5904687"/>
            <a:ext cx="2650084" cy="369332"/>
          </a:xfrm>
          <a:prstGeom prst="rect">
            <a:avLst/>
          </a:prstGeom>
          <a:noFill/>
        </p:spPr>
        <p:txBody>
          <a:bodyPr wrap="none" rtlCol="0">
            <a:spAutoFit/>
          </a:bodyPr>
          <a:lstStyle/>
          <a:p>
            <a:r>
              <a:rPr lang="es-ES" dirty="0"/>
              <a:t>Capa de enlace de datos</a:t>
            </a:r>
          </a:p>
        </p:txBody>
      </p:sp>
      <p:pic>
        <p:nvPicPr>
          <p:cNvPr id="50" name="Imagen 49">
            <a:extLst>
              <a:ext uri="{FF2B5EF4-FFF2-40B4-BE49-F238E27FC236}">
                <a16:creationId xmlns:a16="http://schemas.microsoft.com/office/drawing/2014/main" id="{09E574B8-5108-4B88-47B2-FF7D6FF082B3}"/>
              </a:ext>
            </a:extLst>
          </p:cNvPr>
          <p:cNvPicPr>
            <a:picLocks noChangeAspect="1"/>
          </p:cNvPicPr>
          <p:nvPr/>
        </p:nvPicPr>
        <p:blipFill>
          <a:blip r:embed="rId6"/>
          <a:stretch>
            <a:fillRect/>
          </a:stretch>
        </p:blipFill>
        <p:spPr>
          <a:xfrm>
            <a:off x="2151012" y="3169304"/>
            <a:ext cx="857294" cy="711237"/>
          </a:xfrm>
          <a:prstGeom prst="rect">
            <a:avLst/>
          </a:prstGeom>
        </p:spPr>
      </p:pic>
      <p:sp>
        <p:nvSpPr>
          <p:cNvPr id="52" name="CuadroTexto 51">
            <a:extLst>
              <a:ext uri="{FF2B5EF4-FFF2-40B4-BE49-F238E27FC236}">
                <a16:creationId xmlns:a16="http://schemas.microsoft.com/office/drawing/2014/main" id="{9A5AEC45-B5DC-E5DA-847C-D55FF4A4D162}"/>
              </a:ext>
            </a:extLst>
          </p:cNvPr>
          <p:cNvSpPr txBox="1"/>
          <p:nvPr/>
        </p:nvSpPr>
        <p:spPr>
          <a:xfrm>
            <a:off x="3012731" y="3358766"/>
            <a:ext cx="4256230" cy="369332"/>
          </a:xfrm>
          <a:prstGeom prst="rect">
            <a:avLst/>
          </a:prstGeom>
          <a:noFill/>
        </p:spPr>
        <p:txBody>
          <a:bodyPr wrap="none" rtlCol="0">
            <a:spAutoFit/>
          </a:bodyPr>
          <a:lstStyle/>
          <a:p>
            <a:r>
              <a:rPr lang="es-ES" dirty="0"/>
              <a:t>Capa de Aplicación/Presentación/Sesión</a:t>
            </a:r>
          </a:p>
        </p:txBody>
      </p:sp>
      <p:sp>
        <p:nvSpPr>
          <p:cNvPr id="53" name="CuadroTexto 52">
            <a:extLst>
              <a:ext uri="{FF2B5EF4-FFF2-40B4-BE49-F238E27FC236}">
                <a16:creationId xmlns:a16="http://schemas.microsoft.com/office/drawing/2014/main" id="{BF38C9F8-9998-A30B-6B84-65E51937446A}"/>
              </a:ext>
            </a:extLst>
          </p:cNvPr>
          <p:cNvSpPr txBox="1"/>
          <p:nvPr/>
        </p:nvSpPr>
        <p:spPr>
          <a:xfrm>
            <a:off x="3046554" y="6377779"/>
            <a:ext cx="1778436" cy="369332"/>
          </a:xfrm>
          <a:prstGeom prst="rect">
            <a:avLst/>
          </a:prstGeom>
          <a:noFill/>
        </p:spPr>
        <p:txBody>
          <a:bodyPr wrap="none" rtlCol="0">
            <a:spAutoFit/>
          </a:bodyPr>
          <a:lstStyle/>
          <a:p>
            <a:r>
              <a:rPr lang="es-ES" b="1" dirty="0"/>
              <a:t>Trama Ethernet</a:t>
            </a:r>
          </a:p>
        </p:txBody>
      </p:sp>
      <p:sp>
        <p:nvSpPr>
          <p:cNvPr id="55" name="CuadroTexto 54">
            <a:extLst>
              <a:ext uri="{FF2B5EF4-FFF2-40B4-BE49-F238E27FC236}">
                <a16:creationId xmlns:a16="http://schemas.microsoft.com/office/drawing/2014/main" id="{CFA59E16-DC03-26DE-279C-9D68D931622E}"/>
              </a:ext>
            </a:extLst>
          </p:cNvPr>
          <p:cNvSpPr txBox="1"/>
          <p:nvPr/>
        </p:nvSpPr>
        <p:spPr>
          <a:xfrm>
            <a:off x="2305882" y="5258291"/>
            <a:ext cx="1466831" cy="369332"/>
          </a:xfrm>
          <a:prstGeom prst="rect">
            <a:avLst/>
          </a:prstGeom>
          <a:noFill/>
        </p:spPr>
        <p:txBody>
          <a:bodyPr wrap="square">
            <a:spAutoFit/>
          </a:bodyPr>
          <a:lstStyle/>
          <a:p>
            <a:r>
              <a:rPr lang="es-ES" sz="1800" b="1" dirty="0"/>
              <a:t>Paquete IP</a:t>
            </a:r>
          </a:p>
        </p:txBody>
      </p:sp>
      <p:sp>
        <p:nvSpPr>
          <p:cNvPr id="57" name="CuadroTexto 56">
            <a:extLst>
              <a:ext uri="{FF2B5EF4-FFF2-40B4-BE49-F238E27FC236}">
                <a16:creationId xmlns:a16="http://schemas.microsoft.com/office/drawing/2014/main" id="{45298C59-9796-B2FE-A67E-EBD70753D0A3}"/>
              </a:ext>
            </a:extLst>
          </p:cNvPr>
          <p:cNvSpPr txBox="1"/>
          <p:nvPr/>
        </p:nvSpPr>
        <p:spPr>
          <a:xfrm>
            <a:off x="1071994" y="4430034"/>
            <a:ext cx="2329152" cy="369332"/>
          </a:xfrm>
          <a:prstGeom prst="rect">
            <a:avLst/>
          </a:prstGeom>
          <a:noFill/>
        </p:spPr>
        <p:txBody>
          <a:bodyPr wrap="square">
            <a:spAutoFit/>
          </a:bodyPr>
          <a:lstStyle/>
          <a:p>
            <a:r>
              <a:rPr lang="es-ES" sz="1800" b="1" dirty="0"/>
              <a:t>Segmento TCP/UDP</a:t>
            </a:r>
          </a:p>
        </p:txBody>
      </p:sp>
    </p:spTree>
    <p:extLst>
      <p:ext uri="{BB962C8B-B14F-4D97-AF65-F5344CB8AC3E}">
        <p14:creationId xmlns:p14="http://schemas.microsoft.com/office/powerpoint/2010/main" val="21189608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EDADA5A6-151C-A393-6B8D-5E7DD71CF80E}"/>
              </a:ext>
            </a:extLst>
          </p:cNvPr>
          <p:cNvSpPr txBox="1"/>
          <p:nvPr/>
        </p:nvSpPr>
        <p:spPr>
          <a:xfrm>
            <a:off x="-321133" y="0"/>
            <a:ext cx="3329579" cy="461665"/>
          </a:xfrm>
          <a:prstGeom prst="rect">
            <a:avLst/>
          </a:prstGeom>
          <a:noFill/>
        </p:spPr>
        <p:txBody>
          <a:bodyPr wrap="square">
            <a:spAutoFit/>
          </a:bodyPr>
          <a:lstStyle/>
          <a:p>
            <a:pPr algn="ctr"/>
            <a:r>
              <a:rPr lang="es-ES" sz="1200" dirty="0">
                <a:ln w="0"/>
                <a:effectLst>
                  <a:outerShdw blurRad="38100" dist="19050" dir="2700000" algn="tl" rotWithShape="0">
                    <a:schemeClr val="dk1">
                      <a:alpha val="40000"/>
                    </a:schemeClr>
                  </a:outerShdw>
                </a:effectLst>
              </a:rPr>
              <a:t>1. Introducción a las redes</a:t>
            </a:r>
          </a:p>
          <a:p>
            <a:pPr algn="ctr"/>
            <a:r>
              <a:rPr lang="es-ES" sz="1200" b="1" dirty="0"/>
              <a:t>Ethernet y ¿Cómo funciona una LAN?</a:t>
            </a:r>
          </a:p>
        </p:txBody>
      </p:sp>
      <p:sp>
        <p:nvSpPr>
          <p:cNvPr id="6" name="CuadroTexto 5">
            <a:extLst>
              <a:ext uri="{FF2B5EF4-FFF2-40B4-BE49-F238E27FC236}">
                <a16:creationId xmlns:a16="http://schemas.microsoft.com/office/drawing/2014/main" id="{9A1D7E1D-2427-FA34-5514-1E619CE58AB5}"/>
              </a:ext>
            </a:extLst>
          </p:cNvPr>
          <p:cNvSpPr txBox="1"/>
          <p:nvPr/>
        </p:nvSpPr>
        <p:spPr>
          <a:xfrm>
            <a:off x="312057" y="753593"/>
            <a:ext cx="8378233" cy="1169551"/>
          </a:xfrm>
          <a:prstGeom prst="rect">
            <a:avLst/>
          </a:prstGeom>
          <a:noFill/>
        </p:spPr>
        <p:txBody>
          <a:bodyPr wrap="square" rtlCol="0">
            <a:spAutoFit/>
          </a:bodyPr>
          <a:lstStyle/>
          <a:p>
            <a:r>
              <a:rPr lang="es-ES" sz="1400" dirty="0"/>
              <a:t>Aprendimos que, mediante pulsos eléctricos, luz, o ondas de radio se emiten los bits en la capa 1 y luego que la capa 2 direcciona físicamente los datos usando los medios que vimos anteriormente usando su PDU que se llama </a:t>
            </a:r>
            <a:r>
              <a:rPr lang="es-ES" sz="1400" b="1" dirty="0"/>
              <a:t>trama</a:t>
            </a:r>
            <a:r>
              <a:rPr lang="es-ES" sz="1400" dirty="0"/>
              <a:t>.</a:t>
            </a:r>
          </a:p>
          <a:p>
            <a:endParaRPr lang="es-ES" sz="1400" dirty="0"/>
          </a:p>
          <a:p>
            <a:r>
              <a:rPr lang="es-ES" sz="1400" dirty="0"/>
              <a:t>Para saber como funciona una </a:t>
            </a:r>
            <a:r>
              <a:rPr lang="es-ES" sz="1400" b="1" dirty="0"/>
              <a:t>trama ethernet</a:t>
            </a:r>
            <a:r>
              <a:rPr lang="es-ES" sz="1400" dirty="0"/>
              <a:t> debemos saber su estructura.</a:t>
            </a:r>
            <a:endParaRPr lang="es-ES" sz="1600" dirty="0"/>
          </a:p>
        </p:txBody>
      </p:sp>
      <p:pic>
        <p:nvPicPr>
          <p:cNvPr id="10" name="Imagen 9">
            <a:extLst>
              <a:ext uri="{FF2B5EF4-FFF2-40B4-BE49-F238E27FC236}">
                <a16:creationId xmlns:a16="http://schemas.microsoft.com/office/drawing/2014/main" id="{8C96DA2E-AB19-8319-8BED-931B66DCCEFF}"/>
              </a:ext>
            </a:extLst>
          </p:cNvPr>
          <p:cNvPicPr>
            <a:picLocks noChangeAspect="1"/>
          </p:cNvPicPr>
          <p:nvPr/>
        </p:nvPicPr>
        <p:blipFill>
          <a:blip r:embed="rId2"/>
          <a:stretch>
            <a:fillRect/>
          </a:stretch>
        </p:blipFill>
        <p:spPr>
          <a:xfrm>
            <a:off x="9969580" y="697577"/>
            <a:ext cx="912479" cy="271802"/>
          </a:xfrm>
          <a:prstGeom prst="rect">
            <a:avLst/>
          </a:prstGeom>
        </p:spPr>
      </p:pic>
      <p:graphicFrame>
        <p:nvGraphicFramePr>
          <p:cNvPr id="12" name="Tabla 11">
            <a:extLst>
              <a:ext uri="{FF2B5EF4-FFF2-40B4-BE49-F238E27FC236}">
                <a16:creationId xmlns:a16="http://schemas.microsoft.com/office/drawing/2014/main" id="{BB3D52E9-0453-E5F4-3EEA-DF2E204FFCE2}"/>
              </a:ext>
            </a:extLst>
          </p:cNvPr>
          <p:cNvGraphicFramePr>
            <a:graphicFrameLocks noGrp="1"/>
          </p:cNvGraphicFramePr>
          <p:nvPr/>
        </p:nvGraphicFramePr>
        <p:xfrm>
          <a:off x="679229" y="2721269"/>
          <a:ext cx="7958538" cy="848149"/>
        </p:xfrm>
        <a:graphic>
          <a:graphicData uri="http://schemas.openxmlformats.org/drawingml/2006/table">
            <a:tbl>
              <a:tblPr firstRow="1" bandRow="1">
                <a:tableStyleId>{C4B1156A-380E-4F78-BDF5-A606A8083BF9}</a:tableStyleId>
              </a:tblPr>
              <a:tblGrid>
                <a:gridCol w="1136934">
                  <a:extLst>
                    <a:ext uri="{9D8B030D-6E8A-4147-A177-3AD203B41FA5}">
                      <a16:colId xmlns:a16="http://schemas.microsoft.com/office/drawing/2014/main" val="4100333054"/>
                    </a:ext>
                  </a:extLst>
                </a:gridCol>
                <a:gridCol w="1136934">
                  <a:extLst>
                    <a:ext uri="{9D8B030D-6E8A-4147-A177-3AD203B41FA5}">
                      <a16:colId xmlns:a16="http://schemas.microsoft.com/office/drawing/2014/main" val="1583216802"/>
                    </a:ext>
                  </a:extLst>
                </a:gridCol>
                <a:gridCol w="1136934">
                  <a:extLst>
                    <a:ext uri="{9D8B030D-6E8A-4147-A177-3AD203B41FA5}">
                      <a16:colId xmlns:a16="http://schemas.microsoft.com/office/drawing/2014/main" val="3265648152"/>
                    </a:ext>
                  </a:extLst>
                </a:gridCol>
                <a:gridCol w="1136934">
                  <a:extLst>
                    <a:ext uri="{9D8B030D-6E8A-4147-A177-3AD203B41FA5}">
                      <a16:colId xmlns:a16="http://schemas.microsoft.com/office/drawing/2014/main" val="3716650630"/>
                    </a:ext>
                  </a:extLst>
                </a:gridCol>
                <a:gridCol w="1136934">
                  <a:extLst>
                    <a:ext uri="{9D8B030D-6E8A-4147-A177-3AD203B41FA5}">
                      <a16:colId xmlns:a16="http://schemas.microsoft.com/office/drawing/2014/main" val="1713188863"/>
                    </a:ext>
                  </a:extLst>
                </a:gridCol>
                <a:gridCol w="1136934">
                  <a:extLst>
                    <a:ext uri="{9D8B030D-6E8A-4147-A177-3AD203B41FA5}">
                      <a16:colId xmlns:a16="http://schemas.microsoft.com/office/drawing/2014/main" val="3841236818"/>
                    </a:ext>
                  </a:extLst>
                </a:gridCol>
                <a:gridCol w="1136934">
                  <a:extLst>
                    <a:ext uri="{9D8B030D-6E8A-4147-A177-3AD203B41FA5}">
                      <a16:colId xmlns:a16="http://schemas.microsoft.com/office/drawing/2014/main" val="3054945508"/>
                    </a:ext>
                  </a:extLst>
                </a:gridCol>
              </a:tblGrid>
              <a:tr h="419048">
                <a:tc>
                  <a:txBody>
                    <a:bodyPr/>
                    <a:lstStyle/>
                    <a:p>
                      <a:pPr algn="ctr"/>
                      <a:r>
                        <a:rPr lang="es-ES" sz="1400" dirty="0"/>
                        <a:t>Preamble</a:t>
                      </a:r>
                    </a:p>
                  </a:txBody>
                  <a:tcPr anchor="ctr"/>
                </a:tc>
                <a:tc>
                  <a:txBody>
                    <a:bodyPr/>
                    <a:lstStyle/>
                    <a:p>
                      <a:pPr algn="ctr"/>
                      <a:r>
                        <a:rPr lang="es-ES" sz="1400" dirty="0"/>
                        <a:t>SFD</a:t>
                      </a:r>
                    </a:p>
                  </a:txBody>
                  <a:tcPr anchor="ctr"/>
                </a:tc>
                <a:tc>
                  <a:txBody>
                    <a:bodyPr/>
                    <a:lstStyle/>
                    <a:p>
                      <a:pPr algn="ctr"/>
                      <a:r>
                        <a:rPr lang="es-ES" sz="1400" dirty="0"/>
                        <a:t>Destination MAC</a:t>
                      </a:r>
                    </a:p>
                  </a:txBody>
                  <a:tcPr anchor="ctr"/>
                </a:tc>
                <a:tc>
                  <a:txBody>
                    <a:bodyPr/>
                    <a:lstStyle/>
                    <a:p>
                      <a:pPr algn="ctr"/>
                      <a:r>
                        <a:rPr lang="es-ES" sz="1400" dirty="0"/>
                        <a:t>Source MAC</a:t>
                      </a:r>
                    </a:p>
                  </a:txBody>
                  <a:tcPr anchor="ctr"/>
                </a:tc>
                <a:tc>
                  <a:txBody>
                    <a:bodyPr/>
                    <a:lstStyle/>
                    <a:p>
                      <a:pPr algn="ctr"/>
                      <a:r>
                        <a:rPr lang="es-ES" sz="1400" dirty="0"/>
                        <a:t>Type</a:t>
                      </a:r>
                    </a:p>
                  </a:txBody>
                  <a:tcPr anchor="ctr"/>
                </a:tc>
                <a:tc>
                  <a:txBody>
                    <a:bodyPr/>
                    <a:lstStyle/>
                    <a:p>
                      <a:pPr algn="ctr"/>
                      <a:r>
                        <a:rPr lang="es-ES" sz="1400" dirty="0"/>
                        <a:t>Data &amp; Padding</a:t>
                      </a:r>
                    </a:p>
                  </a:txBody>
                  <a:tcPr anchor="ctr"/>
                </a:tc>
                <a:tc>
                  <a:txBody>
                    <a:bodyPr/>
                    <a:lstStyle/>
                    <a:p>
                      <a:pPr algn="ctr"/>
                      <a:r>
                        <a:rPr lang="es-ES" sz="1400" dirty="0"/>
                        <a:t>FCS</a:t>
                      </a:r>
                    </a:p>
                  </a:txBody>
                  <a:tcPr anchor="ctr"/>
                </a:tc>
                <a:extLst>
                  <a:ext uri="{0D108BD9-81ED-4DB2-BD59-A6C34878D82A}">
                    <a16:rowId xmlns:a16="http://schemas.microsoft.com/office/drawing/2014/main" val="2213139133"/>
                  </a:ext>
                </a:extLst>
              </a:tr>
              <a:tr h="329989">
                <a:tc>
                  <a:txBody>
                    <a:bodyPr/>
                    <a:lstStyle/>
                    <a:p>
                      <a:pPr algn="ctr"/>
                      <a:r>
                        <a:rPr lang="es-ES" sz="1400" b="1" dirty="0"/>
                        <a:t>7</a:t>
                      </a:r>
                    </a:p>
                  </a:txBody>
                  <a:tcPr anchor="ctr"/>
                </a:tc>
                <a:tc>
                  <a:txBody>
                    <a:bodyPr/>
                    <a:lstStyle/>
                    <a:p>
                      <a:pPr algn="ctr"/>
                      <a:r>
                        <a:rPr lang="es-ES" sz="1400" b="1" dirty="0"/>
                        <a:t>1</a:t>
                      </a:r>
                    </a:p>
                  </a:txBody>
                  <a:tcPr anchor="ctr"/>
                </a:tc>
                <a:tc>
                  <a:txBody>
                    <a:bodyPr/>
                    <a:lstStyle/>
                    <a:p>
                      <a:pPr algn="ctr"/>
                      <a:r>
                        <a:rPr lang="es-ES" sz="1400" b="1" dirty="0"/>
                        <a:t>6</a:t>
                      </a:r>
                    </a:p>
                  </a:txBody>
                  <a:tcPr anchor="ctr"/>
                </a:tc>
                <a:tc>
                  <a:txBody>
                    <a:bodyPr/>
                    <a:lstStyle/>
                    <a:p>
                      <a:pPr algn="ctr"/>
                      <a:r>
                        <a:rPr lang="es-ES" sz="1400" b="1" dirty="0"/>
                        <a:t>6</a:t>
                      </a:r>
                    </a:p>
                  </a:txBody>
                  <a:tcPr anchor="ctr"/>
                </a:tc>
                <a:tc>
                  <a:txBody>
                    <a:bodyPr/>
                    <a:lstStyle/>
                    <a:p>
                      <a:pPr algn="ctr"/>
                      <a:r>
                        <a:rPr lang="es-ES" sz="1400" b="1" dirty="0"/>
                        <a:t>2</a:t>
                      </a:r>
                    </a:p>
                  </a:txBody>
                  <a:tcPr anchor="ctr"/>
                </a:tc>
                <a:tc>
                  <a:txBody>
                    <a:bodyPr/>
                    <a:lstStyle/>
                    <a:p>
                      <a:pPr algn="ctr"/>
                      <a:r>
                        <a:rPr lang="es-ES" sz="1400" b="1" dirty="0"/>
                        <a:t>46-1500</a:t>
                      </a:r>
                    </a:p>
                  </a:txBody>
                  <a:tcPr anchor="ctr"/>
                </a:tc>
                <a:tc>
                  <a:txBody>
                    <a:bodyPr/>
                    <a:lstStyle/>
                    <a:p>
                      <a:pPr algn="ctr"/>
                      <a:r>
                        <a:rPr lang="es-ES" sz="1400" b="1" dirty="0"/>
                        <a:t>4</a:t>
                      </a:r>
                    </a:p>
                  </a:txBody>
                  <a:tcPr anchor="ctr"/>
                </a:tc>
                <a:extLst>
                  <a:ext uri="{0D108BD9-81ED-4DB2-BD59-A6C34878D82A}">
                    <a16:rowId xmlns:a16="http://schemas.microsoft.com/office/drawing/2014/main" val="1113509079"/>
                  </a:ext>
                </a:extLst>
              </a:tr>
            </a:tbl>
          </a:graphicData>
        </a:graphic>
      </p:graphicFrame>
      <p:sp>
        <p:nvSpPr>
          <p:cNvPr id="13" name="Abrir llave 12">
            <a:extLst>
              <a:ext uri="{FF2B5EF4-FFF2-40B4-BE49-F238E27FC236}">
                <a16:creationId xmlns:a16="http://schemas.microsoft.com/office/drawing/2014/main" id="{6BBA8286-901C-9C14-2039-F1F271C926D6}"/>
              </a:ext>
            </a:extLst>
          </p:cNvPr>
          <p:cNvSpPr/>
          <p:nvPr/>
        </p:nvSpPr>
        <p:spPr>
          <a:xfrm rot="5400000">
            <a:off x="7914840" y="1968640"/>
            <a:ext cx="331864" cy="100786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dirty="0"/>
          </a:p>
        </p:txBody>
      </p:sp>
      <p:sp>
        <p:nvSpPr>
          <p:cNvPr id="14" name="CuadroTexto 13">
            <a:extLst>
              <a:ext uri="{FF2B5EF4-FFF2-40B4-BE49-F238E27FC236}">
                <a16:creationId xmlns:a16="http://schemas.microsoft.com/office/drawing/2014/main" id="{5F80901F-7FBD-6444-4181-75626241D79F}"/>
              </a:ext>
            </a:extLst>
          </p:cNvPr>
          <p:cNvSpPr txBox="1"/>
          <p:nvPr/>
        </p:nvSpPr>
        <p:spPr>
          <a:xfrm>
            <a:off x="2772265" y="1913335"/>
            <a:ext cx="2741776" cy="338554"/>
          </a:xfrm>
          <a:prstGeom prst="rect">
            <a:avLst/>
          </a:prstGeom>
          <a:noFill/>
        </p:spPr>
        <p:txBody>
          <a:bodyPr wrap="none" rtlCol="0">
            <a:spAutoFit/>
          </a:bodyPr>
          <a:lstStyle/>
          <a:p>
            <a:r>
              <a:rPr lang="es-ES" sz="1600" b="1" dirty="0"/>
              <a:t>Ethernet Header </a:t>
            </a:r>
            <a:r>
              <a:rPr lang="es-ES" sz="1600" dirty="0"/>
              <a:t>(Cabecera)</a:t>
            </a:r>
          </a:p>
        </p:txBody>
      </p:sp>
      <p:sp>
        <p:nvSpPr>
          <p:cNvPr id="16" name="Abrir llave 15">
            <a:extLst>
              <a:ext uri="{FF2B5EF4-FFF2-40B4-BE49-F238E27FC236}">
                <a16:creationId xmlns:a16="http://schemas.microsoft.com/office/drawing/2014/main" id="{700F8E20-4BF9-DD74-3131-38CB18ED0DE6}"/>
              </a:ext>
            </a:extLst>
          </p:cNvPr>
          <p:cNvSpPr/>
          <p:nvPr/>
        </p:nvSpPr>
        <p:spPr>
          <a:xfrm rot="5400000">
            <a:off x="3302752" y="-186437"/>
            <a:ext cx="393817" cy="5256054"/>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dirty="0"/>
          </a:p>
        </p:txBody>
      </p:sp>
      <p:graphicFrame>
        <p:nvGraphicFramePr>
          <p:cNvPr id="52" name="Tabla 51">
            <a:extLst>
              <a:ext uri="{FF2B5EF4-FFF2-40B4-BE49-F238E27FC236}">
                <a16:creationId xmlns:a16="http://schemas.microsoft.com/office/drawing/2014/main" id="{385F29B1-4EA1-0341-C512-57F1584BED6B}"/>
              </a:ext>
            </a:extLst>
          </p:cNvPr>
          <p:cNvGraphicFramePr>
            <a:graphicFrameLocks noGrp="1"/>
          </p:cNvGraphicFramePr>
          <p:nvPr/>
        </p:nvGraphicFramePr>
        <p:xfrm>
          <a:off x="8954220" y="956543"/>
          <a:ext cx="3212608" cy="5835142"/>
        </p:xfrm>
        <a:graphic>
          <a:graphicData uri="http://schemas.openxmlformats.org/drawingml/2006/table">
            <a:tbl>
              <a:tblPr firstRow="1" bandRow="1">
                <a:tableStyleId>{5C22544A-7EE6-4342-B048-85BDC9FD1C3A}</a:tableStyleId>
              </a:tblPr>
              <a:tblGrid>
                <a:gridCol w="1606304">
                  <a:extLst>
                    <a:ext uri="{9D8B030D-6E8A-4147-A177-3AD203B41FA5}">
                      <a16:colId xmlns:a16="http://schemas.microsoft.com/office/drawing/2014/main" val="2703309893"/>
                    </a:ext>
                  </a:extLst>
                </a:gridCol>
                <a:gridCol w="1606304">
                  <a:extLst>
                    <a:ext uri="{9D8B030D-6E8A-4147-A177-3AD203B41FA5}">
                      <a16:colId xmlns:a16="http://schemas.microsoft.com/office/drawing/2014/main" val="3691911966"/>
                    </a:ext>
                  </a:extLst>
                </a:gridCol>
              </a:tblGrid>
              <a:tr h="358997">
                <a:tc>
                  <a:txBody>
                    <a:bodyPr/>
                    <a:lstStyle/>
                    <a:p>
                      <a:r>
                        <a:rPr lang="es-ES" sz="1600" dirty="0"/>
                        <a:t>Campo</a:t>
                      </a:r>
                    </a:p>
                  </a:txBody>
                  <a:tcPr/>
                </a:tc>
                <a:tc>
                  <a:txBody>
                    <a:bodyPr/>
                    <a:lstStyle/>
                    <a:p>
                      <a:r>
                        <a:rPr lang="es-ES" sz="1600" dirty="0"/>
                        <a:t>Descripción</a:t>
                      </a:r>
                    </a:p>
                  </a:txBody>
                  <a:tcPr/>
                </a:tc>
                <a:extLst>
                  <a:ext uri="{0D108BD9-81ED-4DB2-BD59-A6C34878D82A}">
                    <a16:rowId xmlns:a16="http://schemas.microsoft.com/office/drawing/2014/main" val="3463377903"/>
                  </a:ext>
                </a:extLst>
              </a:tr>
              <a:tr h="360503">
                <a:tc>
                  <a:txBody>
                    <a:bodyPr/>
                    <a:lstStyle/>
                    <a:p>
                      <a:r>
                        <a:rPr lang="es-ES" sz="1400" dirty="0"/>
                        <a:t>Preámbulo</a:t>
                      </a:r>
                    </a:p>
                  </a:txBody>
                  <a:tcPr/>
                </a:tc>
                <a:tc>
                  <a:txBody>
                    <a:bodyPr/>
                    <a:lstStyle/>
                    <a:p>
                      <a:r>
                        <a:rPr lang="es-ES" sz="1200" dirty="0"/>
                        <a:t>Sincronización</a:t>
                      </a:r>
                    </a:p>
                  </a:txBody>
                  <a:tcPr/>
                </a:tc>
                <a:extLst>
                  <a:ext uri="{0D108BD9-81ED-4DB2-BD59-A6C34878D82A}">
                    <a16:rowId xmlns:a16="http://schemas.microsoft.com/office/drawing/2014/main" val="3510895851"/>
                  </a:ext>
                </a:extLst>
              </a:tr>
              <a:tr h="729021">
                <a:tc>
                  <a:txBody>
                    <a:bodyPr/>
                    <a:lstStyle/>
                    <a:p>
                      <a:pPr algn="ctr"/>
                      <a:r>
                        <a:rPr lang="es-ES" sz="1400" dirty="0"/>
                        <a:t>Delimitador de inicio de trama (Start Frame Delimeter)</a:t>
                      </a:r>
                    </a:p>
                  </a:txBody>
                  <a:tcPr anchor="ctr"/>
                </a:tc>
                <a:tc>
                  <a:txBody>
                    <a:bodyPr/>
                    <a:lstStyle/>
                    <a:p>
                      <a:r>
                        <a:rPr lang="es-ES" sz="1200" dirty="0"/>
                        <a:t>Indica que el siguiente byte inicia el campo de la Dirección MAC de Destino</a:t>
                      </a:r>
                    </a:p>
                  </a:txBody>
                  <a:tcPr/>
                </a:tc>
                <a:extLst>
                  <a:ext uri="{0D108BD9-81ED-4DB2-BD59-A6C34878D82A}">
                    <a16:rowId xmlns:a16="http://schemas.microsoft.com/office/drawing/2014/main" val="2347057130"/>
                  </a:ext>
                </a:extLst>
              </a:tr>
              <a:tr h="729021">
                <a:tc>
                  <a:txBody>
                    <a:bodyPr/>
                    <a:lstStyle/>
                    <a:p>
                      <a:pPr algn="ctr"/>
                      <a:r>
                        <a:rPr lang="es-ES" sz="1400" dirty="0"/>
                        <a:t>Dirección </a:t>
                      </a:r>
                      <a:r>
                        <a:rPr lang="es-ES" sz="1400" b="1" dirty="0"/>
                        <a:t>MAC</a:t>
                      </a:r>
                      <a:r>
                        <a:rPr lang="es-ES" sz="1400" dirty="0"/>
                        <a:t> de Destino</a:t>
                      </a:r>
                    </a:p>
                  </a:txBody>
                  <a:tcPr anchor="ctr"/>
                </a:tc>
                <a:tc>
                  <a:txBody>
                    <a:bodyPr/>
                    <a:lstStyle/>
                    <a:p>
                      <a:r>
                        <a:rPr lang="es-ES" sz="1200" dirty="0"/>
                        <a:t>Identifica al receptor previsto de esta trama</a:t>
                      </a:r>
                    </a:p>
                  </a:txBody>
                  <a:tcPr/>
                </a:tc>
                <a:extLst>
                  <a:ext uri="{0D108BD9-81ED-4DB2-BD59-A6C34878D82A}">
                    <a16:rowId xmlns:a16="http://schemas.microsoft.com/office/drawing/2014/main" val="327177904"/>
                  </a:ext>
                </a:extLst>
              </a:tr>
              <a:tr h="540669">
                <a:tc>
                  <a:txBody>
                    <a:bodyPr/>
                    <a:lstStyle/>
                    <a:p>
                      <a:pPr algn="ctr"/>
                      <a:r>
                        <a:rPr lang="es-ES" sz="1400" dirty="0"/>
                        <a:t>Dirección </a:t>
                      </a:r>
                      <a:r>
                        <a:rPr lang="es-ES" sz="1400" b="1" dirty="0"/>
                        <a:t>MAC</a:t>
                      </a:r>
                      <a:r>
                        <a:rPr lang="es-ES" sz="1400" dirty="0"/>
                        <a:t> de Origen</a:t>
                      </a:r>
                    </a:p>
                  </a:txBody>
                  <a:tcPr anchor="ctr"/>
                </a:tc>
                <a:tc>
                  <a:txBody>
                    <a:bodyPr/>
                    <a:lstStyle/>
                    <a:p>
                      <a:r>
                        <a:rPr lang="es-ES" sz="1200" dirty="0"/>
                        <a:t>Identifica al remitente de esta trama</a:t>
                      </a:r>
                    </a:p>
                  </a:txBody>
                  <a:tcPr/>
                </a:tc>
                <a:extLst>
                  <a:ext uri="{0D108BD9-81ED-4DB2-BD59-A6C34878D82A}">
                    <a16:rowId xmlns:a16="http://schemas.microsoft.com/office/drawing/2014/main" val="2224229817"/>
                  </a:ext>
                </a:extLst>
              </a:tr>
              <a:tr h="729021">
                <a:tc>
                  <a:txBody>
                    <a:bodyPr/>
                    <a:lstStyle/>
                    <a:p>
                      <a:pPr algn="ctr"/>
                      <a:r>
                        <a:rPr lang="es-ES" sz="1400" dirty="0"/>
                        <a:t>Tipo</a:t>
                      </a:r>
                    </a:p>
                  </a:txBody>
                  <a:tcPr anchor="ctr"/>
                </a:tc>
                <a:tc>
                  <a:txBody>
                    <a:bodyPr/>
                    <a:lstStyle/>
                    <a:p>
                      <a:r>
                        <a:rPr lang="es-ES" sz="1200" dirty="0"/>
                        <a:t>El tipo de protocolo de Capa 3 dentro de la trama (</a:t>
                      </a:r>
                    </a:p>
                  </a:txBody>
                  <a:tcPr/>
                </a:tc>
                <a:extLst>
                  <a:ext uri="{0D108BD9-81ED-4DB2-BD59-A6C34878D82A}">
                    <a16:rowId xmlns:a16="http://schemas.microsoft.com/office/drawing/2014/main" val="644745366"/>
                  </a:ext>
                </a:extLst>
              </a:tr>
              <a:tr h="729021">
                <a:tc>
                  <a:txBody>
                    <a:bodyPr/>
                    <a:lstStyle/>
                    <a:p>
                      <a:pPr algn="ctr"/>
                      <a:r>
                        <a:rPr lang="es-ES" sz="1400" dirty="0"/>
                        <a:t>Data y Padding</a:t>
                      </a:r>
                    </a:p>
                  </a:txBody>
                  <a:tcPr anchor="ctr"/>
                </a:tc>
                <a:tc>
                  <a:txBody>
                    <a:bodyPr/>
                    <a:lstStyle/>
                    <a:p>
                      <a:r>
                        <a:rPr lang="es-ES" sz="1200" dirty="0"/>
                        <a:t>Contiene datos de una capa superior usualmente un Paquete Ipv4 o Ipv6</a:t>
                      </a:r>
                    </a:p>
                  </a:txBody>
                  <a:tcPr/>
                </a:tc>
                <a:extLst>
                  <a:ext uri="{0D108BD9-81ED-4DB2-BD59-A6C34878D82A}">
                    <a16:rowId xmlns:a16="http://schemas.microsoft.com/office/drawing/2014/main" val="2200723698"/>
                  </a:ext>
                </a:extLst>
              </a:tr>
              <a:tr h="785230">
                <a:tc>
                  <a:txBody>
                    <a:bodyPr/>
                    <a:lstStyle/>
                    <a:p>
                      <a:pPr algn="ctr"/>
                      <a:r>
                        <a:rPr lang="es-ES" sz="1400" dirty="0"/>
                        <a:t>Secuencia de Verificación de Trama (Frame Check Sequence)</a:t>
                      </a:r>
                    </a:p>
                  </a:txBody>
                  <a:tcPr anchor="ctr"/>
                </a:tc>
                <a:tc>
                  <a:txBody>
                    <a:bodyPr/>
                    <a:lstStyle/>
                    <a:p>
                      <a:r>
                        <a:rPr lang="es-ES" sz="1200" dirty="0"/>
                        <a:t>Proporciona un método para que la NIC receptora determine si la trama sufrió errores de transmisión.</a:t>
                      </a:r>
                    </a:p>
                  </a:txBody>
                  <a:tcPr/>
                </a:tc>
                <a:extLst>
                  <a:ext uri="{0D108BD9-81ED-4DB2-BD59-A6C34878D82A}">
                    <a16:rowId xmlns:a16="http://schemas.microsoft.com/office/drawing/2014/main" val="4253611970"/>
                  </a:ext>
                </a:extLst>
              </a:tr>
            </a:tbl>
          </a:graphicData>
        </a:graphic>
      </p:graphicFrame>
      <p:pic>
        <p:nvPicPr>
          <p:cNvPr id="54" name="Imagen 53">
            <a:extLst>
              <a:ext uri="{FF2B5EF4-FFF2-40B4-BE49-F238E27FC236}">
                <a16:creationId xmlns:a16="http://schemas.microsoft.com/office/drawing/2014/main" id="{9889CE1A-30E3-8666-A791-F6EA25E1CEEF}"/>
              </a:ext>
            </a:extLst>
          </p:cNvPr>
          <p:cNvPicPr>
            <a:picLocks noChangeAspect="1"/>
          </p:cNvPicPr>
          <p:nvPr/>
        </p:nvPicPr>
        <p:blipFill>
          <a:blip r:embed="rId3"/>
          <a:stretch>
            <a:fillRect/>
          </a:stretch>
        </p:blipFill>
        <p:spPr>
          <a:xfrm>
            <a:off x="4501173" y="90247"/>
            <a:ext cx="2804877" cy="553471"/>
          </a:xfrm>
          <a:prstGeom prst="rect">
            <a:avLst/>
          </a:prstGeom>
        </p:spPr>
      </p:pic>
      <p:sp>
        <p:nvSpPr>
          <p:cNvPr id="56" name="CuadroTexto 55">
            <a:extLst>
              <a:ext uri="{FF2B5EF4-FFF2-40B4-BE49-F238E27FC236}">
                <a16:creationId xmlns:a16="http://schemas.microsoft.com/office/drawing/2014/main" id="{11EE0CE6-3DC8-7E1D-3590-50A66226CC1C}"/>
              </a:ext>
            </a:extLst>
          </p:cNvPr>
          <p:cNvSpPr txBox="1"/>
          <p:nvPr/>
        </p:nvSpPr>
        <p:spPr>
          <a:xfrm>
            <a:off x="7453920" y="84285"/>
            <a:ext cx="4025185" cy="584775"/>
          </a:xfrm>
          <a:prstGeom prst="rect">
            <a:avLst/>
          </a:prstGeom>
          <a:noFill/>
        </p:spPr>
        <p:txBody>
          <a:bodyPr wrap="square">
            <a:spAutoFit/>
          </a:bodyPr>
          <a:lstStyle/>
          <a:p>
            <a:r>
              <a:rPr lang="es-ES" sz="1600" dirty="0"/>
              <a:t>✅Direcciona físicamente los datos dentro de una misma red local (LAN).</a:t>
            </a:r>
          </a:p>
        </p:txBody>
      </p:sp>
      <p:pic>
        <p:nvPicPr>
          <p:cNvPr id="58" name="Imagen 57">
            <a:extLst>
              <a:ext uri="{FF2B5EF4-FFF2-40B4-BE49-F238E27FC236}">
                <a16:creationId xmlns:a16="http://schemas.microsoft.com/office/drawing/2014/main" id="{487D6D0B-E79F-0BDC-F738-60411D2988AE}"/>
              </a:ext>
            </a:extLst>
          </p:cNvPr>
          <p:cNvPicPr>
            <a:picLocks noChangeAspect="1"/>
          </p:cNvPicPr>
          <p:nvPr/>
        </p:nvPicPr>
        <p:blipFill>
          <a:blip r:embed="rId4"/>
          <a:stretch>
            <a:fillRect/>
          </a:stretch>
        </p:blipFill>
        <p:spPr>
          <a:xfrm>
            <a:off x="54103" y="3276037"/>
            <a:ext cx="572061" cy="297894"/>
          </a:xfrm>
          <a:prstGeom prst="rect">
            <a:avLst/>
          </a:prstGeom>
        </p:spPr>
      </p:pic>
      <p:pic>
        <p:nvPicPr>
          <p:cNvPr id="60" name="Imagen 59">
            <a:extLst>
              <a:ext uri="{FF2B5EF4-FFF2-40B4-BE49-F238E27FC236}">
                <a16:creationId xmlns:a16="http://schemas.microsoft.com/office/drawing/2014/main" id="{CE0B35B6-6B95-6509-8ED3-9E4F5F35CEC4}"/>
              </a:ext>
            </a:extLst>
          </p:cNvPr>
          <p:cNvPicPr>
            <a:picLocks noChangeAspect="1"/>
          </p:cNvPicPr>
          <p:nvPr/>
        </p:nvPicPr>
        <p:blipFill>
          <a:blip r:embed="rId4"/>
          <a:stretch>
            <a:fillRect/>
          </a:stretch>
        </p:blipFill>
        <p:spPr>
          <a:xfrm>
            <a:off x="134639" y="3652185"/>
            <a:ext cx="983050" cy="297894"/>
          </a:xfrm>
          <a:prstGeom prst="rect">
            <a:avLst/>
          </a:prstGeom>
        </p:spPr>
      </p:pic>
      <p:sp>
        <p:nvSpPr>
          <p:cNvPr id="61" name="CuadroTexto 60">
            <a:extLst>
              <a:ext uri="{FF2B5EF4-FFF2-40B4-BE49-F238E27FC236}">
                <a16:creationId xmlns:a16="http://schemas.microsoft.com/office/drawing/2014/main" id="{FC20CAF0-9A6D-88FE-F260-87379F2615AF}"/>
              </a:ext>
            </a:extLst>
          </p:cNvPr>
          <p:cNvSpPr txBox="1"/>
          <p:nvPr/>
        </p:nvSpPr>
        <p:spPr>
          <a:xfrm>
            <a:off x="1201716" y="3652185"/>
            <a:ext cx="7241046" cy="307777"/>
          </a:xfrm>
          <a:prstGeom prst="rect">
            <a:avLst/>
          </a:prstGeom>
          <a:noFill/>
        </p:spPr>
        <p:txBody>
          <a:bodyPr wrap="square" rtlCol="0">
            <a:spAutoFit/>
          </a:bodyPr>
          <a:lstStyle/>
          <a:p>
            <a:r>
              <a:rPr lang="es-ES" sz="1400" b="1" dirty="0"/>
              <a:t>:</a:t>
            </a:r>
            <a:r>
              <a:rPr lang="es-ES" sz="1400" dirty="0"/>
              <a:t> Las tarjetas de red (NIC) y los switches leen la memoria en bloques de </a:t>
            </a:r>
            <a:r>
              <a:rPr lang="es-ES" sz="1400" b="1" dirty="0"/>
              <a:t>8 bits (1 byte).</a:t>
            </a:r>
          </a:p>
        </p:txBody>
      </p:sp>
      <p:pic>
        <p:nvPicPr>
          <p:cNvPr id="3" name="Imagen 2">
            <a:extLst>
              <a:ext uri="{FF2B5EF4-FFF2-40B4-BE49-F238E27FC236}">
                <a16:creationId xmlns:a16="http://schemas.microsoft.com/office/drawing/2014/main" id="{0108563B-BDB1-D0D1-2B61-F1BBA9D016A7}"/>
              </a:ext>
            </a:extLst>
          </p:cNvPr>
          <p:cNvPicPr>
            <a:picLocks noChangeAspect="1"/>
          </p:cNvPicPr>
          <p:nvPr/>
        </p:nvPicPr>
        <p:blipFill>
          <a:blip r:embed="rId5"/>
          <a:stretch>
            <a:fillRect/>
          </a:stretch>
        </p:blipFill>
        <p:spPr>
          <a:xfrm>
            <a:off x="11248484" y="4483476"/>
            <a:ext cx="742988" cy="177809"/>
          </a:xfrm>
          <a:prstGeom prst="rect">
            <a:avLst/>
          </a:prstGeom>
        </p:spPr>
      </p:pic>
      <p:sp>
        <p:nvSpPr>
          <p:cNvPr id="8" name="CuadroTexto 7">
            <a:extLst>
              <a:ext uri="{FF2B5EF4-FFF2-40B4-BE49-F238E27FC236}">
                <a16:creationId xmlns:a16="http://schemas.microsoft.com/office/drawing/2014/main" id="{7B1F4145-F4FC-E75F-B06D-752ACBF40C45}"/>
              </a:ext>
            </a:extLst>
          </p:cNvPr>
          <p:cNvSpPr txBox="1"/>
          <p:nvPr/>
        </p:nvSpPr>
        <p:spPr>
          <a:xfrm>
            <a:off x="-1" y="4006321"/>
            <a:ext cx="9109099" cy="2893100"/>
          </a:xfrm>
          <a:prstGeom prst="rect">
            <a:avLst/>
          </a:prstGeom>
          <a:noFill/>
        </p:spPr>
        <p:txBody>
          <a:bodyPr wrap="square" rtlCol="0">
            <a:spAutoFit/>
          </a:bodyPr>
          <a:lstStyle/>
          <a:p>
            <a:r>
              <a:rPr lang="es-ES" sz="1400" dirty="0"/>
              <a:t>1.</a:t>
            </a:r>
            <a:r>
              <a:rPr lang="es-ES" sz="1400" b="1" dirty="0"/>
              <a:t>Preamble</a:t>
            </a:r>
            <a:r>
              <a:rPr lang="es-ES" sz="1400" dirty="0"/>
              <a:t>: La tarjeta de red recibe 7 bytes seguidos con un patrón repetitivo e intercalado de </a:t>
            </a:r>
            <a:r>
              <a:rPr lang="es-ES" sz="1400" b="1" dirty="0"/>
              <a:t>1 y 0 </a:t>
            </a:r>
            <a:r>
              <a:rPr lang="es-ES" sz="1400" dirty="0"/>
              <a:t>para que sepa que comienza una comunicación y se adapte a la velocidad.</a:t>
            </a:r>
          </a:p>
          <a:p>
            <a:r>
              <a:rPr lang="es-ES" sz="1400" dirty="0"/>
              <a:t>2.</a:t>
            </a:r>
            <a:r>
              <a:rPr lang="es-ES" sz="1400" b="1" dirty="0"/>
              <a:t>SFD: </a:t>
            </a:r>
            <a:r>
              <a:rPr lang="es-ES" sz="1400" dirty="0"/>
              <a:t>Luego recibe 1 byte que termina en dos </a:t>
            </a:r>
            <a:r>
              <a:rPr lang="es-ES" sz="1400" b="1" dirty="0"/>
              <a:t>1 </a:t>
            </a:r>
            <a:r>
              <a:rPr lang="es-ES" sz="1400" dirty="0"/>
              <a:t>seguidos indicando que el siguiente campo será “</a:t>
            </a:r>
            <a:r>
              <a:rPr lang="es-ES" sz="1400" b="1" dirty="0"/>
              <a:t>Destination MAC</a:t>
            </a:r>
            <a:r>
              <a:rPr lang="es-ES" sz="1400" dirty="0"/>
              <a:t>”</a:t>
            </a:r>
          </a:p>
          <a:p>
            <a:r>
              <a:rPr lang="es-ES" sz="1400" dirty="0"/>
              <a:t>3.</a:t>
            </a:r>
            <a:r>
              <a:rPr lang="es-ES" sz="1400" b="1" dirty="0"/>
              <a:t>Destination MAC: </a:t>
            </a:r>
            <a:r>
              <a:rPr lang="es-ES" sz="1400" dirty="0"/>
              <a:t>La tarjeta de red lee si el destino es ella, si no, descarta la trama.</a:t>
            </a:r>
          </a:p>
          <a:p>
            <a:r>
              <a:rPr lang="es-ES" sz="1400" dirty="0"/>
              <a:t>4.</a:t>
            </a:r>
            <a:r>
              <a:rPr lang="es-ES" sz="1400" b="1" dirty="0"/>
              <a:t>Source MAC: </a:t>
            </a:r>
            <a:r>
              <a:rPr lang="es-ES" sz="1400" dirty="0"/>
              <a:t>La tarjeta de red descubre quien le envió el mensaje para saber a quien responderle después.</a:t>
            </a:r>
          </a:p>
          <a:p>
            <a:r>
              <a:rPr lang="es-ES" sz="1400" dirty="0"/>
              <a:t>5.</a:t>
            </a:r>
            <a:r>
              <a:rPr lang="es-ES" sz="1400" b="1" dirty="0"/>
              <a:t>Type: </a:t>
            </a:r>
            <a:r>
              <a:rPr lang="es-ES" sz="1400" dirty="0"/>
              <a:t>Examina con que protocolo de capa 3 le esta hablando.</a:t>
            </a:r>
          </a:p>
          <a:p>
            <a:r>
              <a:rPr lang="es-ES" sz="1400" dirty="0"/>
              <a:t>6.</a:t>
            </a:r>
            <a:r>
              <a:rPr lang="es-ES" sz="1400" b="1" dirty="0"/>
              <a:t>Data &amp; Padding: </a:t>
            </a:r>
            <a:r>
              <a:rPr lang="es-ES" sz="1400" dirty="0"/>
              <a:t>Desempaqueta el mensaje real y almacena temporalmente la información.</a:t>
            </a:r>
          </a:p>
          <a:p>
            <a:r>
              <a:rPr lang="es-ES" sz="1400" dirty="0"/>
              <a:t>7.</a:t>
            </a:r>
            <a:r>
              <a:rPr lang="es-ES" sz="1400" b="1" dirty="0"/>
              <a:t>FCS: </a:t>
            </a:r>
            <a:r>
              <a:rPr lang="es-ES" sz="1400" dirty="0"/>
              <a:t> Aplica una fórmula matemática desde el campo Destination MAC hasta el final de Data &amp; Padding y compara el resultado con el valor que vino en este campo para chequear si esta integra, si es asi acepta los datos y si no descartara esta trama.</a:t>
            </a:r>
          </a:p>
          <a:p>
            <a:r>
              <a:rPr lang="es-ES" sz="1400" dirty="0"/>
              <a:t>💡</a:t>
            </a:r>
            <a:r>
              <a:rPr lang="es-ES" sz="1400" b="1" dirty="0"/>
              <a:t>Una trama puede corromperse por problemas físicos como interferencia electromagnética, colisiones, cables defectuosos o distancia que sobrepasa el limite del cableado. (mas adelante profundizaremos en esto).</a:t>
            </a:r>
          </a:p>
        </p:txBody>
      </p:sp>
      <p:pic>
        <p:nvPicPr>
          <p:cNvPr id="9" name="Imagen 8">
            <a:extLst>
              <a:ext uri="{FF2B5EF4-FFF2-40B4-BE49-F238E27FC236}">
                <a16:creationId xmlns:a16="http://schemas.microsoft.com/office/drawing/2014/main" id="{30A71E29-FCCD-2D3D-40CC-5D308DF2B6A5}"/>
              </a:ext>
            </a:extLst>
          </p:cNvPr>
          <p:cNvPicPr>
            <a:picLocks noChangeAspect="1"/>
          </p:cNvPicPr>
          <p:nvPr/>
        </p:nvPicPr>
        <p:blipFill>
          <a:blip r:embed="rId6"/>
          <a:stretch>
            <a:fillRect/>
          </a:stretch>
        </p:blipFill>
        <p:spPr>
          <a:xfrm>
            <a:off x="2979364" y="90907"/>
            <a:ext cx="1447874" cy="571529"/>
          </a:xfrm>
          <a:prstGeom prst="rect">
            <a:avLst/>
          </a:prstGeom>
        </p:spPr>
      </p:pic>
      <p:pic>
        <p:nvPicPr>
          <p:cNvPr id="15" name="Imagen 14">
            <a:extLst>
              <a:ext uri="{FF2B5EF4-FFF2-40B4-BE49-F238E27FC236}">
                <a16:creationId xmlns:a16="http://schemas.microsoft.com/office/drawing/2014/main" id="{180B132D-0F73-7D73-5845-696A20849A12}"/>
              </a:ext>
            </a:extLst>
          </p:cNvPr>
          <p:cNvPicPr>
            <a:picLocks noChangeAspect="1"/>
          </p:cNvPicPr>
          <p:nvPr/>
        </p:nvPicPr>
        <p:blipFill>
          <a:blip r:embed="rId7"/>
          <a:stretch>
            <a:fillRect/>
          </a:stretch>
        </p:blipFill>
        <p:spPr>
          <a:xfrm>
            <a:off x="7378740" y="1681515"/>
            <a:ext cx="1390721" cy="552478"/>
          </a:xfrm>
          <a:prstGeom prst="rect">
            <a:avLst/>
          </a:prstGeom>
        </p:spPr>
      </p:pic>
      <p:sp>
        <p:nvSpPr>
          <p:cNvPr id="19" name="Abrir llave 18">
            <a:extLst>
              <a:ext uri="{FF2B5EF4-FFF2-40B4-BE49-F238E27FC236}">
                <a16:creationId xmlns:a16="http://schemas.microsoft.com/office/drawing/2014/main" id="{49FD7922-3C96-A103-D538-36DB25997566}"/>
              </a:ext>
            </a:extLst>
          </p:cNvPr>
          <p:cNvSpPr/>
          <p:nvPr/>
        </p:nvSpPr>
        <p:spPr>
          <a:xfrm rot="5400000">
            <a:off x="6729616" y="1968637"/>
            <a:ext cx="331864" cy="100786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dirty="0"/>
          </a:p>
        </p:txBody>
      </p:sp>
      <p:sp>
        <p:nvSpPr>
          <p:cNvPr id="21" name="CuadroTexto 20">
            <a:extLst>
              <a:ext uri="{FF2B5EF4-FFF2-40B4-BE49-F238E27FC236}">
                <a16:creationId xmlns:a16="http://schemas.microsoft.com/office/drawing/2014/main" id="{9C3655B8-B737-26FC-4EC3-3168C4657DAB}"/>
              </a:ext>
            </a:extLst>
          </p:cNvPr>
          <p:cNvSpPr txBox="1"/>
          <p:nvPr/>
        </p:nvSpPr>
        <p:spPr>
          <a:xfrm>
            <a:off x="6254178" y="1945612"/>
            <a:ext cx="1282740" cy="338554"/>
          </a:xfrm>
          <a:prstGeom prst="rect">
            <a:avLst/>
          </a:prstGeom>
          <a:noFill/>
        </p:spPr>
        <p:txBody>
          <a:bodyPr wrap="square">
            <a:spAutoFit/>
          </a:bodyPr>
          <a:lstStyle/>
          <a:p>
            <a:r>
              <a:rPr lang="es-ES" sz="1600" b="1" dirty="0"/>
              <a:t>Paquete IP</a:t>
            </a:r>
            <a:endParaRPr lang="es-ES" b="1" dirty="0"/>
          </a:p>
        </p:txBody>
      </p:sp>
    </p:spTree>
    <p:extLst>
      <p:ext uri="{BB962C8B-B14F-4D97-AF65-F5344CB8AC3E}">
        <p14:creationId xmlns:p14="http://schemas.microsoft.com/office/powerpoint/2010/main" val="23540540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B1641C1D-1FCE-E4CC-BCC5-15034C9FD37D}"/>
              </a:ext>
            </a:extLst>
          </p:cNvPr>
          <p:cNvSpPr txBox="1"/>
          <p:nvPr/>
        </p:nvSpPr>
        <p:spPr>
          <a:xfrm>
            <a:off x="-321133" y="0"/>
            <a:ext cx="3329579" cy="461665"/>
          </a:xfrm>
          <a:prstGeom prst="rect">
            <a:avLst/>
          </a:prstGeom>
          <a:noFill/>
        </p:spPr>
        <p:txBody>
          <a:bodyPr wrap="square">
            <a:spAutoFit/>
          </a:bodyPr>
          <a:lstStyle/>
          <a:p>
            <a:pPr algn="ctr"/>
            <a:r>
              <a:rPr lang="es-ES" sz="1200" dirty="0">
                <a:ln w="0"/>
                <a:effectLst>
                  <a:outerShdw blurRad="38100" dist="19050" dir="2700000" algn="tl" rotWithShape="0">
                    <a:schemeClr val="dk1">
                      <a:alpha val="40000"/>
                    </a:schemeClr>
                  </a:outerShdw>
                </a:effectLst>
              </a:rPr>
              <a:t>1. Introducción a las redes</a:t>
            </a:r>
          </a:p>
          <a:p>
            <a:pPr algn="ctr"/>
            <a:r>
              <a:rPr lang="es-ES" sz="1200" b="1" dirty="0"/>
              <a:t>Ethernet y ¿Cómo funciona una LAN?</a:t>
            </a:r>
          </a:p>
        </p:txBody>
      </p:sp>
      <p:pic>
        <p:nvPicPr>
          <p:cNvPr id="15" name="Imagen 14">
            <a:extLst>
              <a:ext uri="{FF2B5EF4-FFF2-40B4-BE49-F238E27FC236}">
                <a16:creationId xmlns:a16="http://schemas.microsoft.com/office/drawing/2014/main" id="{FA4858CE-BBF6-0C46-87BD-20D85869D800}"/>
              </a:ext>
            </a:extLst>
          </p:cNvPr>
          <p:cNvPicPr>
            <a:picLocks noChangeAspect="1"/>
          </p:cNvPicPr>
          <p:nvPr/>
        </p:nvPicPr>
        <p:blipFill>
          <a:blip r:embed="rId2"/>
          <a:stretch>
            <a:fillRect/>
          </a:stretch>
        </p:blipFill>
        <p:spPr>
          <a:xfrm>
            <a:off x="2431859" y="738663"/>
            <a:ext cx="6683751" cy="1214733"/>
          </a:xfrm>
          <a:prstGeom prst="rect">
            <a:avLst/>
          </a:prstGeom>
        </p:spPr>
      </p:pic>
      <p:sp>
        <p:nvSpPr>
          <p:cNvPr id="18" name="CuadroTexto 17">
            <a:extLst>
              <a:ext uri="{FF2B5EF4-FFF2-40B4-BE49-F238E27FC236}">
                <a16:creationId xmlns:a16="http://schemas.microsoft.com/office/drawing/2014/main" id="{EA7059A8-C161-A850-251E-603BFD62BF59}"/>
              </a:ext>
            </a:extLst>
          </p:cNvPr>
          <p:cNvSpPr txBox="1"/>
          <p:nvPr/>
        </p:nvSpPr>
        <p:spPr>
          <a:xfrm>
            <a:off x="2905488" y="276998"/>
            <a:ext cx="6950487" cy="369332"/>
          </a:xfrm>
          <a:prstGeom prst="rect">
            <a:avLst/>
          </a:prstGeom>
          <a:noFill/>
        </p:spPr>
        <p:txBody>
          <a:bodyPr wrap="square">
            <a:spAutoFit/>
          </a:bodyPr>
          <a:lstStyle/>
          <a:p>
            <a:r>
              <a:rPr lang="es-ES" b="1" dirty="0"/>
              <a:t>Métodos de envío de datos (Unicast, Broadcast, Multicast)</a:t>
            </a:r>
          </a:p>
        </p:txBody>
      </p:sp>
      <p:sp>
        <p:nvSpPr>
          <p:cNvPr id="19" name="CuadroTexto 18">
            <a:extLst>
              <a:ext uri="{FF2B5EF4-FFF2-40B4-BE49-F238E27FC236}">
                <a16:creationId xmlns:a16="http://schemas.microsoft.com/office/drawing/2014/main" id="{3992F8D2-4E91-FEE6-D347-8197F48E4942}"/>
              </a:ext>
            </a:extLst>
          </p:cNvPr>
          <p:cNvSpPr txBox="1"/>
          <p:nvPr/>
        </p:nvSpPr>
        <p:spPr>
          <a:xfrm>
            <a:off x="0" y="2351731"/>
            <a:ext cx="12191999" cy="584775"/>
          </a:xfrm>
          <a:prstGeom prst="rect">
            <a:avLst/>
          </a:prstGeom>
          <a:noFill/>
        </p:spPr>
        <p:txBody>
          <a:bodyPr wrap="square" rtlCol="0">
            <a:spAutoFit/>
          </a:bodyPr>
          <a:lstStyle/>
          <a:p>
            <a:pPr algn="ctr"/>
            <a:r>
              <a:rPr lang="es-ES" sz="1600" dirty="0"/>
              <a:t>El campo </a:t>
            </a:r>
            <a:r>
              <a:rPr lang="es-ES" sz="1600" b="1" dirty="0"/>
              <a:t>Destination MAC </a:t>
            </a:r>
            <a:r>
              <a:rPr lang="es-ES" sz="1600" dirty="0"/>
              <a:t>no siempre contiene una dirección dirigida a un </a:t>
            </a:r>
            <a:r>
              <a:rPr lang="es-ES" sz="1600" b="1" dirty="0"/>
              <a:t>único dispositivo</a:t>
            </a:r>
            <a:r>
              <a:rPr lang="es-ES" sz="1600" dirty="0"/>
              <a:t>, tambien puede ser a un </a:t>
            </a:r>
            <a:r>
              <a:rPr lang="es-ES" sz="1600" b="1" dirty="0"/>
              <a:t>grupo especifico </a:t>
            </a:r>
            <a:r>
              <a:rPr lang="es-ES" sz="1600" dirty="0"/>
              <a:t>de dispositivos o (</a:t>
            </a:r>
            <a:r>
              <a:rPr lang="es-ES" sz="1600" b="1" dirty="0"/>
              <a:t>todos) los dispositivos </a:t>
            </a:r>
            <a:r>
              <a:rPr lang="es-ES" sz="1600" dirty="0"/>
              <a:t>en la LAN</a:t>
            </a:r>
          </a:p>
        </p:txBody>
      </p:sp>
      <p:sp>
        <p:nvSpPr>
          <p:cNvPr id="21" name="Flecha: hacia abajo 20">
            <a:extLst>
              <a:ext uri="{FF2B5EF4-FFF2-40B4-BE49-F238E27FC236}">
                <a16:creationId xmlns:a16="http://schemas.microsoft.com/office/drawing/2014/main" id="{7E4A1424-32DB-1453-FD8A-10C87FF4B535}"/>
              </a:ext>
            </a:extLst>
          </p:cNvPr>
          <p:cNvSpPr/>
          <p:nvPr/>
        </p:nvSpPr>
        <p:spPr>
          <a:xfrm>
            <a:off x="5043714" y="2020086"/>
            <a:ext cx="146675" cy="21030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mc:AlternateContent xmlns:mc="http://schemas.openxmlformats.org/markup-compatibility/2006" xmlns:p14="http://schemas.microsoft.com/office/powerpoint/2010/main">
        <mc:Choice Requires="p14">
          <p:contentPart p14:bwMode="auto" r:id="rId3">
            <p14:nvContentPartPr>
              <p14:cNvPr id="24" name="Entrada de lápiz 23">
                <a:extLst>
                  <a:ext uri="{FF2B5EF4-FFF2-40B4-BE49-F238E27FC236}">
                    <a16:creationId xmlns:a16="http://schemas.microsoft.com/office/drawing/2014/main" id="{65EFCA1E-68DA-8ABD-011A-926242319BA1}"/>
                  </a:ext>
                </a:extLst>
              </p14:cNvPr>
              <p14:cNvContentPartPr/>
              <p14:nvPr/>
            </p14:nvContentPartPr>
            <p14:xfrm>
              <a:off x="4507390" y="1136998"/>
              <a:ext cx="1140120" cy="909360"/>
            </p14:xfrm>
          </p:contentPart>
        </mc:Choice>
        <mc:Fallback xmlns="">
          <p:pic>
            <p:nvPicPr>
              <p:cNvPr id="24" name="Entrada de lápiz 23">
                <a:extLst>
                  <a:ext uri="{FF2B5EF4-FFF2-40B4-BE49-F238E27FC236}">
                    <a16:creationId xmlns:a16="http://schemas.microsoft.com/office/drawing/2014/main" id="{65EFCA1E-68DA-8ABD-011A-926242319BA1}"/>
                  </a:ext>
                </a:extLst>
              </p:cNvPr>
              <p:cNvPicPr/>
              <p:nvPr/>
            </p:nvPicPr>
            <p:blipFill>
              <a:blip r:embed="rId4"/>
              <a:stretch>
                <a:fillRect/>
              </a:stretch>
            </p:blipFill>
            <p:spPr>
              <a:xfrm>
                <a:off x="4489750" y="1118998"/>
                <a:ext cx="1175760" cy="945000"/>
              </a:xfrm>
              <a:prstGeom prst="rect">
                <a:avLst/>
              </a:prstGeom>
            </p:spPr>
          </p:pic>
        </mc:Fallback>
      </mc:AlternateContent>
      <p:sp>
        <p:nvSpPr>
          <p:cNvPr id="25" name="CuadroTexto 24">
            <a:extLst>
              <a:ext uri="{FF2B5EF4-FFF2-40B4-BE49-F238E27FC236}">
                <a16:creationId xmlns:a16="http://schemas.microsoft.com/office/drawing/2014/main" id="{E6C5E925-BC70-30C3-1B8C-75F1FD8BD0CB}"/>
              </a:ext>
            </a:extLst>
          </p:cNvPr>
          <p:cNvSpPr txBox="1"/>
          <p:nvPr/>
        </p:nvSpPr>
        <p:spPr>
          <a:xfrm>
            <a:off x="65314" y="2981606"/>
            <a:ext cx="12126686" cy="3816429"/>
          </a:xfrm>
          <a:prstGeom prst="rect">
            <a:avLst/>
          </a:prstGeom>
          <a:noFill/>
        </p:spPr>
        <p:txBody>
          <a:bodyPr wrap="square" rtlCol="0">
            <a:spAutoFit/>
          </a:bodyPr>
          <a:lstStyle/>
          <a:p>
            <a:r>
              <a:rPr lang="es-ES" b="1" dirty="0">
                <a:solidFill>
                  <a:schemeClr val="accent1"/>
                </a:solidFill>
              </a:rPr>
              <a:t>Unicast: </a:t>
            </a:r>
          </a:p>
          <a:p>
            <a:r>
              <a:rPr lang="es-ES" sz="1600" dirty="0"/>
              <a:t>Envío de datos dirigido a un </a:t>
            </a:r>
            <a:r>
              <a:rPr lang="es-ES" sz="1600" b="1" dirty="0"/>
              <a:t>único dispositivo</a:t>
            </a:r>
            <a:r>
              <a:rPr lang="es-ES" sz="1600" dirty="0"/>
              <a:t> específico de la red (comunicación uno a uno).</a:t>
            </a:r>
          </a:p>
          <a:p>
            <a:r>
              <a:rPr lang="es-ES" sz="1600" b="1" dirty="0"/>
              <a:t>00:1A:2B:3C:4D:5E </a:t>
            </a:r>
            <a:r>
              <a:rPr lang="es-ES" sz="1600" dirty="0"/>
              <a:t>(Una dirección MAC normal de un equipo)</a:t>
            </a:r>
          </a:p>
          <a:p>
            <a:endParaRPr lang="es-ES" sz="1600" dirty="0"/>
          </a:p>
          <a:p>
            <a:r>
              <a:rPr lang="es-ES" b="1" dirty="0">
                <a:solidFill>
                  <a:schemeClr val="accent2">
                    <a:lumMod val="75000"/>
                  </a:schemeClr>
                </a:solidFill>
              </a:rPr>
              <a:t>Broadcast: </a:t>
            </a:r>
          </a:p>
          <a:p>
            <a:r>
              <a:rPr lang="es-ES" sz="1600" dirty="0"/>
              <a:t>Envío de datos dirigido a </a:t>
            </a:r>
            <a:r>
              <a:rPr lang="es-ES" sz="1600" b="1" dirty="0"/>
              <a:t>todos</a:t>
            </a:r>
            <a:r>
              <a:rPr lang="es-ES" sz="1600" dirty="0"/>
              <a:t> los dispositivos de la LAN al mismo tiempo (comunicación uno a todos).</a:t>
            </a:r>
          </a:p>
          <a:p>
            <a:r>
              <a:rPr lang="es-ES" sz="1600" dirty="0"/>
              <a:t>💡Esta es la dirección Broadcast: </a:t>
            </a:r>
            <a:r>
              <a:rPr lang="es-ES" sz="1600" b="1" dirty="0"/>
              <a:t>FF:FF:FF:FF:FF:FF </a:t>
            </a:r>
            <a:r>
              <a:rPr lang="es-ES" sz="1600" dirty="0"/>
              <a:t>(Siempre son solo letras F).</a:t>
            </a:r>
          </a:p>
          <a:p>
            <a:r>
              <a:rPr lang="es-ES" sz="1400" dirty="0"/>
              <a:t>💠La utilizan los dispositivos cuando necesitan gritarle a toda la red local porque no conocen la dirección específica de su destino, o cuando necesitan enviar un aviso que le importa a absolutamente todos.</a:t>
            </a:r>
          </a:p>
          <a:p>
            <a:endParaRPr lang="es-ES" sz="1600" dirty="0"/>
          </a:p>
          <a:p>
            <a:r>
              <a:rPr lang="es-ES" b="1" dirty="0">
                <a:solidFill>
                  <a:schemeClr val="accent5">
                    <a:lumMod val="75000"/>
                  </a:schemeClr>
                </a:solidFill>
              </a:rPr>
              <a:t>Multicast: </a:t>
            </a:r>
          </a:p>
          <a:p>
            <a:r>
              <a:rPr lang="es-ES" sz="1600" dirty="0"/>
              <a:t>Envío de datos dirigido a un </a:t>
            </a:r>
            <a:r>
              <a:rPr lang="es-ES" sz="1600" b="1" dirty="0"/>
              <a:t>grupo específico</a:t>
            </a:r>
            <a:r>
              <a:rPr lang="es-ES" sz="1600" dirty="0"/>
              <a:t> de dispositivos que están interesados en esa información (comunicación uno a muchos).</a:t>
            </a:r>
          </a:p>
          <a:p>
            <a:r>
              <a:rPr lang="es-ES" sz="1600" dirty="0"/>
              <a:t>Para IPv4 Multicast</a:t>
            </a:r>
            <a:r>
              <a:rPr lang="es-ES" sz="1600" b="1" dirty="0"/>
              <a:t>:</a:t>
            </a:r>
            <a:r>
              <a:rPr lang="es-ES" sz="1600" dirty="0"/>
              <a:t> El rango va desde la </a:t>
            </a:r>
            <a:r>
              <a:rPr lang="es-ES" sz="1600" b="1" dirty="0"/>
              <a:t>01:00:5E:00:00:00 hasta la 01:00:5E:7F:FF:FF</a:t>
            </a:r>
          </a:p>
          <a:p>
            <a:r>
              <a:rPr lang="es-ES" sz="1600" dirty="0"/>
              <a:t>💡Los usuarios/PCs se unen temporalmente a esos rangos multicast solo cuando abren una aplicación específica.</a:t>
            </a:r>
          </a:p>
          <a:p>
            <a:r>
              <a:rPr lang="es-ES" sz="1600" dirty="0"/>
              <a:t>Tambien utilizan Multicast distintos protocolos de red para cumplir sus funciones especificas.</a:t>
            </a:r>
          </a:p>
        </p:txBody>
      </p:sp>
    </p:spTree>
    <p:extLst>
      <p:ext uri="{BB962C8B-B14F-4D97-AF65-F5344CB8AC3E}">
        <p14:creationId xmlns:p14="http://schemas.microsoft.com/office/powerpoint/2010/main" val="31229084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071ECA34-DD4A-4A3C-05B0-7A7AD75AB37D}"/>
              </a:ext>
            </a:extLst>
          </p:cNvPr>
          <p:cNvSpPr txBox="1"/>
          <p:nvPr/>
        </p:nvSpPr>
        <p:spPr>
          <a:xfrm>
            <a:off x="-321133" y="0"/>
            <a:ext cx="3329579" cy="461665"/>
          </a:xfrm>
          <a:prstGeom prst="rect">
            <a:avLst/>
          </a:prstGeom>
          <a:noFill/>
        </p:spPr>
        <p:txBody>
          <a:bodyPr wrap="square">
            <a:spAutoFit/>
          </a:bodyPr>
          <a:lstStyle/>
          <a:p>
            <a:pPr algn="ctr"/>
            <a:r>
              <a:rPr lang="es-ES" sz="1200" dirty="0">
                <a:ln w="0"/>
                <a:effectLst>
                  <a:outerShdw blurRad="38100" dist="19050" dir="2700000" algn="tl" rotWithShape="0">
                    <a:schemeClr val="dk1">
                      <a:alpha val="40000"/>
                    </a:schemeClr>
                  </a:outerShdw>
                </a:effectLst>
              </a:rPr>
              <a:t>1. Introducción a las redes</a:t>
            </a:r>
          </a:p>
          <a:p>
            <a:pPr algn="ctr"/>
            <a:r>
              <a:rPr lang="es-ES" sz="1200" b="1" dirty="0"/>
              <a:t>Ethernet y ¿Cómo funciona una LAN?</a:t>
            </a:r>
          </a:p>
        </p:txBody>
      </p:sp>
      <p:pic>
        <p:nvPicPr>
          <p:cNvPr id="14" name="Imagen 13">
            <a:extLst>
              <a:ext uri="{FF2B5EF4-FFF2-40B4-BE49-F238E27FC236}">
                <a16:creationId xmlns:a16="http://schemas.microsoft.com/office/drawing/2014/main" id="{A7D434FE-7BDC-A933-FFCE-7CD6FF5B3E74}"/>
              </a:ext>
            </a:extLst>
          </p:cNvPr>
          <p:cNvPicPr>
            <a:picLocks noChangeAspect="1"/>
          </p:cNvPicPr>
          <p:nvPr/>
        </p:nvPicPr>
        <p:blipFill>
          <a:blip r:embed="rId2"/>
          <a:stretch>
            <a:fillRect/>
          </a:stretch>
        </p:blipFill>
        <p:spPr>
          <a:xfrm>
            <a:off x="6670197" y="851393"/>
            <a:ext cx="5454826" cy="991383"/>
          </a:xfrm>
          <a:prstGeom prst="rect">
            <a:avLst/>
          </a:prstGeom>
        </p:spPr>
      </p:pic>
      <p:sp>
        <p:nvSpPr>
          <p:cNvPr id="15" name="Flecha: hacia abajo 14">
            <a:extLst>
              <a:ext uri="{FF2B5EF4-FFF2-40B4-BE49-F238E27FC236}">
                <a16:creationId xmlns:a16="http://schemas.microsoft.com/office/drawing/2014/main" id="{7B91347E-7700-A2C8-3E61-27858B2FDCC3}"/>
              </a:ext>
            </a:extLst>
          </p:cNvPr>
          <p:cNvSpPr/>
          <p:nvPr/>
        </p:nvSpPr>
        <p:spPr>
          <a:xfrm>
            <a:off x="10254435" y="1954959"/>
            <a:ext cx="146583" cy="43974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7" name="CuadroTexto 16">
            <a:extLst>
              <a:ext uri="{FF2B5EF4-FFF2-40B4-BE49-F238E27FC236}">
                <a16:creationId xmlns:a16="http://schemas.microsoft.com/office/drawing/2014/main" id="{620294DE-4DF9-284F-E341-B872395FB863}"/>
              </a:ext>
            </a:extLst>
          </p:cNvPr>
          <p:cNvSpPr txBox="1"/>
          <p:nvPr/>
        </p:nvSpPr>
        <p:spPr>
          <a:xfrm>
            <a:off x="6554362" y="2985918"/>
            <a:ext cx="5686497" cy="954107"/>
          </a:xfrm>
          <a:prstGeom prst="rect">
            <a:avLst/>
          </a:prstGeom>
          <a:noFill/>
        </p:spPr>
        <p:txBody>
          <a:bodyPr wrap="square">
            <a:spAutoFit/>
          </a:bodyPr>
          <a:lstStyle/>
          <a:p>
            <a:r>
              <a:rPr lang="es-ES" sz="1400" b="1" dirty="0"/>
              <a:t>0x0800 (IPv4): </a:t>
            </a:r>
            <a:r>
              <a:rPr lang="es-ES" sz="1400" dirty="0"/>
              <a:t>Es el más común. Indica que dentro de la trama viaja un paquete de Internet Protocol versión 4 </a:t>
            </a:r>
          </a:p>
          <a:p>
            <a:r>
              <a:rPr lang="es-ES" sz="1400" b="1" dirty="0"/>
              <a:t>0x86DD (IPv6): </a:t>
            </a:r>
            <a:r>
              <a:rPr lang="es-ES" sz="1400" dirty="0"/>
              <a:t>Indica que el paquete interno utiliza el nuevo protocolo de Internet Protocol versión 6.</a:t>
            </a:r>
          </a:p>
        </p:txBody>
      </p:sp>
      <p:sp>
        <p:nvSpPr>
          <p:cNvPr id="18" name="CuadroTexto 17">
            <a:extLst>
              <a:ext uri="{FF2B5EF4-FFF2-40B4-BE49-F238E27FC236}">
                <a16:creationId xmlns:a16="http://schemas.microsoft.com/office/drawing/2014/main" id="{3626EF1C-D40A-3060-78E0-011C486C4A9C}"/>
              </a:ext>
            </a:extLst>
          </p:cNvPr>
          <p:cNvSpPr txBox="1"/>
          <p:nvPr/>
        </p:nvSpPr>
        <p:spPr>
          <a:xfrm>
            <a:off x="6727377" y="2504399"/>
            <a:ext cx="5686497" cy="338554"/>
          </a:xfrm>
          <a:prstGeom prst="rect">
            <a:avLst/>
          </a:prstGeom>
          <a:noFill/>
        </p:spPr>
        <p:txBody>
          <a:bodyPr wrap="square" rtlCol="0">
            <a:spAutoFit/>
          </a:bodyPr>
          <a:lstStyle/>
          <a:p>
            <a:r>
              <a:rPr lang="es-ES" sz="1600" u="sng" dirty="0"/>
              <a:t>¿Qué valores encontramos comúnmente en el campo </a:t>
            </a:r>
            <a:r>
              <a:rPr lang="es-ES" sz="1600" b="1" u="sng" dirty="0"/>
              <a:t>Type</a:t>
            </a:r>
            <a:r>
              <a:rPr lang="es-ES" sz="1600" u="sng" dirty="0"/>
              <a:t>?</a:t>
            </a:r>
          </a:p>
        </p:txBody>
      </p:sp>
      <p:sp>
        <p:nvSpPr>
          <p:cNvPr id="20" name="CuadroTexto 19">
            <a:extLst>
              <a:ext uri="{FF2B5EF4-FFF2-40B4-BE49-F238E27FC236}">
                <a16:creationId xmlns:a16="http://schemas.microsoft.com/office/drawing/2014/main" id="{36784F71-B3F1-2A45-38BE-5412093BEBD5}"/>
              </a:ext>
            </a:extLst>
          </p:cNvPr>
          <p:cNvSpPr txBox="1"/>
          <p:nvPr/>
        </p:nvSpPr>
        <p:spPr>
          <a:xfrm>
            <a:off x="6610205" y="4001372"/>
            <a:ext cx="5556201" cy="1169551"/>
          </a:xfrm>
          <a:prstGeom prst="rect">
            <a:avLst/>
          </a:prstGeom>
          <a:noFill/>
        </p:spPr>
        <p:txBody>
          <a:bodyPr wrap="square">
            <a:spAutoFit/>
          </a:bodyPr>
          <a:lstStyle/>
          <a:p>
            <a:r>
              <a:rPr lang="es-ES" sz="1400" b="1" dirty="0">
                <a:latin typeface="Google Sans"/>
              </a:rPr>
              <a:t>💡0x = Significa que el valor 0800 esta escrito en hexadecimal</a:t>
            </a:r>
          </a:p>
          <a:p>
            <a:r>
              <a:rPr lang="es-ES" sz="1400" b="1" dirty="0">
                <a:latin typeface="Google Sans"/>
              </a:rPr>
              <a:t>💡Un digito hexadecimal equivale a 4 bits</a:t>
            </a:r>
          </a:p>
          <a:p>
            <a:r>
              <a:rPr lang="es-ES" sz="1400" b="1" dirty="0">
                <a:latin typeface="Google Sans"/>
              </a:rPr>
              <a:t>💡4 dígitos hexadecimales (0800) = 16 bits = 2 bytes (campo type)</a:t>
            </a:r>
            <a:br>
              <a:rPr lang="es-ES" sz="1400" b="1" dirty="0">
                <a:latin typeface="Google Sans"/>
              </a:rPr>
            </a:br>
            <a:r>
              <a:rPr lang="es-ES" sz="1400" b="1" dirty="0">
                <a:latin typeface="Google Sans"/>
              </a:rPr>
              <a:t>💡En realidad la maquina lee: 00001000 00000000 y asi interpreta que es IPv4</a:t>
            </a:r>
          </a:p>
        </p:txBody>
      </p:sp>
      <p:sp>
        <p:nvSpPr>
          <p:cNvPr id="22" name="CuadroTexto 21">
            <a:extLst>
              <a:ext uri="{FF2B5EF4-FFF2-40B4-BE49-F238E27FC236}">
                <a16:creationId xmlns:a16="http://schemas.microsoft.com/office/drawing/2014/main" id="{A8CA5658-A70E-F44F-564F-0C3842D66EBE}"/>
              </a:ext>
            </a:extLst>
          </p:cNvPr>
          <p:cNvSpPr txBox="1"/>
          <p:nvPr/>
        </p:nvSpPr>
        <p:spPr>
          <a:xfrm>
            <a:off x="8334301" y="5709439"/>
            <a:ext cx="2177808" cy="369332"/>
          </a:xfrm>
          <a:prstGeom prst="rect">
            <a:avLst/>
          </a:prstGeom>
          <a:noFill/>
        </p:spPr>
        <p:txBody>
          <a:bodyPr wrap="square">
            <a:spAutoFit/>
          </a:bodyPr>
          <a:lstStyle/>
          <a:p>
            <a:r>
              <a:rPr lang="es-ES" b="1" dirty="0">
                <a:latin typeface="Google Sans"/>
              </a:rPr>
              <a:t>00001000 00000000 </a:t>
            </a:r>
            <a:endParaRPr lang="es-ES" sz="2400" dirty="0"/>
          </a:p>
        </p:txBody>
      </p:sp>
      <p:sp>
        <p:nvSpPr>
          <p:cNvPr id="24" name="Abrir llave 23">
            <a:extLst>
              <a:ext uri="{FF2B5EF4-FFF2-40B4-BE49-F238E27FC236}">
                <a16:creationId xmlns:a16="http://schemas.microsoft.com/office/drawing/2014/main" id="{E722E8F9-DA92-40BE-D508-A60CA122F322}"/>
              </a:ext>
            </a:extLst>
          </p:cNvPr>
          <p:cNvSpPr/>
          <p:nvPr/>
        </p:nvSpPr>
        <p:spPr>
          <a:xfrm rot="5400000">
            <a:off x="9719322" y="5079344"/>
            <a:ext cx="331864" cy="100786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dirty="0"/>
          </a:p>
        </p:txBody>
      </p:sp>
      <p:sp>
        <p:nvSpPr>
          <p:cNvPr id="26" name="Abrir llave 25">
            <a:extLst>
              <a:ext uri="{FF2B5EF4-FFF2-40B4-BE49-F238E27FC236}">
                <a16:creationId xmlns:a16="http://schemas.microsoft.com/office/drawing/2014/main" id="{5F2B2D9B-60C3-5F3E-D9FC-7E1D33F6E836}"/>
              </a:ext>
            </a:extLst>
          </p:cNvPr>
          <p:cNvSpPr/>
          <p:nvPr/>
        </p:nvSpPr>
        <p:spPr>
          <a:xfrm rot="5400000">
            <a:off x="8672299" y="5079344"/>
            <a:ext cx="331864" cy="100786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dirty="0"/>
          </a:p>
        </p:txBody>
      </p:sp>
      <p:sp>
        <p:nvSpPr>
          <p:cNvPr id="27" name="CuadroTexto 26">
            <a:extLst>
              <a:ext uri="{FF2B5EF4-FFF2-40B4-BE49-F238E27FC236}">
                <a16:creationId xmlns:a16="http://schemas.microsoft.com/office/drawing/2014/main" id="{9C0091AD-0CDB-71EC-1D18-BEA9F3FDB325}"/>
              </a:ext>
            </a:extLst>
          </p:cNvPr>
          <p:cNvSpPr txBox="1"/>
          <p:nvPr/>
        </p:nvSpPr>
        <p:spPr>
          <a:xfrm>
            <a:off x="8508805" y="5093388"/>
            <a:ext cx="691036" cy="307777"/>
          </a:xfrm>
          <a:prstGeom prst="rect">
            <a:avLst/>
          </a:prstGeom>
          <a:noFill/>
        </p:spPr>
        <p:txBody>
          <a:bodyPr wrap="square" rtlCol="0">
            <a:spAutoFit/>
          </a:bodyPr>
          <a:lstStyle/>
          <a:p>
            <a:r>
              <a:rPr lang="es-ES" sz="1400" dirty="0"/>
              <a:t>1 byte</a:t>
            </a:r>
          </a:p>
        </p:txBody>
      </p:sp>
      <p:sp>
        <p:nvSpPr>
          <p:cNvPr id="29" name="CuadroTexto 28">
            <a:extLst>
              <a:ext uri="{FF2B5EF4-FFF2-40B4-BE49-F238E27FC236}">
                <a16:creationId xmlns:a16="http://schemas.microsoft.com/office/drawing/2014/main" id="{927B926B-6B39-F350-BCA0-E6A4AE7B39BA}"/>
              </a:ext>
            </a:extLst>
          </p:cNvPr>
          <p:cNvSpPr txBox="1"/>
          <p:nvPr/>
        </p:nvSpPr>
        <p:spPr>
          <a:xfrm>
            <a:off x="9506968" y="5093387"/>
            <a:ext cx="691036" cy="307777"/>
          </a:xfrm>
          <a:prstGeom prst="rect">
            <a:avLst/>
          </a:prstGeom>
          <a:noFill/>
        </p:spPr>
        <p:txBody>
          <a:bodyPr wrap="square" rtlCol="0">
            <a:spAutoFit/>
          </a:bodyPr>
          <a:lstStyle/>
          <a:p>
            <a:r>
              <a:rPr lang="es-ES" sz="1400" dirty="0"/>
              <a:t>1 byte</a:t>
            </a:r>
          </a:p>
        </p:txBody>
      </p:sp>
      <p:sp>
        <p:nvSpPr>
          <p:cNvPr id="33" name="Abrir llave 32">
            <a:extLst>
              <a:ext uri="{FF2B5EF4-FFF2-40B4-BE49-F238E27FC236}">
                <a16:creationId xmlns:a16="http://schemas.microsoft.com/office/drawing/2014/main" id="{CD2DCA4D-ED5A-3500-08F0-1A61E669F068}"/>
              </a:ext>
            </a:extLst>
          </p:cNvPr>
          <p:cNvSpPr/>
          <p:nvPr/>
        </p:nvSpPr>
        <p:spPr>
          <a:xfrm rot="16200000">
            <a:off x="8595002" y="5897539"/>
            <a:ext cx="99465" cy="386993"/>
          </a:xfrm>
          <a:prstGeom prst="leftBrace">
            <a:avLst/>
          </a:prstGeom>
        </p:spPr>
        <p:style>
          <a:lnRef idx="2">
            <a:schemeClr val="accent5"/>
          </a:lnRef>
          <a:fillRef idx="0">
            <a:schemeClr val="accent5"/>
          </a:fillRef>
          <a:effectRef idx="1">
            <a:schemeClr val="accent5"/>
          </a:effectRef>
          <a:fontRef idx="minor">
            <a:schemeClr val="tx1"/>
          </a:fontRef>
        </p:style>
        <p:txBody>
          <a:bodyPr rtlCol="0" anchor="ctr"/>
          <a:lstStyle/>
          <a:p>
            <a:pPr algn="ctr"/>
            <a:endParaRPr lang="es-ES" dirty="0"/>
          </a:p>
        </p:txBody>
      </p:sp>
      <p:sp>
        <p:nvSpPr>
          <p:cNvPr id="39" name="Abrir llave 38">
            <a:extLst>
              <a:ext uri="{FF2B5EF4-FFF2-40B4-BE49-F238E27FC236}">
                <a16:creationId xmlns:a16="http://schemas.microsoft.com/office/drawing/2014/main" id="{BB268BED-CC7D-25EC-D85B-36316B7027C4}"/>
              </a:ext>
            </a:extLst>
          </p:cNvPr>
          <p:cNvSpPr/>
          <p:nvPr/>
        </p:nvSpPr>
        <p:spPr>
          <a:xfrm rot="16200000">
            <a:off x="9072568" y="5871173"/>
            <a:ext cx="99464" cy="439723"/>
          </a:xfrm>
          <a:prstGeom prst="leftBrace">
            <a:avLst/>
          </a:prstGeom>
        </p:spPr>
        <p:style>
          <a:lnRef idx="2">
            <a:schemeClr val="accent5"/>
          </a:lnRef>
          <a:fillRef idx="0">
            <a:schemeClr val="accent5"/>
          </a:fillRef>
          <a:effectRef idx="1">
            <a:schemeClr val="accent5"/>
          </a:effectRef>
          <a:fontRef idx="minor">
            <a:schemeClr val="tx1"/>
          </a:fontRef>
        </p:style>
        <p:txBody>
          <a:bodyPr rtlCol="0" anchor="ctr"/>
          <a:lstStyle/>
          <a:p>
            <a:pPr algn="ctr"/>
            <a:endParaRPr lang="es-ES" dirty="0"/>
          </a:p>
        </p:txBody>
      </p:sp>
      <p:sp>
        <p:nvSpPr>
          <p:cNvPr id="41" name="Abrir llave 40">
            <a:extLst>
              <a:ext uri="{FF2B5EF4-FFF2-40B4-BE49-F238E27FC236}">
                <a16:creationId xmlns:a16="http://schemas.microsoft.com/office/drawing/2014/main" id="{484E0A77-D336-3A93-A3B9-7C780BDA4D09}"/>
              </a:ext>
            </a:extLst>
          </p:cNvPr>
          <p:cNvSpPr/>
          <p:nvPr/>
        </p:nvSpPr>
        <p:spPr>
          <a:xfrm rot="16200000">
            <a:off x="9603818" y="5897538"/>
            <a:ext cx="99465" cy="386993"/>
          </a:xfrm>
          <a:prstGeom prst="leftBrace">
            <a:avLst/>
          </a:prstGeom>
        </p:spPr>
        <p:style>
          <a:lnRef idx="2">
            <a:schemeClr val="accent5"/>
          </a:lnRef>
          <a:fillRef idx="0">
            <a:schemeClr val="accent5"/>
          </a:fillRef>
          <a:effectRef idx="1">
            <a:schemeClr val="accent5"/>
          </a:effectRef>
          <a:fontRef idx="minor">
            <a:schemeClr val="tx1"/>
          </a:fontRef>
        </p:style>
        <p:txBody>
          <a:bodyPr rtlCol="0" anchor="ctr"/>
          <a:lstStyle/>
          <a:p>
            <a:pPr algn="ctr"/>
            <a:endParaRPr lang="es-ES" dirty="0"/>
          </a:p>
        </p:txBody>
      </p:sp>
      <p:sp>
        <p:nvSpPr>
          <p:cNvPr id="43" name="Abrir llave 42">
            <a:extLst>
              <a:ext uri="{FF2B5EF4-FFF2-40B4-BE49-F238E27FC236}">
                <a16:creationId xmlns:a16="http://schemas.microsoft.com/office/drawing/2014/main" id="{36F7EB7D-6412-DCF2-9029-73E47EC5D854}"/>
              </a:ext>
            </a:extLst>
          </p:cNvPr>
          <p:cNvSpPr/>
          <p:nvPr/>
        </p:nvSpPr>
        <p:spPr>
          <a:xfrm rot="16200000">
            <a:off x="10084498" y="5903576"/>
            <a:ext cx="99465" cy="386993"/>
          </a:xfrm>
          <a:prstGeom prst="leftBrace">
            <a:avLst/>
          </a:prstGeom>
        </p:spPr>
        <p:style>
          <a:lnRef idx="2">
            <a:schemeClr val="accent5"/>
          </a:lnRef>
          <a:fillRef idx="0">
            <a:schemeClr val="accent5"/>
          </a:fillRef>
          <a:effectRef idx="1">
            <a:schemeClr val="accent5"/>
          </a:effectRef>
          <a:fontRef idx="minor">
            <a:schemeClr val="tx1"/>
          </a:fontRef>
        </p:style>
        <p:txBody>
          <a:bodyPr rtlCol="0" anchor="ctr"/>
          <a:lstStyle/>
          <a:p>
            <a:pPr algn="ctr"/>
            <a:endParaRPr lang="es-ES" dirty="0"/>
          </a:p>
        </p:txBody>
      </p:sp>
      <p:sp>
        <p:nvSpPr>
          <p:cNvPr id="45" name="CuadroTexto 44">
            <a:extLst>
              <a:ext uri="{FF2B5EF4-FFF2-40B4-BE49-F238E27FC236}">
                <a16:creationId xmlns:a16="http://schemas.microsoft.com/office/drawing/2014/main" id="{C5DD8313-01C9-B4C2-81E3-FF88D17672A5}"/>
              </a:ext>
            </a:extLst>
          </p:cNvPr>
          <p:cNvSpPr txBox="1"/>
          <p:nvPr/>
        </p:nvSpPr>
        <p:spPr>
          <a:xfrm>
            <a:off x="8275216" y="6224328"/>
            <a:ext cx="691036" cy="307777"/>
          </a:xfrm>
          <a:prstGeom prst="rect">
            <a:avLst/>
          </a:prstGeom>
          <a:noFill/>
        </p:spPr>
        <p:txBody>
          <a:bodyPr wrap="square" rtlCol="0">
            <a:spAutoFit/>
          </a:bodyPr>
          <a:lstStyle/>
          <a:p>
            <a:r>
              <a:rPr lang="es-ES" sz="1400" dirty="0"/>
              <a:t>1 hex</a:t>
            </a:r>
          </a:p>
        </p:txBody>
      </p:sp>
      <p:sp>
        <p:nvSpPr>
          <p:cNvPr id="47" name="CuadroTexto 46">
            <a:extLst>
              <a:ext uri="{FF2B5EF4-FFF2-40B4-BE49-F238E27FC236}">
                <a16:creationId xmlns:a16="http://schemas.microsoft.com/office/drawing/2014/main" id="{F89A2912-3B8D-1B7F-BA8C-E0A940B3966D}"/>
              </a:ext>
            </a:extLst>
          </p:cNvPr>
          <p:cNvSpPr txBox="1"/>
          <p:nvPr/>
        </p:nvSpPr>
        <p:spPr>
          <a:xfrm>
            <a:off x="8825656" y="6216978"/>
            <a:ext cx="691036" cy="307777"/>
          </a:xfrm>
          <a:prstGeom prst="rect">
            <a:avLst/>
          </a:prstGeom>
          <a:noFill/>
        </p:spPr>
        <p:txBody>
          <a:bodyPr wrap="square" rtlCol="0">
            <a:spAutoFit/>
          </a:bodyPr>
          <a:lstStyle/>
          <a:p>
            <a:r>
              <a:rPr lang="es-ES" sz="1400" dirty="0"/>
              <a:t>1 hex</a:t>
            </a:r>
          </a:p>
        </p:txBody>
      </p:sp>
      <p:sp>
        <p:nvSpPr>
          <p:cNvPr id="49" name="CuadroTexto 48">
            <a:extLst>
              <a:ext uri="{FF2B5EF4-FFF2-40B4-BE49-F238E27FC236}">
                <a16:creationId xmlns:a16="http://schemas.microsoft.com/office/drawing/2014/main" id="{8D88B585-6940-2948-1FF6-6CA9CF91D1D2}"/>
              </a:ext>
            </a:extLst>
          </p:cNvPr>
          <p:cNvSpPr txBox="1"/>
          <p:nvPr/>
        </p:nvSpPr>
        <p:spPr>
          <a:xfrm>
            <a:off x="9342161" y="6218290"/>
            <a:ext cx="691036" cy="307777"/>
          </a:xfrm>
          <a:prstGeom prst="rect">
            <a:avLst/>
          </a:prstGeom>
          <a:noFill/>
        </p:spPr>
        <p:txBody>
          <a:bodyPr wrap="square" rtlCol="0">
            <a:spAutoFit/>
          </a:bodyPr>
          <a:lstStyle/>
          <a:p>
            <a:r>
              <a:rPr lang="es-ES" sz="1400" dirty="0"/>
              <a:t>1 hex</a:t>
            </a:r>
          </a:p>
        </p:txBody>
      </p:sp>
      <p:sp>
        <p:nvSpPr>
          <p:cNvPr id="51" name="CuadroTexto 50">
            <a:extLst>
              <a:ext uri="{FF2B5EF4-FFF2-40B4-BE49-F238E27FC236}">
                <a16:creationId xmlns:a16="http://schemas.microsoft.com/office/drawing/2014/main" id="{9009F0FC-4799-EC20-FF0B-70AE480AA915}"/>
              </a:ext>
            </a:extLst>
          </p:cNvPr>
          <p:cNvSpPr txBox="1"/>
          <p:nvPr/>
        </p:nvSpPr>
        <p:spPr>
          <a:xfrm>
            <a:off x="9858666" y="6224328"/>
            <a:ext cx="691036" cy="307777"/>
          </a:xfrm>
          <a:prstGeom prst="rect">
            <a:avLst/>
          </a:prstGeom>
          <a:noFill/>
        </p:spPr>
        <p:txBody>
          <a:bodyPr wrap="square" rtlCol="0">
            <a:spAutoFit/>
          </a:bodyPr>
          <a:lstStyle/>
          <a:p>
            <a:r>
              <a:rPr lang="es-ES" sz="1400" dirty="0"/>
              <a:t>1 hex</a:t>
            </a:r>
          </a:p>
        </p:txBody>
      </p:sp>
      <mc:AlternateContent xmlns:mc="http://schemas.openxmlformats.org/markup-compatibility/2006" xmlns:p14="http://schemas.microsoft.com/office/powerpoint/2010/main">
        <mc:Choice Requires="p14">
          <p:contentPart p14:bwMode="auto" r:id="rId3">
            <p14:nvContentPartPr>
              <p14:cNvPr id="7" name="Entrada de lápiz 6">
                <a:extLst>
                  <a:ext uri="{FF2B5EF4-FFF2-40B4-BE49-F238E27FC236}">
                    <a16:creationId xmlns:a16="http://schemas.microsoft.com/office/drawing/2014/main" id="{556F4B37-D22C-0F79-1F44-0C19AB0699DB}"/>
                  </a:ext>
                </a:extLst>
              </p14:cNvPr>
              <p14:cNvContentPartPr/>
              <p14:nvPr/>
            </p14:nvContentPartPr>
            <p14:xfrm>
              <a:off x="9973630" y="1235278"/>
              <a:ext cx="658800" cy="706320"/>
            </p14:xfrm>
          </p:contentPart>
        </mc:Choice>
        <mc:Fallback xmlns="">
          <p:pic>
            <p:nvPicPr>
              <p:cNvPr id="7" name="Entrada de lápiz 6">
                <a:extLst>
                  <a:ext uri="{FF2B5EF4-FFF2-40B4-BE49-F238E27FC236}">
                    <a16:creationId xmlns:a16="http://schemas.microsoft.com/office/drawing/2014/main" id="{556F4B37-D22C-0F79-1F44-0C19AB0699DB}"/>
                  </a:ext>
                </a:extLst>
              </p:cNvPr>
              <p:cNvPicPr/>
              <p:nvPr/>
            </p:nvPicPr>
            <p:blipFill>
              <a:blip r:embed="rId4"/>
              <a:stretch>
                <a:fillRect/>
              </a:stretch>
            </p:blipFill>
            <p:spPr>
              <a:xfrm>
                <a:off x="9955990" y="1217638"/>
                <a:ext cx="694440" cy="741960"/>
              </a:xfrm>
              <a:prstGeom prst="rect">
                <a:avLst/>
              </a:prstGeom>
            </p:spPr>
          </p:pic>
        </mc:Fallback>
      </mc:AlternateContent>
      <p:pic>
        <p:nvPicPr>
          <p:cNvPr id="9" name="Imagen 8">
            <a:extLst>
              <a:ext uri="{FF2B5EF4-FFF2-40B4-BE49-F238E27FC236}">
                <a16:creationId xmlns:a16="http://schemas.microsoft.com/office/drawing/2014/main" id="{16107CBA-6B94-B15D-F44A-3C8E8AE49D7A}"/>
              </a:ext>
            </a:extLst>
          </p:cNvPr>
          <p:cNvPicPr>
            <a:picLocks noChangeAspect="1"/>
          </p:cNvPicPr>
          <p:nvPr/>
        </p:nvPicPr>
        <p:blipFill>
          <a:blip r:embed="rId2"/>
          <a:stretch>
            <a:fillRect/>
          </a:stretch>
        </p:blipFill>
        <p:spPr>
          <a:xfrm>
            <a:off x="281033" y="851393"/>
            <a:ext cx="5454826" cy="991383"/>
          </a:xfrm>
          <a:prstGeom prst="rect">
            <a:avLst/>
          </a:prstGeom>
        </p:spPr>
      </p:pic>
      <p:sp>
        <p:nvSpPr>
          <p:cNvPr id="11" name="Flecha: hacia abajo 10">
            <a:extLst>
              <a:ext uri="{FF2B5EF4-FFF2-40B4-BE49-F238E27FC236}">
                <a16:creationId xmlns:a16="http://schemas.microsoft.com/office/drawing/2014/main" id="{97434540-A992-520C-8F01-B67AA10678FB}"/>
              </a:ext>
            </a:extLst>
          </p:cNvPr>
          <p:cNvSpPr/>
          <p:nvPr/>
        </p:nvSpPr>
        <p:spPr>
          <a:xfrm rot="2544850">
            <a:off x="4911842" y="1977864"/>
            <a:ext cx="243733" cy="45311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mc:AlternateContent xmlns:mc="http://schemas.openxmlformats.org/markup-compatibility/2006" xmlns:p14="http://schemas.microsoft.com/office/powerpoint/2010/main">
        <mc:Choice Requires="p14">
          <p:contentPart p14:bwMode="auto" r:id="rId5">
            <p14:nvContentPartPr>
              <p14:cNvPr id="12" name="Entrada de lápiz 11">
                <a:extLst>
                  <a:ext uri="{FF2B5EF4-FFF2-40B4-BE49-F238E27FC236}">
                    <a16:creationId xmlns:a16="http://schemas.microsoft.com/office/drawing/2014/main" id="{D5C293CD-6152-F0D8-8AF7-F5B4A5C8536C}"/>
                  </a:ext>
                </a:extLst>
              </p14:cNvPr>
              <p14:cNvContentPartPr/>
              <p14:nvPr/>
            </p14:nvContentPartPr>
            <p14:xfrm>
              <a:off x="5033708" y="1179547"/>
              <a:ext cx="762480" cy="889200"/>
            </p14:xfrm>
          </p:contentPart>
        </mc:Choice>
        <mc:Fallback xmlns="">
          <p:pic>
            <p:nvPicPr>
              <p:cNvPr id="12" name="Entrada de lápiz 11">
                <a:extLst>
                  <a:ext uri="{FF2B5EF4-FFF2-40B4-BE49-F238E27FC236}">
                    <a16:creationId xmlns:a16="http://schemas.microsoft.com/office/drawing/2014/main" id="{D5C293CD-6152-F0D8-8AF7-F5B4A5C8536C}"/>
                  </a:ext>
                </a:extLst>
              </p:cNvPr>
              <p:cNvPicPr/>
              <p:nvPr/>
            </p:nvPicPr>
            <p:blipFill>
              <a:blip r:embed="rId6"/>
              <a:stretch>
                <a:fillRect/>
              </a:stretch>
            </p:blipFill>
            <p:spPr>
              <a:xfrm>
                <a:off x="5015708" y="1161547"/>
                <a:ext cx="798120" cy="924840"/>
              </a:xfrm>
              <a:prstGeom prst="rect">
                <a:avLst/>
              </a:prstGeom>
            </p:spPr>
          </p:pic>
        </mc:Fallback>
      </mc:AlternateContent>
      <p:sp>
        <p:nvSpPr>
          <p:cNvPr id="19" name="CuadroTexto 18">
            <a:extLst>
              <a:ext uri="{FF2B5EF4-FFF2-40B4-BE49-F238E27FC236}">
                <a16:creationId xmlns:a16="http://schemas.microsoft.com/office/drawing/2014/main" id="{D952720D-9AE9-E82B-F8E2-D8A8DAEE5CD0}"/>
              </a:ext>
            </a:extLst>
          </p:cNvPr>
          <p:cNvSpPr txBox="1"/>
          <p:nvPr/>
        </p:nvSpPr>
        <p:spPr>
          <a:xfrm>
            <a:off x="409503" y="2504399"/>
            <a:ext cx="5686497" cy="4308872"/>
          </a:xfrm>
          <a:prstGeom prst="rect">
            <a:avLst/>
          </a:prstGeom>
          <a:noFill/>
        </p:spPr>
        <p:txBody>
          <a:bodyPr wrap="square" rtlCol="0">
            <a:spAutoFit/>
          </a:bodyPr>
          <a:lstStyle/>
          <a:p>
            <a:r>
              <a:rPr lang="es-ES" sz="1600" u="sng" dirty="0"/>
              <a:t>¿Cómo funciona el campo FCS?</a:t>
            </a:r>
          </a:p>
          <a:p>
            <a:endParaRPr lang="es-ES" sz="1600" dirty="0"/>
          </a:p>
          <a:p>
            <a:r>
              <a:rPr lang="es-ES" sz="1400" dirty="0"/>
              <a:t>El </a:t>
            </a:r>
            <a:r>
              <a:rPr lang="es-ES" sz="1400" b="1" dirty="0"/>
              <a:t>FCS</a:t>
            </a:r>
            <a:r>
              <a:rPr lang="es-ES" sz="1400" dirty="0"/>
              <a:t> (Frame Check Sequence) es un sello de seguridad de 4 bytes ubicado en el Trailer de la trama para detectar errores de transmisión mediante el algoritmo matemático </a:t>
            </a:r>
            <a:r>
              <a:rPr lang="es-ES" sz="1600" b="1" dirty="0"/>
              <a:t>CRC</a:t>
            </a:r>
            <a:r>
              <a:rPr lang="es-ES" sz="1400" b="1" dirty="0"/>
              <a:t> </a:t>
            </a:r>
            <a:r>
              <a:rPr lang="es-ES" sz="1400" dirty="0"/>
              <a:t>(Verificación de redundancia cíclica).</a:t>
            </a:r>
          </a:p>
          <a:p>
            <a:endParaRPr lang="es-ES" sz="1400" dirty="0"/>
          </a:p>
          <a:p>
            <a:r>
              <a:rPr lang="es-ES" sz="1400" dirty="0"/>
              <a:t>Funciona en tres pasos rápidos:</a:t>
            </a:r>
          </a:p>
          <a:p>
            <a:endParaRPr lang="es-ES" sz="1400" dirty="0"/>
          </a:p>
          <a:p>
            <a:r>
              <a:rPr lang="es-ES" sz="1400" b="1" dirty="0"/>
              <a:t>1.-El Emisor calcula:</a:t>
            </a:r>
            <a:r>
              <a:rPr lang="es-ES" sz="1400" dirty="0"/>
              <a:t> Aplica una fórmula matemática a los bits de la trama desde “Destination MAC” hasta “Data”, genera un código de 4 bytes y lo guarda en el FCS.</a:t>
            </a:r>
          </a:p>
          <a:p>
            <a:endParaRPr lang="es-ES" sz="1400" dirty="0"/>
          </a:p>
          <a:p>
            <a:r>
              <a:rPr lang="es-ES" sz="1400" b="1" dirty="0"/>
              <a:t>2.-El Receptor compara:</a:t>
            </a:r>
            <a:r>
              <a:rPr lang="es-ES" sz="1400" dirty="0"/>
              <a:t> Recibe la trama, repite la misma fórmula matemática y compara su resultado con el código del FCS recibido.</a:t>
            </a:r>
          </a:p>
          <a:p>
            <a:endParaRPr lang="es-ES" sz="1400" dirty="0"/>
          </a:p>
          <a:p>
            <a:r>
              <a:rPr lang="es-ES" sz="1400" b="1" dirty="0"/>
              <a:t>3.-La Decisión:</a:t>
            </a:r>
            <a:r>
              <a:rPr lang="es-ES" sz="1400" dirty="0"/>
              <a:t> Si los códigos coinciden, la trama se procesa; si no coinciden, la trama </a:t>
            </a:r>
            <a:r>
              <a:rPr lang="es-ES" sz="1400" b="1" dirty="0"/>
              <a:t>se tira a la basura de inmediato</a:t>
            </a:r>
            <a:r>
              <a:rPr lang="es-ES" sz="1400" dirty="0"/>
              <a:t> sin avisar.</a:t>
            </a:r>
          </a:p>
          <a:p>
            <a:endParaRPr lang="es-ES" sz="1600" dirty="0"/>
          </a:p>
        </p:txBody>
      </p:sp>
      <p:pic>
        <p:nvPicPr>
          <p:cNvPr id="50" name="Imagen 49">
            <a:extLst>
              <a:ext uri="{FF2B5EF4-FFF2-40B4-BE49-F238E27FC236}">
                <a16:creationId xmlns:a16="http://schemas.microsoft.com/office/drawing/2014/main" id="{81BA4490-3AF6-E22E-813C-565944861F42}"/>
              </a:ext>
            </a:extLst>
          </p:cNvPr>
          <p:cNvPicPr>
            <a:picLocks noChangeAspect="1"/>
          </p:cNvPicPr>
          <p:nvPr/>
        </p:nvPicPr>
        <p:blipFill>
          <a:blip r:embed="rId7"/>
          <a:stretch>
            <a:fillRect/>
          </a:stretch>
        </p:blipFill>
        <p:spPr>
          <a:xfrm>
            <a:off x="5307530" y="164093"/>
            <a:ext cx="1362667" cy="405900"/>
          </a:xfrm>
          <a:prstGeom prst="rect">
            <a:avLst/>
          </a:prstGeom>
        </p:spPr>
      </p:pic>
    </p:spTree>
    <p:extLst>
      <p:ext uri="{BB962C8B-B14F-4D97-AF65-F5344CB8AC3E}">
        <p14:creationId xmlns:p14="http://schemas.microsoft.com/office/powerpoint/2010/main" val="9746947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A82C4460-2C4A-8F4C-3ED8-A53C9D687745}"/>
              </a:ext>
            </a:extLst>
          </p:cNvPr>
          <p:cNvSpPr txBox="1"/>
          <p:nvPr/>
        </p:nvSpPr>
        <p:spPr>
          <a:xfrm>
            <a:off x="1153883" y="2891080"/>
            <a:ext cx="2092300" cy="307777"/>
          </a:xfrm>
          <a:prstGeom prst="rect">
            <a:avLst/>
          </a:prstGeom>
          <a:noFill/>
        </p:spPr>
        <p:txBody>
          <a:bodyPr wrap="square">
            <a:spAutoFit/>
          </a:bodyPr>
          <a:lstStyle/>
          <a:p>
            <a:r>
              <a:rPr lang="es-ES" sz="1400" dirty="0"/>
              <a:t>02:A1:C4:7B:93:E6</a:t>
            </a:r>
          </a:p>
        </p:txBody>
      </p:sp>
      <p:sp>
        <p:nvSpPr>
          <p:cNvPr id="9" name="CuadroTexto 8">
            <a:extLst>
              <a:ext uri="{FF2B5EF4-FFF2-40B4-BE49-F238E27FC236}">
                <a16:creationId xmlns:a16="http://schemas.microsoft.com/office/drawing/2014/main" id="{41DFD95C-9637-CBFC-705C-10F25B68D85D}"/>
              </a:ext>
            </a:extLst>
          </p:cNvPr>
          <p:cNvSpPr txBox="1"/>
          <p:nvPr/>
        </p:nvSpPr>
        <p:spPr>
          <a:xfrm>
            <a:off x="6096000" y="2884213"/>
            <a:ext cx="1691405" cy="307777"/>
          </a:xfrm>
          <a:prstGeom prst="rect">
            <a:avLst/>
          </a:prstGeom>
          <a:noFill/>
        </p:spPr>
        <p:txBody>
          <a:bodyPr wrap="square">
            <a:spAutoFit/>
          </a:bodyPr>
          <a:lstStyle/>
          <a:p>
            <a:r>
              <a:rPr lang="es-ES" sz="1400" dirty="0"/>
              <a:t>02:F8:8E:2D:5B:C1</a:t>
            </a:r>
          </a:p>
        </p:txBody>
      </p:sp>
      <p:pic>
        <p:nvPicPr>
          <p:cNvPr id="11" name="Imagen 10">
            <a:extLst>
              <a:ext uri="{FF2B5EF4-FFF2-40B4-BE49-F238E27FC236}">
                <a16:creationId xmlns:a16="http://schemas.microsoft.com/office/drawing/2014/main" id="{BC2E780C-AB5B-9705-7044-C4D74A6E6EE2}"/>
              </a:ext>
            </a:extLst>
          </p:cNvPr>
          <p:cNvPicPr>
            <a:picLocks noChangeAspect="1"/>
          </p:cNvPicPr>
          <p:nvPr/>
        </p:nvPicPr>
        <p:blipFill>
          <a:blip r:embed="rId2"/>
          <a:stretch>
            <a:fillRect/>
          </a:stretch>
        </p:blipFill>
        <p:spPr>
          <a:xfrm>
            <a:off x="1390207" y="3226798"/>
            <a:ext cx="1126059" cy="249444"/>
          </a:xfrm>
          <a:prstGeom prst="rect">
            <a:avLst/>
          </a:prstGeom>
        </p:spPr>
      </p:pic>
      <p:pic>
        <p:nvPicPr>
          <p:cNvPr id="13" name="Imagen 12">
            <a:extLst>
              <a:ext uri="{FF2B5EF4-FFF2-40B4-BE49-F238E27FC236}">
                <a16:creationId xmlns:a16="http://schemas.microsoft.com/office/drawing/2014/main" id="{F81CBA15-0400-ADEC-6256-9D3B21206B11}"/>
              </a:ext>
            </a:extLst>
          </p:cNvPr>
          <p:cNvPicPr>
            <a:picLocks noChangeAspect="1"/>
          </p:cNvPicPr>
          <p:nvPr/>
        </p:nvPicPr>
        <p:blipFill>
          <a:blip r:embed="rId2"/>
          <a:stretch>
            <a:fillRect/>
          </a:stretch>
        </p:blipFill>
        <p:spPr>
          <a:xfrm>
            <a:off x="6390033" y="3226798"/>
            <a:ext cx="1126059" cy="249444"/>
          </a:xfrm>
          <a:prstGeom prst="rect">
            <a:avLst/>
          </a:prstGeom>
        </p:spPr>
      </p:pic>
      <p:sp>
        <p:nvSpPr>
          <p:cNvPr id="3" name="CuadroTexto 2">
            <a:extLst>
              <a:ext uri="{FF2B5EF4-FFF2-40B4-BE49-F238E27FC236}">
                <a16:creationId xmlns:a16="http://schemas.microsoft.com/office/drawing/2014/main" id="{ED8FE832-E9DF-384C-1CCC-F13103AE4F5A}"/>
              </a:ext>
            </a:extLst>
          </p:cNvPr>
          <p:cNvSpPr txBox="1"/>
          <p:nvPr/>
        </p:nvSpPr>
        <p:spPr>
          <a:xfrm>
            <a:off x="-321133" y="0"/>
            <a:ext cx="3329579" cy="461665"/>
          </a:xfrm>
          <a:prstGeom prst="rect">
            <a:avLst/>
          </a:prstGeom>
          <a:noFill/>
        </p:spPr>
        <p:txBody>
          <a:bodyPr wrap="square">
            <a:spAutoFit/>
          </a:bodyPr>
          <a:lstStyle/>
          <a:p>
            <a:pPr algn="ctr"/>
            <a:r>
              <a:rPr lang="es-ES" sz="1200" dirty="0">
                <a:ln w="0"/>
                <a:effectLst>
                  <a:outerShdw blurRad="38100" dist="19050" dir="2700000" algn="tl" rotWithShape="0">
                    <a:schemeClr val="dk1">
                      <a:alpha val="40000"/>
                    </a:schemeClr>
                  </a:outerShdw>
                </a:effectLst>
              </a:rPr>
              <a:t>1. Introducción a las redes</a:t>
            </a:r>
          </a:p>
          <a:p>
            <a:pPr algn="ctr"/>
            <a:r>
              <a:rPr lang="es-ES" sz="1200" b="1" dirty="0"/>
              <a:t>Ethernet y ¿Cómo funciona una LAN?</a:t>
            </a:r>
          </a:p>
        </p:txBody>
      </p:sp>
      <p:graphicFrame>
        <p:nvGraphicFramePr>
          <p:cNvPr id="6" name="Tabla 5">
            <a:extLst>
              <a:ext uri="{FF2B5EF4-FFF2-40B4-BE49-F238E27FC236}">
                <a16:creationId xmlns:a16="http://schemas.microsoft.com/office/drawing/2014/main" id="{6CF443E9-100A-C58F-814F-C5F4C2F71E0A}"/>
              </a:ext>
            </a:extLst>
          </p:cNvPr>
          <p:cNvGraphicFramePr>
            <a:graphicFrameLocks noGrp="1"/>
          </p:cNvGraphicFramePr>
          <p:nvPr/>
        </p:nvGraphicFramePr>
        <p:xfrm>
          <a:off x="2358807" y="1104334"/>
          <a:ext cx="5426152" cy="829634"/>
        </p:xfrm>
        <a:graphic>
          <a:graphicData uri="http://schemas.openxmlformats.org/drawingml/2006/table">
            <a:tbl>
              <a:tblPr firstRow="1" bandRow="1">
                <a:tableStyleId>{C4B1156A-380E-4F78-BDF5-A606A8083BF9}</a:tableStyleId>
              </a:tblPr>
              <a:tblGrid>
                <a:gridCol w="740381">
                  <a:extLst>
                    <a:ext uri="{9D8B030D-6E8A-4147-A177-3AD203B41FA5}">
                      <a16:colId xmlns:a16="http://schemas.microsoft.com/office/drawing/2014/main" val="4100333054"/>
                    </a:ext>
                  </a:extLst>
                </a:gridCol>
                <a:gridCol w="439749">
                  <a:extLst>
                    <a:ext uri="{9D8B030D-6E8A-4147-A177-3AD203B41FA5}">
                      <a16:colId xmlns:a16="http://schemas.microsoft.com/office/drawing/2014/main" val="1583216802"/>
                    </a:ext>
                  </a:extLst>
                </a:gridCol>
                <a:gridCol w="1205122">
                  <a:extLst>
                    <a:ext uri="{9D8B030D-6E8A-4147-A177-3AD203B41FA5}">
                      <a16:colId xmlns:a16="http://schemas.microsoft.com/office/drawing/2014/main" val="3265648152"/>
                    </a:ext>
                  </a:extLst>
                </a:gridCol>
                <a:gridCol w="778479">
                  <a:extLst>
                    <a:ext uri="{9D8B030D-6E8A-4147-A177-3AD203B41FA5}">
                      <a16:colId xmlns:a16="http://schemas.microsoft.com/office/drawing/2014/main" val="3716650630"/>
                    </a:ext>
                  </a:extLst>
                </a:gridCol>
                <a:gridCol w="544452">
                  <a:extLst>
                    <a:ext uri="{9D8B030D-6E8A-4147-A177-3AD203B41FA5}">
                      <a16:colId xmlns:a16="http://schemas.microsoft.com/office/drawing/2014/main" val="1713188863"/>
                    </a:ext>
                  </a:extLst>
                </a:gridCol>
                <a:gridCol w="1115587">
                  <a:extLst>
                    <a:ext uri="{9D8B030D-6E8A-4147-A177-3AD203B41FA5}">
                      <a16:colId xmlns:a16="http://schemas.microsoft.com/office/drawing/2014/main" val="3841236818"/>
                    </a:ext>
                  </a:extLst>
                </a:gridCol>
                <a:gridCol w="602382">
                  <a:extLst>
                    <a:ext uri="{9D8B030D-6E8A-4147-A177-3AD203B41FA5}">
                      <a16:colId xmlns:a16="http://schemas.microsoft.com/office/drawing/2014/main" val="3054945508"/>
                    </a:ext>
                  </a:extLst>
                </a:gridCol>
              </a:tblGrid>
              <a:tr h="463874">
                <a:tc>
                  <a:txBody>
                    <a:bodyPr/>
                    <a:lstStyle/>
                    <a:p>
                      <a:pPr algn="ctr"/>
                      <a:r>
                        <a:rPr lang="es-ES" sz="900" dirty="0"/>
                        <a:t>Preamble</a:t>
                      </a:r>
                    </a:p>
                  </a:txBody>
                  <a:tcPr anchor="ctr"/>
                </a:tc>
                <a:tc>
                  <a:txBody>
                    <a:bodyPr/>
                    <a:lstStyle/>
                    <a:p>
                      <a:pPr algn="ctr"/>
                      <a:r>
                        <a:rPr lang="es-ES" sz="900" dirty="0"/>
                        <a:t>SFD</a:t>
                      </a:r>
                    </a:p>
                  </a:txBody>
                  <a:tcPr anchor="ctr"/>
                </a:tc>
                <a:tc>
                  <a:txBody>
                    <a:bodyPr/>
                    <a:lstStyle/>
                    <a:p>
                      <a:pPr algn="ctr"/>
                      <a:r>
                        <a:rPr lang="es-ES" sz="900" dirty="0"/>
                        <a:t>Destination MAC</a:t>
                      </a:r>
                    </a:p>
                  </a:txBody>
                  <a:tcPr anchor="ctr"/>
                </a:tc>
                <a:tc>
                  <a:txBody>
                    <a:bodyPr/>
                    <a:lstStyle/>
                    <a:p>
                      <a:pPr algn="ctr"/>
                      <a:r>
                        <a:rPr lang="es-ES" sz="900" dirty="0"/>
                        <a:t>Source MAC</a:t>
                      </a:r>
                    </a:p>
                  </a:txBody>
                  <a:tcPr anchor="ctr"/>
                </a:tc>
                <a:tc>
                  <a:txBody>
                    <a:bodyPr/>
                    <a:lstStyle/>
                    <a:p>
                      <a:pPr algn="ctr"/>
                      <a:r>
                        <a:rPr lang="es-ES" sz="900" dirty="0"/>
                        <a:t>Type</a:t>
                      </a:r>
                    </a:p>
                  </a:txBody>
                  <a:tcPr anchor="ctr"/>
                </a:tc>
                <a:tc>
                  <a:txBody>
                    <a:bodyPr/>
                    <a:lstStyle/>
                    <a:p>
                      <a:pPr algn="ctr"/>
                      <a:r>
                        <a:rPr lang="es-ES" sz="900" dirty="0"/>
                        <a:t>Data &amp; Padding</a:t>
                      </a:r>
                    </a:p>
                  </a:txBody>
                  <a:tcPr anchor="ctr"/>
                </a:tc>
                <a:tc>
                  <a:txBody>
                    <a:bodyPr/>
                    <a:lstStyle/>
                    <a:p>
                      <a:pPr algn="ctr"/>
                      <a:r>
                        <a:rPr lang="es-ES" sz="900" dirty="0"/>
                        <a:t>FCS</a:t>
                      </a:r>
                    </a:p>
                  </a:txBody>
                  <a:tcPr anchor="ctr"/>
                </a:tc>
                <a:extLst>
                  <a:ext uri="{0D108BD9-81ED-4DB2-BD59-A6C34878D82A}">
                    <a16:rowId xmlns:a16="http://schemas.microsoft.com/office/drawing/2014/main" val="2213139133"/>
                  </a:ext>
                </a:extLst>
              </a:tr>
              <a:tr h="362401">
                <a:tc>
                  <a:txBody>
                    <a:bodyPr/>
                    <a:lstStyle/>
                    <a:p>
                      <a:pPr algn="ctr"/>
                      <a:r>
                        <a:rPr lang="es-ES" sz="900" b="1" dirty="0"/>
                        <a:t>7</a:t>
                      </a:r>
                    </a:p>
                  </a:txBody>
                  <a:tcPr anchor="ctr"/>
                </a:tc>
                <a:tc>
                  <a:txBody>
                    <a:bodyPr/>
                    <a:lstStyle/>
                    <a:p>
                      <a:pPr algn="ctr"/>
                      <a:r>
                        <a:rPr lang="es-ES" sz="900" b="1" dirty="0"/>
                        <a:t>1</a:t>
                      </a:r>
                    </a:p>
                  </a:txBody>
                  <a:tcPr anchor="ctr"/>
                </a:tc>
                <a:tc>
                  <a:txBody>
                    <a:bodyPr/>
                    <a:lstStyle/>
                    <a:p>
                      <a:r>
                        <a:rPr lang="es-ES" sz="900" b="1" dirty="0"/>
                        <a:t>02:F8:8E:2D:5B:C1</a:t>
                      </a:r>
                    </a:p>
                  </a:txBody>
                  <a:tcPr anchor="ctr"/>
                </a:tc>
                <a:tc>
                  <a:txBody>
                    <a:bodyPr/>
                    <a:lstStyle/>
                    <a:p>
                      <a:r>
                        <a:rPr lang="es-ES" sz="900" dirty="0"/>
                        <a:t>02:A1:C4:7B:93:E6</a:t>
                      </a:r>
                    </a:p>
                  </a:txBody>
                  <a:tcPr anchor="ctr"/>
                </a:tc>
                <a:tc>
                  <a:txBody>
                    <a:bodyPr/>
                    <a:lstStyle/>
                    <a:p>
                      <a:pPr algn="ctr"/>
                      <a:r>
                        <a:rPr lang="es-ES" sz="900" b="1" dirty="0"/>
                        <a:t>0x0800</a:t>
                      </a:r>
                    </a:p>
                  </a:txBody>
                  <a:tcPr anchor="ctr"/>
                </a:tc>
                <a:tc>
                  <a:txBody>
                    <a:bodyPr/>
                    <a:lstStyle/>
                    <a:p>
                      <a:pPr algn="ctr"/>
                      <a:r>
                        <a:rPr lang="es-ES" sz="900" b="1" dirty="0"/>
                        <a:t>46-1500</a:t>
                      </a:r>
                    </a:p>
                  </a:txBody>
                  <a:tcPr anchor="ctr"/>
                </a:tc>
                <a:tc>
                  <a:txBody>
                    <a:bodyPr/>
                    <a:lstStyle/>
                    <a:p>
                      <a:pPr algn="ctr"/>
                      <a:r>
                        <a:rPr lang="es-ES" sz="900" b="1" dirty="0"/>
                        <a:t>4</a:t>
                      </a:r>
                    </a:p>
                  </a:txBody>
                  <a:tcPr anchor="ctr"/>
                </a:tc>
                <a:extLst>
                  <a:ext uri="{0D108BD9-81ED-4DB2-BD59-A6C34878D82A}">
                    <a16:rowId xmlns:a16="http://schemas.microsoft.com/office/drawing/2014/main" val="1113509079"/>
                  </a:ext>
                </a:extLst>
              </a:tr>
            </a:tbl>
          </a:graphicData>
        </a:graphic>
      </p:graphicFrame>
      <p:pic>
        <p:nvPicPr>
          <p:cNvPr id="15" name="Picture 10" descr="C:\Users\ecoffey\AppData\Local\Temp\Rar$DRa0.175\30088_Device_terminal_default_256.png">
            <a:extLst>
              <a:ext uri="{FF2B5EF4-FFF2-40B4-BE49-F238E27FC236}">
                <a16:creationId xmlns:a16="http://schemas.microsoft.com/office/drawing/2014/main" id="{9D176BD0-481C-4A2F-E8ED-52C12F7C0F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5223" y="1838815"/>
            <a:ext cx="816029" cy="816029"/>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0" descr="C:\Users\ecoffey\AppData\Local\Temp\Rar$DRa0.175\30088_Device_terminal_default_256.png">
            <a:extLst>
              <a:ext uri="{FF2B5EF4-FFF2-40B4-BE49-F238E27FC236}">
                <a16:creationId xmlns:a16="http://schemas.microsoft.com/office/drawing/2014/main" id="{D8486602-8858-DAFE-604D-17B9569455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1348" y="1847326"/>
            <a:ext cx="816029" cy="816029"/>
          </a:xfrm>
          <a:prstGeom prst="rect">
            <a:avLst/>
          </a:prstGeom>
          <a:noFill/>
          <a:extLst>
            <a:ext uri="{909E8E84-426E-40DD-AFC4-6F175D3DCCD1}">
              <a14:hiddenFill xmlns:a14="http://schemas.microsoft.com/office/drawing/2010/main">
                <a:solidFill>
                  <a:srgbClr val="FFFFFF"/>
                </a:solidFill>
              </a14:hiddenFill>
            </a:ext>
          </a:extLst>
        </p:spPr>
      </p:pic>
      <p:cxnSp>
        <p:nvCxnSpPr>
          <p:cNvPr id="33" name="Conector recto 32">
            <a:extLst>
              <a:ext uri="{FF2B5EF4-FFF2-40B4-BE49-F238E27FC236}">
                <a16:creationId xmlns:a16="http://schemas.microsoft.com/office/drawing/2014/main" id="{9592D7E4-6232-842F-0643-59C314096ABD}"/>
              </a:ext>
            </a:extLst>
          </p:cNvPr>
          <p:cNvCxnSpPr>
            <a:cxnSpLocks/>
            <a:stCxn id="15" idx="3"/>
          </p:cNvCxnSpPr>
          <p:nvPr/>
        </p:nvCxnSpPr>
        <p:spPr>
          <a:xfrm>
            <a:off x="2361252" y="2246830"/>
            <a:ext cx="4225321" cy="0"/>
          </a:xfrm>
          <a:prstGeom prst="line">
            <a:avLst/>
          </a:prstGeom>
        </p:spPr>
        <p:style>
          <a:lnRef idx="2">
            <a:schemeClr val="accent1"/>
          </a:lnRef>
          <a:fillRef idx="0">
            <a:schemeClr val="accent1"/>
          </a:fillRef>
          <a:effectRef idx="1">
            <a:schemeClr val="accent1"/>
          </a:effectRef>
          <a:fontRef idx="minor">
            <a:schemeClr val="tx1"/>
          </a:fontRef>
        </p:style>
      </p:cxnSp>
      <p:pic>
        <p:nvPicPr>
          <p:cNvPr id="43" name="Imagen 42">
            <a:extLst>
              <a:ext uri="{FF2B5EF4-FFF2-40B4-BE49-F238E27FC236}">
                <a16:creationId xmlns:a16="http://schemas.microsoft.com/office/drawing/2014/main" id="{58884458-7F0B-BCBF-45A7-CC9A61CAAD30}"/>
              </a:ext>
            </a:extLst>
          </p:cNvPr>
          <p:cNvPicPr>
            <a:picLocks noChangeAspect="1"/>
          </p:cNvPicPr>
          <p:nvPr/>
        </p:nvPicPr>
        <p:blipFill>
          <a:blip r:embed="rId4"/>
          <a:stretch>
            <a:fillRect/>
          </a:stretch>
        </p:blipFill>
        <p:spPr>
          <a:xfrm>
            <a:off x="998948" y="1682950"/>
            <a:ext cx="482625" cy="501676"/>
          </a:xfrm>
          <a:prstGeom prst="rect">
            <a:avLst/>
          </a:prstGeom>
        </p:spPr>
      </p:pic>
      <p:pic>
        <p:nvPicPr>
          <p:cNvPr id="45" name="Imagen 44">
            <a:extLst>
              <a:ext uri="{FF2B5EF4-FFF2-40B4-BE49-F238E27FC236}">
                <a16:creationId xmlns:a16="http://schemas.microsoft.com/office/drawing/2014/main" id="{149DB4DC-ABCC-CCEA-052F-79BCB6ED4AC4}"/>
              </a:ext>
            </a:extLst>
          </p:cNvPr>
          <p:cNvPicPr>
            <a:picLocks noChangeAspect="1"/>
          </p:cNvPicPr>
          <p:nvPr/>
        </p:nvPicPr>
        <p:blipFill>
          <a:blip r:embed="rId5"/>
          <a:stretch>
            <a:fillRect/>
          </a:stretch>
        </p:blipFill>
        <p:spPr>
          <a:xfrm>
            <a:off x="7920345" y="379910"/>
            <a:ext cx="361969" cy="400071"/>
          </a:xfrm>
          <a:prstGeom prst="rect">
            <a:avLst/>
          </a:prstGeom>
        </p:spPr>
      </p:pic>
      <p:pic>
        <p:nvPicPr>
          <p:cNvPr id="47" name="Imagen 46">
            <a:extLst>
              <a:ext uri="{FF2B5EF4-FFF2-40B4-BE49-F238E27FC236}">
                <a16:creationId xmlns:a16="http://schemas.microsoft.com/office/drawing/2014/main" id="{CCCEB4DE-D550-1C48-7C26-D7854A7C741F}"/>
              </a:ext>
            </a:extLst>
          </p:cNvPr>
          <p:cNvPicPr>
            <a:picLocks noChangeAspect="1"/>
          </p:cNvPicPr>
          <p:nvPr/>
        </p:nvPicPr>
        <p:blipFill>
          <a:blip r:embed="rId6"/>
          <a:stretch>
            <a:fillRect/>
          </a:stretch>
        </p:blipFill>
        <p:spPr>
          <a:xfrm>
            <a:off x="7939395" y="1528738"/>
            <a:ext cx="323867" cy="349268"/>
          </a:xfrm>
          <a:prstGeom prst="rect">
            <a:avLst/>
          </a:prstGeom>
        </p:spPr>
      </p:pic>
      <p:pic>
        <p:nvPicPr>
          <p:cNvPr id="49" name="Imagen 48">
            <a:extLst>
              <a:ext uri="{FF2B5EF4-FFF2-40B4-BE49-F238E27FC236}">
                <a16:creationId xmlns:a16="http://schemas.microsoft.com/office/drawing/2014/main" id="{E3A2032A-FA7B-0EC2-39A6-E995D4779772}"/>
              </a:ext>
            </a:extLst>
          </p:cNvPr>
          <p:cNvPicPr>
            <a:picLocks noChangeAspect="1"/>
          </p:cNvPicPr>
          <p:nvPr/>
        </p:nvPicPr>
        <p:blipFill>
          <a:blip r:embed="rId7"/>
          <a:stretch>
            <a:fillRect/>
          </a:stretch>
        </p:blipFill>
        <p:spPr>
          <a:xfrm>
            <a:off x="7928380" y="2512153"/>
            <a:ext cx="323867" cy="323867"/>
          </a:xfrm>
          <a:prstGeom prst="rect">
            <a:avLst/>
          </a:prstGeom>
        </p:spPr>
      </p:pic>
      <p:pic>
        <p:nvPicPr>
          <p:cNvPr id="51" name="Imagen 50">
            <a:extLst>
              <a:ext uri="{FF2B5EF4-FFF2-40B4-BE49-F238E27FC236}">
                <a16:creationId xmlns:a16="http://schemas.microsoft.com/office/drawing/2014/main" id="{5C72C3F6-C636-9CCC-A36D-CD6F41D30F9C}"/>
              </a:ext>
            </a:extLst>
          </p:cNvPr>
          <p:cNvPicPr>
            <a:picLocks noChangeAspect="1"/>
          </p:cNvPicPr>
          <p:nvPr/>
        </p:nvPicPr>
        <p:blipFill>
          <a:blip r:embed="rId8"/>
          <a:stretch>
            <a:fillRect/>
          </a:stretch>
        </p:blipFill>
        <p:spPr>
          <a:xfrm>
            <a:off x="4670333" y="779981"/>
            <a:ext cx="666784" cy="234962"/>
          </a:xfrm>
          <a:prstGeom prst="rect">
            <a:avLst/>
          </a:prstGeom>
        </p:spPr>
      </p:pic>
      <p:sp>
        <p:nvSpPr>
          <p:cNvPr id="52" name="CuadroTexto 51">
            <a:extLst>
              <a:ext uri="{FF2B5EF4-FFF2-40B4-BE49-F238E27FC236}">
                <a16:creationId xmlns:a16="http://schemas.microsoft.com/office/drawing/2014/main" id="{436F1850-AA14-44A0-EF9D-2BC52D7A001C}"/>
              </a:ext>
            </a:extLst>
          </p:cNvPr>
          <p:cNvSpPr txBox="1"/>
          <p:nvPr/>
        </p:nvSpPr>
        <p:spPr>
          <a:xfrm>
            <a:off x="2276731" y="2255341"/>
            <a:ext cx="617477" cy="338554"/>
          </a:xfrm>
          <a:prstGeom prst="rect">
            <a:avLst/>
          </a:prstGeom>
          <a:noFill/>
        </p:spPr>
        <p:txBody>
          <a:bodyPr wrap="square" rtlCol="0">
            <a:spAutoFit/>
          </a:bodyPr>
          <a:lstStyle/>
          <a:p>
            <a:r>
              <a:rPr lang="es-ES" sz="1600" dirty="0"/>
              <a:t>G0/1</a:t>
            </a:r>
            <a:endParaRPr lang="es-ES" dirty="0"/>
          </a:p>
        </p:txBody>
      </p:sp>
      <p:sp>
        <p:nvSpPr>
          <p:cNvPr id="54" name="CuadroTexto 53">
            <a:extLst>
              <a:ext uri="{FF2B5EF4-FFF2-40B4-BE49-F238E27FC236}">
                <a16:creationId xmlns:a16="http://schemas.microsoft.com/office/drawing/2014/main" id="{E5E407F0-5024-A079-9AD1-ECD5AD1FFA97}"/>
              </a:ext>
            </a:extLst>
          </p:cNvPr>
          <p:cNvSpPr txBox="1"/>
          <p:nvPr/>
        </p:nvSpPr>
        <p:spPr>
          <a:xfrm>
            <a:off x="5942179" y="2269183"/>
            <a:ext cx="617477" cy="338554"/>
          </a:xfrm>
          <a:prstGeom prst="rect">
            <a:avLst/>
          </a:prstGeom>
          <a:noFill/>
        </p:spPr>
        <p:txBody>
          <a:bodyPr wrap="none" rtlCol="0">
            <a:spAutoFit/>
          </a:bodyPr>
          <a:lstStyle/>
          <a:p>
            <a:r>
              <a:rPr lang="es-ES" sz="1600" dirty="0"/>
              <a:t>G0/1</a:t>
            </a:r>
            <a:endParaRPr lang="es-ES" dirty="0"/>
          </a:p>
        </p:txBody>
      </p:sp>
      <p:cxnSp>
        <p:nvCxnSpPr>
          <p:cNvPr id="58" name="Conector recto de flecha 57">
            <a:extLst>
              <a:ext uri="{FF2B5EF4-FFF2-40B4-BE49-F238E27FC236}">
                <a16:creationId xmlns:a16="http://schemas.microsoft.com/office/drawing/2014/main" id="{AB4B11EB-6B36-9023-F4CC-7B5ECC4E7115}"/>
              </a:ext>
            </a:extLst>
          </p:cNvPr>
          <p:cNvCxnSpPr>
            <a:cxnSpLocks/>
          </p:cNvCxnSpPr>
          <p:nvPr/>
        </p:nvCxnSpPr>
        <p:spPr>
          <a:xfrm>
            <a:off x="3499019" y="2471100"/>
            <a:ext cx="206612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1" name="Bocadillo: rectángulo 60">
            <a:extLst>
              <a:ext uri="{FF2B5EF4-FFF2-40B4-BE49-F238E27FC236}">
                <a16:creationId xmlns:a16="http://schemas.microsoft.com/office/drawing/2014/main" id="{C3B58243-24A1-8729-1DCA-CD4466198BC6}"/>
              </a:ext>
            </a:extLst>
          </p:cNvPr>
          <p:cNvSpPr/>
          <p:nvPr/>
        </p:nvSpPr>
        <p:spPr>
          <a:xfrm>
            <a:off x="1153883" y="1044062"/>
            <a:ext cx="759669" cy="602589"/>
          </a:xfrm>
          <a:prstGeom prst="wedgeRectCallou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900" b="1" dirty="0">
                <a:solidFill>
                  <a:schemeClr val="tx1"/>
                </a:solidFill>
              </a:rPr>
              <a:t>¡Enviando esta trama a pc2!</a:t>
            </a:r>
          </a:p>
        </p:txBody>
      </p:sp>
      <p:sp>
        <p:nvSpPr>
          <p:cNvPr id="62" name="CuadroTexto 61">
            <a:extLst>
              <a:ext uri="{FF2B5EF4-FFF2-40B4-BE49-F238E27FC236}">
                <a16:creationId xmlns:a16="http://schemas.microsoft.com/office/drawing/2014/main" id="{41B37327-C2F4-C6DF-F3E4-571767613B86}"/>
              </a:ext>
            </a:extLst>
          </p:cNvPr>
          <p:cNvSpPr txBox="1"/>
          <p:nvPr/>
        </p:nvSpPr>
        <p:spPr>
          <a:xfrm>
            <a:off x="1663431" y="2593519"/>
            <a:ext cx="562975" cy="369332"/>
          </a:xfrm>
          <a:prstGeom prst="rect">
            <a:avLst/>
          </a:prstGeom>
          <a:noFill/>
        </p:spPr>
        <p:txBody>
          <a:bodyPr wrap="none" rtlCol="0">
            <a:spAutoFit/>
          </a:bodyPr>
          <a:lstStyle/>
          <a:p>
            <a:r>
              <a:rPr lang="es-ES" dirty="0"/>
              <a:t>Pc1</a:t>
            </a:r>
          </a:p>
        </p:txBody>
      </p:sp>
      <p:sp>
        <p:nvSpPr>
          <p:cNvPr id="64" name="CuadroTexto 63">
            <a:extLst>
              <a:ext uri="{FF2B5EF4-FFF2-40B4-BE49-F238E27FC236}">
                <a16:creationId xmlns:a16="http://schemas.microsoft.com/office/drawing/2014/main" id="{446A6FA6-22D1-B582-1EA7-50F8E4B36687}"/>
              </a:ext>
            </a:extLst>
          </p:cNvPr>
          <p:cNvSpPr txBox="1"/>
          <p:nvPr/>
        </p:nvSpPr>
        <p:spPr>
          <a:xfrm>
            <a:off x="6671576" y="2560759"/>
            <a:ext cx="562975" cy="369332"/>
          </a:xfrm>
          <a:prstGeom prst="rect">
            <a:avLst/>
          </a:prstGeom>
          <a:noFill/>
        </p:spPr>
        <p:txBody>
          <a:bodyPr wrap="none" rtlCol="0">
            <a:spAutoFit/>
          </a:bodyPr>
          <a:lstStyle/>
          <a:p>
            <a:r>
              <a:rPr lang="es-ES" dirty="0"/>
              <a:t>Pc2</a:t>
            </a:r>
          </a:p>
        </p:txBody>
      </p:sp>
      <p:sp>
        <p:nvSpPr>
          <p:cNvPr id="65" name="Flecha: a la derecha 64">
            <a:extLst>
              <a:ext uri="{FF2B5EF4-FFF2-40B4-BE49-F238E27FC236}">
                <a16:creationId xmlns:a16="http://schemas.microsoft.com/office/drawing/2014/main" id="{FACED89D-F41F-AB1F-0DCE-C93BF77BA050}"/>
              </a:ext>
            </a:extLst>
          </p:cNvPr>
          <p:cNvSpPr/>
          <p:nvPr/>
        </p:nvSpPr>
        <p:spPr>
          <a:xfrm>
            <a:off x="2065957" y="1261962"/>
            <a:ext cx="244306" cy="24756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67" name="Bocadillo: rectángulo 66">
            <a:extLst>
              <a:ext uri="{FF2B5EF4-FFF2-40B4-BE49-F238E27FC236}">
                <a16:creationId xmlns:a16="http://schemas.microsoft.com/office/drawing/2014/main" id="{5288D14F-0DDC-8F1A-AFD1-5098F7823A11}"/>
              </a:ext>
            </a:extLst>
          </p:cNvPr>
          <p:cNvSpPr/>
          <p:nvPr/>
        </p:nvSpPr>
        <p:spPr>
          <a:xfrm>
            <a:off x="8440882" y="354763"/>
            <a:ext cx="3189242" cy="816029"/>
          </a:xfrm>
          <a:prstGeom prst="wedgeRectCallout">
            <a:avLst>
              <a:gd name="adj1" fmla="val -66138"/>
              <a:gd name="adj2" fmla="val 5480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200" dirty="0">
                <a:solidFill>
                  <a:schemeClr val="tx1"/>
                </a:solidFill>
              </a:rPr>
              <a:t>Leyendo: 0101010101010…</a:t>
            </a:r>
            <a:br>
              <a:rPr lang="es-ES" sz="1200" dirty="0">
                <a:solidFill>
                  <a:schemeClr val="tx1"/>
                </a:solidFill>
              </a:rPr>
            </a:br>
            <a:r>
              <a:rPr lang="es-ES" sz="1200" dirty="0">
                <a:solidFill>
                  <a:schemeClr val="tx1"/>
                </a:solidFill>
              </a:rPr>
              <a:t>💡¡Leo los bits que significan el </a:t>
            </a:r>
            <a:r>
              <a:rPr lang="es-ES" sz="1200" b="1" dirty="0">
                <a:solidFill>
                  <a:schemeClr val="tx1"/>
                </a:solidFill>
              </a:rPr>
              <a:t>Preamble</a:t>
            </a:r>
            <a:r>
              <a:rPr lang="es-ES" sz="1200" dirty="0">
                <a:solidFill>
                  <a:schemeClr val="tx1"/>
                </a:solidFill>
              </a:rPr>
              <a:t>, me sincronizare para empezar a recibir datos!</a:t>
            </a:r>
            <a:endParaRPr lang="es-ES" sz="1200" b="1" dirty="0">
              <a:solidFill>
                <a:schemeClr val="tx1"/>
              </a:solidFill>
            </a:endParaRPr>
          </a:p>
        </p:txBody>
      </p:sp>
      <p:sp>
        <p:nvSpPr>
          <p:cNvPr id="69" name="Bocadillo: rectángulo 68">
            <a:extLst>
              <a:ext uri="{FF2B5EF4-FFF2-40B4-BE49-F238E27FC236}">
                <a16:creationId xmlns:a16="http://schemas.microsoft.com/office/drawing/2014/main" id="{E0C26474-02C0-0E7D-7926-6FA4841277D4}"/>
              </a:ext>
            </a:extLst>
          </p:cNvPr>
          <p:cNvSpPr/>
          <p:nvPr/>
        </p:nvSpPr>
        <p:spPr>
          <a:xfrm>
            <a:off x="8490846" y="1258006"/>
            <a:ext cx="3189242" cy="816029"/>
          </a:xfrm>
          <a:prstGeom prst="wedgeRectCallout">
            <a:avLst>
              <a:gd name="adj1" fmla="val -64388"/>
              <a:gd name="adj2" fmla="val -2731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200" dirty="0">
                <a:solidFill>
                  <a:schemeClr val="tx1"/>
                </a:solidFill>
              </a:rPr>
              <a:t>Leyendo: …010</a:t>
            </a:r>
            <a:r>
              <a:rPr lang="es-ES" sz="1200" b="1" dirty="0">
                <a:solidFill>
                  <a:schemeClr val="tx1"/>
                </a:solidFill>
              </a:rPr>
              <a:t>11</a:t>
            </a:r>
          </a:p>
          <a:p>
            <a:pPr algn="ctr"/>
            <a:r>
              <a:rPr lang="es-ES" sz="1200" b="1" dirty="0">
                <a:solidFill>
                  <a:schemeClr val="tx1"/>
                </a:solidFill>
              </a:rPr>
              <a:t>💡</a:t>
            </a:r>
            <a:r>
              <a:rPr lang="es-ES" sz="1200" dirty="0">
                <a:solidFill>
                  <a:schemeClr val="tx1"/>
                </a:solidFill>
              </a:rPr>
              <a:t>Los bits terminan en </a:t>
            </a:r>
            <a:r>
              <a:rPr lang="es-ES" sz="1200" b="1" dirty="0">
                <a:solidFill>
                  <a:schemeClr val="tx1"/>
                </a:solidFill>
              </a:rPr>
              <a:t>11</a:t>
            </a:r>
            <a:r>
              <a:rPr lang="es-ES" sz="1200" dirty="0">
                <a:solidFill>
                  <a:schemeClr val="tx1"/>
                </a:solidFill>
              </a:rPr>
              <a:t>, ahora sé que viene el campo </a:t>
            </a:r>
            <a:r>
              <a:rPr lang="es-ES" sz="1200" b="1" dirty="0">
                <a:solidFill>
                  <a:schemeClr val="tx1"/>
                </a:solidFill>
              </a:rPr>
              <a:t>Destination MAC</a:t>
            </a:r>
          </a:p>
        </p:txBody>
      </p:sp>
      <p:sp>
        <p:nvSpPr>
          <p:cNvPr id="71" name="Bocadillo: rectángulo 70">
            <a:extLst>
              <a:ext uri="{FF2B5EF4-FFF2-40B4-BE49-F238E27FC236}">
                <a16:creationId xmlns:a16="http://schemas.microsoft.com/office/drawing/2014/main" id="{456D3A61-0AEA-BC93-E037-0AA95DC0BF31}"/>
              </a:ext>
            </a:extLst>
          </p:cNvPr>
          <p:cNvSpPr/>
          <p:nvPr/>
        </p:nvSpPr>
        <p:spPr>
          <a:xfrm>
            <a:off x="8490846" y="2193273"/>
            <a:ext cx="3189242" cy="1049455"/>
          </a:xfrm>
          <a:prstGeom prst="wedgeRectCallout">
            <a:avLst>
              <a:gd name="adj1" fmla="val -62417"/>
              <a:gd name="adj2" fmla="val -4215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200" b="1" dirty="0">
                <a:solidFill>
                  <a:schemeClr val="tx1"/>
                </a:solidFill>
              </a:rPr>
              <a:t>💡</a:t>
            </a:r>
            <a:r>
              <a:rPr lang="es-ES" sz="1200" dirty="0">
                <a:solidFill>
                  <a:schemeClr val="tx1"/>
                </a:solidFill>
              </a:rPr>
              <a:t>Leo que la dirección MAC destino es </a:t>
            </a:r>
            <a:r>
              <a:rPr lang="es-ES" sz="1200" b="1" dirty="0">
                <a:solidFill>
                  <a:schemeClr val="tx1"/>
                </a:solidFill>
              </a:rPr>
              <a:t>02:F8:8E:2D:5B:C1 </a:t>
            </a:r>
            <a:r>
              <a:rPr lang="es-ES" sz="1200" dirty="0">
                <a:solidFill>
                  <a:schemeClr val="tx1"/>
                </a:solidFill>
              </a:rPr>
              <a:t>por lo que es Unicast y es mi MAC, seguiré leyendo la trama.</a:t>
            </a:r>
            <a:endParaRPr lang="es-ES" sz="1200" b="1" dirty="0">
              <a:solidFill>
                <a:schemeClr val="tx1"/>
              </a:solidFill>
            </a:endParaRPr>
          </a:p>
        </p:txBody>
      </p:sp>
      <p:pic>
        <p:nvPicPr>
          <p:cNvPr id="74" name="Imagen 73">
            <a:extLst>
              <a:ext uri="{FF2B5EF4-FFF2-40B4-BE49-F238E27FC236}">
                <a16:creationId xmlns:a16="http://schemas.microsoft.com/office/drawing/2014/main" id="{72E0F93B-4554-A684-3969-8D8AA265AD4D}"/>
              </a:ext>
            </a:extLst>
          </p:cNvPr>
          <p:cNvPicPr>
            <a:picLocks noChangeAspect="1"/>
          </p:cNvPicPr>
          <p:nvPr/>
        </p:nvPicPr>
        <p:blipFill>
          <a:blip r:embed="rId9"/>
          <a:stretch>
            <a:fillRect/>
          </a:stretch>
        </p:blipFill>
        <p:spPr>
          <a:xfrm>
            <a:off x="7941081" y="3289182"/>
            <a:ext cx="311166" cy="361969"/>
          </a:xfrm>
          <a:prstGeom prst="rect">
            <a:avLst/>
          </a:prstGeom>
        </p:spPr>
      </p:pic>
      <p:sp>
        <p:nvSpPr>
          <p:cNvPr id="76" name="Bocadillo: rectángulo 75">
            <a:extLst>
              <a:ext uri="{FF2B5EF4-FFF2-40B4-BE49-F238E27FC236}">
                <a16:creationId xmlns:a16="http://schemas.microsoft.com/office/drawing/2014/main" id="{9ACA6D2F-AC56-DEF7-9782-892BA3300670}"/>
              </a:ext>
            </a:extLst>
          </p:cNvPr>
          <p:cNvSpPr/>
          <p:nvPr/>
        </p:nvSpPr>
        <p:spPr>
          <a:xfrm>
            <a:off x="8490846" y="3317617"/>
            <a:ext cx="3189242" cy="816029"/>
          </a:xfrm>
          <a:prstGeom prst="wedgeRectCallout">
            <a:avLst>
              <a:gd name="adj1" fmla="val -51692"/>
              <a:gd name="adj2" fmla="val -9070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200" b="1" dirty="0">
                <a:solidFill>
                  <a:schemeClr val="tx1"/>
                </a:solidFill>
              </a:rPr>
              <a:t>💡</a:t>
            </a:r>
            <a:r>
              <a:rPr lang="es-ES" sz="1200" dirty="0">
                <a:solidFill>
                  <a:schemeClr val="tx1"/>
                </a:solidFill>
              </a:rPr>
              <a:t>Leo que la Source MAC es </a:t>
            </a:r>
            <a:r>
              <a:rPr lang="es-ES" sz="1200" b="1" dirty="0">
                <a:solidFill>
                  <a:schemeClr val="tx1"/>
                </a:solidFill>
              </a:rPr>
              <a:t>02:A1:C4:7B:93:E6, </a:t>
            </a:r>
            <a:r>
              <a:rPr lang="es-ES" sz="1200" dirty="0">
                <a:solidFill>
                  <a:schemeClr val="tx1"/>
                </a:solidFill>
              </a:rPr>
              <a:t>vale, ya se quien me envía y a quien responderle</a:t>
            </a:r>
            <a:endParaRPr lang="es-ES" sz="1200" b="1" dirty="0">
              <a:solidFill>
                <a:schemeClr val="tx1"/>
              </a:solidFill>
            </a:endParaRPr>
          </a:p>
        </p:txBody>
      </p:sp>
      <p:pic>
        <p:nvPicPr>
          <p:cNvPr id="78" name="Imagen 77">
            <a:extLst>
              <a:ext uri="{FF2B5EF4-FFF2-40B4-BE49-F238E27FC236}">
                <a16:creationId xmlns:a16="http://schemas.microsoft.com/office/drawing/2014/main" id="{6AC19B68-9570-3CC0-C2FE-D6AD8091F64B}"/>
              </a:ext>
            </a:extLst>
          </p:cNvPr>
          <p:cNvPicPr>
            <a:picLocks noChangeAspect="1"/>
          </p:cNvPicPr>
          <p:nvPr/>
        </p:nvPicPr>
        <p:blipFill>
          <a:blip r:embed="rId10"/>
          <a:stretch>
            <a:fillRect/>
          </a:stretch>
        </p:blipFill>
        <p:spPr>
          <a:xfrm>
            <a:off x="7928380" y="4217742"/>
            <a:ext cx="361969" cy="361969"/>
          </a:xfrm>
          <a:prstGeom prst="rect">
            <a:avLst/>
          </a:prstGeom>
        </p:spPr>
      </p:pic>
      <p:sp>
        <p:nvSpPr>
          <p:cNvPr id="80" name="Bocadillo: rectángulo 79">
            <a:extLst>
              <a:ext uri="{FF2B5EF4-FFF2-40B4-BE49-F238E27FC236}">
                <a16:creationId xmlns:a16="http://schemas.microsoft.com/office/drawing/2014/main" id="{9E753524-7FCB-1D2F-E2AB-66A3D81B67F1}"/>
              </a:ext>
            </a:extLst>
          </p:cNvPr>
          <p:cNvSpPr/>
          <p:nvPr/>
        </p:nvSpPr>
        <p:spPr>
          <a:xfrm>
            <a:off x="8490846" y="4208535"/>
            <a:ext cx="3189242" cy="816029"/>
          </a:xfrm>
          <a:prstGeom prst="wedgeRectCallout">
            <a:avLst>
              <a:gd name="adj1" fmla="val -51692"/>
              <a:gd name="adj2" fmla="val -9070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rPr>
              <a:t>💡</a:t>
            </a:r>
            <a:r>
              <a:rPr lang="es-ES" sz="1200" dirty="0">
                <a:solidFill>
                  <a:schemeClr val="tx1"/>
                </a:solidFill>
              </a:rPr>
              <a:t>Leo que los bits del campo type corresponden  a un valor </a:t>
            </a:r>
            <a:r>
              <a:rPr lang="es-ES" sz="1200" b="1" dirty="0">
                <a:solidFill>
                  <a:schemeClr val="tx1"/>
                </a:solidFill>
              </a:rPr>
              <a:t>0x0800 hexadecimal</a:t>
            </a:r>
            <a:r>
              <a:rPr lang="es-ES" sz="1200" dirty="0">
                <a:solidFill>
                  <a:schemeClr val="tx1"/>
                </a:solidFill>
              </a:rPr>
              <a:t>, vale eso significa </a:t>
            </a:r>
            <a:r>
              <a:rPr lang="es-ES" sz="1200" b="1" dirty="0">
                <a:solidFill>
                  <a:schemeClr val="tx1"/>
                </a:solidFill>
              </a:rPr>
              <a:t>IPv4</a:t>
            </a:r>
            <a:endParaRPr lang="es-ES" sz="1400" b="1" dirty="0">
              <a:solidFill>
                <a:schemeClr val="tx1"/>
              </a:solidFill>
            </a:endParaRPr>
          </a:p>
        </p:txBody>
      </p:sp>
      <p:sp>
        <p:nvSpPr>
          <p:cNvPr id="81" name="CuadroTexto 80">
            <a:extLst>
              <a:ext uri="{FF2B5EF4-FFF2-40B4-BE49-F238E27FC236}">
                <a16:creationId xmlns:a16="http://schemas.microsoft.com/office/drawing/2014/main" id="{006D9A9D-2D0E-8A02-0824-7A589B2E7130}"/>
              </a:ext>
            </a:extLst>
          </p:cNvPr>
          <p:cNvSpPr txBox="1"/>
          <p:nvPr/>
        </p:nvSpPr>
        <p:spPr>
          <a:xfrm>
            <a:off x="3625716" y="2191427"/>
            <a:ext cx="1912703" cy="369332"/>
          </a:xfrm>
          <a:prstGeom prst="rect">
            <a:avLst/>
          </a:prstGeom>
          <a:noFill/>
        </p:spPr>
        <p:txBody>
          <a:bodyPr wrap="none" rtlCol="0">
            <a:spAutoFit/>
          </a:bodyPr>
          <a:lstStyle/>
          <a:p>
            <a:r>
              <a:rPr lang="es-ES" sz="1400" dirty="0"/>
              <a:t>0101010101010101</a:t>
            </a:r>
            <a:r>
              <a:rPr lang="es-ES" dirty="0"/>
              <a:t>…</a:t>
            </a:r>
          </a:p>
        </p:txBody>
      </p:sp>
      <p:pic>
        <p:nvPicPr>
          <p:cNvPr id="83" name="Imagen 82">
            <a:extLst>
              <a:ext uri="{FF2B5EF4-FFF2-40B4-BE49-F238E27FC236}">
                <a16:creationId xmlns:a16="http://schemas.microsoft.com/office/drawing/2014/main" id="{4128E621-E84F-1BDB-9A01-20AF809AAAD4}"/>
              </a:ext>
            </a:extLst>
          </p:cNvPr>
          <p:cNvPicPr>
            <a:picLocks noChangeAspect="1"/>
          </p:cNvPicPr>
          <p:nvPr/>
        </p:nvPicPr>
        <p:blipFill>
          <a:blip r:embed="rId11"/>
          <a:stretch>
            <a:fillRect/>
          </a:stretch>
        </p:blipFill>
        <p:spPr>
          <a:xfrm>
            <a:off x="7925205" y="5185337"/>
            <a:ext cx="342918" cy="311166"/>
          </a:xfrm>
          <a:prstGeom prst="rect">
            <a:avLst/>
          </a:prstGeom>
        </p:spPr>
      </p:pic>
      <p:sp>
        <p:nvSpPr>
          <p:cNvPr id="85" name="Bocadillo: rectángulo 84">
            <a:extLst>
              <a:ext uri="{FF2B5EF4-FFF2-40B4-BE49-F238E27FC236}">
                <a16:creationId xmlns:a16="http://schemas.microsoft.com/office/drawing/2014/main" id="{46436A8F-E750-CA57-CF81-86A558C44201}"/>
              </a:ext>
            </a:extLst>
          </p:cNvPr>
          <p:cNvSpPr/>
          <p:nvPr/>
        </p:nvSpPr>
        <p:spPr>
          <a:xfrm>
            <a:off x="8490846" y="5152586"/>
            <a:ext cx="3189242" cy="816029"/>
          </a:xfrm>
          <a:prstGeom prst="wedgeRectCallout">
            <a:avLst>
              <a:gd name="adj1" fmla="val -51692"/>
              <a:gd name="adj2" fmla="val -9070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200" b="1" dirty="0">
                <a:solidFill>
                  <a:schemeClr val="tx1"/>
                </a:solidFill>
              </a:rPr>
              <a:t>💡</a:t>
            </a:r>
            <a:r>
              <a:rPr lang="es-ES" sz="1200" dirty="0">
                <a:solidFill>
                  <a:schemeClr val="tx1"/>
                </a:solidFill>
              </a:rPr>
              <a:t>Estoy leyendo el campo de </a:t>
            </a:r>
            <a:r>
              <a:rPr lang="es-ES" sz="1200" b="1" dirty="0">
                <a:solidFill>
                  <a:schemeClr val="tx1"/>
                </a:solidFill>
              </a:rPr>
              <a:t>Data,</a:t>
            </a:r>
            <a:r>
              <a:rPr lang="es-ES" sz="1200" dirty="0">
                <a:solidFill>
                  <a:schemeClr val="tx1"/>
                </a:solidFill>
              </a:rPr>
              <a:t> guardare temporalmente la información en mi memoria antes de pasarlo al sistema operativo</a:t>
            </a:r>
            <a:endParaRPr lang="es-ES" sz="1200" b="1" dirty="0">
              <a:solidFill>
                <a:schemeClr val="tx1"/>
              </a:solidFill>
            </a:endParaRPr>
          </a:p>
        </p:txBody>
      </p:sp>
      <p:pic>
        <p:nvPicPr>
          <p:cNvPr id="87" name="Imagen 86">
            <a:extLst>
              <a:ext uri="{FF2B5EF4-FFF2-40B4-BE49-F238E27FC236}">
                <a16:creationId xmlns:a16="http://schemas.microsoft.com/office/drawing/2014/main" id="{EC05DD0A-C5AA-A3E9-479C-F0388C53C2E7}"/>
              </a:ext>
            </a:extLst>
          </p:cNvPr>
          <p:cNvPicPr>
            <a:picLocks noChangeAspect="1"/>
          </p:cNvPicPr>
          <p:nvPr/>
        </p:nvPicPr>
        <p:blipFill>
          <a:blip r:embed="rId12"/>
          <a:stretch>
            <a:fillRect/>
          </a:stretch>
        </p:blipFill>
        <p:spPr>
          <a:xfrm>
            <a:off x="7890063" y="5990887"/>
            <a:ext cx="348223" cy="361969"/>
          </a:xfrm>
          <a:prstGeom prst="rect">
            <a:avLst/>
          </a:prstGeom>
        </p:spPr>
      </p:pic>
      <p:sp>
        <p:nvSpPr>
          <p:cNvPr id="89" name="Bocadillo: rectángulo 88">
            <a:extLst>
              <a:ext uri="{FF2B5EF4-FFF2-40B4-BE49-F238E27FC236}">
                <a16:creationId xmlns:a16="http://schemas.microsoft.com/office/drawing/2014/main" id="{4CB92D89-3DEB-2094-358C-71D2F8EEDB84}"/>
              </a:ext>
            </a:extLst>
          </p:cNvPr>
          <p:cNvSpPr/>
          <p:nvPr/>
        </p:nvSpPr>
        <p:spPr>
          <a:xfrm>
            <a:off x="8376228" y="6017800"/>
            <a:ext cx="3762258" cy="816029"/>
          </a:xfrm>
          <a:prstGeom prst="wedgeRectCallout">
            <a:avLst>
              <a:gd name="adj1" fmla="val -48847"/>
              <a:gd name="adj2" fmla="val -8215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200" b="1" dirty="0">
                <a:solidFill>
                  <a:schemeClr val="tx1"/>
                </a:solidFill>
              </a:rPr>
              <a:t>💡</a:t>
            </a:r>
            <a:r>
              <a:rPr lang="es-ES" sz="1200" dirty="0">
                <a:solidFill>
                  <a:schemeClr val="tx1"/>
                </a:solidFill>
              </a:rPr>
              <a:t>He comparado el calculo CRC y veo que coincide con el campo FCS, la trama es correcta y ahora las capas superiores se encargaran del contenido del campo Data (Paquete-&gt;Segmento-&gt;Datos)</a:t>
            </a:r>
            <a:endParaRPr lang="es-ES" sz="1200" b="1" dirty="0">
              <a:solidFill>
                <a:schemeClr val="tx1"/>
              </a:solidFill>
            </a:endParaRPr>
          </a:p>
        </p:txBody>
      </p:sp>
      <p:sp>
        <p:nvSpPr>
          <p:cNvPr id="91" name="CuadroTexto 90">
            <a:extLst>
              <a:ext uri="{FF2B5EF4-FFF2-40B4-BE49-F238E27FC236}">
                <a16:creationId xmlns:a16="http://schemas.microsoft.com/office/drawing/2014/main" id="{27F3F9DE-5D9D-CDEA-8D85-1A19F81D1268}"/>
              </a:ext>
            </a:extLst>
          </p:cNvPr>
          <p:cNvSpPr txBox="1"/>
          <p:nvPr/>
        </p:nvSpPr>
        <p:spPr>
          <a:xfrm>
            <a:off x="2721772" y="213390"/>
            <a:ext cx="5230690" cy="369332"/>
          </a:xfrm>
          <a:prstGeom prst="rect">
            <a:avLst/>
          </a:prstGeom>
          <a:noFill/>
        </p:spPr>
        <p:txBody>
          <a:bodyPr wrap="square">
            <a:spAutoFit/>
          </a:bodyPr>
          <a:lstStyle/>
          <a:p>
            <a:r>
              <a:rPr lang="es-ES" b="1" dirty="0"/>
              <a:t>¿Cómo lee la Tarjeta de Red una Trama o Frame?</a:t>
            </a:r>
          </a:p>
        </p:txBody>
      </p:sp>
      <p:sp>
        <p:nvSpPr>
          <p:cNvPr id="93" name="CuadroTexto 92">
            <a:extLst>
              <a:ext uri="{FF2B5EF4-FFF2-40B4-BE49-F238E27FC236}">
                <a16:creationId xmlns:a16="http://schemas.microsoft.com/office/drawing/2014/main" id="{4CC7BF68-30AF-A1EF-DC50-27916206D2BC}"/>
              </a:ext>
            </a:extLst>
          </p:cNvPr>
          <p:cNvSpPr txBox="1"/>
          <p:nvPr/>
        </p:nvSpPr>
        <p:spPr>
          <a:xfrm>
            <a:off x="511911" y="3905311"/>
            <a:ext cx="6722639" cy="2339102"/>
          </a:xfrm>
          <a:prstGeom prst="rect">
            <a:avLst/>
          </a:prstGeom>
          <a:noFill/>
        </p:spPr>
        <p:txBody>
          <a:bodyPr wrap="square">
            <a:spAutoFit/>
          </a:bodyPr>
          <a:lstStyle/>
          <a:p>
            <a:r>
              <a:rPr lang="es-ES" sz="1600" dirty="0"/>
              <a:t>💡G0/1 =  Puerto Gigabit Ethernet del PC</a:t>
            </a:r>
          </a:p>
          <a:p>
            <a:endParaRPr lang="es-ES" sz="1600" dirty="0"/>
          </a:p>
          <a:p>
            <a:r>
              <a:rPr lang="es-ES" sz="1600" dirty="0"/>
              <a:t>💡Una vez que termina el proceso de lectura de la trama, la tarjeta de red pasa el campo Data al </a:t>
            </a:r>
            <a:r>
              <a:rPr lang="es-ES" sz="1600" b="1" dirty="0"/>
              <a:t>sistema operativo</a:t>
            </a:r>
            <a:r>
              <a:rPr lang="es-ES" sz="1600" dirty="0"/>
              <a:t>, el cual se encarga de desencapsular el Paquete IP</a:t>
            </a:r>
          </a:p>
          <a:p>
            <a:endParaRPr lang="es-ES" sz="1600" b="1" dirty="0"/>
          </a:p>
          <a:p>
            <a:r>
              <a:rPr lang="es-ES" sz="1600" b="1" dirty="0"/>
              <a:t>💡</a:t>
            </a:r>
            <a:r>
              <a:rPr lang="es-ES" sz="1600" dirty="0"/>
              <a:t>La tarjeta de red se encarga de los bits, tramas y medios físicos en la Capa 1 y 2,</a:t>
            </a:r>
          </a:p>
          <a:p>
            <a:r>
              <a:rPr lang="es-ES" sz="1600" dirty="0"/>
              <a:t>El sistema operativo se encarga de las capas superiores.</a:t>
            </a:r>
          </a:p>
        </p:txBody>
      </p:sp>
      <p:sp>
        <p:nvSpPr>
          <p:cNvPr id="97" name="CuadroTexto 96">
            <a:extLst>
              <a:ext uri="{FF2B5EF4-FFF2-40B4-BE49-F238E27FC236}">
                <a16:creationId xmlns:a16="http://schemas.microsoft.com/office/drawing/2014/main" id="{B7ADA1CA-BC74-396E-5969-BE5C350E381B}"/>
              </a:ext>
            </a:extLst>
          </p:cNvPr>
          <p:cNvSpPr txBox="1"/>
          <p:nvPr/>
        </p:nvSpPr>
        <p:spPr>
          <a:xfrm>
            <a:off x="6068665" y="613024"/>
            <a:ext cx="1205821" cy="276999"/>
          </a:xfrm>
          <a:prstGeom prst="rect">
            <a:avLst/>
          </a:prstGeom>
          <a:noFill/>
        </p:spPr>
        <p:txBody>
          <a:bodyPr wrap="square">
            <a:spAutoFit/>
          </a:bodyPr>
          <a:lstStyle/>
          <a:p>
            <a:r>
              <a:rPr lang="es-ES" sz="1200" b="1" dirty="0"/>
              <a:t>Paquete IP </a:t>
            </a:r>
            <a:endParaRPr lang="es-ES" sz="1400" dirty="0"/>
          </a:p>
        </p:txBody>
      </p:sp>
      <p:sp>
        <p:nvSpPr>
          <p:cNvPr id="99" name="Abrir llave 98">
            <a:extLst>
              <a:ext uri="{FF2B5EF4-FFF2-40B4-BE49-F238E27FC236}">
                <a16:creationId xmlns:a16="http://schemas.microsoft.com/office/drawing/2014/main" id="{4B902DCE-EBBE-A9EF-90B6-CA9BFD3F5ADA}"/>
              </a:ext>
            </a:extLst>
          </p:cNvPr>
          <p:cNvSpPr/>
          <p:nvPr/>
        </p:nvSpPr>
        <p:spPr>
          <a:xfrm rot="5400000">
            <a:off x="6482647" y="607647"/>
            <a:ext cx="201355" cy="666784"/>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dirty="0"/>
          </a:p>
        </p:txBody>
      </p:sp>
    </p:spTree>
    <p:extLst>
      <p:ext uri="{BB962C8B-B14F-4D97-AF65-F5344CB8AC3E}">
        <p14:creationId xmlns:p14="http://schemas.microsoft.com/office/powerpoint/2010/main" val="14119447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Rectángulo 66">
            <a:extLst>
              <a:ext uri="{FF2B5EF4-FFF2-40B4-BE49-F238E27FC236}">
                <a16:creationId xmlns:a16="http://schemas.microsoft.com/office/drawing/2014/main" id="{B60740E1-A48F-1C03-923F-909378B2480E}"/>
              </a:ext>
            </a:extLst>
          </p:cNvPr>
          <p:cNvSpPr/>
          <p:nvPr/>
        </p:nvSpPr>
        <p:spPr>
          <a:xfrm>
            <a:off x="2087066" y="2164482"/>
            <a:ext cx="8067616" cy="298325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7" name="CuadroTexto 6">
            <a:extLst>
              <a:ext uri="{FF2B5EF4-FFF2-40B4-BE49-F238E27FC236}">
                <a16:creationId xmlns:a16="http://schemas.microsoft.com/office/drawing/2014/main" id="{9DD96ABE-4427-C038-0700-24BAFF43CA6C}"/>
              </a:ext>
            </a:extLst>
          </p:cNvPr>
          <p:cNvSpPr txBox="1"/>
          <p:nvPr/>
        </p:nvSpPr>
        <p:spPr>
          <a:xfrm>
            <a:off x="-321133" y="0"/>
            <a:ext cx="3329579" cy="461665"/>
          </a:xfrm>
          <a:prstGeom prst="rect">
            <a:avLst/>
          </a:prstGeom>
          <a:noFill/>
        </p:spPr>
        <p:txBody>
          <a:bodyPr wrap="square">
            <a:spAutoFit/>
          </a:bodyPr>
          <a:lstStyle/>
          <a:p>
            <a:pPr algn="ctr"/>
            <a:r>
              <a:rPr lang="es-ES" sz="1200" dirty="0">
                <a:ln w="0"/>
                <a:effectLst>
                  <a:outerShdw blurRad="38100" dist="19050" dir="2700000" algn="tl" rotWithShape="0">
                    <a:schemeClr val="dk1">
                      <a:alpha val="40000"/>
                    </a:schemeClr>
                  </a:outerShdw>
                </a:effectLst>
              </a:rPr>
              <a:t>1. Introducción a las redes</a:t>
            </a:r>
          </a:p>
          <a:p>
            <a:pPr algn="ctr"/>
            <a:r>
              <a:rPr lang="es-ES" sz="1200" b="1" dirty="0"/>
              <a:t>Ethernet y ¿Cómo funciona una LAN?</a:t>
            </a:r>
          </a:p>
        </p:txBody>
      </p:sp>
      <p:sp>
        <p:nvSpPr>
          <p:cNvPr id="3" name="CuadroTexto 2">
            <a:extLst>
              <a:ext uri="{FF2B5EF4-FFF2-40B4-BE49-F238E27FC236}">
                <a16:creationId xmlns:a16="http://schemas.microsoft.com/office/drawing/2014/main" id="{3ABFD9B0-5F54-9A8B-5C1C-1275D30FCBB0}"/>
              </a:ext>
            </a:extLst>
          </p:cNvPr>
          <p:cNvSpPr txBox="1"/>
          <p:nvPr/>
        </p:nvSpPr>
        <p:spPr>
          <a:xfrm>
            <a:off x="4377749" y="186084"/>
            <a:ext cx="3951253" cy="461665"/>
          </a:xfrm>
          <a:prstGeom prst="rect">
            <a:avLst/>
          </a:prstGeom>
          <a:noFill/>
        </p:spPr>
        <p:txBody>
          <a:bodyPr wrap="square">
            <a:spAutoFit/>
          </a:bodyPr>
          <a:lstStyle/>
          <a:p>
            <a:r>
              <a:rPr lang="es-ES" sz="2400" b="1" dirty="0"/>
              <a:t>Full Duplex y Half Duplex</a:t>
            </a:r>
          </a:p>
        </p:txBody>
      </p:sp>
      <p:sp>
        <p:nvSpPr>
          <p:cNvPr id="8" name="CuadroTexto 7">
            <a:extLst>
              <a:ext uri="{FF2B5EF4-FFF2-40B4-BE49-F238E27FC236}">
                <a16:creationId xmlns:a16="http://schemas.microsoft.com/office/drawing/2014/main" id="{4A34BE8A-B641-A791-DE76-6FC86BC049E3}"/>
              </a:ext>
            </a:extLst>
          </p:cNvPr>
          <p:cNvSpPr txBox="1"/>
          <p:nvPr/>
        </p:nvSpPr>
        <p:spPr>
          <a:xfrm>
            <a:off x="73291" y="683080"/>
            <a:ext cx="12770190" cy="307777"/>
          </a:xfrm>
          <a:prstGeom prst="rect">
            <a:avLst/>
          </a:prstGeom>
          <a:noFill/>
        </p:spPr>
        <p:txBody>
          <a:bodyPr wrap="square">
            <a:spAutoFit/>
          </a:bodyPr>
          <a:lstStyle/>
          <a:p>
            <a:r>
              <a:rPr lang="es-ES" sz="1400" b="1" u="sng" strike="noStrike" dirty="0">
                <a:effectLst/>
                <a:latin typeface="Google Sans"/>
              </a:rPr>
              <a:t>Half Duplex y Full Duplex </a:t>
            </a:r>
            <a:r>
              <a:rPr lang="es-ES" sz="1400" u="none" strike="noStrike" dirty="0">
                <a:effectLst/>
                <a:latin typeface="Google Sans"/>
              </a:rPr>
              <a:t>son formas de transmisión de datos</a:t>
            </a:r>
            <a:r>
              <a:rPr lang="es-ES" sz="1400" dirty="0"/>
              <a:t> (o modos de comunicación) que definen cómo fluye la información entre dos dispositivos.</a:t>
            </a:r>
          </a:p>
        </p:txBody>
      </p:sp>
      <p:sp>
        <p:nvSpPr>
          <p:cNvPr id="10" name="CuadroTexto 9">
            <a:extLst>
              <a:ext uri="{FF2B5EF4-FFF2-40B4-BE49-F238E27FC236}">
                <a16:creationId xmlns:a16="http://schemas.microsoft.com/office/drawing/2014/main" id="{186A44C6-309B-009D-436C-34A2BB4F99F5}"/>
              </a:ext>
            </a:extLst>
          </p:cNvPr>
          <p:cNvSpPr txBox="1"/>
          <p:nvPr/>
        </p:nvSpPr>
        <p:spPr>
          <a:xfrm>
            <a:off x="1633937" y="1212272"/>
            <a:ext cx="8924126" cy="969496"/>
          </a:xfrm>
          <a:prstGeom prst="rect">
            <a:avLst/>
          </a:prstGeom>
          <a:noFill/>
        </p:spPr>
        <p:txBody>
          <a:bodyPr wrap="square">
            <a:spAutoFit/>
          </a:bodyPr>
          <a:lstStyle/>
          <a:p>
            <a:pPr marL="0" marR="0">
              <a:spcBef>
                <a:spcPts val="900"/>
              </a:spcBef>
              <a:spcAft>
                <a:spcPts val="900"/>
              </a:spcAft>
            </a:pPr>
            <a:r>
              <a:rPr lang="es-ES" sz="1400" b="1" dirty="0"/>
              <a:t>Half Duplex </a:t>
            </a:r>
            <a:r>
              <a:rPr lang="es-ES" sz="1400" dirty="0"/>
              <a:t>: Los dispositivos pueden enviar y recibir datos, pero no al mismo tiempo. </a:t>
            </a:r>
          </a:p>
          <a:p>
            <a:pPr marL="0" marR="0">
              <a:spcBef>
                <a:spcPts val="900"/>
              </a:spcBef>
              <a:spcAft>
                <a:spcPts val="900"/>
              </a:spcAft>
            </a:pPr>
            <a:r>
              <a:rPr lang="es-ES" sz="1400" b="1" dirty="0"/>
              <a:t>Full Duplex </a:t>
            </a:r>
            <a:r>
              <a:rPr lang="es-ES" sz="1400" dirty="0"/>
              <a:t>Los dispositivos pueden enviar y recibir datos de forma simultánea. La comunicación fluye en ambas direcciones a la vez.</a:t>
            </a:r>
          </a:p>
        </p:txBody>
      </p:sp>
      <p:pic>
        <p:nvPicPr>
          <p:cNvPr id="12" name="Imagen 11">
            <a:extLst>
              <a:ext uri="{FF2B5EF4-FFF2-40B4-BE49-F238E27FC236}">
                <a16:creationId xmlns:a16="http://schemas.microsoft.com/office/drawing/2014/main" id="{CEF02D66-1617-15D8-1C6D-106EE6969F26}"/>
              </a:ext>
            </a:extLst>
          </p:cNvPr>
          <p:cNvPicPr>
            <a:picLocks noChangeAspect="1"/>
          </p:cNvPicPr>
          <p:nvPr/>
        </p:nvPicPr>
        <p:blipFill>
          <a:blip r:embed="rId2"/>
          <a:stretch>
            <a:fillRect/>
          </a:stretch>
        </p:blipFill>
        <p:spPr>
          <a:xfrm>
            <a:off x="222977" y="1734409"/>
            <a:ext cx="1318628" cy="401517"/>
          </a:xfrm>
          <a:prstGeom prst="rect">
            <a:avLst/>
          </a:prstGeom>
        </p:spPr>
      </p:pic>
      <p:pic>
        <p:nvPicPr>
          <p:cNvPr id="14" name="Imagen 13">
            <a:extLst>
              <a:ext uri="{FF2B5EF4-FFF2-40B4-BE49-F238E27FC236}">
                <a16:creationId xmlns:a16="http://schemas.microsoft.com/office/drawing/2014/main" id="{935D0B16-5F9A-508D-4503-0FDB920063AD}"/>
              </a:ext>
            </a:extLst>
          </p:cNvPr>
          <p:cNvPicPr>
            <a:picLocks noChangeAspect="1"/>
          </p:cNvPicPr>
          <p:nvPr/>
        </p:nvPicPr>
        <p:blipFill>
          <a:blip r:embed="rId3"/>
          <a:stretch>
            <a:fillRect/>
          </a:stretch>
        </p:blipFill>
        <p:spPr>
          <a:xfrm>
            <a:off x="222977" y="1186391"/>
            <a:ext cx="1268204" cy="401517"/>
          </a:xfrm>
          <a:prstGeom prst="rect">
            <a:avLst/>
          </a:prstGeom>
        </p:spPr>
      </p:pic>
      <p:sp>
        <p:nvSpPr>
          <p:cNvPr id="16" name="CuadroTexto 15">
            <a:extLst>
              <a:ext uri="{FF2B5EF4-FFF2-40B4-BE49-F238E27FC236}">
                <a16:creationId xmlns:a16="http://schemas.microsoft.com/office/drawing/2014/main" id="{CF60222C-CE6A-A7EB-9DDC-4CFEED11F5B9}"/>
              </a:ext>
            </a:extLst>
          </p:cNvPr>
          <p:cNvSpPr txBox="1"/>
          <p:nvPr/>
        </p:nvSpPr>
        <p:spPr>
          <a:xfrm>
            <a:off x="2209216" y="2186689"/>
            <a:ext cx="7895718" cy="1615827"/>
          </a:xfrm>
          <a:prstGeom prst="rect">
            <a:avLst/>
          </a:prstGeom>
          <a:noFill/>
        </p:spPr>
        <p:txBody>
          <a:bodyPr wrap="square">
            <a:spAutoFit/>
          </a:bodyPr>
          <a:lstStyle/>
          <a:p>
            <a:pPr marL="0" marR="0">
              <a:spcBef>
                <a:spcPts val="900"/>
              </a:spcBef>
              <a:spcAft>
                <a:spcPts val="900"/>
              </a:spcAft>
            </a:pPr>
            <a:r>
              <a:rPr lang="es-ES" sz="1400" dirty="0"/>
              <a:t>El modo </a:t>
            </a:r>
            <a:r>
              <a:rPr lang="es-ES" sz="1400" b="1" dirty="0"/>
              <a:t>Half Duplex </a:t>
            </a:r>
            <a:r>
              <a:rPr lang="es-ES" sz="1400" dirty="0"/>
              <a:t>funcionaba en dispositivos antiguos como el </a:t>
            </a:r>
            <a:r>
              <a:rPr lang="es-ES" sz="1400" b="1" dirty="0"/>
              <a:t>“Hub” </a:t>
            </a:r>
            <a:r>
              <a:rPr lang="es-ES" sz="1400" dirty="0"/>
              <a:t>que repetía toda la información que pasaba por el hacia todos sus puertos, pero esto ocasionaba </a:t>
            </a:r>
            <a:r>
              <a:rPr lang="es-ES" sz="1400" b="1" dirty="0"/>
              <a:t>colisiones</a:t>
            </a:r>
            <a:r>
              <a:rPr lang="es-ES" sz="1400" dirty="0"/>
              <a:t> ya que si 2 computadoras transmitían al mismo tiempo los datos chocaban.</a:t>
            </a:r>
          </a:p>
          <a:p>
            <a:pPr>
              <a:spcBef>
                <a:spcPts val="900"/>
              </a:spcBef>
              <a:spcAft>
                <a:spcPts val="900"/>
              </a:spcAft>
            </a:pPr>
            <a:r>
              <a:rPr lang="es-ES" sz="1400" dirty="0"/>
              <a:t>El algoritmo </a:t>
            </a:r>
            <a:r>
              <a:rPr lang="es-ES" sz="1400" b="1" dirty="0"/>
              <a:t>CSMA/CD </a:t>
            </a:r>
            <a:r>
              <a:rPr lang="es-ES" sz="1400" dirty="0"/>
              <a:t>gestiona colisiones en redes half-duplex permitiendo que los nodos detecten transmisiones simultáneas, detengan el envío y esperen un tiempo aleatorio antes de reintentar, las colisiones pueden seguir ocurriendo, pero las detecta y permite normalizar el trafico de nuevo.</a:t>
            </a:r>
          </a:p>
        </p:txBody>
      </p:sp>
      <p:pic>
        <p:nvPicPr>
          <p:cNvPr id="18" name="Picture 10" descr="C:\Users\ecoffey\AppData\Local\Temp\Rar$DRa0.920\30034_Device_hub_default_256.png">
            <a:extLst>
              <a:ext uri="{FF2B5EF4-FFF2-40B4-BE49-F238E27FC236}">
                <a16:creationId xmlns:a16="http://schemas.microsoft.com/office/drawing/2014/main" id="{A9B3D429-630A-F268-F912-AF7C1C2601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07811" y="2078424"/>
            <a:ext cx="1050002" cy="1050002"/>
          </a:xfrm>
          <a:prstGeom prst="rect">
            <a:avLst/>
          </a:prstGeom>
          <a:noFill/>
          <a:extLst>
            <a:ext uri="{909E8E84-426E-40DD-AFC4-6F175D3DCCD1}">
              <a14:hiddenFill xmlns:a14="http://schemas.microsoft.com/office/drawing/2010/main">
                <a:solidFill>
                  <a:srgbClr val="FFFFFF"/>
                </a:solidFill>
              </a14:hiddenFill>
            </a:ext>
          </a:extLst>
        </p:spPr>
      </p:pic>
      <p:sp>
        <p:nvSpPr>
          <p:cNvPr id="19" name="CuadroTexto 18">
            <a:extLst>
              <a:ext uri="{FF2B5EF4-FFF2-40B4-BE49-F238E27FC236}">
                <a16:creationId xmlns:a16="http://schemas.microsoft.com/office/drawing/2014/main" id="{66744151-A3C9-D885-913F-54A4C0EDC472}"/>
              </a:ext>
            </a:extLst>
          </p:cNvPr>
          <p:cNvSpPr txBox="1"/>
          <p:nvPr/>
        </p:nvSpPr>
        <p:spPr>
          <a:xfrm>
            <a:off x="10862186" y="3017287"/>
            <a:ext cx="622286" cy="369332"/>
          </a:xfrm>
          <a:prstGeom prst="rect">
            <a:avLst/>
          </a:prstGeom>
          <a:noFill/>
        </p:spPr>
        <p:txBody>
          <a:bodyPr wrap="none" rtlCol="0">
            <a:spAutoFit/>
          </a:bodyPr>
          <a:lstStyle/>
          <a:p>
            <a:r>
              <a:rPr lang="es-ES" b="1" dirty="0"/>
              <a:t>Hub</a:t>
            </a:r>
          </a:p>
        </p:txBody>
      </p:sp>
      <p:sp>
        <p:nvSpPr>
          <p:cNvPr id="21" name="CuadroTexto 20">
            <a:extLst>
              <a:ext uri="{FF2B5EF4-FFF2-40B4-BE49-F238E27FC236}">
                <a16:creationId xmlns:a16="http://schemas.microsoft.com/office/drawing/2014/main" id="{BEF35A73-29D2-F387-EB25-9E42F32E2880}"/>
              </a:ext>
            </a:extLst>
          </p:cNvPr>
          <p:cNvSpPr txBox="1"/>
          <p:nvPr/>
        </p:nvSpPr>
        <p:spPr>
          <a:xfrm>
            <a:off x="2185459" y="3784430"/>
            <a:ext cx="8241069" cy="1400383"/>
          </a:xfrm>
          <a:prstGeom prst="rect">
            <a:avLst/>
          </a:prstGeom>
          <a:noFill/>
        </p:spPr>
        <p:txBody>
          <a:bodyPr wrap="square">
            <a:spAutoFit/>
          </a:bodyPr>
          <a:lstStyle/>
          <a:p>
            <a:pPr>
              <a:spcBef>
                <a:spcPts val="900"/>
              </a:spcBef>
              <a:spcAft>
                <a:spcPts val="900"/>
              </a:spcAft>
            </a:pPr>
            <a:r>
              <a:rPr lang="es-ES" sz="1400" dirty="0"/>
              <a:t>Hoy en día se utilizan Switches (conmutadores), tarjetas de red Gigabit, Wi-Fi moderno y Fibra Óptica que, al tener canales separados, las colisiones desaparecieron por completo, sin embargo, debemos conocer su funcionamiento para el CCNA.</a:t>
            </a:r>
          </a:p>
          <a:p>
            <a:pPr>
              <a:spcAft>
                <a:spcPts val="900"/>
              </a:spcAft>
            </a:pPr>
            <a:r>
              <a:rPr lang="es-ES" sz="1400" dirty="0"/>
              <a:t>💡Si ocurre un “</a:t>
            </a:r>
            <a:r>
              <a:rPr lang="es-ES" sz="1400" b="1" dirty="0"/>
              <a:t>Duplex Mismatch” </a:t>
            </a:r>
            <a:r>
              <a:rPr lang="es-ES" sz="1400" dirty="0"/>
              <a:t>se producirán errores y colisiones. Veremos mas adelante esto.</a:t>
            </a:r>
          </a:p>
          <a:p>
            <a:pPr>
              <a:spcAft>
                <a:spcPts val="900"/>
              </a:spcAft>
            </a:pPr>
            <a:r>
              <a:rPr lang="es-ES" sz="1400" b="1" dirty="0"/>
              <a:t>Ej: Una conexión con Pc1 modo Half Duplex y Pc2 modo Full Duplex</a:t>
            </a:r>
          </a:p>
        </p:txBody>
      </p:sp>
      <p:pic>
        <p:nvPicPr>
          <p:cNvPr id="24" name="Picture 10" descr="C:\Users\ecoffey\AppData\Local\Temp\Rar$DRa0.175\30088_Device_terminal_default_256.png">
            <a:extLst>
              <a:ext uri="{FF2B5EF4-FFF2-40B4-BE49-F238E27FC236}">
                <a16:creationId xmlns:a16="http://schemas.microsoft.com/office/drawing/2014/main" id="{02BEF765-B787-139D-F206-AD803984F3E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4637" y="5255083"/>
            <a:ext cx="608245" cy="608245"/>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0" descr="C:\Users\ecoffey\AppData\Local\Temp\Rar$DRa0.175\30088_Device_terminal_default_256.png">
            <a:extLst>
              <a:ext uri="{FF2B5EF4-FFF2-40B4-BE49-F238E27FC236}">
                <a16:creationId xmlns:a16="http://schemas.microsoft.com/office/drawing/2014/main" id="{EF0510BB-E72A-572C-0D33-71BCE450A1E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5738" y="5255083"/>
            <a:ext cx="608246" cy="608246"/>
          </a:xfrm>
          <a:prstGeom prst="rect">
            <a:avLst/>
          </a:prstGeom>
          <a:noFill/>
          <a:extLst>
            <a:ext uri="{909E8E84-426E-40DD-AFC4-6F175D3DCCD1}">
              <a14:hiddenFill xmlns:a14="http://schemas.microsoft.com/office/drawing/2010/main">
                <a:solidFill>
                  <a:srgbClr val="FFFFFF"/>
                </a:solidFill>
              </a14:hiddenFill>
            </a:ext>
          </a:extLst>
        </p:spPr>
      </p:pic>
      <p:sp>
        <p:nvSpPr>
          <p:cNvPr id="27" name="CuadroTexto 26">
            <a:extLst>
              <a:ext uri="{FF2B5EF4-FFF2-40B4-BE49-F238E27FC236}">
                <a16:creationId xmlns:a16="http://schemas.microsoft.com/office/drawing/2014/main" id="{81D4B54A-E5E5-D2A3-CBAA-9BA8B76092EA}"/>
              </a:ext>
            </a:extLst>
          </p:cNvPr>
          <p:cNvSpPr txBox="1"/>
          <p:nvPr/>
        </p:nvSpPr>
        <p:spPr>
          <a:xfrm>
            <a:off x="912020" y="5619308"/>
            <a:ext cx="617477" cy="338554"/>
          </a:xfrm>
          <a:prstGeom prst="rect">
            <a:avLst/>
          </a:prstGeom>
          <a:noFill/>
        </p:spPr>
        <p:txBody>
          <a:bodyPr wrap="square" rtlCol="0">
            <a:spAutoFit/>
          </a:bodyPr>
          <a:lstStyle/>
          <a:p>
            <a:r>
              <a:rPr lang="es-ES" sz="1600" dirty="0"/>
              <a:t>G0/1</a:t>
            </a:r>
            <a:endParaRPr lang="es-ES" dirty="0"/>
          </a:p>
        </p:txBody>
      </p:sp>
      <p:sp>
        <p:nvSpPr>
          <p:cNvPr id="28" name="CuadroTexto 27">
            <a:extLst>
              <a:ext uri="{FF2B5EF4-FFF2-40B4-BE49-F238E27FC236}">
                <a16:creationId xmlns:a16="http://schemas.microsoft.com/office/drawing/2014/main" id="{6780D6E2-067E-0A9D-7299-A8D17B74B8C3}"/>
              </a:ext>
            </a:extLst>
          </p:cNvPr>
          <p:cNvSpPr txBox="1"/>
          <p:nvPr/>
        </p:nvSpPr>
        <p:spPr>
          <a:xfrm>
            <a:off x="2910896" y="5621532"/>
            <a:ext cx="617477" cy="338554"/>
          </a:xfrm>
          <a:prstGeom prst="rect">
            <a:avLst/>
          </a:prstGeom>
          <a:noFill/>
        </p:spPr>
        <p:txBody>
          <a:bodyPr wrap="none" rtlCol="0">
            <a:spAutoFit/>
          </a:bodyPr>
          <a:lstStyle/>
          <a:p>
            <a:r>
              <a:rPr lang="es-ES" sz="1600" dirty="0"/>
              <a:t>G0/1</a:t>
            </a:r>
            <a:endParaRPr lang="es-ES" dirty="0"/>
          </a:p>
        </p:txBody>
      </p:sp>
      <p:sp>
        <p:nvSpPr>
          <p:cNvPr id="29" name="CuadroTexto 28">
            <a:extLst>
              <a:ext uri="{FF2B5EF4-FFF2-40B4-BE49-F238E27FC236}">
                <a16:creationId xmlns:a16="http://schemas.microsoft.com/office/drawing/2014/main" id="{323474EA-C45D-70C2-6C06-F9F6917C3FA5}"/>
              </a:ext>
            </a:extLst>
          </p:cNvPr>
          <p:cNvSpPr txBox="1"/>
          <p:nvPr/>
        </p:nvSpPr>
        <p:spPr>
          <a:xfrm>
            <a:off x="344430" y="5805588"/>
            <a:ext cx="562975" cy="369332"/>
          </a:xfrm>
          <a:prstGeom prst="rect">
            <a:avLst/>
          </a:prstGeom>
          <a:noFill/>
        </p:spPr>
        <p:txBody>
          <a:bodyPr wrap="none" rtlCol="0">
            <a:spAutoFit/>
          </a:bodyPr>
          <a:lstStyle/>
          <a:p>
            <a:r>
              <a:rPr lang="es-ES" dirty="0"/>
              <a:t>Pc1</a:t>
            </a:r>
          </a:p>
        </p:txBody>
      </p:sp>
      <p:sp>
        <p:nvSpPr>
          <p:cNvPr id="30" name="CuadroTexto 29">
            <a:extLst>
              <a:ext uri="{FF2B5EF4-FFF2-40B4-BE49-F238E27FC236}">
                <a16:creationId xmlns:a16="http://schemas.microsoft.com/office/drawing/2014/main" id="{58450C36-F3AB-6D3F-33AD-766F524230F3}"/>
              </a:ext>
            </a:extLst>
          </p:cNvPr>
          <p:cNvSpPr txBox="1"/>
          <p:nvPr/>
        </p:nvSpPr>
        <p:spPr>
          <a:xfrm>
            <a:off x="3519378" y="5805588"/>
            <a:ext cx="562975" cy="369332"/>
          </a:xfrm>
          <a:prstGeom prst="rect">
            <a:avLst/>
          </a:prstGeom>
          <a:noFill/>
        </p:spPr>
        <p:txBody>
          <a:bodyPr wrap="none" rtlCol="0">
            <a:spAutoFit/>
          </a:bodyPr>
          <a:lstStyle/>
          <a:p>
            <a:r>
              <a:rPr lang="es-ES" dirty="0"/>
              <a:t>Pc2</a:t>
            </a:r>
          </a:p>
        </p:txBody>
      </p:sp>
      <p:cxnSp>
        <p:nvCxnSpPr>
          <p:cNvPr id="32" name="Conector recto 31">
            <a:extLst>
              <a:ext uri="{FF2B5EF4-FFF2-40B4-BE49-F238E27FC236}">
                <a16:creationId xmlns:a16="http://schemas.microsoft.com/office/drawing/2014/main" id="{75063F95-97ED-5180-9A37-BA1854FA0A29}"/>
              </a:ext>
            </a:extLst>
          </p:cNvPr>
          <p:cNvCxnSpPr>
            <a:cxnSpLocks/>
            <a:stCxn id="24" idx="3"/>
            <a:endCxn id="25" idx="1"/>
          </p:cNvCxnSpPr>
          <p:nvPr/>
        </p:nvCxnSpPr>
        <p:spPr>
          <a:xfrm>
            <a:off x="952882" y="5559206"/>
            <a:ext cx="2552856" cy="0"/>
          </a:xfrm>
          <a:prstGeom prst="line">
            <a:avLst/>
          </a:prstGeom>
        </p:spPr>
        <p:style>
          <a:lnRef idx="2">
            <a:schemeClr val="accent1"/>
          </a:lnRef>
          <a:fillRef idx="0">
            <a:schemeClr val="accent1"/>
          </a:fillRef>
          <a:effectRef idx="1">
            <a:schemeClr val="accent1"/>
          </a:effectRef>
          <a:fontRef idx="minor">
            <a:schemeClr val="tx1"/>
          </a:fontRef>
        </p:style>
      </p:cxnSp>
      <p:pic>
        <p:nvPicPr>
          <p:cNvPr id="36" name="Picture 10" descr="C:\Users\ecoffey\AppData\Local\Temp\Rar$DRa0.175\30088_Device_terminal_default_256.png">
            <a:extLst>
              <a:ext uri="{FF2B5EF4-FFF2-40B4-BE49-F238E27FC236}">
                <a16:creationId xmlns:a16="http://schemas.microsoft.com/office/drawing/2014/main" id="{B92D6F6A-53C5-699C-CCF9-9EA1A76CFE2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90278" y="5246330"/>
            <a:ext cx="608245" cy="608245"/>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10" descr="C:\Users\ecoffey\AppData\Local\Temp\Rar$DRa0.175\30088_Device_terminal_default_256.png">
            <a:extLst>
              <a:ext uri="{FF2B5EF4-FFF2-40B4-BE49-F238E27FC236}">
                <a16:creationId xmlns:a16="http://schemas.microsoft.com/office/drawing/2014/main" id="{A5824CFC-2AC1-76C2-51C2-ECE87A0FDA8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75247" y="5255082"/>
            <a:ext cx="608246" cy="608246"/>
          </a:xfrm>
          <a:prstGeom prst="rect">
            <a:avLst/>
          </a:prstGeom>
          <a:noFill/>
          <a:extLst>
            <a:ext uri="{909E8E84-426E-40DD-AFC4-6F175D3DCCD1}">
              <a14:hiddenFill xmlns:a14="http://schemas.microsoft.com/office/drawing/2010/main">
                <a:solidFill>
                  <a:srgbClr val="FFFFFF"/>
                </a:solidFill>
              </a14:hiddenFill>
            </a:ext>
          </a:extLst>
        </p:spPr>
      </p:pic>
      <p:sp>
        <p:nvSpPr>
          <p:cNvPr id="38" name="CuadroTexto 37">
            <a:extLst>
              <a:ext uri="{FF2B5EF4-FFF2-40B4-BE49-F238E27FC236}">
                <a16:creationId xmlns:a16="http://schemas.microsoft.com/office/drawing/2014/main" id="{66348DDD-9F99-4CA9-0E75-19D359C3A679}"/>
              </a:ext>
            </a:extLst>
          </p:cNvPr>
          <p:cNvSpPr txBox="1"/>
          <p:nvPr/>
        </p:nvSpPr>
        <p:spPr>
          <a:xfrm>
            <a:off x="7757661" y="5610555"/>
            <a:ext cx="617477" cy="338554"/>
          </a:xfrm>
          <a:prstGeom prst="rect">
            <a:avLst/>
          </a:prstGeom>
          <a:noFill/>
        </p:spPr>
        <p:txBody>
          <a:bodyPr wrap="square" rtlCol="0">
            <a:spAutoFit/>
          </a:bodyPr>
          <a:lstStyle/>
          <a:p>
            <a:r>
              <a:rPr lang="es-ES" sz="1600" dirty="0"/>
              <a:t>G0/1</a:t>
            </a:r>
            <a:endParaRPr lang="es-ES" dirty="0"/>
          </a:p>
        </p:txBody>
      </p:sp>
      <p:sp>
        <p:nvSpPr>
          <p:cNvPr id="39" name="CuadroTexto 38">
            <a:extLst>
              <a:ext uri="{FF2B5EF4-FFF2-40B4-BE49-F238E27FC236}">
                <a16:creationId xmlns:a16="http://schemas.microsoft.com/office/drawing/2014/main" id="{C0E0DF4B-21A9-F894-AF17-A307F7F47C8E}"/>
              </a:ext>
            </a:extLst>
          </p:cNvPr>
          <p:cNvSpPr txBox="1"/>
          <p:nvPr/>
        </p:nvSpPr>
        <p:spPr>
          <a:xfrm>
            <a:off x="9756537" y="5612779"/>
            <a:ext cx="617477" cy="338554"/>
          </a:xfrm>
          <a:prstGeom prst="rect">
            <a:avLst/>
          </a:prstGeom>
          <a:noFill/>
        </p:spPr>
        <p:txBody>
          <a:bodyPr wrap="none" rtlCol="0">
            <a:spAutoFit/>
          </a:bodyPr>
          <a:lstStyle/>
          <a:p>
            <a:r>
              <a:rPr lang="es-ES" sz="1600" dirty="0"/>
              <a:t>G0/1</a:t>
            </a:r>
            <a:endParaRPr lang="es-ES" dirty="0"/>
          </a:p>
        </p:txBody>
      </p:sp>
      <p:sp>
        <p:nvSpPr>
          <p:cNvPr id="40" name="CuadroTexto 39">
            <a:extLst>
              <a:ext uri="{FF2B5EF4-FFF2-40B4-BE49-F238E27FC236}">
                <a16:creationId xmlns:a16="http://schemas.microsoft.com/office/drawing/2014/main" id="{BCF8C57C-942E-8A80-8140-0CC9A2CBA5D0}"/>
              </a:ext>
            </a:extLst>
          </p:cNvPr>
          <p:cNvSpPr txBox="1"/>
          <p:nvPr/>
        </p:nvSpPr>
        <p:spPr>
          <a:xfrm>
            <a:off x="7190071" y="5796835"/>
            <a:ext cx="562975" cy="369332"/>
          </a:xfrm>
          <a:prstGeom prst="rect">
            <a:avLst/>
          </a:prstGeom>
          <a:noFill/>
        </p:spPr>
        <p:txBody>
          <a:bodyPr wrap="none" rtlCol="0">
            <a:spAutoFit/>
          </a:bodyPr>
          <a:lstStyle/>
          <a:p>
            <a:r>
              <a:rPr lang="es-ES" dirty="0"/>
              <a:t>Pc1</a:t>
            </a:r>
          </a:p>
        </p:txBody>
      </p:sp>
      <p:sp>
        <p:nvSpPr>
          <p:cNvPr id="41" name="CuadroTexto 40">
            <a:extLst>
              <a:ext uri="{FF2B5EF4-FFF2-40B4-BE49-F238E27FC236}">
                <a16:creationId xmlns:a16="http://schemas.microsoft.com/office/drawing/2014/main" id="{3CD49AA1-19AB-530B-9746-2FABDB4C4403}"/>
              </a:ext>
            </a:extLst>
          </p:cNvPr>
          <p:cNvSpPr txBox="1"/>
          <p:nvPr/>
        </p:nvSpPr>
        <p:spPr>
          <a:xfrm>
            <a:off x="10365019" y="5796835"/>
            <a:ext cx="562975" cy="369332"/>
          </a:xfrm>
          <a:prstGeom prst="rect">
            <a:avLst/>
          </a:prstGeom>
          <a:noFill/>
        </p:spPr>
        <p:txBody>
          <a:bodyPr wrap="none" rtlCol="0">
            <a:spAutoFit/>
          </a:bodyPr>
          <a:lstStyle/>
          <a:p>
            <a:r>
              <a:rPr lang="es-ES" dirty="0"/>
              <a:t>Pc2</a:t>
            </a:r>
          </a:p>
        </p:txBody>
      </p:sp>
      <p:cxnSp>
        <p:nvCxnSpPr>
          <p:cNvPr id="42" name="Conector recto 41">
            <a:extLst>
              <a:ext uri="{FF2B5EF4-FFF2-40B4-BE49-F238E27FC236}">
                <a16:creationId xmlns:a16="http://schemas.microsoft.com/office/drawing/2014/main" id="{4408A079-1FB0-6453-9B8F-9792315BB6CD}"/>
              </a:ext>
            </a:extLst>
          </p:cNvPr>
          <p:cNvCxnSpPr>
            <a:cxnSpLocks/>
            <a:stCxn id="36" idx="3"/>
            <a:endCxn id="37" idx="1"/>
          </p:cNvCxnSpPr>
          <p:nvPr/>
        </p:nvCxnSpPr>
        <p:spPr>
          <a:xfrm>
            <a:off x="7798523" y="5550453"/>
            <a:ext cx="2476724" cy="8752"/>
          </a:xfrm>
          <a:prstGeom prst="line">
            <a:avLst/>
          </a:prstGeom>
        </p:spPr>
        <p:style>
          <a:lnRef idx="2">
            <a:schemeClr val="accent1"/>
          </a:lnRef>
          <a:fillRef idx="0">
            <a:schemeClr val="accent1"/>
          </a:fillRef>
          <a:effectRef idx="1">
            <a:schemeClr val="accent1"/>
          </a:effectRef>
          <a:fontRef idx="minor">
            <a:schemeClr val="tx1"/>
          </a:fontRef>
        </p:style>
      </p:cxnSp>
      <p:sp>
        <p:nvSpPr>
          <p:cNvPr id="44" name="CuadroTexto 43">
            <a:extLst>
              <a:ext uri="{FF2B5EF4-FFF2-40B4-BE49-F238E27FC236}">
                <a16:creationId xmlns:a16="http://schemas.microsoft.com/office/drawing/2014/main" id="{1CDC7ED5-F5E4-235D-BD73-4BD97E60DEB9}"/>
              </a:ext>
            </a:extLst>
          </p:cNvPr>
          <p:cNvSpPr txBox="1"/>
          <p:nvPr/>
        </p:nvSpPr>
        <p:spPr>
          <a:xfrm>
            <a:off x="164854" y="6167450"/>
            <a:ext cx="1178802" cy="307777"/>
          </a:xfrm>
          <a:prstGeom prst="rect">
            <a:avLst/>
          </a:prstGeom>
          <a:noFill/>
        </p:spPr>
        <p:txBody>
          <a:bodyPr wrap="square">
            <a:spAutoFit/>
          </a:bodyPr>
          <a:lstStyle/>
          <a:p>
            <a:r>
              <a:rPr lang="es-ES" sz="1400" b="1" dirty="0"/>
              <a:t>Half Duplex </a:t>
            </a:r>
            <a:endParaRPr lang="es-ES" dirty="0"/>
          </a:p>
        </p:txBody>
      </p:sp>
      <p:sp>
        <p:nvSpPr>
          <p:cNvPr id="47" name="CuadroTexto 46">
            <a:extLst>
              <a:ext uri="{FF2B5EF4-FFF2-40B4-BE49-F238E27FC236}">
                <a16:creationId xmlns:a16="http://schemas.microsoft.com/office/drawing/2014/main" id="{0AEF59C8-420D-250B-6C74-3FE70C692608}"/>
              </a:ext>
            </a:extLst>
          </p:cNvPr>
          <p:cNvSpPr txBox="1"/>
          <p:nvPr/>
        </p:nvSpPr>
        <p:spPr>
          <a:xfrm>
            <a:off x="10065275" y="6155141"/>
            <a:ext cx="1178802" cy="307777"/>
          </a:xfrm>
          <a:prstGeom prst="rect">
            <a:avLst/>
          </a:prstGeom>
          <a:noFill/>
        </p:spPr>
        <p:txBody>
          <a:bodyPr wrap="square">
            <a:spAutoFit/>
          </a:bodyPr>
          <a:lstStyle/>
          <a:p>
            <a:r>
              <a:rPr lang="es-ES" sz="1400" b="1" dirty="0"/>
              <a:t>Full Duplex </a:t>
            </a:r>
            <a:endParaRPr lang="es-ES" dirty="0"/>
          </a:p>
        </p:txBody>
      </p:sp>
      <p:cxnSp>
        <p:nvCxnSpPr>
          <p:cNvPr id="50" name="Conector recto de flecha 49">
            <a:extLst>
              <a:ext uri="{FF2B5EF4-FFF2-40B4-BE49-F238E27FC236}">
                <a16:creationId xmlns:a16="http://schemas.microsoft.com/office/drawing/2014/main" id="{A6084372-7861-FBF8-4093-9F29CB3B9B69}"/>
              </a:ext>
            </a:extLst>
          </p:cNvPr>
          <p:cNvCxnSpPr>
            <a:cxnSpLocks/>
          </p:cNvCxnSpPr>
          <p:nvPr/>
        </p:nvCxnSpPr>
        <p:spPr>
          <a:xfrm flipH="1">
            <a:off x="1220758" y="5255083"/>
            <a:ext cx="192940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52" name="Picture 10" descr="C:\Users\ecoffey\AppData\Local\Temp\Rar$DRa0.920\30034_Device_hub_default_256.png">
            <a:extLst>
              <a:ext uri="{FF2B5EF4-FFF2-40B4-BE49-F238E27FC236}">
                <a16:creationId xmlns:a16="http://schemas.microsoft.com/office/drawing/2014/main" id="{149EADAA-911D-F32B-C232-BD19B64D45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5601" y="5262471"/>
            <a:ext cx="766513" cy="766513"/>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10" descr="C:\Users\ecoffey\AppData\Local\Temp\Rar$DRa0.608\30080_Device_switch_default_256.png">
            <a:extLst>
              <a:ext uri="{FF2B5EF4-FFF2-40B4-BE49-F238E27FC236}">
                <a16:creationId xmlns:a16="http://schemas.microsoft.com/office/drawing/2014/main" id="{7801ED9E-F589-AB81-C85E-46F49E0825CF}"/>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27154" b="26465"/>
          <a:stretch/>
        </p:blipFill>
        <p:spPr bwMode="auto">
          <a:xfrm>
            <a:off x="8591377" y="5427419"/>
            <a:ext cx="979601" cy="454347"/>
          </a:xfrm>
          <a:prstGeom prst="rect">
            <a:avLst/>
          </a:prstGeom>
          <a:noFill/>
          <a:extLst>
            <a:ext uri="{909E8E84-426E-40DD-AFC4-6F175D3DCCD1}">
              <a14:hiddenFill xmlns:a14="http://schemas.microsoft.com/office/drawing/2010/main">
                <a:solidFill>
                  <a:srgbClr val="FFFFFF"/>
                </a:solidFill>
              </a14:hiddenFill>
            </a:ext>
          </a:extLst>
        </p:spPr>
      </p:pic>
      <p:cxnSp>
        <p:nvCxnSpPr>
          <p:cNvPr id="55" name="Conector recto de flecha 54">
            <a:extLst>
              <a:ext uri="{FF2B5EF4-FFF2-40B4-BE49-F238E27FC236}">
                <a16:creationId xmlns:a16="http://schemas.microsoft.com/office/drawing/2014/main" id="{073907EA-2A36-4710-7069-D6FD1EFC73DE}"/>
              </a:ext>
            </a:extLst>
          </p:cNvPr>
          <p:cNvCxnSpPr/>
          <p:nvPr/>
        </p:nvCxnSpPr>
        <p:spPr>
          <a:xfrm>
            <a:off x="8066399" y="5312687"/>
            <a:ext cx="199887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6" name="Conector recto de flecha 55">
            <a:extLst>
              <a:ext uri="{FF2B5EF4-FFF2-40B4-BE49-F238E27FC236}">
                <a16:creationId xmlns:a16="http://schemas.microsoft.com/office/drawing/2014/main" id="{8BF4E485-4A91-720E-EBD1-2BFAF13F4C95}"/>
              </a:ext>
            </a:extLst>
          </p:cNvPr>
          <p:cNvCxnSpPr>
            <a:cxnSpLocks/>
          </p:cNvCxnSpPr>
          <p:nvPr/>
        </p:nvCxnSpPr>
        <p:spPr>
          <a:xfrm flipH="1">
            <a:off x="8127919" y="5246330"/>
            <a:ext cx="181793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9" name="Bocadillo: rectángulo 58">
            <a:extLst>
              <a:ext uri="{FF2B5EF4-FFF2-40B4-BE49-F238E27FC236}">
                <a16:creationId xmlns:a16="http://schemas.microsoft.com/office/drawing/2014/main" id="{BD31E168-B857-FEB8-B46E-3BAF8B0274A9}"/>
              </a:ext>
            </a:extLst>
          </p:cNvPr>
          <p:cNvSpPr/>
          <p:nvPr/>
        </p:nvSpPr>
        <p:spPr>
          <a:xfrm>
            <a:off x="524072" y="2879478"/>
            <a:ext cx="1393372" cy="2084661"/>
          </a:xfrm>
          <a:prstGeom prst="wedgeRectCallout">
            <a:avLst>
              <a:gd name="adj1" fmla="val -32291"/>
              <a:gd name="adj2" fmla="val 6517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dirty="0">
                <a:solidFill>
                  <a:schemeClr val="tx1"/>
                </a:solidFill>
              </a:rPr>
              <a:t>Estoy recibiendo datos asi que esperare para poder transmitir yo</a:t>
            </a:r>
          </a:p>
          <a:p>
            <a:pPr algn="ctr"/>
            <a:endParaRPr lang="es-ES" sz="1100" dirty="0">
              <a:solidFill>
                <a:schemeClr val="tx1"/>
              </a:solidFill>
            </a:endParaRPr>
          </a:p>
          <a:p>
            <a:pPr algn="ctr"/>
            <a:r>
              <a:rPr lang="es-ES" sz="1100" b="1" dirty="0">
                <a:solidFill>
                  <a:schemeClr val="tx1"/>
                </a:solidFill>
              </a:rPr>
              <a:t>CSMA/CD: </a:t>
            </a:r>
            <a:r>
              <a:rPr lang="es-ES" sz="1100" dirty="0">
                <a:solidFill>
                  <a:schemeClr val="tx1"/>
                </a:solidFill>
              </a:rPr>
              <a:t>Estoy escuchando activamente mientras recibo los datos. Esperare hasta que pueda responder</a:t>
            </a:r>
          </a:p>
        </p:txBody>
      </p:sp>
      <p:sp>
        <p:nvSpPr>
          <p:cNvPr id="61" name="Bocadillo: rectángulo 60">
            <a:extLst>
              <a:ext uri="{FF2B5EF4-FFF2-40B4-BE49-F238E27FC236}">
                <a16:creationId xmlns:a16="http://schemas.microsoft.com/office/drawing/2014/main" id="{1B8CA335-E835-6C70-A514-A66ECDA606CE}"/>
              </a:ext>
            </a:extLst>
          </p:cNvPr>
          <p:cNvSpPr/>
          <p:nvPr/>
        </p:nvSpPr>
        <p:spPr>
          <a:xfrm>
            <a:off x="10798628" y="4218094"/>
            <a:ext cx="1240972" cy="854649"/>
          </a:xfrm>
          <a:prstGeom prst="wedgeRectCallout">
            <a:avLst>
              <a:gd name="adj1" fmla="val -85372"/>
              <a:gd name="adj2" fmla="val 5267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050" b="1" dirty="0">
                <a:solidFill>
                  <a:schemeClr val="tx1"/>
                </a:solidFill>
              </a:rPr>
              <a:t>CSMA/CD </a:t>
            </a:r>
            <a:r>
              <a:rPr lang="es-ES" sz="1050" dirty="0">
                <a:solidFill>
                  <a:schemeClr val="tx1"/>
                </a:solidFill>
              </a:rPr>
              <a:t>está Inactivo</a:t>
            </a:r>
          </a:p>
          <a:p>
            <a:pPr algn="ctr"/>
            <a:r>
              <a:rPr lang="es-ES" sz="1050" dirty="0">
                <a:solidFill>
                  <a:schemeClr val="tx1"/>
                </a:solidFill>
              </a:rPr>
              <a:t>Puedo enviar y recibir datos</a:t>
            </a:r>
          </a:p>
        </p:txBody>
      </p:sp>
      <p:sp>
        <p:nvSpPr>
          <p:cNvPr id="64" name="CuadroTexto 63">
            <a:extLst>
              <a:ext uri="{FF2B5EF4-FFF2-40B4-BE49-F238E27FC236}">
                <a16:creationId xmlns:a16="http://schemas.microsoft.com/office/drawing/2014/main" id="{D2317721-6E54-DCCF-958F-D3A84FC6F840}"/>
              </a:ext>
            </a:extLst>
          </p:cNvPr>
          <p:cNvSpPr txBox="1"/>
          <p:nvPr/>
        </p:nvSpPr>
        <p:spPr>
          <a:xfrm>
            <a:off x="3198947" y="6161081"/>
            <a:ext cx="1178802" cy="307777"/>
          </a:xfrm>
          <a:prstGeom prst="rect">
            <a:avLst/>
          </a:prstGeom>
          <a:noFill/>
        </p:spPr>
        <p:txBody>
          <a:bodyPr wrap="square">
            <a:spAutoFit/>
          </a:bodyPr>
          <a:lstStyle/>
          <a:p>
            <a:r>
              <a:rPr lang="es-ES" sz="1400" b="1" dirty="0"/>
              <a:t>Half Duplex </a:t>
            </a:r>
            <a:endParaRPr lang="es-ES" dirty="0"/>
          </a:p>
        </p:txBody>
      </p:sp>
      <p:sp>
        <p:nvSpPr>
          <p:cNvPr id="66" name="CuadroTexto 65">
            <a:extLst>
              <a:ext uri="{FF2B5EF4-FFF2-40B4-BE49-F238E27FC236}">
                <a16:creationId xmlns:a16="http://schemas.microsoft.com/office/drawing/2014/main" id="{3E867B22-1FB1-C831-792C-E1AFCAF7884F}"/>
              </a:ext>
            </a:extLst>
          </p:cNvPr>
          <p:cNvSpPr txBox="1"/>
          <p:nvPr/>
        </p:nvSpPr>
        <p:spPr>
          <a:xfrm>
            <a:off x="7011029" y="6166167"/>
            <a:ext cx="1102018" cy="307777"/>
          </a:xfrm>
          <a:prstGeom prst="rect">
            <a:avLst/>
          </a:prstGeom>
          <a:noFill/>
        </p:spPr>
        <p:txBody>
          <a:bodyPr wrap="square">
            <a:spAutoFit/>
          </a:bodyPr>
          <a:lstStyle/>
          <a:p>
            <a:r>
              <a:rPr lang="es-ES" sz="1400" b="1" dirty="0"/>
              <a:t>Full Duplex </a:t>
            </a:r>
            <a:endParaRPr lang="es-ES" dirty="0"/>
          </a:p>
        </p:txBody>
      </p:sp>
    </p:spTree>
    <p:extLst>
      <p:ext uri="{BB962C8B-B14F-4D97-AF65-F5344CB8AC3E}">
        <p14:creationId xmlns:p14="http://schemas.microsoft.com/office/powerpoint/2010/main" val="29777843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52859221-649B-A152-8B44-19D2FAC22FB7}"/>
              </a:ext>
            </a:extLst>
          </p:cNvPr>
          <p:cNvSpPr txBox="1"/>
          <p:nvPr/>
        </p:nvSpPr>
        <p:spPr>
          <a:xfrm>
            <a:off x="-321133" y="0"/>
            <a:ext cx="3329579" cy="461665"/>
          </a:xfrm>
          <a:prstGeom prst="rect">
            <a:avLst/>
          </a:prstGeom>
          <a:noFill/>
        </p:spPr>
        <p:txBody>
          <a:bodyPr wrap="square">
            <a:spAutoFit/>
          </a:bodyPr>
          <a:lstStyle/>
          <a:p>
            <a:pPr algn="ctr"/>
            <a:r>
              <a:rPr lang="es-ES" sz="1200" dirty="0">
                <a:ln w="0"/>
                <a:effectLst>
                  <a:outerShdw blurRad="38100" dist="19050" dir="2700000" algn="tl" rotWithShape="0">
                    <a:schemeClr val="dk1">
                      <a:alpha val="40000"/>
                    </a:schemeClr>
                  </a:outerShdw>
                </a:effectLst>
              </a:rPr>
              <a:t>1. Introducción a las redes</a:t>
            </a:r>
          </a:p>
          <a:p>
            <a:pPr algn="ctr"/>
            <a:r>
              <a:rPr lang="es-ES" sz="1200" b="1" dirty="0"/>
              <a:t>WANs y Routing IP</a:t>
            </a:r>
          </a:p>
        </p:txBody>
      </p:sp>
      <p:pic>
        <p:nvPicPr>
          <p:cNvPr id="9" name="Imagen 8">
            <a:extLst>
              <a:ext uri="{FF2B5EF4-FFF2-40B4-BE49-F238E27FC236}">
                <a16:creationId xmlns:a16="http://schemas.microsoft.com/office/drawing/2014/main" id="{5DCC95FF-87AF-2A62-90AC-25489F671B7F}"/>
              </a:ext>
            </a:extLst>
          </p:cNvPr>
          <p:cNvPicPr>
            <a:picLocks noChangeAspect="1"/>
          </p:cNvPicPr>
          <p:nvPr/>
        </p:nvPicPr>
        <p:blipFill>
          <a:blip r:embed="rId2"/>
          <a:stretch>
            <a:fillRect/>
          </a:stretch>
        </p:blipFill>
        <p:spPr>
          <a:xfrm>
            <a:off x="8413957" y="138290"/>
            <a:ext cx="3568420" cy="2378946"/>
          </a:xfrm>
          <a:prstGeom prst="rect">
            <a:avLst/>
          </a:prstGeom>
        </p:spPr>
      </p:pic>
      <p:sp>
        <p:nvSpPr>
          <p:cNvPr id="11" name="CuadroTexto 10">
            <a:extLst>
              <a:ext uri="{FF2B5EF4-FFF2-40B4-BE49-F238E27FC236}">
                <a16:creationId xmlns:a16="http://schemas.microsoft.com/office/drawing/2014/main" id="{4D894476-C351-0AC2-78F6-9D0EC5880500}"/>
              </a:ext>
            </a:extLst>
          </p:cNvPr>
          <p:cNvSpPr txBox="1"/>
          <p:nvPr/>
        </p:nvSpPr>
        <p:spPr>
          <a:xfrm>
            <a:off x="3735575" y="138289"/>
            <a:ext cx="3951253" cy="461665"/>
          </a:xfrm>
          <a:prstGeom prst="rect">
            <a:avLst/>
          </a:prstGeom>
          <a:noFill/>
        </p:spPr>
        <p:txBody>
          <a:bodyPr wrap="square">
            <a:spAutoFit/>
          </a:bodyPr>
          <a:lstStyle/>
          <a:p>
            <a:pPr algn="ctr"/>
            <a:r>
              <a:rPr lang="es-ES" sz="2400" b="1" dirty="0"/>
              <a:t>Red WAN</a:t>
            </a:r>
          </a:p>
        </p:txBody>
      </p:sp>
      <p:sp>
        <p:nvSpPr>
          <p:cNvPr id="35" name="CuadroTexto 34">
            <a:extLst>
              <a:ext uri="{FF2B5EF4-FFF2-40B4-BE49-F238E27FC236}">
                <a16:creationId xmlns:a16="http://schemas.microsoft.com/office/drawing/2014/main" id="{D64E4B83-AD2E-423A-5FB1-12DECDF4EC7B}"/>
              </a:ext>
            </a:extLst>
          </p:cNvPr>
          <p:cNvSpPr txBox="1"/>
          <p:nvPr/>
        </p:nvSpPr>
        <p:spPr>
          <a:xfrm>
            <a:off x="260010" y="723534"/>
            <a:ext cx="7781125" cy="738664"/>
          </a:xfrm>
          <a:prstGeom prst="rect">
            <a:avLst/>
          </a:prstGeom>
          <a:noFill/>
        </p:spPr>
        <p:txBody>
          <a:bodyPr wrap="square">
            <a:spAutoFit/>
          </a:bodyPr>
          <a:lstStyle/>
          <a:p>
            <a:r>
              <a:rPr lang="es-ES" sz="1400" dirty="0">
                <a:latin typeface="Google Sans"/>
              </a:rPr>
              <a:t>Usuarios en una LAN se comunican entre si en un departamento, oficina o piso, pero tambien acceden a internet o a otras redes para consultar paginas web, servicios en la nube o comunicarse con otros departamentos o sucursales en otra ubicación que no es local.</a:t>
            </a:r>
          </a:p>
        </p:txBody>
      </p:sp>
      <p:sp>
        <p:nvSpPr>
          <p:cNvPr id="37" name="CuadroTexto 36">
            <a:extLst>
              <a:ext uri="{FF2B5EF4-FFF2-40B4-BE49-F238E27FC236}">
                <a16:creationId xmlns:a16="http://schemas.microsoft.com/office/drawing/2014/main" id="{49D68CC6-7A1D-2D0A-3FB7-64802FB718F9}"/>
              </a:ext>
            </a:extLst>
          </p:cNvPr>
          <p:cNvSpPr txBox="1"/>
          <p:nvPr/>
        </p:nvSpPr>
        <p:spPr>
          <a:xfrm>
            <a:off x="209623" y="1585778"/>
            <a:ext cx="6257706" cy="307777"/>
          </a:xfrm>
          <a:prstGeom prst="rect">
            <a:avLst/>
          </a:prstGeom>
          <a:noFill/>
        </p:spPr>
        <p:txBody>
          <a:bodyPr wrap="square">
            <a:spAutoFit/>
          </a:bodyPr>
          <a:lstStyle/>
          <a:p>
            <a:r>
              <a:rPr lang="es-ES" sz="1400" dirty="0">
                <a:latin typeface="Google Sans"/>
              </a:rPr>
              <a:t>💡El Router es el dispositivo que logra esta comunicación a otras redes.</a:t>
            </a:r>
          </a:p>
        </p:txBody>
      </p:sp>
      <p:pic>
        <p:nvPicPr>
          <p:cNvPr id="39" name="Picture 10">
            <a:extLst>
              <a:ext uri="{FF2B5EF4-FFF2-40B4-BE49-F238E27FC236}">
                <a16:creationId xmlns:a16="http://schemas.microsoft.com/office/drawing/2014/main" id="{94C23973-3C4F-9672-F88F-D316F60931E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171" t="28931" r="8368" b="21666"/>
          <a:stretch/>
        </p:blipFill>
        <p:spPr bwMode="auto">
          <a:xfrm>
            <a:off x="5749650" y="1462198"/>
            <a:ext cx="717679" cy="424822"/>
          </a:xfrm>
          <a:prstGeom prst="rect">
            <a:avLst/>
          </a:prstGeom>
          <a:noFill/>
          <a:extLst>
            <a:ext uri="{909E8E84-426E-40DD-AFC4-6F175D3DCCD1}">
              <a14:hiddenFill xmlns:a14="http://schemas.microsoft.com/office/drawing/2010/main">
                <a:solidFill>
                  <a:srgbClr val="FFFFFF"/>
                </a:solidFill>
              </a14:hiddenFill>
            </a:ext>
          </a:extLst>
        </p:spPr>
      </p:pic>
      <p:sp>
        <p:nvSpPr>
          <p:cNvPr id="2" name="CuadroTexto 1">
            <a:extLst>
              <a:ext uri="{FF2B5EF4-FFF2-40B4-BE49-F238E27FC236}">
                <a16:creationId xmlns:a16="http://schemas.microsoft.com/office/drawing/2014/main" id="{921043CC-5E36-3442-67D9-CBCC2CBC2443}"/>
              </a:ext>
            </a:extLst>
          </p:cNvPr>
          <p:cNvSpPr txBox="1"/>
          <p:nvPr/>
        </p:nvSpPr>
        <p:spPr>
          <a:xfrm>
            <a:off x="260010" y="2117596"/>
            <a:ext cx="8786545" cy="3170099"/>
          </a:xfrm>
          <a:prstGeom prst="rect">
            <a:avLst/>
          </a:prstGeom>
          <a:noFill/>
        </p:spPr>
        <p:txBody>
          <a:bodyPr wrap="square" rtlCol="0">
            <a:spAutoFit/>
          </a:bodyPr>
          <a:lstStyle/>
          <a:p>
            <a:r>
              <a:rPr lang="es-ES" sz="1400" dirty="0">
                <a:latin typeface="Google Sans"/>
              </a:rPr>
              <a:t>En una </a:t>
            </a:r>
            <a:r>
              <a:rPr lang="es-ES" sz="1400" b="1" dirty="0">
                <a:latin typeface="Google Sans"/>
              </a:rPr>
              <a:t>LAN/SOHO : </a:t>
            </a:r>
            <a:r>
              <a:rPr lang="es-ES" sz="1400" dirty="0">
                <a:latin typeface="Google Sans"/>
              </a:rPr>
              <a:t>El propietario de la empresa o tú en tu casa controláis el enrutador local, los switches, los puntos de acceso Wi-Fi y los cables Ethernet. Tú decides la configuración.</a:t>
            </a:r>
          </a:p>
          <a:p>
            <a:endParaRPr lang="es-ES" sz="1400" dirty="0">
              <a:latin typeface="Google Sans"/>
            </a:endParaRPr>
          </a:p>
          <a:p>
            <a:r>
              <a:rPr lang="es-ES" sz="1400" dirty="0">
                <a:latin typeface="Google Sans"/>
              </a:rPr>
              <a:t>La </a:t>
            </a:r>
            <a:r>
              <a:rPr lang="es-ES" b="1" dirty="0">
                <a:latin typeface="Google Sans"/>
              </a:rPr>
              <a:t>WAN</a:t>
            </a:r>
            <a:r>
              <a:rPr lang="es-ES" sz="1400" dirty="0">
                <a:latin typeface="Google Sans"/>
              </a:rPr>
              <a:t> (Internet o enlaces dedicados): Al cruzar la frontera de tu enrutador hacia el exterior (puerto WAN), entras en la infraestructura del fabricante de telecomunicaciones o </a:t>
            </a:r>
            <a:r>
              <a:rPr lang="es-ES" sz="1400" b="1" dirty="0">
                <a:latin typeface="Google Sans"/>
              </a:rPr>
              <a:t>ISP</a:t>
            </a:r>
            <a:r>
              <a:rPr lang="es-ES" sz="1400" dirty="0">
                <a:latin typeface="Google Sans"/>
              </a:rPr>
              <a:t>. Ellos poseen y gestionan el cableado urbano, la fibra submarina, las antenas y los grandes enrutadores interconectados que transportan tus datos a largas distancias</a:t>
            </a:r>
          </a:p>
          <a:p>
            <a:endParaRPr lang="es-ES" sz="1400" dirty="0">
              <a:latin typeface="Google Sans"/>
            </a:endParaRPr>
          </a:p>
          <a:p>
            <a:r>
              <a:rPr lang="es-ES" sz="1400" dirty="0">
                <a:latin typeface="Google Sans"/>
              </a:rPr>
              <a:t>💡</a:t>
            </a:r>
            <a:r>
              <a:rPr lang="es-ES" sz="1400" b="1" dirty="0">
                <a:latin typeface="Google Sans"/>
              </a:rPr>
              <a:t>ISP: Internet Service Provider ( Proveedor de servicios de internet ) : </a:t>
            </a:r>
            <a:r>
              <a:rPr lang="es-ES" sz="1400" dirty="0"/>
              <a:t>Es la empresa comercial que te cobra una cuota para darte acceso a Internet. Ejemplos muy conocidos en España son Movistar, Vodafone, Orange, Digi o MásOrange, y a nivel global compañías como Comcast, AT&amp;T o Verizon.</a:t>
            </a:r>
          </a:p>
          <a:p>
            <a:endParaRPr lang="es-ES" sz="1400" dirty="0"/>
          </a:p>
          <a:p>
            <a:r>
              <a:rPr lang="es-ES" sz="1400" dirty="0"/>
              <a:t>💡 Cuando una empresa se comunica con sus sucursales alrededor del mundo o de un país, esos datos viajan a través de la infraestructura de transporte que provee un </a:t>
            </a:r>
            <a:r>
              <a:rPr lang="es-ES" sz="1400" b="1" dirty="0"/>
              <a:t>ISP</a:t>
            </a:r>
            <a:r>
              <a:rPr lang="es-ES" sz="1400" dirty="0"/>
              <a:t>. Ocurre exactamente igual cuando se visitan páginas web, se descargan archivos o se consultan recursos en los servidores de internet.</a:t>
            </a:r>
          </a:p>
        </p:txBody>
      </p:sp>
      <p:sp>
        <p:nvSpPr>
          <p:cNvPr id="4" name="CuadroTexto 3">
            <a:extLst>
              <a:ext uri="{FF2B5EF4-FFF2-40B4-BE49-F238E27FC236}">
                <a16:creationId xmlns:a16="http://schemas.microsoft.com/office/drawing/2014/main" id="{F04874DB-9506-BB0C-D44F-B70A88F7AA17}"/>
              </a:ext>
            </a:extLst>
          </p:cNvPr>
          <p:cNvSpPr txBox="1"/>
          <p:nvPr/>
        </p:nvSpPr>
        <p:spPr>
          <a:xfrm>
            <a:off x="73290" y="5395802"/>
            <a:ext cx="10920449" cy="2554545"/>
          </a:xfrm>
          <a:prstGeom prst="rect">
            <a:avLst/>
          </a:prstGeom>
          <a:noFill/>
        </p:spPr>
        <p:txBody>
          <a:bodyPr wrap="square">
            <a:spAutoFit/>
          </a:bodyPr>
          <a:lstStyle/>
          <a:p>
            <a:r>
              <a:rPr lang="es-ES" sz="1400" dirty="0"/>
              <a:t>Este tipo de comunicación entre diferentes redes y a largas distancias se realiza a través de las redes WAN (Wide Area Network):</a:t>
            </a:r>
            <a:endParaRPr lang="es-ES" sz="1400" dirty="0">
              <a:latin typeface="Google Sans"/>
            </a:endParaRPr>
          </a:p>
          <a:p>
            <a:r>
              <a:rPr lang="es-ES" sz="1400" b="1" dirty="0">
                <a:latin typeface="Google Sans"/>
              </a:rPr>
              <a:t>                  </a:t>
            </a:r>
          </a:p>
          <a:p>
            <a:pPr marL="285750" indent="-285750">
              <a:buFont typeface="Wingdings" panose="05000000000000000000" pitchFamily="2" charset="2"/>
              <a:buChar char="§"/>
            </a:pPr>
            <a:r>
              <a:rPr lang="es-ES" sz="1400" b="1" dirty="0">
                <a:latin typeface="Google Sans"/>
              </a:rPr>
              <a:t>   </a:t>
            </a:r>
            <a:r>
              <a:rPr lang="es-ES" sz="1600" b="1" u="sng" dirty="0">
                <a:latin typeface="Google Sans"/>
              </a:rPr>
              <a:t>Redes WAN tradicional (Antigua, Conexión Serial)</a:t>
            </a:r>
          </a:p>
          <a:p>
            <a:pPr marL="285750" indent="-285750">
              <a:buFont typeface="Wingdings" panose="05000000000000000000" pitchFamily="2" charset="2"/>
              <a:buChar char="§"/>
            </a:pPr>
            <a:endParaRPr lang="es-ES" sz="1600" b="1" u="sng" dirty="0">
              <a:latin typeface="Google Sans"/>
            </a:endParaRPr>
          </a:p>
          <a:p>
            <a:pPr marL="285750" indent="-285750">
              <a:buFont typeface="Wingdings" panose="05000000000000000000" pitchFamily="2" charset="2"/>
              <a:buChar char="§"/>
            </a:pPr>
            <a:r>
              <a:rPr lang="es-ES" sz="1600" b="1" dirty="0">
                <a:latin typeface="Google Sans"/>
              </a:rPr>
              <a:t>                 </a:t>
            </a:r>
            <a:r>
              <a:rPr lang="es-ES" sz="1600" b="1" u="sng" dirty="0">
                <a:latin typeface="Google Sans"/>
              </a:rPr>
              <a:t>Redes WAN Ethernet (actual)</a:t>
            </a:r>
          </a:p>
          <a:p>
            <a:endParaRPr lang="es-ES" sz="1400" dirty="0">
              <a:latin typeface="Google Sans"/>
            </a:endParaRPr>
          </a:p>
          <a:p>
            <a:endParaRPr lang="es-ES" sz="1400" b="1" u="sng" dirty="0">
              <a:latin typeface="Google Sans"/>
            </a:endParaRPr>
          </a:p>
          <a:p>
            <a:endParaRPr lang="es-ES" sz="1400" b="1" u="sng" dirty="0">
              <a:latin typeface="Google Sans"/>
            </a:endParaRPr>
          </a:p>
          <a:p>
            <a:endParaRPr lang="es-ES" sz="1400" dirty="0"/>
          </a:p>
          <a:p>
            <a:endParaRPr lang="es-ES" sz="1400" dirty="0"/>
          </a:p>
          <a:p>
            <a:endParaRPr lang="es-ES" sz="1400" b="1" dirty="0">
              <a:latin typeface="Google Sans"/>
            </a:endParaRPr>
          </a:p>
        </p:txBody>
      </p:sp>
      <p:pic>
        <p:nvPicPr>
          <p:cNvPr id="6" name="Imagen 5">
            <a:extLst>
              <a:ext uri="{FF2B5EF4-FFF2-40B4-BE49-F238E27FC236}">
                <a16:creationId xmlns:a16="http://schemas.microsoft.com/office/drawing/2014/main" id="{7E8C902C-853E-BC11-A78E-B8D0DCEE9E7C}"/>
              </a:ext>
            </a:extLst>
          </p:cNvPr>
          <p:cNvPicPr>
            <a:picLocks noChangeAspect="1"/>
          </p:cNvPicPr>
          <p:nvPr/>
        </p:nvPicPr>
        <p:blipFill>
          <a:blip r:embed="rId4"/>
          <a:stretch>
            <a:fillRect/>
          </a:stretch>
        </p:blipFill>
        <p:spPr>
          <a:xfrm>
            <a:off x="4884329" y="5800773"/>
            <a:ext cx="649185" cy="333693"/>
          </a:xfrm>
          <a:prstGeom prst="rect">
            <a:avLst/>
          </a:prstGeom>
        </p:spPr>
      </p:pic>
      <p:pic>
        <p:nvPicPr>
          <p:cNvPr id="10" name="Imagen 9">
            <a:extLst>
              <a:ext uri="{FF2B5EF4-FFF2-40B4-BE49-F238E27FC236}">
                <a16:creationId xmlns:a16="http://schemas.microsoft.com/office/drawing/2014/main" id="{EDABA4C8-2E14-8E0D-2065-8A0F82F4B27A}"/>
              </a:ext>
            </a:extLst>
          </p:cNvPr>
          <p:cNvPicPr>
            <a:picLocks noChangeAspect="1"/>
          </p:cNvPicPr>
          <p:nvPr/>
        </p:nvPicPr>
        <p:blipFill>
          <a:blip r:embed="rId5"/>
          <a:stretch>
            <a:fillRect/>
          </a:stretch>
        </p:blipFill>
        <p:spPr>
          <a:xfrm>
            <a:off x="3946038" y="6337043"/>
            <a:ext cx="530866" cy="490649"/>
          </a:xfrm>
          <a:prstGeom prst="rect">
            <a:avLst/>
          </a:prstGeom>
        </p:spPr>
      </p:pic>
      <p:pic>
        <p:nvPicPr>
          <p:cNvPr id="13" name="Imagen 12">
            <a:extLst>
              <a:ext uri="{FF2B5EF4-FFF2-40B4-BE49-F238E27FC236}">
                <a16:creationId xmlns:a16="http://schemas.microsoft.com/office/drawing/2014/main" id="{8AA8BE05-3D9A-35FF-861E-B3689C41BCE7}"/>
              </a:ext>
            </a:extLst>
          </p:cNvPr>
          <p:cNvPicPr>
            <a:picLocks noChangeAspect="1"/>
          </p:cNvPicPr>
          <p:nvPr/>
        </p:nvPicPr>
        <p:blipFill>
          <a:blip r:embed="rId6"/>
          <a:stretch>
            <a:fillRect/>
          </a:stretch>
        </p:blipFill>
        <p:spPr>
          <a:xfrm>
            <a:off x="5749650" y="5722235"/>
            <a:ext cx="547727" cy="441715"/>
          </a:xfrm>
          <a:prstGeom prst="rect">
            <a:avLst/>
          </a:prstGeom>
        </p:spPr>
      </p:pic>
      <p:pic>
        <p:nvPicPr>
          <p:cNvPr id="15" name="Imagen 14">
            <a:extLst>
              <a:ext uri="{FF2B5EF4-FFF2-40B4-BE49-F238E27FC236}">
                <a16:creationId xmlns:a16="http://schemas.microsoft.com/office/drawing/2014/main" id="{0D76AFC7-DFAF-867D-0724-F5B361BE273F}"/>
              </a:ext>
            </a:extLst>
          </p:cNvPr>
          <p:cNvPicPr>
            <a:picLocks noChangeAspect="1"/>
          </p:cNvPicPr>
          <p:nvPr/>
        </p:nvPicPr>
        <p:blipFill>
          <a:blip r:embed="rId7"/>
          <a:stretch>
            <a:fillRect/>
          </a:stretch>
        </p:blipFill>
        <p:spPr>
          <a:xfrm>
            <a:off x="4759614" y="6337043"/>
            <a:ext cx="649185" cy="442136"/>
          </a:xfrm>
          <a:prstGeom prst="rect">
            <a:avLst/>
          </a:prstGeom>
        </p:spPr>
      </p:pic>
    </p:spTree>
    <p:extLst>
      <p:ext uri="{BB962C8B-B14F-4D97-AF65-F5344CB8AC3E}">
        <p14:creationId xmlns:p14="http://schemas.microsoft.com/office/powerpoint/2010/main" val="17083219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1BFD1E6F-0A7C-0628-DFF0-97215E141B65}"/>
              </a:ext>
            </a:extLst>
          </p:cNvPr>
          <p:cNvSpPr txBox="1"/>
          <p:nvPr/>
        </p:nvSpPr>
        <p:spPr>
          <a:xfrm>
            <a:off x="139459" y="548791"/>
            <a:ext cx="12052541" cy="6370975"/>
          </a:xfrm>
          <a:prstGeom prst="rect">
            <a:avLst/>
          </a:prstGeom>
          <a:noFill/>
        </p:spPr>
        <p:txBody>
          <a:bodyPr wrap="square">
            <a:spAutoFit/>
          </a:bodyPr>
          <a:lstStyle/>
          <a:p>
            <a:endParaRPr lang="es-ES" sz="1400" b="1" u="sng" dirty="0">
              <a:latin typeface="Google Sans"/>
            </a:endParaRPr>
          </a:p>
          <a:p>
            <a:endParaRPr lang="es-ES" sz="1400" b="1" u="sng" dirty="0">
              <a:latin typeface="Google Sans"/>
            </a:endParaRPr>
          </a:p>
          <a:p>
            <a:r>
              <a:rPr lang="es-ES" sz="1400" b="1" u="sng" dirty="0">
                <a:latin typeface="Google Sans"/>
              </a:rPr>
              <a:t>Redes WAN tradicional (Antigua, Conexión Serial)</a:t>
            </a:r>
          </a:p>
          <a:p>
            <a:r>
              <a:rPr lang="es-ES" sz="1400" b="1" u="sng" dirty="0">
                <a:latin typeface="Google Sans"/>
              </a:rPr>
              <a:t>Leased Lines</a:t>
            </a:r>
          </a:p>
          <a:p>
            <a:endParaRPr lang="es-ES" sz="1400" b="1" u="sng" dirty="0">
              <a:latin typeface="Google Sans"/>
            </a:endParaRPr>
          </a:p>
          <a:p>
            <a:r>
              <a:rPr lang="es-ES" sz="1400" b="1" dirty="0">
                <a:latin typeface="Google Sans"/>
              </a:rPr>
              <a:t>💡 </a:t>
            </a:r>
            <a:r>
              <a:rPr lang="es-ES" sz="1400" dirty="0">
                <a:latin typeface="Google Sans"/>
              </a:rPr>
              <a:t>A</a:t>
            </a:r>
            <a:r>
              <a:rPr lang="es-ES" sz="1400" dirty="0"/>
              <a:t>ntes durante los años 70,80 y principios de los 90 se utilizaba una infraestructura física basada en cables seriales de cobre y </a:t>
            </a:r>
            <a:r>
              <a:rPr lang="es-ES" sz="1400" b="1" dirty="0"/>
              <a:t>módems</a:t>
            </a:r>
            <a:r>
              <a:rPr lang="es-ES" sz="1400" dirty="0"/>
              <a:t> para traducir las señales. En esta era Internet no existía de forma comercial. El par de cobre físico se solicitaba únicamente para interconectar dos puntos de la propia empresa (Conexión Punto a Punto).</a:t>
            </a:r>
          </a:p>
          <a:p>
            <a:endParaRPr lang="es-ES" sz="1400" dirty="0"/>
          </a:p>
          <a:p>
            <a:r>
              <a:rPr lang="es-ES" sz="1400" u="sng" dirty="0"/>
              <a:t>Estas conexiones (</a:t>
            </a:r>
            <a:r>
              <a:rPr lang="es-ES" sz="1400" b="1" u="sng" dirty="0"/>
              <a:t>líneas arrendadas </a:t>
            </a:r>
            <a:r>
              <a:rPr lang="es-ES" sz="1400" u="sng" dirty="0"/>
              <a:t>o en ingles:</a:t>
            </a:r>
            <a:r>
              <a:rPr lang="es-ES" sz="1400" b="1" u="sng" dirty="0"/>
              <a:t> </a:t>
            </a:r>
            <a:r>
              <a:rPr lang="es-ES" sz="1600" b="1" u="sng" dirty="0"/>
              <a:t>Leased Lines</a:t>
            </a:r>
            <a:r>
              <a:rPr lang="es-ES" sz="1400" u="sng" dirty="0"/>
              <a:t>) </a:t>
            </a:r>
            <a:r>
              <a:rPr lang="es-ES" sz="1400" dirty="0"/>
              <a:t>ofrecían velocidades muy bajas de apenas unos cuantos Megabits por segundo (Mbps).</a:t>
            </a:r>
          </a:p>
          <a:p>
            <a:r>
              <a:rPr lang="es-ES" sz="1400" dirty="0"/>
              <a:t>Una red WAN tradicional usa protocolos de Capa 2 como </a:t>
            </a:r>
            <a:r>
              <a:rPr lang="es-ES" sz="1400" b="1" dirty="0"/>
              <a:t>HDLC y PPP </a:t>
            </a:r>
            <a:r>
              <a:rPr lang="es-ES" sz="1400" dirty="0"/>
              <a:t>que conectan routers a través de líneas seriales.</a:t>
            </a:r>
          </a:p>
          <a:p>
            <a:endParaRPr lang="es-ES" sz="1400" dirty="0">
              <a:latin typeface="Google Sans"/>
            </a:endParaRPr>
          </a:p>
          <a:p>
            <a:r>
              <a:rPr lang="es-ES" sz="1400" b="1" dirty="0">
                <a:latin typeface="Google Sans"/>
              </a:rPr>
              <a:t>             HDLC</a:t>
            </a:r>
            <a:r>
              <a:rPr lang="es-ES" sz="1400" dirty="0">
                <a:latin typeface="Google Sans"/>
              </a:rPr>
              <a:t>:(High-Level Data Link Control o Control de Enlace de Datos de Alto Nivel) es un estándar abierto y funciona como un header simple que lleva las tramas del </a:t>
            </a:r>
            <a:r>
              <a:rPr lang="es-ES" sz="1400" b="1" dirty="0">
                <a:latin typeface="Google Sans"/>
              </a:rPr>
              <a:t>punto A </a:t>
            </a:r>
            <a:r>
              <a:rPr lang="es-ES" sz="1400" dirty="0">
                <a:latin typeface="Google Sans"/>
              </a:rPr>
              <a:t>al</a:t>
            </a:r>
            <a:r>
              <a:rPr lang="es-ES" sz="1400" b="1" dirty="0">
                <a:latin typeface="Google Sans"/>
              </a:rPr>
              <a:t> punto B.</a:t>
            </a:r>
          </a:p>
          <a:p>
            <a:endParaRPr lang="es-ES" sz="1400" b="1" dirty="0">
              <a:latin typeface="Google Sans"/>
            </a:endParaRPr>
          </a:p>
          <a:p>
            <a:r>
              <a:rPr lang="es-ES" sz="1400" b="1" dirty="0">
                <a:latin typeface="Google Sans"/>
              </a:rPr>
              <a:t>             PPP</a:t>
            </a:r>
            <a:r>
              <a:rPr lang="es-ES" sz="1400" b="1" dirty="0">
                <a:latin typeface="Google Sans"/>
                <a:sym typeface="Wingdings" panose="05000000000000000000" pitchFamily="2" charset="2"/>
              </a:rPr>
              <a:t>:</a:t>
            </a:r>
            <a:r>
              <a:rPr lang="es-ES" sz="1400" dirty="0"/>
              <a:t>(Point-to-Point Protocol o Protocolo Punto a Punto) es un </a:t>
            </a:r>
            <a:r>
              <a:rPr lang="es-ES" sz="1400" b="1" dirty="0"/>
              <a:t>Protocolo de estándar abierto y universal </a:t>
            </a:r>
            <a:r>
              <a:rPr lang="es-ES" sz="1400" dirty="0"/>
              <a:t>que soporta protocolos de autenticación y monitoreo a diferencia de HDLC.</a:t>
            </a:r>
          </a:p>
          <a:p>
            <a:endParaRPr lang="es-ES" sz="1400" b="1" dirty="0">
              <a:latin typeface="Google Sans"/>
            </a:endParaRPr>
          </a:p>
          <a:p>
            <a:r>
              <a:rPr lang="es-ES" sz="1400" b="1" dirty="0">
                <a:latin typeface="Google Sans"/>
              </a:rPr>
              <a:t>💡Módem: </a:t>
            </a:r>
            <a:r>
              <a:rPr lang="es-ES" sz="1400" dirty="0">
                <a:latin typeface="Google Sans"/>
              </a:rPr>
              <a:t>E</a:t>
            </a:r>
            <a:r>
              <a:rPr lang="es-ES" sz="1400" dirty="0"/>
              <a:t>s el dispositivo que traduce las señales digitales (1 y 0s ) de tus equipos informáticos en señales analógicas para que </a:t>
            </a:r>
          </a:p>
          <a:p>
            <a:r>
              <a:rPr lang="es-ES" sz="1400" dirty="0"/>
              <a:t>puedan viajar a través de una infraestructura telefónica, de cable o de radio (y viceversa). </a:t>
            </a:r>
          </a:p>
          <a:p>
            <a:endParaRPr lang="es-ES" sz="1400" dirty="0"/>
          </a:p>
          <a:p>
            <a:r>
              <a:rPr lang="es-ES" sz="1400" dirty="0"/>
              <a:t>En tu casa el router ya incluye el módem, y en una empresa... se suele utilizar un diseño modular independiente. La función del módem se resuelve mediante un equipo externo provisto por el ISP (como una ONT de fibra) o instalando tarjetas electrónicas especiales directamente dentro del propio router corporativo.</a:t>
            </a:r>
          </a:p>
          <a:p>
            <a:endParaRPr lang="es-ES" sz="1400" dirty="0"/>
          </a:p>
          <a:p>
            <a:r>
              <a:rPr lang="es-ES" sz="1400" dirty="0"/>
              <a:t>Una </a:t>
            </a:r>
            <a:r>
              <a:rPr lang="es-ES" sz="1400" b="1" dirty="0"/>
              <a:t>ONT</a:t>
            </a:r>
            <a:r>
              <a:rPr lang="es-ES" sz="1400" dirty="0"/>
              <a:t> (Optical Network Terminal o Terminal de Red Óptica) es el dispositivo encargado de conectar una instalación doméstica o empresarial a una red de Internet por fibra óptica.</a:t>
            </a:r>
          </a:p>
          <a:p>
            <a:endParaRPr lang="es-ES" sz="1400" dirty="0"/>
          </a:p>
          <a:p>
            <a:endParaRPr lang="es-ES" sz="1400" b="1" dirty="0">
              <a:latin typeface="Google Sans"/>
            </a:endParaRPr>
          </a:p>
        </p:txBody>
      </p:sp>
      <p:pic>
        <p:nvPicPr>
          <p:cNvPr id="11" name="Imagen 10">
            <a:extLst>
              <a:ext uri="{FF2B5EF4-FFF2-40B4-BE49-F238E27FC236}">
                <a16:creationId xmlns:a16="http://schemas.microsoft.com/office/drawing/2014/main" id="{922AA03F-AB4C-412D-DCCB-9AFA167CC24D}"/>
              </a:ext>
            </a:extLst>
          </p:cNvPr>
          <p:cNvPicPr>
            <a:picLocks noChangeAspect="1"/>
          </p:cNvPicPr>
          <p:nvPr/>
        </p:nvPicPr>
        <p:blipFill>
          <a:blip r:embed="rId2"/>
          <a:stretch>
            <a:fillRect/>
          </a:stretch>
        </p:blipFill>
        <p:spPr>
          <a:xfrm>
            <a:off x="4175991" y="938808"/>
            <a:ext cx="649185" cy="333693"/>
          </a:xfrm>
          <a:prstGeom prst="rect">
            <a:avLst/>
          </a:prstGeom>
        </p:spPr>
      </p:pic>
      <p:pic>
        <p:nvPicPr>
          <p:cNvPr id="17" name="Imagen 16">
            <a:extLst>
              <a:ext uri="{FF2B5EF4-FFF2-40B4-BE49-F238E27FC236}">
                <a16:creationId xmlns:a16="http://schemas.microsoft.com/office/drawing/2014/main" id="{DEF3E861-FE4E-1E8A-7130-13C10AB0FF9D}"/>
              </a:ext>
            </a:extLst>
          </p:cNvPr>
          <p:cNvPicPr>
            <a:picLocks noChangeAspect="1"/>
          </p:cNvPicPr>
          <p:nvPr/>
        </p:nvPicPr>
        <p:blipFill>
          <a:blip r:embed="rId3"/>
          <a:stretch>
            <a:fillRect/>
          </a:stretch>
        </p:blipFill>
        <p:spPr>
          <a:xfrm>
            <a:off x="4935594" y="830786"/>
            <a:ext cx="547727" cy="441715"/>
          </a:xfrm>
          <a:prstGeom prst="rect">
            <a:avLst/>
          </a:prstGeom>
        </p:spPr>
      </p:pic>
      <p:pic>
        <p:nvPicPr>
          <p:cNvPr id="19" name="Imagen 18">
            <a:extLst>
              <a:ext uri="{FF2B5EF4-FFF2-40B4-BE49-F238E27FC236}">
                <a16:creationId xmlns:a16="http://schemas.microsoft.com/office/drawing/2014/main" id="{9C23DB8D-C5F5-0B1F-88DF-5D1067B836E1}"/>
              </a:ext>
            </a:extLst>
          </p:cNvPr>
          <p:cNvPicPr>
            <a:picLocks noChangeAspect="1"/>
          </p:cNvPicPr>
          <p:nvPr/>
        </p:nvPicPr>
        <p:blipFill>
          <a:blip r:embed="rId4"/>
          <a:stretch>
            <a:fillRect/>
          </a:stretch>
        </p:blipFill>
        <p:spPr>
          <a:xfrm>
            <a:off x="139459" y="3145800"/>
            <a:ext cx="542962" cy="254065"/>
          </a:xfrm>
          <a:prstGeom prst="rect">
            <a:avLst/>
          </a:prstGeom>
        </p:spPr>
      </p:pic>
      <p:pic>
        <p:nvPicPr>
          <p:cNvPr id="21" name="Imagen 20">
            <a:extLst>
              <a:ext uri="{FF2B5EF4-FFF2-40B4-BE49-F238E27FC236}">
                <a16:creationId xmlns:a16="http://schemas.microsoft.com/office/drawing/2014/main" id="{2B67B071-68D8-407B-506A-446D4F7D8E35}"/>
              </a:ext>
            </a:extLst>
          </p:cNvPr>
          <p:cNvPicPr>
            <a:picLocks noChangeAspect="1"/>
          </p:cNvPicPr>
          <p:nvPr/>
        </p:nvPicPr>
        <p:blipFill>
          <a:blip r:embed="rId5"/>
          <a:stretch>
            <a:fillRect/>
          </a:stretch>
        </p:blipFill>
        <p:spPr>
          <a:xfrm>
            <a:off x="139459" y="3727194"/>
            <a:ext cx="569338" cy="265557"/>
          </a:xfrm>
          <a:prstGeom prst="rect">
            <a:avLst/>
          </a:prstGeom>
        </p:spPr>
      </p:pic>
      <p:sp>
        <p:nvSpPr>
          <p:cNvPr id="23" name="CuadroTexto 22">
            <a:extLst>
              <a:ext uri="{FF2B5EF4-FFF2-40B4-BE49-F238E27FC236}">
                <a16:creationId xmlns:a16="http://schemas.microsoft.com/office/drawing/2014/main" id="{D87E25BE-EB3D-3E7E-9BE9-72AE1B8C623F}"/>
              </a:ext>
            </a:extLst>
          </p:cNvPr>
          <p:cNvSpPr txBox="1"/>
          <p:nvPr/>
        </p:nvSpPr>
        <p:spPr>
          <a:xfrm>
            <a:off x="-321133" y="0"/>
            <a:ext cx="3329579" cy="461665"/>
          </a:xfrm>
          <a:prstGeom prst="rect">
            <a:avLst/>
          </a:prstGeom>
          <a:noFill/>
        </p:spPr>
        <p:txBody>
          <a:bodyPr wrap="square">
            <a:spAutoFit/>
          </a:bodyPr>
          <a:lstStyle/>
          <a:p>
            <a:pPr algn="ctr"/>
            <a:r>
              <a:rPr lang="es-ES" sz="1200" dirty="0">
                <a:ln w="0"/>
                <a:effectLst>
                  <a:outerShdw blurRad="38100" dist="19050" dir="2700000" algn="tl" rotWithShape="0">
                    <a:schemeClr val="dk1">
                      <a:alpha val="40000"/>
                    </a:schemeClr>
                  </a:outerShdw>
                </a:effectLst>
              </a:rPr>
              <a:t>1. Introducción a las redes</a:t>
            </a:r>
          </a:p>
          <a:p>
            <a:pPr algn="ctr"/>
            <a:r>
              <a:rPr lang="es-ES" sz="1200" b="1" dirty="0"/>
              <a:t>WANs y Routing IP</a:t>
            </a:r>
          </a:p>
        </p:txBody>
      </p:sp>
      <p:sp>
        <p:nvSpPr>
          <p:cNvPr id="25" name="CuadroTexto 24">
            <a:extLst>
              <a:ext uri="{FF2B5EF4-FFF2-40B4-BE49-F238E27FC236}">
                <a16:creationId xmlns:a16="http://schemas.microsoft.com/office/drawing/2014/main" id="{D7CA18C5-1476-0541-237D-88E56DCBF520}"/>
              </a:ext>
            </a:extLst>
          </p:cNvPr>
          <p:cNvSpPr txBox="1"/>
          <p:nvPr/>
        </p:nvSpPr>
        <p:spPr>
          <a:xfrm>
            <a:off x="3583175" y="137590"/>
            <a:ext cx="3951253" cy="461665"/>
          </a:xfrm>
          <a:prstGeom prst="rect">
            <a:avLst/>
          </a:prstGeom>
          <a:noFill/>
        </p:spPr>
        <p:txBody>
          <a:bodyPr wrap="square">
            <a:spAutoFit/>
          </a:bodyPr>
          <a:lstStyle/>
          <a:p>
            <a:pPr algn="ctr"/>
            <a:r>
              <a:rPr lang="es-ES" sz="2400" b="1" dirty="0"/>
              <a:t>Red WAN</a:t>
            </a:r>
          </a:p>
        </p:txBody>
      </p:sp>
      <p:pic>
        <p:nvPicPr>
          <p:cNvPr id="3" name="Picture 10">
            <a:extLst>
              <a:ext uri="{FF2B5EF4-FFF2-40B4-BE49-F238E27FC236}">
                <a16:creationId xmlns:a16="http://schemas.microsoft.com/office/drawing/2014/main" id="{55961A67-C9ED-A104-DD85-86D4D92618B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92646" y="4196496"/>
            <a:ext cx="889690" cy="889690"/>
          </a:xfrm>
          <a:prstGeom prst="rect">
            <a:avLst/>
          </a:prstGeom>
          <a:noFill/>
          <a:extLst>
            <a:ext uri="{909E8E84-426E-40DD-AFC4-6F175D3DCCD1}">
              <a14:hiddenFill xmlns:a14="http://schemas.microsoft.com/office/drawing/2010/main">
                <a:solidFill>
                  <a:srgbClr val="FFFFFF"/>
                </a:solidFill>
              </a14:hiddenFill>
            </a:ext>
          </a:extLst>
        </p:spPr>
      </p:pic>
      <p:sp>
        <p:nvSpPr>
          <p:cNvPr id="2" name="CuadroTexto 1">
            <a:extLst>
              <a:ext uri="{FF2B5EF4-FFF2-40B4-BE49-F238E27FC236}">
                <a16:creationId xmlns:a16="http://schemas.microsoft.com/office/drawing/2014/main" id="{2CBEE4F8-B039-8AD7-91F8-7098E845001C}"/>
              </a:ext>
            </a:extLst>
          </p:cNvPr>
          <p:cNvSpPr txBox="1"/>
          <p:nvPr/>
        </p:nvSpPr>
        <p:spPr>
          <a:xfrm>
            <a:off x="6549109" y="192450"/>
            <a:ext cx="5642891" cy="1492716"/>
          </a:xfrm>
          <a:prstGeom prst="rect">
            <a:avLst/>
          </a:prstGeom>
          <a:noFill/>
        </p:spPr>
        <p:txBody>
          <a:bodyPr wrap="none" rtlCol="0">
            <a:spAutoFit/>
          </a:bodyPr>
          <a:lstStyle/>
          <a:p>
            <a:pPr algn="ctr"/>
            <a:r>
              <a:rPr lang="es-ES" sz="1100" b="1" dirty="0"/>
              <a:t>✅Otros nombres para una leased line</a:t>
            </a:r>
          </a:p>
          <a:p>
            <a:r>
              <a:rPr lang="es-ES" sz="1100" b="1" dirty="0"/>
              <a:t>Línea o Circuito</a:t>
            </a:r>
            <a:r>
              <a:rPr lang="es-ES" sz="1100" dirty="0"/>
              <a:t>: Conexión física o lógica entre dos extremos.</a:t>
            </a:r>
          </a:p>
          <a:p>
            <a:r>
              <a:rPr lang="es-ES" sz="1100" b="1" dirty="0"/>
              <a:t>Enlace o Línea Serial</a:t>
            </a:r>
            <a:r>
              <a:rPr lang="es-ES" sz="1100" dirty="0"/>
              <a:t>: Conexión donde los datos viajan bit a bit de forma consecutiva.</a:t>
            </a:r>
          </a:p>
          <a:p>
            <a:r>
              <a:rPr lang="es-ES" sz="1100" b="1" dirty="0"/>
              <a:t>Punto a Punto</a:t>
            </a:r>
            <a:r>
              <a:rPr lang="es-ES" sz="1100" dirty="0"/>
              <a:t>: Enlace directo exclusivo entre </a:t>
            </a:r>
            <a:r>
              <a:rPr lang="es-ES" sz="1100" b="1" dirty="0"/>
              <a:t>dos ubicaciones únicamente</a:t>
            </a:r>
            <a:r>
              <a:rPr lang="es-ES" sz="1100" dirty="0"/>
              <a:t>.</a:t>
            </a:r>
          </a:p>
          <a:p>
            <a:r>
              <a:rPr lang="es-ES" sz="1100" b="1" dirty="0"/>
              <a:t>Línea T1 / E1</a:t>
            </a:r>
            <a:r>
              <a:rPr lang="es-ES" sz="1100" dirty="0"/>
              <a:t>: Conexión estándar de velocidad fija (</a:t>
            </a:r>
            <a:r>
              <a:rPr lang="es-ES" sz="1100" b="1" dirty="0"/>
              <a:t>1.544 Mbps</a:t>
            </a:r>
            <a:r>
              <a:rPr lang="es-ES" sz="1100" dirty="0"/>
              <a:t> en T1 / </a:t>
            </a:r>
            <a:r>
              <a:rPr lang="es-ES" sz="1100" b="1" dirty="0"/>
              <a:t>2.048 Mbps</a:t>
            </a:r>
            <a:r>
              <a:rPr lang="es-ES" sz="1100" dirty="0"/>
              <a:t> en E1).</a:t>
            </a:r>
          </a:p>
          <a:p>
            <a:r>
              <a:rPr lang="es-ES" sz="1100" b="1" dirty="0"/>
              <a:t>Enlace WAN</a:t>
            </a:r>
            <a:r>
              <a:rPr lang="es-ES" sz="1100" dirty="0"/>
              <a:t>: Término general para cualquier conexión de red de larga distancia.</a:t>
            </a:r>
          </a:p>
          <a:p>
            <a:r>
              <a:rPr lang="es-ES" sz="1100" b="1" dirty="0"/>
              <a:t>Línea Privada</a:t>
            </a:r>
            <a:r>
              <a:rPr lang="es-ES" sz="1100" dirty="0"/>
              <a:t>: Canal con ancho de banda </a:t>
            </a:r>
            <a:r>
              <a:rPr lang="es-ES" sz="1100" b="1" dirty="0"/>
              <a:t>100% exclusivo</a:t>
            </a:r>
            <a:r>
              <a:rPr lang="es-ES" sz="1100" dirty="0"/>
              <a:t> y aislado de otros usuarios.</a:t>
            </a:r>
          </a:p>
          <a:p>
            <a:endParaRPr lang="es-ES" sz="1400" dirty="0"/>
          </a:p>
        </p:txBody>
      </p:sp>
    </p:spTree>
    <p:extLst>
      <p:ext uri="{BB962C8B-B14F-4D97-AF65-F5344CB8AC3E}">
        <p14:creationId xmlns:p14="http://schemas.microsoft.com/office/powerpoint/2010/main" val="22988875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92C5E377-D540-A7DF-824B-4184DA6D0EE9}"/>
              </a:ext>
            </a:extLst>
          </p:cNvPr>
          <p:cNvSpPr txBox="1"/>
          <p:nvPr/>
        </p:nvSpPr>
        <p:spPr>
          <a:xfrm>
            <a:off x="-321133" y="0"/>
            <a:ext cx="3329579" cy="461665"/>
          </a:xfrm>
          <a:prstGeom prst="rect">
            <a:avLst/>
          </a:prstGeom>
          <a:noFill/>
        </p:spPr>
        <p:txBody>
          <a:bodyPr wrap="square">
            <a:spAutoFit/>
          </a:bodyPr>
          <a:lstStyle/>
          <a:p>
            <a:pPr algn="ctr"/>
            <a:r>
              <a:rPr lang="es-ES" sz="1200" dirty="0">
                <a:ln w="0"/>
                <a:effectLst>
                  <a:outerShdw blurRad="38100" dist="19050" dir="2700000" algn="tl" rotWithShape="0">
                    <a:schemeClr val="dk1">
                      <a:alpha val="40000"/>
                    </a:schemeClr>
                  </a:outerShdw>
                </a:effectLst>
              </a:rPr>
              <a:t>1. Introducción a las redes</a:t>
            </a:r>
          </a:p>
          <a:p>
            <a:pPr algn="ctr"/>
            <a:r>
              <a:rPr lang="es-ES" sz="1200" b="1" dirty="0"/>
              <a:t>WANs y Routing IP</a:t>
            </a:r>
          </a:p>
        </p:txBody>
      </p:sp>
      <p:sp>
        <p:nvSpPr>
          <p:cNvPr id="9" name="CuadroTexto 8">
            <a:extLst>
              <a:ext uri="{FF2B5EF4-FFF2-40B4-BE49-F238E27FC236}">
                <a16:creationId xmlns:a16="http://schemas.microsoft.com/office/drawing/2014/main" id="{66F7C22F-3D91-1270-607F-1025D83AB4B5}"/>
              </a:ext>
            </a:extLst>
          </p:cNvPr>
          <p:cNvSpPr txBox="1"/>
          <p:nvPr/>
        </p:nvSpPr>
        <p:spPr>
          <a:xfrm>
            <a:off x="3731252" y="-22499"/>
            <a:ext cx="3951253" cy="461665"/>
          </a:xfrm>
          <a:prstGeom prst="rect">
            <a:avLst/>
          </a:prstGeom>
          <a:noFill/>
        </p:spPr>
        <p:txBody>
          <a:bodyPr wrap="square">
            <a:spAutoFit/>
          </a:bodyPr>
          <a:lstStyle/>
          <a:p>
            <a:pPr algn="ctr"/>
            <a:r>
              <a:rPr lang="es-ES" sz="2400" b="1" dirty="0"/>
              <a:t>Red WAN</a:t>
            </a:r>
          </a:p>
        </p:txBody>
      </p:sp>
      <p:pic>
        <p:nvPicPr>
          <p:cNvPr id="15" name="Picture 10" descr="C:\Users\ecoffey\AppData\Local\Temp\Rar$DRa0.175\30088_Device_terminal_default_256.png">
            <a:extLst>
              <a:ext uri="{FF2B5EF4-FFF2-40B4-BE49-F238E27FC236}">
                <a16:creationId xmlns:a16="http://schemas.microsoft.com/office/drawing/2014/main" id="{2E688283-F1FA-6516-6D5B-ECC3B8F448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2246" y="4972423"/>
            <a:ext cx="608245" cy="608245"/>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0" descr="C:\Users\ecoffey\AppData\Local\Temp\Rar$DRa0.175\30088_Device_terminal_default_256.png">
            <a:extLst>
              <a:ext uri="{FF2B5EF4-FFF2-40B4-BE49-F238E27FC236}">
                <a16:creationId xmlns:a16="http://schemas.microsoft.com/office/drawing/2014/main" id="{0DC45AEF-2E45-E4AE-1A65-FD35C7F21B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14258" y="4961891"/>
            <a:ext cx="608246" cy="608246"/>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0">
            <a:extLst>
              <a:ext uri="{FF2B5EF4-FFF2-40B4-BE49-F238E27FC236}">
                <a16:creationId xmlns:a16="http://schemas.microsoft.com/office/drawing/2014/main" id="{2481174B-715E-1AEF-CC22-C0CF5BB0C3C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171" t="28931" r="8368" b="21666"/>
          <a:stretch/>
        </p:blipFill>
        <p:spPr bwMode="auto">
          <a:xfrm>
            <a:off x="3921090" y="5064134"/>
            <a:ext cx="717679" cy="424822"/>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0">
            <a:extLst>
              <a:ext uri="{FF2B5EF4-FFF2-40B4-BE49-F238E27FC236}">
                <a16:creationId xmlns:a16="http://schemas.microsoft.com/office/drawing/2014/main" id="{32075DDF-6873-C749-E4B5-BABCC203AB4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171" t="28931" r="8368" b="21666"/>
          <a:stretch/>
        </p:blipFill>
        <p:spPr bwMode="auto">
          <a:xfrm>
            <a:off x="6811440" y="5053603"/>
            <a:ext cx="717679" cy="424822"/>
          </a:xfrm>
          <a:prstGeom prst="rect">
            <a:avLst/>
          </a:prstGeom>
          <a:noFill/>
          <a:extLst>
            <a:ext uri="{909E8E84-426E-40DD-AFC4-6F175D3DCCD1}">
              <a14:hiddenFill xmlns:a14="http://schemas.microsoft.com/office/drawing/2010/main">
                <a:solidFill>
                  <a:srgbClr val="FFFFFF"/>
                </a:solidFill>
              </a14:hiddenFill>
            </a:ext>
          </a:extLst>
        </p:spPr>
      </p:pic>
      <p:cxnSp>
        <p:nvCxnSpPr>
          <p:cNvPr id="22" name="Conector recto 21">
            <a:extLst>
              <a:ext uri="{FF2B5EF4-FFF2-40B4-BE49-F238E27FC236}">
                <a16:creationId xmlns:a16="http://schemas.microsoft.com/office/drawing/2014/main" id="{335186AD-8A32-C98D-6CB4-39E2D1C8148E}"/>
              </a:ext>
            </a:extLst>
          </p:cNvPr>
          <p:cNvCxnSpPr>
            <a:cxnSpLocks/>
            <a:stCxn id="15" idx="3"/>
            <a:endCxn id="19" idx="1"/>
          </p:cNvCxnSpPr>
          <p:nvPr/>
        </p:nvCxnSpPr>
        <p:spPr>
          <a:xfrm flipV="1">
            <a:off x="2310491" y="5276545"/>
            <a:ext cx="1610599" cy="1"/>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Conector recto 29">
            <a:extLst>
              <a:ext uri="{FF2B5EF4-FFF2-40B4-BE49-F238E27FC236}">
                <a16:creationId xmlns:a16="http://schemas.microsoft.com/office/drawing/2014/main" id="{104EA40E-B2C7-36D3-5089-86E7FEF208A0}"/>
              </a:ext>
            </a:extLst>
          </p:cNvPr>
          <p:cNvCxnSpPr>
            <a:cxnSpLocks/>
            <a:stCxn id="21" idx="3"/>
            <a:endCxn id="17" idx="1"/>
          </p:cNvCxnSpPr>
          <p:nvPr/>
        </p:nvCxnSpPr>
        <p:spPr>
          <a:xfrm>
            <a:off x="7529119" y="5266014"/>
            <a:ext cx="1785139" cy="0"/>
          </a:xfrm>
          <a:prstGeom prst="line">
            <a:avLst/>
          </a:prstGeom>
        </p:spPr>
        <p:style>
          <a:lnRef idx="2">
            <a:schemeClr val="accent1"/>
          </a:lnRef>
          <a:fillRef idx="0">
            <a:schemeClr val="accent1"/>
          </a:fillRef>
          <a:effectRef idx="1">
            <a:schemeClr val="accent1"/>
          </a:effectRef>
          <a:fontRef idx="minor">
            <a:schemeClr val="tx1"/>
          </a:fontRef>
        </p:style>
      </p:cxnSp>
      <p:sp>
        <p:nvSpPr>
          <p:cNvPr id="34" name="CuadroTexto 33">
            <a:extLst>
              <a:ext uri="{FF2B5EF4-FFF2-40B4-BE49-F238E27FC236}">
                <a16:creationId xmlns:a16="http://schemas.microsoft.com/office/drawing/2014/main" id="{1D9021A2-0D7E-4266-1AFB-B7CF3DE26236}"/>
              </a:ext>
            </a:extLst>
          </p:cNvPr>
          <p:cNvSpPr txBox="1"/>
          <p:nvPr/>
        </p:nvSpPr>
        <p:spPr>
          <a:xfrm>
            <a:off x="2158245" y="5884790"/>
            <a:ext cx="602665" cy="369332"/>
          </a:xfrm>
          <a:prstGeom prst="rect">
            <a:avLst/>
          </a:prstGeom>
          <a:noFill/>
        </p:spPr>
        <p:txBody>
          <a:bodyPr wrap="none" rtlCol="0">
            <a:spAutoFit/>
          </a:bodyPr>
          <a:lstStyle/>
          <a:p>
            <a:r>
              <a:rPr lang="es-ES" dirty="0"/>
              <a:t>LAN</a:t>
            </a:r>
          </a:p>
        </p:txBody>
      </p:sp>
      <p:sp>
        <p:nvSpPr>
          <p:cNvPr id="36" name="CuadroTexto 35">
            <a:extLst>
              <a:ext uri="{FF2B5EF4-FFF2-40B4-BE49-F238E27FC236}">
                <a16:creationId xmlns:a16="http://schemas.microsoft.com/office/drawing/2014/main" id="{1BE625A1-BA91-CE08-0712-4A6564BA1413}"/>
              </a:ext>
            </a:extLst>
          </p:cNvPr>
          <p:cNvSpPr txBox="1"/>
          <p:nvPr/>
        </p:nvSpPr>
        <p:spPr>
          <a:xfrm>
            <a:off x="8936918" y="5856929"/>
            <a:ext cx="602665" cy="369332"/>
          </a:xfrm>
          <a:prstGeom prst="rect">
            <a:avLst/>
          </a:prstGeom>
          <a:noFill/>
        </p:spPr>
        <p:txBody>
          <a:bodyPr wrap="none" rtlCol="0">
            <a:spAutoFit/>
          </a:bodyPr>
          <a:lstStyle/>
          <a:p>
            <a:r>
              <a:rPr lang="es-ES" dirty="0"/>
              <a:t>LAN</a:t>
            </a:r>
          </a:p>
        </p:txBody>
      </p:sp>
      <p:sp>
        <p:nvSpPr>
          <p:cNvPr id="37" name="CuadroTexto 36">
            <a:extLst>
              <a:ext uri="{FF2B5EF4-FFF2-40B4-BE49-F238E27FC236}">
                <a16:creationId xmlns:a16="http://schemas.microsoft.com/office/drawing/2014/main" id="{DEE9B2A1-C571-0A8A-229B-73BC07A51375}"/>
              </a:ext>
            </a:extLst>
          </p:cNvPr>
          <p:cNvSpPr txBox="1"/>
          <p:nvPr/>
        </p:nvSpPr>
        <p:spPr>
          <a:xfrm>
            <a:off x="5440555" y="5818532"/>
            <a:ext cx="686213" cy="369332"/>
          </a:xfrm>
          <a:prstGeom prst="rect">
            <a:avLst/>
          </a:prstGeom>
          <a:noFill/>
        </p:spPr>
        <p:txBody>
          <a:bodyPr wrap="none" rtlCol="0">
            <a:spAutoFit/>
          </a:bodyPr>
          <a:lstStyle/>
          <a:p>
            <a:r>
              <a:rPr lang="es-ES" dirty="0"/>
              <a:t>WAN</a:t>
            </a:r>
          </a:p>
        </p:txBody>
      </p:sp>
      <p:sp>
        <p:nvSpPr>
          <p:cNvPr id="39" name="Abrir llave 38">
            <a:extLst>
              <a:ext uri="{FF2B5EF4-FFF2-40B4-BE49-F238E27FC236}">
                <a16:creationId xmlns:a16="http://schemas.microsoft.com/office/drawing/2014/main" id="{CCE5F947-7150-580E-73F0-9990E3E8FB07}"/>
              </a:ext>
            </a:extLst>
          </p:cNvPr>
          <p:cNvSpPr/>
          <p:nvPr/>
        </p:nvSpPr>
        <p:spPr>
          <a:xfrm rot="16200000" flipV="1">
            <a:off x="2316182" y="4147414"/>
            <a:ext cx="286792" cy="3132237"/>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dirty="0"/>
          </a:p>
        </p:txBody>
      </p:sp>
      <p:sp>
        <p:nvSpPr>
          <p:cNvPr id="41" name="Abrir llave 40">
            <a:extLst>
              <a:ext uri="{FF2B5EF4-FFF2-40B4-BE49-F238E27FC236}">
                <a16:creationId xmlns:a16="http://schemas.microsoft.com/office/drawing/2014/main" id="{DFC277DB-0D02-DC19-3556-BC836AB959E3}"/>
              </a:ext>
            </a:extLst>
          </p:cNvPr>
          <p:cNvSpPr/>
          <p:nvPr/>
        </p:nvSpPr>
        <p:spPr>
          <a:xfrm rot="16200000" flipV="1">
            <a:off x="5667213" y="4472247"/>
            <a:ext cx="187155" cy="260327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dirty="0"/>
          </a:p>
        </p:txBody>
      </p:sp>
      <p:sp>
        <p:nvSpPr>
          <p:cNvPr id="43" name="Abrir llave 42">
            <a:extLst>
              <a:ext uri="{FF2B5EF4-FFF2-40B4-BE49-F238E27FC236}">
                <a16:creationId xmlns:a16="http://schemas.microsoft.com/office/drawing/2014/main" id="{817FEB61-A9DE-FB3B-CED3-A3E689E65025}"/>
              </a:ext>
            </a:extLst>
          </p:cNvPr>
          <p:cNvSpPr/>
          <p:nvPr/>
        </p:nvSpPr>
        <p:spPr>
          <a:xfrm rot="16200000" flipV="1">
            <a:off x="9094855" y="4050471"/>
            <a:ext cx="286792" cy="3343455"/>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dirty="0"/>
          </a:p>
        </p:txBody>
      </p:sp>
      <p:pic>
        <p:nvPicPr>
          <p:cNvPr id="45" name="Gráfico 44" descr="Edificio con relleno sólido">
            <a:extLst>
              <a:ext uri="{FF2B5EF4-FFF2-40B4-BE49-F238E27FC236}">
                <a16:creationId xmlns:a16="http://schemas.microsoft.com/office/drawing/2014/main" id="{CF27F232-B607-EC08-6F5C-808D188462D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9686" y="4655736"/>
            <a:ext cx="914400" cy="914400"/>
          </a:xfrm>
          <a:prstGeom prst="rect">
            <a:avLst/>
          </a:prstGeom>
        </p:spPr>
      </p:pic>
      <p:pic>
        <p:nvPicPr>
          <p:cNvPr id="47" name="Gráfico 46" descr="Edificio con relleno sólido">
            <a:extLst>
              <a:ext uri="{FF2B5EF4-FFF2-40B4-BE49-F238E27FC236}">
                <a16:creationId xmlns:a16="http://schemas.microsoft.com/office/drawing/2014/main" id="{6B33311B-04A0-514C-B3C7-88B1C723B28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067433" y="4664402"/>
            <a:ext cx="914400" cy="914400"/>
          </a:xfrm>
          <a:prstGeom prst="rect">
            <a:avLst/>
          </a:prstGeom>
        </p:spPr>
      </p:pic>
      <p:sp>
        <p:nvSpPr>
          <p:cNvPr id="48" name="CuadroTexto 47">
            <a:extLst>
              <a:ext uri="{FF2B5EF4-FFF2-40B4-BE49-F238E27FC236}">
                <a16:creationId xmlns:a16="http://schemas.microsoft.com/office/drawing/2014/main" id="{AFF8DFA9-72EB-01C8-C717-4331DFB0BD9A}"/>
              </a:ext>
            </a:extLst>
          </p:cNvPr>
          <p:cNvSpPr txBox="1"/>
          <p:nvPr/>
        </p:nvSpPr>
        <p:spPr>
          <a:xfrm>
            <a:off x="144536" y="4869343"/>
            <a:ext cx="748923" cy="369332"/>
          </a:xfrm>
          <a:prstGeom prst="rect">
            <a:avLst/>
          </a:prstGeom>
          <a:noFill/>
        </p:spPr>
        <p:txBody>
          <a:bodyPr wrap="none" rtlCol="0">
            <a:spAutoFit/>
          </a:bodyPr>
          <a:lstStyle/>
          <a:p>
            <a:r>
              <a:rPr lang="es-ES" dirty="0"/>
              <a:t>Spain</a:t>
            </a:r>
          </a:p>
        </p:txBody>
      </p:sp>
      <p:sp>
        <p:nvSpPr>
          <p:cNvPr id="50" name="CuadroTexto 49">
            <a:extLst>
              <a:ext uri="{FF2B5EF4-FFF2-40B4-BE49-F238E27FC236}">
                <a16:creationId xmlns:a16="http://schemas.microsoft.com/office/drawing/2014/main" id="{B8AACC01-5ADA-81C8-D8D7-30595FC8357D}"/>
              </a:ext>
            </a:extLst>
          </p:cNvPr>
          <p:cNvSpPr txBox="1"/>
          <p:nvPr/>
        </p:nvSpPr>
        <p:spPr>
          <a:xfrm>
            <a:off x="10815950" y="4918545"/>
            <a:ext cx="937051" cy="369332"/>
          </a:xfrm>
          <a:prstGeom prst="rect">
            <a:avLst/>
          </a:prstGeom>
          <a:noFill/>
        </p:spPr>
        <p:txBody>
          <a:bodyPr wrap="none" rtlCol="0">
            <a:spAutoFit/>
          </a:bodyPr>
          <a:lstStyle/>
          <a:p>
            <a:r>
              <a:rPr lang="es-ES" dirty="0"/>
              <a:t>London</a:t>
            </a:r>
          </a:p>
        </p:txBody>
      </p:sp>
      <p:sp>
        <p:nvSpPr>
          <p:cNvPr id="51" name="CuadroTexto 50">
            <a:extLst>
              <a:ext uri="{FF2B5EF4-FFF2-40B4-BE49-F238E27FC236}">
                <a16:creationId xmlns:a16="http://schemas.microsoft.com/office/drawing/2014/main" id="{CBC5BDF2-66FF-2A44-FE23-80A4DB108CBA}"/>
              </a:ext>
            </a:extLst>
          </p:cNvPr>
          <p:cNvSpPr txBox="1"/>
          <p:nvPr/>
        </p:nvSpPr>
        <p:spPr>
          <a:xfrm>
            <a:off x="0" y="939024"/>
            <a:ext cx="12257148" cy="3539430"/>
          </a:xfrm>
          <a:prstGeom prst="rect">
            <a:avLst/>
          </a:prstGeom>
          <a:noFill/>
        </p:spPr>
        <p:txBody>
          <a:bodyPr wrap="square" rtlCol="0">
            <a:spAutoFit/>
          </a:bodyPr>
          <a:lstStyle/>
          <a:p>
            <a:r>
              <a:rPr lang="es-ES" sz="1400" dirty="0"/>
              <a:t>Dado que la PC 1 y la PC 2 se encuentran en redes locales (LAN) e infraestructuras geográficas distintas, la comunicación requiere de la </a:t>
            </a:r>
            <a:r>
              <a:rPr lang="es-ES" sz="1400" b="1" dirty="0"/>
              <a:t>Capa 3 (Red)</a:t>
            </a:r>
            <a:r>
              <a:rPr lang="es-ES" sz="1400" dirty="0"/>
              <a:t>. En esta capa, los routers utilizan el </a:t>
            </a:r>
            <a:r>
              <a:rPr lang="es-ES" sz="1400" b="1" dirty="0"/>
              <a:t>direccionamiento lógico (IP)</a:t>
            </a:r>
            <a:r>
              <a:rPr lang="es-ES" sz="1400" dirty="0"/>
              <a:t> para enrutar el </a:t>
            </a:r>
            <a:r>
              <a:rPr lang="es-ES" sz="1400" b="1" dirty="0"/>
              <a:t>paquete IP </a:t>
            </a:r>
            <a:r>
              <a:rPr lang="es-ES" sz="1400" dirty="0"/>
              <a:t>a través de la WAN hasta su destino final.</a:t>
            </a:r>
          </a:p>
          <a:p>
            <a:endParaRPr lang="es-ES" sz="1400" dirty="0"/>
          </a:p>
          <a:p>
            <a:r>
              <a:rPr lang="es-ES" sz="1400" b="1" dirty="0"/>
              <a:t>1.-</a:t>
            </a:r>
            <a:r>
              <a:rPr lang="es-ES" sz="1400" dirty="0"/>
              <a:t>La Pc1 (en Spain) genera los datos y crea un Paquete IP con la IP de origen (Pc1) y la IP de destino (Pc2).</a:t>
            </a:r>
          </a:p>
          <a:p>
            <a:endParaRPr lang="es-ES" sz="1400" dirty="0"/>
          </a:p>
          <a:p>
            <a:r>
              <a:rPr lang="es-ES" sz="1400" b="1" dirty="0"/>
              <a:t>2.-</a:t>
            </a:r>
            <a:r>
              <a:rPr lang="es-ES" sz="1400" dirty="0"/>
              <a:t>El router </a:t>
            </a:r>
            <a:r>
              <a:rPr lang="es-ES" sz="1400" b="1" dirty="0"/>
              <a:t>R1</a:t>
            </a:r>
            <a:r>
              <a:rPr lang="es-ES" sz="1400" dirty="0"/>
              <a:t> recibe la trama Ethernet, revisa el tráiler para verificar que no tenga errores y </a:t>
            </a:r>
            <a:r>
              <a:rPr lang="es-ES" sz="1400" b="1" dirty="0"/>
              <a:t>deshace la encapsulación </a:t>
            </a:r>
            <a:r>
              <a:rPr lang="es-ES" sz="1400" dirty="0"/>
              <a:t>de Capa 2 (quita el Ethernet Header y Trailer). </a:t>
            </a:r>
            <a:r>
              <a:rPr lang="es-ES" sz="1400" b="1" dirty="0"/>
              <a:t>R1</a:t>
            </a:r>
            <a:r>
              <a:rPr lang="es-ES" sz="1400" dirty="0"/>
              <a:t> lee la IP de destino del Paquete IP en la Capa 3 y busca en su tabla de enrutamiento cómo llegar a la red de London.</a:t>
            </a:r>
          </a:p>
          <a:p>
            <a:r>
              <a:rPr lang="es-ES" sz="1400" dirty="0"/>
              <a:t>Al ver que la salida es una línea serial WAN, R1 toma el mismo paquete IP y </a:t>
            </a:r>
            <a:r>
              <a:rPr lang="es-ES" sz="1400" b="1" dirty="0"/>
              <a:t>lo encapsula en una trama HDLC </a:t>
            </a:r>
          </a:p>
          <a:p>
            <a:r>
              <a:rPr lang="es-ES" sz="1400" dirty="0"/>
              <a:t>Envía la nueva trama a través del enlace WAN hacia R2.</a:t>
            </a:r>
          </a:p>
          <a:p>
            <a:endParaRPr lang="es-ES" sz="1400" dirty="0"/>
          </a:p>
          <a:p>
            <a:r>
              <a:rPr lang="es-ES" sz="1400" b="1" dirty="0"/>
              <a:t>3.-</a:t>
            </a:r>
            <a:r>
              <a:rPr lang="es-ES" sz="1400" dirty="0"/>
              <a:t>El router </a:t>
            </a:r>
            <a:r>
              <a:rPr lang="es-ES" sz="1400" b="1" dirty="0"/>
              <a:t>R2</a:t>
            </a:r>
            <a:r>
              <a:rPr lang="es-ES" sz="1400" dirty="0"/>
              <a:t> (en London) recibe la trama a través del enlace serial WAN. Desencapsula la trama de Capa 2 eliminando el HDLC Header y el HDLC Trailer.</a:t>
            </a:r>
          </a:p>
          <a:p>
            <a:r>
              <a:rPr lang="es-ES" sz="1400" dirty="0"/>
              <a:t>R2 examina la IP de destino en el Paquete IP y detecta que esa red está conectada directamente a su interfaz LAN local.</a:t>
            </a:r>
          </a:p>
          <a:p>
            <a:endParaRPr lang="es-ES" sz="1400" dirty="0"/>
          </a:p>
          <a:p>
            <a:r>
              <a:rPr lang="es-ES" sz="1400" b="1" dirty="0"/>
              <a:t>4.-</a:t>
            </a:r>
            <a:r>
              <a:rPr lang="es-ES" sz="1400" dirty="0"/>
              <a:t>El router R2 vuelve a encapsular el paquete IP, </a:t>
            </a:r>
            <a:r>
              <a:rPr lang="es-ES" sz="1400" b="1" dirty="0"/>
              <a:t>pero ahora usando el protocolo de su red local: Ethernet </a:t>
            </a:r>
            <a:r>
              <a:rPr lang="es-ES" sz="1400" dirty="0"/>
              <a:t>(añadiendo un nuevo Ethernet Header con la MAC de destino de Pc2 y su respectivo Ethernet Trailer).R2 pone la trama en el cable LAN y esta llega finalmente a la Pc2, completando de manera exitosa el viaje de extremo a extremo.</a:t>
            </a:r>
          </a:p>
        </p:txBody>
      </p:sp>
      <p:graphicFrame>
        <p:nvGraphicFramePr>
          <p:cNvPr id="53" name="Tabla 52">
            <a:extLst>
              <a:ext uri="{FF2B5EF4-FFF2-40B4-BE49-F238E27FC236}">
                <a16:creationId xmlns:a16="http://schemas.microsoft.com/office/drawing/2014/main" id="{251E79F0-9AF9-6B4A-B32D-99A43DD647DC}"/>
              </a:ext>
            </a:extLst>
          </p:cNvPr>
          <p:cNvGraphicFramePr>
            <a:graphicFrameLocks noGrp="1"/>
          </p:cNvGraphicFramePr>
          <p:nvPr>
            <p:extLst>
              <p:ext uri="{D42A27DB-BD31-4B8C-83A1-F6EECF244321}">
                <p14:modId xmlns:p14="http://schemas.microsoft.com/office/powerpoint/2010/main" val="1074778046"/>
              </p:ext>
            </p:extLst>
          </p:nvPr>
        </p:nvGraphicFramePr>
        <p:xfrm>
          <a:off x="1033310" y="6325273"/>
          <a:ext cx="2082480" cy="478271"/>
        </p:xfrm>
        <a:graphic>
          <a:graphicData uri="http://schemas.openxmlformats.org/drawingml/2006/table">
            <a:tbl>
              <a:tblPr firstRow="1" bandRow="1">
                <a:tableStyleId>{5940675A-B579-460E-94D1-54222C63F5DA}</a:tableStyleId>
              </a:tblPr>
              <a:tblGrid>
                <a:gridCol w="694160">
                  <a:extLst>
                    <a:ext uri="{9D8B030D-6E8A-4147-A177-3AD203B41FA5}">
                      <a16:colId xmlns:a16="http://schemas.microsoft.com/office/drawing/2014/main" val="1343565177"/>
                    </a:ext>
                  </a:extLst>
                </a:gridCol>
                <a:gridCol w="694160">
                  <a:extLst>
                    <a:ext uri="{9D8B030D-6E8A-4147-A177-3AD203B41FA5}">
                      <a16:colId xmlns:a16="http://schemas.microsoft.com/office/drawing/2014/main" val="3271444070"/>
                    </a:ext>
                  </a:extLst>
                </a:gridCol>
                <a:gridCol w="694160">
                  <a:extLst>
                    <a:ext uri="{9D8B030D-6E8A-4147-A177-3AD203B41FA5}">
                      <a16:colId xmlns:a16="http://schemas.microsoft.com/office/drawing/2014/main" val="2339207603"/>
                    </a:ext>
                  </a:extLst>
                </a:gridCol>
              </a:tblGrid>
              <a:tr h="478271">
                <a:tc>
                  <a:txBody>
                    <a:bodyPr/>
                    <a:lstStyle/>
                    <a:p>
                      <a:pPr algn="ctr"/>
                      <a:r>
                        <a:rPr lang="es-ES" sz="800" b="1" dirty="0"/>
                        <a:t>Ethernet Header</a:t>
                      </a:r>
                    </a:p>
                  </a:txBody>
                  <a:tcPr anchor="ctr">
                    <a:cell3D prstMaterial="dkEdge">
                      <a:bevel/>
                      <a:lightRig rig="flood" dir="t"/>
                    </a:cell3D>
                    <a:solidFill>
                      <a:schemeClr val="accent6">
                        <a:lumMod val="40000"/>
                        <a:lumOff val="60000"/>
                      </a:schemeClr>
                    </a:solidFill>
                  </a:tcPr>
                </a:tc>
                <a:tc>
                  <a:txBody>
                    <a:bodyPr/>
                    <a:lstStyle/>
                    <a:p>
                      <a:pPr algn="ctr"/>
                      <a:r>
                        <a:rPr lang="es-ES" sz="800" b="1" dirty="0"/>
                        <a:t>Paquete IP</a:t>
                      </a:r>
                    </a:p>
                  </a:txBody>
                  <a:tcPr anchor="ctr">
                    <a:solidFill>
                      <a:schemeClr val="bg2"/>
                    </a:solidFill>
                  </a:tcPr>
                </a:tc>
                <a:tc>
                  <a:txBody>
                    <a:bodyPr/>
                    <a:lstStyle/>
                    <a:p>
                      <a:pPr algn="ctr"/>
                      <a:r>
                        <a:rPr lang="es-ES" sz="800" b="1" dirty="0"/>
                        <a:t>Ethernet Tráiler</a:t>
                      </a:r>
                    </a:p>
                  </a:txBody>
                  <a:tcPr anchor="ctr">
                    <a:cell3D prstMaterial="dkEdge">
                      <a:bevel/>
                      <a:lightRig rig="flood" dir="t"/>
                    </a:cell3D>
                    <a:solidFill>
                      <a:schemeClr val="accent6">
                        <a:lumMod val="40000"/>
                        <a:lumOff val="60000"/>
                      </a:schemeClr>
                    </a:solidFill>
                  </a:tcPr>
                </a:tc>
                <a:extLst>
                  <a:ext uri="{0D108BD9-81ED-4DB2-BD59-A6C34878D82A}">
                    <a16:rowId xmlns:a16="http://schemas.microsoft.com/office/drawing/2014/main" val="1678686"/>
                  </a:ext>
                </a:extLst>
              </a:tr>
            </a:tbl>
          </a:graphicData>
        </a:graphic>
      </p:graphicFrame>
      <p:sp>
        <p:nvSpPr>
          <p:cNvPr id="55" name="Flecha: a la derecha 54">
            <a:extLst>
              <a:ext uri="{FF2B5EF4-FFF2-40B4-BE49-F238E27FC236}">
                <a16:creationId xmlns:a16="http://schemas.microsoft.com/office/drawing/2014/main" id="{C9E5CFDF-3145-9098-F771-75BB20966A26}"/>
              </a:ext>
            </a:extLst>
          </p:cNvPr>
          <p:cNvSpPr/>
          <p:nvPr/>
        </p:nvSpPr>
        <p:spPr>
          <a:xfrm>
            <a:off x="3482928" y="6456229"/>
            <a:ext cx="244306" cy="24756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graphicFrame>
        <p:nvGraphicFramePr>
          <p:cNvPr id="57" name="Tabla 56">
            <a:extLst>
              <a:ext uri="{FF2B5EF4-FFF2-40B4-BE49-F238E27FC236}">
                <a16:creationId xmlns:a16="http://schemas.microsoft.com/office/drawing/2014/main" id="{E1774C8A-768B-9F11-8590-10529E93F6EC}"/>
              </a:ext>
            </a:extLst>
          </p:cNvPr>
          <p:cNvGraphicFramePr>
            <a:graphicFrameLocks noGrp="1"/>
          </p:cNvGraphicFramePr>
          <p:nvPr>
            <p:extLst>
              <p:ext uri="{D42A27DB-BD31-4B8C-83A1-F6EECF244321}">
                <p14:modId xmlns:p14="http://schemas.microsoft.com/office/powerpoint/2010/main" val="1063554161"/>
              </p:ext>
            </p:extLst>
          </p:nvPr>
        </p:nvGraphicFramePr>
        <p:xfrm>
          <a:off x="4683864" y="6367318"/>
          <a:ext cx="2082480" cy="478271"/>
        </p:xfrm>
        <a:graphic>
          <a:graphicData uri="http://schemas.openxmlformats.org/drawingml/2006/table">
            <a:tbl>
              <a:tblPr firstRow="1" bandRow="1">
                <a:tableStyleId>{5940675A-B579-460E-94D1-54222C63F5DA}</a:tableStyleId>
              </a:tblPr>
              <a:tblGrid>
                <a:gridCol w="694160">
                  <a:extLst>
                    <a:ext uri="{9D8B030D-6E8A-4147-A177-3AD203B41FA5}">
                      <a16:colId xmlns:a16="http://schemas.microsoft.com/office/drawing/2014/main" val="1343565177"/>
                    </a:ext>
                  </a:extLst>
                </a:gridCol>
                <a:gridCol w="694160">
                  <a:extLst>
                    <a:ext uri="{9D8B030D-6E8A-4147-A177-3AD203B41FA5}">
                      <a16:colId xmlns:a16="http://schemas.microsoft.com/office/drawing/2014/main" val="3271444070"/>
                    </a:ext>
                  </a:extLst>
                </a:gridCol>
                <a:gridCol w="694160">
                  <a:extLst>
                    <a:ext uri="{9D8B030D-6E8A-4147-A177-3AD203B41FA5}">
                      <a16:colId xmlns:a16="http://schemas.microsoft.com/office/drawing/2014/main" val="2339207603"/>
                    </a:ext>
                  </a:extLst>
                </a:gridCol>
              </a:tblGrid>
              <a:tr h="478271">
                <a:tc>
                  <a:txBody>
                    <a:bodyPr/>
                    <a:lstStyle/>
                    <a:p>
                      <a:pPr algn="ctr"/>
                      <a:r>
                        <a:rPr lang="es-ES" sz="800" b="1" dirty="0"/>
                        <a:t>HDLC</a:t>
                      </a:r>
                    </a:p>
                    <a:p>
                      <a:pPr algn="ctr"/>
                      <a:r>
                        <a:rPr lang="es-ES" sz="800" b="1" dirty="0"/>
                        <a:t>Header</a:t>
                      </a:r>
                    </a:p>
                  </a:txBody>
                  <a:tcPr anchor="ctr">
                    <a:cell3D prstMaterial="dkEdge">
                      <a:bevel/>
                      <a:lightRig rig="flood" dir="t"/>
                    </a:cell3D>
                    <a:solidFill>
                      <a:schemeClr val="accent2">
                        <a:lumMod val="60000"/>
                        <a:lumOff val="40000"/>
                      </a:schemeClr>
                    </a:solidFill>
                  </a:tcPr>
                </a:tc>
                <a:tc>
                  <a:txBody>
                    <a:bodyPr/>
                    <a:lstStyle/>
                    <a:p>
                      <a:pPr algn="ctr"/>
                      <a:r>
                        <a:rPr lang="es-ES" sz="800" b="1" dirty="0"/>
                        <a:t>Paquete IP</a:t>
                      </a:r>
                    </a:p>
                  </a:txBody>
                  <a:tcPr anchor="ctr">
                    <a:solidFill>
                      <a:schemeClr val="bg2"/>
                    </a:solidFill>
                  </a:tcPr>
                </a:tc>
                <a:tc>
                  <a:txBody>
                    <a:bodyPr/>
                    <a:lstStyle/>
                    <a:p>
                      <a:pPr algn="ctr"/>
                      <a:r>
                        <a:rPr lang="es-ES" sz="800" b="1" dirty="0"/>
                        <a:t>HDLC</a:t>
                      </a:r>
                    </a:p>
                    <a:p>
                      <a:pPr algn="ctr"/>
                      <a:r>
                        <a:rPr lang="es-ES" sz="800" b="1" dirty="0"/>
                        <a:t>Trailer</a:t>
                      </a:r>
                    </a:p>
                  </a:txBody>
                  <a:tcPr anchor="ctr">
                    <a:cell3D prstMaterial="dkEdge">
                      <a:bevel/>
                      <a:lightRig rig="flood" dir="t"/>
                    </a:cell3D>
                    <a:solidFill>
                      <a:schemeClr val="accent2">
                        <a:lumMod val="60000"/>
                        <a:lumOff val="40000"/>
                      </a:schemeClr>
                    </a:solidFill>
                  </a:tcPr>
                </a:tc>
                <a:extLst>
                  <a:ext uri="{0D108BD9-81ED-4DB2-BD59-A6C34878D82A}">
                    <a16:rowId xmlns:a16="http://schemas.microsoft.com/office/drawing/2014/main" val="1678686"/>
                  </a:ext>
                </a:extLst>
              </a:tr>
            </a:tbl>
          </a:graphicData>
        </a:graphic>
      </p:graphicFrame>
      <p:graphicFrame>
        <p:nvGraphicFramePr>
          <p:cNvPr id="59" name="Tabla 58">
            <a:extLst>
              <a:ext uri="{FF2B5EF4-FFF2-40B4-BE49-F238E27FC236}">
                <a16:creationId xmlns:a16="http://schemas.microsoft.com/office/drawing/2014/main" id="{1F3A67BE-3B95-B0D5-5877-81F49DBB8E0C}"/>
              </a:ext>
            </a:extLst>
          </p:cNvPr>
          <p:cNvGraphicFramePr>
            <a:graphicFrameLocks noGrp="1"/>
          </p:cNvGraphicFramePr>
          <p:nvPr>
            <p:extLst>
              <p:ext uri="{D42A27DB-BD31-4B8C-83A1-F6EECF244321}">
                <p14:modId xmlns:p14="http://schemas.microsoft.com/office/powerpoint/2010/main" val="2759723442"/>
              </p:ext>
            </p:extLst>
          </p:nvPr>
        </p:nvGraphicFramePr>
        <p:xfrm>
          <a:off x="8197010" y="6379729"/>
          <a:ext cx="2082480" cy="478271"/>
        </p:xfrm>
        <a:graphic>
          <a:graphicData uri="http://schemas.openxmlformats.org/drawingml/2006/table">
            <a:tbl>
              <a:tblPr firstRow="1" bandRow="1">
                <a:tableStyleId>{5940675A-B579-460E-94D1-54222C63F5DA}</a:tableStyleId>
              </a:tblPr>
              <a:tblGrid>
                <a:gridCol w="694160">
                  <a:extLst>
                    <a:ext uri="{9D8B030D-6E8A-4147-A177-3AD203B41FA5}">
                      <a16:colId xmlns:a16="http://schemas.microsoft.com/office/drawing/2014/main" val="1343565177"/>
                    </a:ext>
                  </a:extLst>
                </a:gridCol>
                <a:gridCol w="694160">
                  <a:extLst>
                    <a:ext uri="{9D8B030D-6E8A-4147-A177-3AD203B41FA5}">
                      <a16:colId xmlns:a16="http://schemas.microsoft.com/office/drawing/2014/main" val="3271444070"/>
                    </a:ext>
                  </a:extLst>
                </a:gridCol>
                <a:gridCol w="694160">
                  <a:extLst>
                    <a:ext uri="{9D8B030D-6E8A-4147-A177-3AD203B41FA5}">
                      <a16:colId xmlns:a16="http://schemas.microsoft.com/office/drawing/2014/main" val="2339207603"/>
                    </a:ext>
                  </a:extLst>
                </a:gridCol>
              </a:tblGrid>
              <a:tr h="478271">
                <a:tc>
                  <a:txBody>
                    <a:bodyPr/>
                    <a:lstStyle/>
                    <a:p>
                      <a:pPr algn="ctr"/>
                      <a:r>
                        <a:rPr lang="es-ES" sz="800" b="1" dirty="0"/>
                        <a:t>Ethernet Header</a:t>
                      </a:r>
                    </a:p>
                  </a:txBody>
                  <a:tcPr anchor="ctr">
                    <a:cell3D prstMaterial="dkEdge">
                      <a:bevel/>
                      <a:lightRig rig="flood" dir="t"/>
                    </a:cell3D>
                    <a:solidFill>
                      <a:schemeClr val="accent6">
                        <a:lumMod val="40000"/>
                        <a:lumOff val="60000"/>
                      </a:schemeClr>
                    </a:solidFill>
                  </a:tcPr>
                </a:tc>
                <a:tc>
                  <a:txBody>
                    <a:bodyPr/>
                    <a:lstStyle/>
                    <a:p>
                      <a:pPr algn="ctr"/>
                      <a:r>
                        <a:rPr lang="es-ES" sz="800" b="1" dirty="0"/>
                        <a:t>Paquete IP</a:t>
                      </a:r>
                    </a:p>
                  </a:txBody>
                  <a:tcPr anchor="ctr">
                    <a:solidFill>
                      <a:schemeClr val="bg2"/>
                    </a:solidFill>
                  </a:tcPr>
                </a:tc>
                <a:tc>
                  <a:txBody>
                    <a:bodyPr/>
                    <a:lstStyle/>
                    <a:p>
                      <a:pPr algn="ctr"/>
                      <a:r>
                        <a:rPr lang="es-ES" sz="800" b="1" dirty="0"/>
                        <a:t>Ethernet Tráiler</a:t>
                      </a:r>
                    </a:p>
                  </a:txBody>
                  <a:tcPr anchor="ctr">
                    <a:cell3D prstMaterial="dkEdge">
                      <a:bevel/>
                      <a:lightRig rig="flood" dir="t"/>
                    </a:cell3D>
                    <a:solidFill>
                      <a:schemeClr val="accent6">
                        <a:lumMod val="40000"/>
                        <a:lumOff val="60000"/>
                      </a:schemeClr>
                    </a:solidFill>
                  </a:tcPr>
                </a:tc>
                <a:extLst>
                  <a:ext uri="{0D108BD9-81ED-4DB2-BD59-A6C34878D82A}">
                    <a16:rowId xmlns:a16="http://schemas.microsoft.com/office/drawing/2014/main" val="1678686"/>
                  </a:ext>
                </a:extLst>
              </a:tr>
            </a:tbl>
          </a:graphicData>
        </a:graphic>
      </p:graphicFrame>
      <p:sp>
        <p:nvSpPr>
          <p:cNvPr id="61" name="Flecha: a la derecha 60">
            <a:extLst>
              <a:ext uri="{FF2B5EF4-FFF2-40B4-BE49-F238E27FC236}">
                <a16:creationId xmlns:a16="http://schemas.microsoft.com/office/drawing/2014/main" id="{354BC724-3A29-BD3F-1CE7-8D53B0DB2B3E}"/>
              </a:ext>
            </a:extLst>
          </p:cNvPr>
          <p:cNvSpPr/>
          <p:nvPr/>
        </p:nvSpPr>
        <p:spPr>
          <a:xfrm>
            <a:off x="7506537" y="6473561"/>
            <a:ext cx="244306" cy="24756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63" name="CuadroTexto 62">
            <a:extLst>
              <a:ext uri="{FF2B5EF4-FFF2-40B4-BE49-F238E27FC236}">
                <a16:creationId xmlns:a16="http://schemas.microsoft.com/office/drawing/2014/main" id="{E64E1FBC-B86F-EB8A-3E51-B9E8EEAA482B}"/>
              </a:ext>
            </a:extLst>
          </p:cNvPr>
          <p:cNvSpPr txBox="1"/>
          <p:nvPr/>
        </p:nvSpPr>
        <p:spPr>
          <a:xfrm>
            <a:off x="1729998" y="4685036"/>
            <a:ext cx="668349" cy="307777"/>
          </a:xfrm>
          <a:prstGeom prst="rect">
            <a:avLst/>
          </a:prstGeom>
          <a:noFill/>
        </p:spPr>
        <p:txBody>
          <a:bodyPr wrap="square">
            <a:spAutoFit/>
          </a:bodyPr>
          <a:lstStyle/>
          <a:p>
            <a:r>
              <a:rPr lang="es-ES" sz="1400" b="1" dirty="0"/>
              <a:t>Pc1</a:t>
            </a:r>
            <a:endParaRPr lang="es-ES" b="1" dirty="0"/>
          </a:p>
        </p:txBody>
      </p:sp>
      <p:sp>
        <p:nvSpPr>
          <p:cNvPr id="65" name="CuadroTexto 64">
            <a:extLst>
              <a:ext uri="{FF2B5EF4-FFF2-40B4-BE49-F238E27FC236}">
                <a16:creationId xmlns:a16="http://schemas.microsoft.com/office/drawing/2014/main" id="{7E99183E-F3CA-A09A-971A-33BC0298E990}"/>
              </a:ext>
            </a:extLst>
          </p:cNvPr>
          <p:cNvSpPr txBox="1"/>
          <p:nvPr/>
        </p:nvSpPr>
        <p:spPr>
          <a:xfrm>
            <a:off x="9393758" y="4685036"/>
            <a:ext cx="528746" cy="307777"/>
          </a:xfrm>
          <a:prstGeom prst="rect">
            <a:avLst/>
          </a:prstGeom>
          <a:noFill/>
        </p:spPr>
        <p:txBody>
          <a:bodyPr wrap="square">
            <a:spAutoFit/>
          </a:bodyPr>
          <a:lstStyle/>
          <a:p>
            <a:r>
              <a:rPr lang="es-ES" sz="1400" b="1" dirty="0"/>
              <a:t>Pc2</a:t>
            </a:r>
            <a:endParaRPr lang="es-ES" b="1" dirty="0"/>
          </a:p>
        </p:txBody>
      </p:sp>
      <p:sp>
        <p:nvSpPr>
          <p:cNvPr id="67" name="CuadroTexto 66">
            <a:extLst>
              <a:ext uri="{FF2B5EF4-FFF2-40B4-BE49-F238E27FC236}">
                <a16:creationId xmlns:a16="http://schemas.microsoft.com/office/drawing/2014/main" id="{848A42AB-31BA-5FBA-04BB-A32FA8A682E4}"/>
              </a:ext>
            </a:extLst>
          </p:cNvPr>
          <p:cNvSpPr txBox="1"/>
          <p:nvPr/>
        </p:nvSpPr>
        <p:spPr>
          <a:xfrm>
            <a:off x="4039712" y="4685036"/>
            <a:ext cx="668349" cy="307777"/>
          </a:xfrm>
          <a:prstGeom prst="rect">
            <a:avLst/>
          </a:prstGeom>
          <a:noFill/>
        </p:spPr>
        <p:txBody>
          <a:bodyPr wrap="square">
            <a:spAutoFit/>
          </a:bodyPr>
          <a:lstStyle/>
          <a:p>
            <a:r>
              <a:rPr lang="es-ES" sz="1400" b="1" dirty="0"/>
              <a:t>R1</a:t>
            </a:r>
            <a:endParaRPr lang="es-ES" b="1" dirty="0"/>
          </a:p>
        </p:txBody>
      </p:sp>
      <p:sp>
        <p:nvSpPr>
          <p:cNvPr id="69" name="CuadroTexto 68">
            <a:extLst>
              <a:ext uri="{FF2B5EF4-FFF2-40B4-BE49-F238E27FC236}">
                <a16:creationId xmlns:a16="http://schemas.microsoft.com/office/drawing/2014/main" id="{56C75BB4-9163-5B2D-384F-2C4B45AFF949}"/>
              </a:ext>
            </a:extLst>
          </p:cNvPr>
          <p:cNvSpPr txBox="1"/>
          <p:nvPr/>
        </p:nvSpPr>
        <p:spPr>
          <a:xfrm>
            <a:off x="6960341" y="4684358"/>
            <a:ext cx="668349" cy="307777"/>
          </a:xfrm>
          <a:prstGeom prst="rect">
            <a:avLst/>
          </a:prstGeom>
          <a:noFill/>
        </p:spPr>
        <p:txBody>
          <a:bodyPr wrap="square">
            <a:spAutoFit/>
          </a:bodyPr>
          <a:lstStyle/>
          <a:p>
            <a:r>
              <a:rPr lang="es-ES" sz="1400" b="1" dirty="0"/>
              <a:t>R2</a:t>
            </a:r>
            <a:endParaRPr lang="es-ES" b="1" dirty="0"/>
          </a:p>
        </p:txBody>
      </p:sp>
      <p:sp>
        <p:nvSpPr>
          <p:cNvPr id="71" name="CuadroTexto 70">
            <a:extLst>
              <a:ext uri="{FF2B5EF4-FFF2-40B4-BE49-F238E27FC236}">
                <a16:creationId xmlns:a16="http://schemas.microsoft.com/office/drawing/2014/main" id="{C4ECA557-B3F8-6E36-0299-C13F0F78DAA7}"/>
              </a:ext>
            </a:extLst>
          </p:cNvPr>
          <p:cNvSpPr txBox="1"/>
          <p:nvPr/>
        </p:nvSpPr>
        <p:spPr>
          <a:xfrm>
            <a:off x="2842668" y="384262"/>
            <a:ext cx="3968772" cy="523220"/>
          </a:xfrm>
          <a:prstGeom prst="rect">
            <a:avLst/>
          </a:prstGeom>
          <a:noFill/>
        </p:spPr>
        <p:txBody>
          <a:bodyPr wrap="square">
            <a:spAutoFit/>
          </a:bodyPr>
          <a:lstStyle/>
          <a:p>
            <a:r>
              <a:rPr lang="es-ES" sz="1400" b="1" u="sng" dirty="0">
                <a:latin typeface="Google Sans"/>
              </a:rPr>
              <a:t>Redes WAN tradicional (Antigua, Conexión Serial)</a:t>
            </a:r>
          </a:p>
          <a:p>
            <a:r>
              <a:rPr lang="es-ES" sz="1400" b="1" u="sng" dirty="0">
                <a:latin typeface="Google Sans"/>
              </a:rPr>
              <a:t>Leased Lines</a:t>
            </a:r>
          </a:p>
        </p:txBody>
      </p:sp>
      <p:pic>
        <p:nvPicPr>
          <p:cNvPr id="73" name="Imagen 72">
            <a:extLst>
              <a:ext uri="{FF2B5EF4-FFF2-40B4-BE49-F238E27FC236}">
                <a16:creationId xmlns:a16="http://schemas.microsoft.com/office/drawing/2014/main" id="{0E370C0E-B726-90B3-3152-8E6B71B64EFA}"/>
              </a:ext>
            </a:extLst>
          </p:cNvPr>
          <p:cNvPicPr>
            <a:picLocks noChangeAspect="1"/>
          </p:cNvPicPr>
          <p:nvPr/>
        </p:nvPicPr>
        <p:blipFill>
          <a:blip r:embed="rId5"/>
          <a:stretch>
            <a:fillRect/>
          </a:stretch>
        </p:blipFill>
        <p:spPr>
          <a:xfrm>
            <a:off x="6777098" y="428049"/>
            <a:ext cx="649185" cy="333693"/>
          </a:xfrm>
          <a:prstGeom prst="rect">
            <a:avLst/>
          </a:prstGeom>
        </p:spPr>
      </p:pic>
      <p:pic>
        <p:nvPicPr>
          <p:cNvPr id="75" name="Imagen 74">
            <a:extLst>
              <a:ext uri="{FF2B5EF4-FFF2-40B4-BE49-F238E27FC236}">
                <a16:creationId xmlns:a16="http://schemas.microsoft.com/office/drawing/2014/main" id="{5E094E86-B276-F038-9FB7-8781E702577F}"/>
              </a:ext>
            </a:extLst>
          </p:cNvPr>
          <p:cNvPicPr>
            <a:picLocks noChangeAspect="1"/>
          </p:cNvPicPr>
          <p:nvPr/>
        </p:nvPicPr>
        <p:blipFill>
          <a:blip r:embed="rId6"/>
          <a:stretch>
            <a:fillRect/>
          </a:stretch>
        </p:blipFill>
        <p:spPr>
          <a:xfrm>
            <a:off x="7536753" y="351846"/>
            <a:ext cx="547727" cy="441715"/>
          </a:xfrm>
          <a:prstGeom prst="rect">
            <a:avLst/>
          </a:prstGeom>
        </p:spPr>
      </p:pic>
      <p:cxnSp>
        <p:nvCxnSpPr>
          <p:cNvPr id="24" name="Conector: angular 23">
            <a:extLst>
              <a:ext uri="{FF2B5EF4-FFF2-40B4-BE49-F238E27FC236}">
                <a16:creationId xmlns:a16="http://schemas.microsoft.com/office/drawing/2014/main" id="{B9AE0111-19B1-2E5C-7E45-AB1D80E048B3}"/>
              </a:ext>
            </a:extLst>
          </p:cNvPr>
          <p:cNvCxnSpPr>
            <a:cxnSpLocks/>
          </p:cNvCxnSpPr>
          <p:nvPr/>
        </p:nvCxnSpPr>
        <p:spPr>
          <a:xfrm flipV="1">
            <a:off x="4638769" y="5177920"/>
            <a:ext cx="2172671" cy="129644"/>
          </a:xfrm>
          <a:prstGeom prst="bentConnector3">
            <a:avLst/>
          </a:prstGeom>
          <a:ln>
            <a:solidFill>
              <a:srgbClr val="FF0000"/>
            </a:solidFill>
          </a:ln>
        </p:spPr>
        <p:style>
          <a:lnRef idx="2">
            <a:schemeClr val="accent1"/>
          </a:lnRef>
          <a:fillRef idx="0">
            <a:schemeClr val="accent1"/>
          </a:fillRef>
          <a:effectRef idx="1">
            <a:schemeClr val="accent1"/>
          </a:effectRef>
          <a:fontRef idx="minor">
            <a:schemeClr val="tx1"/>
          </a:fontRef>
        </p:style>
      </p:cxnSp>
      <p:graphicFrame>
        <p:nvGraphicFramePr>
          <p:cNvPr id="27" name="Tabla 26">
            <a:extLst>
              <a:ext uri="{FF2B5EF4-FFF2-40B4-BE49-F238E27FC236}">
                <a16:creationId xmlns:a16="http://schemas.microsoft.com/office/drawing/2014/main" id="{A1ED27F5-662F-B48E-711F-3E67653A0FAF}"/>
              </a:ext>
            </a:extLst>
          </p:cNvPr>
          <p:cNvGraphicFramePr>
            <a:graphicFrameLocks noGrp="1"/>
          </p:cNvGraphicFramePr>
          <p:nvPr>
            <p:extLst>
              <p:ext uri="{D42A27DB-BD31-4B8C-83A1-F6EECF244321}">
                <p14:modId xmlns:p14="http://schemas.microsoft.com/office/powerpoint/2010/main" val="1770309073"/>
              </p:ext>
            </p:extLst>
          </p:nvPr>
        </p:nvGraphicFramePr>
        <p:xfrm>
          <a:off x="8307428" y="375583"/>
          <a:ext cx="3697298" cy="563441"/>
        </p:xfrm>
        <a:graphic>
          <a:graphicData uri="http://schemas.openxmlformats.org/drawingml/2006/table">
            <a:tbl>
              <a:tblPr firstRow="1" bandRow="1">
                <a:tableStyleId>{8A107856-5554-42FB-B03E-39F5DBC370BA}</a:tableStyleId>
              </a:tblPr>
              <a:tblGrid>
                <a:gridCol w="648516">
                  <a:extLst>
                    <a:ext uri="{9D8B030D-6E8A-4147-A177-3AD203B41FA5}">
                      <a16:colId xmlns:a16="http://schemas.microsoft.com/office/drawing/2014/main" val="4100333054"/>
                    </a:ext>
                  </a:extLst>
                </a:gridCol>
                <a:gridCol w="534279">
                  <a:extLst>
                    <a:ext uri="{9D8B030D-6E8A-4147-A177-3AD203B41FA5}">
                      <a16:colId xmlns:a16="http://schemas.microsoft.com/office/drawing/2014/main" val="1583216802"/>
                    </a:ext>
                  </a:extLst>
                </a:gridCol>
                <a:gridCol w="532796">
                  <a:extLst>
                    <a:ext uri="{9D8B030D-6E8A-4147-A177-3AD203B41FA5}">
                      <a16:colId xmlns:a16="http://schemas.microsoft.com/office/drawing/2014/main" val="3716650630"/>
                    </a:ext>
                  </a:extLst>
                </a:gridCol>
                <a:gridCol w="476898">
                  <a:extLst>
                    <a:ext uri="{9D8B030D-6E8A-4147-A177-3AD203B41FA5}">
                      <a16:colId xmlns:a16="http://schemas.microsoft.com/office/drawing/2014/main" val="1713188863"/>
                    </a:ext>
                  </a:extLst>
                </a:gridCol>
                <a:gridCol w="977168">
                  <a:extLst>
                    <a:ext uri="{9D8B030D-6E8A-4147-A177-3AD203B41FA5}">
                      <a16:colId xmlns:a16="http://schemas.microsoft.com/office/drawing/2014/main" val="3841236818"/>
                    </a:ext>
                  </a:extLst>
                </a:gridCol>
                <a:gridCol w="527641">
                  <a:extLst>
                    <a:ext uri="{9D8B030D-6E8A-4147-A177-3AD203B41FA5}">
                      <a16:colId xmlns:a16="http://schemas.microsoft.com/office/drawing/2014/main" val="3054945508"/>
                    </a:ext>
                  </a:extLst>
                </a:gridCol>
              </a:tblGrid>
              <a:tr h="334841">
                <a:tc>
                  <a:txBody>
                    <a:bodyPr/>
                    <a:lstStyle/>
                    <a:p>
                      <a:pPr algn="ctr"/>
                      <a:r>
                        <a:rPr lang="es-ES" sz="700" dirty="0"/>
                        <a:t>Flag (preamble)</a:t>
                      </a:r>
                    </a:p>
                  </a:txBody>
                  <a:tcPr anchor="ctr"/>
                </a:tc>
                <a:tc>
                  <a:txBody>
                    <a:bodyPr/>
                    <a:lstStyle/>
                    <a:p>
                      <a:pPr algn="ctr"/>
                      <a:r>
                        <a:rPr lang="es-ES" sz="700" dirty="0"/>
                        <a:t>Address</a:t>
                      </a:r>
                    </a:p>
                  </a:txBody>
                  <a:tcPr anchor="ctr"/>
                </a:tc>
                <a:tc>
                  <a:txBody>
                    <a:bodyPr/>
                    <a:lstStyle/>
                    <a:p>
                      <a:pPr algn="ctr"/>
                      <a:r>
                        <a:rPr lang="es-ES" sz="700" dirty="0"/>
                        <a:t>Control</a:t>
                      </a:r>
                    </a:p>
                  </a:txBody>
                  <a:tcPr anchor="ctr"/>
                </a:tc>
                <a:tc>
                  <a:txBody>
                    <a:bodyPr/>
                    <a:lstStyle/>
                    <a:p>
                      <a:pPr algn="ctr"/>
                      <a:r>
                        <a:rPr lang="es-ES" sz="700" dirty="0"/>
                        <a:t>Type</a:t>
                      </a:r>
                    </a:p>
                  </a:txBody>
                  <a:tcPr anchor="ctr"/>
                </a:tc>
                <a:tc>
                  <a:txBody>
                    <a:bodyPr/>
                    <a:lstStyle/>
                    <a:p>
                      <a:pPr algn="ctr"/>
                      <a:r>
                        <a:rPr lang="es-ES" sz="700" dirty="0"/>
                        <a:t>Data</a:t>
                      </a:r>
                    </a:p>
                  </a:txBody>
                  <a:tcPr anchor="ctr"/>
                </a:tc>
                <a:tc>
                  <a:txBody>
                    <a:bodyPr/>
                    <a:lstStyle/>
                    <a:p>
                      <a:pPr algn="ctr"/>
                      <a:r>
                        <a:rPr lang="es-ES" sz="700" dirty="0"/>
                        <a:t>FCS</a:t>
                      </a:r>
                    </a:p>
                  </a:txBody>
                  <a:tcPr anchor="ctr"/>
                </a:tc>
                <a:extLst>
                  <a:ext uri="{0D108BD9-81ED-4DB2-BD59-A6C34878D82A}">
                    <a16:rowId xmlns:a16="http://schemas.microsoft.com/office/drawing/2014/main" val="2213139133"/>
                  </a:ext>
                </a:extLst>
              </a:tr>
              <a:tr h="207269">
                <a:tc>
                  <a:txBody>
                    <a:bodyPr/>
                    <a:lstStyle/>
                    <a:p>
                      <a:pPr algn="ctr"/>
                      <a:r>
                        <a:rPr lang="es-ES" sz="900" b="1" dirty="0"/>
                        <a:t>1</a:t>
                      </a:r>
                    </a:p>
                  </a:txBody>
                  <a:tcPr anchor="ctr"/>
                </a:tc>
                <a:tc>
                  <a:txBody>
                    <a:bodyPr/>
                    <a:lstStyle/>
                    <a:p>
                      <a:pPr algn="ctr"/>
                      <a:r>
                        <a:rPr lang="es-ES" sz="900" b="1" dirty="0"/>
                        <a:t>1</a:t>
                      </a:r>
                    </a:p>
                  </a:txBody>
                  <a:tcPr anchor="ctr"/>
                </a:tc>
                <a:tc>
                  <a:txBody>
                    <a:bodyPr/>
                    <a:lstStyle/>
                    <a:p>
                      <a:pPr marL="0" algn="ctr" defTabSz="914400" rtl="0" eaLnBrk="1" latinLnBrk="0" hangingPunct="1"/>
                      <a:r>
                        <a:rPr lang="es-ES" sz="900" b="1" kern="1200" dirty="0">
                          <a:solidFill>
                            <a:schemeClr val="dk1"/>
                          </a:solidFill>
                          <a:latin typeface="+mn-lt"/>
                          <a:ea typeface="+mn-ea"/>
                          <a:cs typeface="+mn-cs"/>
                        </a:rPr>
                        <a:t>1</a:t>
                      </a:r>
                    </a:p>
                  </a:txBody>
                  <a:tcPr anchor="ctr"/>
                </a:tc>
                <a:tc>
                  <a:txBody>
                    <a:bodyPr/>
                    <a:lstStyle/>
                    <a:p>
                      <a:pPr algn="ctr"/>
                      <a:r>
                        <a:rPr lang="es-ES" sz="900" b="1" dirty="0"/>
                        <a:t>2</a:t>
                      </a:r>
                    </a:p>
                  </a:txBody>
                  <a:tcPr anchor="ctr"/>
                </a:tc>
                <a:tc>
                  <a:txBody>
                    <a:bodyPr/>
                    <a:lstStyle/>
                    <a:p>
                      <a:pPr algn="ctr"/>
                      <a:r>
                        <a:rPr lang="es-ES" sz="900" b="1" dirty="0"/>
                        <a:t>Variable</a:t>
                      </a:r>
                    </a:p>
                  </a:txBody>
                  <a:tcPr anchor="ctr"/>
                </a:tc>
                <a:tc>
                  <a:txBody>
                    <a:bodyPr/>
                    <a:lstStyle/>
                    <a:p>
                      <a:pPr algn="ctr"/>
                      <a:r>
                        <a:rPr lang="es-ES" sz="900" b="1" dirty="0"/>
                        <a:t>2</a:t>
                      </a:r>
                    </a:p>
                  </a:txBody>
                  <a:tcPr anchor="ctr"/>
                </a:tc>
                <a:extLst>
                  <a:ext uri="{0D108BD9-81ED-4DB2-BD59-A6C34878D82A}">
                    <a16:rowId xmlns:a16="http://schemas.microsoft.com/office/drawing/2014/main" val="1113509079"/>
                  </a:ext>
                </a:extLst>
              </a:tr>
            </a:tbl>
          </a:graphicData>
        </a:graphic>
      </p:graphicFrame>
      <p:sp>
        <p:nvSpPr>
          <p:cNvPr id="29" name="CuadroTexto 28">
            <a:extLst>
              <a:ext uri="{FF2B5EF4-FFF2-40B4-BE49-F238E27FC236}">
                <a16:creationId xmlns:a16="http://schemas.microsoft.com/office/drawing/2014/main" id="{2054C8CC-7957-6508-FE63-B66061612708}"/>
              </a:ext>
            </a:extLst>
          </p:cNvPr>
          <p:cNvSpPr txBox="1"/>
          <p:nvPr/>
        </p:nvSpPr>
        <p:spPr>
          <a:xfrm>
            <a:off x="8966083" y="19518"/>
            <a:ext cx="2318392" cy="369332"/>
          </a:xfrm>
          <a:prstGeom prst="rect">
            <a:avLst/>
          </a:prstGeom>
          <a:noFill/>
        </p:spPr>
        <p:txBody>
          <a:bodyPr wrap="none" rtlCol="0">
            <a:spAutoFit/>
          </a:bodyPr>
          <a:lstStyle/>
          <a:p>
            <a:r>
              <a:rPr lang="es-ES" dirty="0"/>
              <a:t>HDLC &amp; PPP HEADER</a:t>
            </a:r>
          </a:p>
        </p:txBody>
      </p:sp>
    </p:spTree>
    <p:extLst>
      <p:ext uri="{BB962C8B-B14F-4D97-AF65-F5344CB8AC3E}">
        <p14:creationId xmlns:p14="http://schemas.microsoft.com/office/powerpoint/2010/main" val="25102173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1" name="Conector recto 40">
            <a:extLst>
              <a:ext uri="{FF2B5EF4-FFF2-40B4-BE49-F238E27FC236}">
                <a16:creationId xmlns:a16="http://schemas.microsoft.com/office/drawing/2014/main" id="{5C1DACE2-45B6-CFC2-CC91-3D83859F158B}"/>
              </a:ext>
            </a:extLst>
          </p:cNvPr>
          <p:cNvCxnSpPr>
            <a:cxnSpLocks/>
            <a:stCxn id="15" idx="3"/>
            <a:endCxn id="16" idx="1"/>
          </p:cNvCxnSpPr>
          <p:nvPr/>
        </p:nvCxnSpPr>
        <p:spPr>
          <a:xfrm flipV="1">
            <a:off x="4638769" y="5266014"/>
            <a:ext cx="2172671" cy="10531"/>
          </a:xfrm>
          <a:prstGeom prst="line">
            <a:avLst/>
          </a:prstGeom>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5460B47B-A415-48D0-6447-4F092D02AFCC}"/>
              </a:ext>
            </a:extLst>
          </p:cNvPr>
          <p:cNvSpPr txBox="1"/>
          <p:nvPr/>
        </p:nvSpPr>
        <p:spPr>
          <a:xfrm>
            <a:off x="-321133" y="0"/>
            <a:ext cx="3329579" cy="461665"/>
          </a:xfrm>
          <a:prstGeom prst="rect">
            <a:avLst/>
          </a:prstGeom>
          <a:noFill/>
        </p:spPr>
        <p:txBody>
          <a:bodyPr wrap="square">
            <a:spAutoFit/>
          </a:bodyPr>
          <a:lstStyle/>
          <a:p>
            <a:pPr algn="ctr"/>
            <a:r>
              <a:rPr lang="es-ES" sz="1200" dirty="0">
                <a:ln w="0"/>
                <a:effectLst>
                  <a:outerShdw blurRad="38100" dist="19050" dir="2700000" algn="tl" rotWithShape="0">
                    <a:schemeClr val="dk1">
                      <a:alpha val="40000"/>
                    </a:schemeClr>
                  </a:outerShdw>
                </a:effectLst>
              </a:rPr>
              <a:t>1. Introducción a las redes</a:t>
            </a:r>
          </a:p>
          <a:p>
            <a:pPr algn="ctr"/>
            <a:r>
              <a:rPr lang="es-ES" sz="1200" b="1" dirty="0"/>
              <a:t>WANs y Routing IP</a:t>
            </a:r>
          </a:p>
        </p:txBody>
      </p:sp>
      <p:pic>
        <p:nvPicPr>
          <p:cNvPr id="5" name="Imagen 4">
            <a:extLst>
              <a:ext uri="{FF2B5EF4-FFF2-40B4-BE49-F238E27FC236}">
                <a16:creationId xmlns:a16="http://schemas.microsoft.com/office/drawing/2014/main" id="{D551948D-310C-2B02-E249-36CC181144C0}"/>
              </a:ext>
            </a:extLst>
          </p:cNvPr>
          <p:cNvPicPr>
            <a:picLocks noChangeAspect="1"/>
          </p:cNvPicPr>
          <p:nvPr/>
        </p:nvPicPr>
        <p:blipFill>
          <a:blip r:embed="rId2"/>
          <a:stretch>
            <a:fillRect/>
          </a:stretch>
        </p:blipFill>
        <p:spPr>
          <a:xfrm>
            <a:off x="6612457" y="545665"/>
            <a:ext cx="530866" cy="490649"/>
          </a:xfrm>
          <a:prstGeom prst="rect">
            <a:avLst/>
          </a:prstGeom>
        </p:spPr>
      </p:pic>
      <p:pic>
        <p:nvPicPr>
          <p:cNvPr id="7" name="Imagen 6">
            <a:extLst>
              <a:ext uri="{FF2B5EF4-FFF2-40B4-BE49-F238E27FC236}">
                <a16:creationId xmlns:a16="http://schemas.microsoft.com/office/drawing/2014/main" id="{F1305F3A-3AA3-7601-13E9-D9A997EDA59A}"/>
              </a:ext>
            </a:extLst>
          </p:cNvPr>
          <p:cNvPicPr>
            <a:picLocks noChangeAspect="1"/>
          </p:cNvPicPr>
          <p:nvPr/>
        </p:nvPicPr>
        <p:blipFill>
          <a:blip r:embed="rId3"/>
          <a:stretch>
            <a:fillRect/>
          </a:stretch>
        </p:blipFill>
        <p:spPr>
          <a:xfrm>
            <a:off x="7438200" y="577224"/>
            <a:ext cx="649185" cy="442136"/>
          </a:xfrm>
          <a:prstGeom prst="rect">
            <a:avLst/>
          </a:prstGeom>
        </p:spPr>
      </p:pic>
      <p:sp>
        <p:nvSpPr>
          <p:cNvPr id="9" name="CuadroTexto 8">
            <a:extLst>
              <a:ext uri="{FF2B5EF4-FFF2-40B4-BE49-F238E27FC236}">
                <a16:creationId xmlns:a16="http://schemas.microsoft.com/office/drawing/2014/main" id="{2B7ED0C4-1977-A614-B3B9-BA9D1FF9909E}"/>
              </a:ext>
            </a:extLst>
          </p:cNvPr>
          <p:cNvSpPr txBox="1"/>
          <p:nvPr/>
        </p:nvSpPr>
        <p:spPr>
          <a:xfrm>
            <a:off x="3731252" y="-22499"/>
            <a:ext cx="3951253" cy="461665"/>
          </a:xfrm>
          <a:prstGeom prst="rect">
            <a:avLst/>
          </a:prstGeom>
          <a:noFill/>
        </p:spPr>
        <p:txBody>
          <a:bodyPr wrap="square">
            <a:spAutoFit/>
          </a:bodyPr>
          <a:lstStyle/>
          <a:p>
            <a:pPr algn="ctr"/>
            <a:r>
              <a:rPr lang="es-ES" sz="2400" b="1" dirty="0"/>
              <a:t>Red WAN</a:t>
            </a:r>
          </a:p>
        </p:txBody>
      </p:sp>
      <p:sp>
        <p:nvSpPr>
          <p:cNvPr id="11" name="CuadroTexto 10">
            <a:extLst>
              <a:ext uri="{FF2B5EF4-FFF2-40B4-BE49-F238E27FC236}">
                <a16:creationId xmlns:a16="http://schemas.microsoft.com/office/drawing/2014/main" id="{17559DBD-807D-2B40-75B9-C1409ACE6D8A}"/>
              </a:ext>
            </a:extLst>
          </p:cNvPr>
          <p:cNvSpPr txBox="1"/>
          <p:nvPr/>
        </p:nvSpPr>
        <p:spPr>
          <a:xfrm>
            <a:off x="3303359" y="621713"/>
            <a:ext cx="3083481" cy="338554"/>
          </a:xfrm>
          <a:prstGeom prst="rect">
            <a:avLst/>
          </a:prstGeom>
          <a:noFill/>
        </p:spPr>
        <p:txBody>
          <a:bodyPr wrap="square">
            <a:spAutoFit/>
          </a:bodyPr>
          <a:lstStyle/>
          <a:p>
            <a:pPr marL="285750" indent="-285750">
              <a:buFont typeface="Wingdings" panose="05000000000000000000" pitchFamily="2" charset="2"/>
              <a:buChar char="§"/>
            </a:pPr>
            <a:r>
              <a:rPr lang="es-ES" sz="1600" b="1" u="sng" dirty="0">
                <a:latin typeface="Google Sans"/>
              </a:rPr>
              <a:t>Redes WAN Ethernet (actual)</a:t>
            </a:r>
          </a:p>
        </p:txBody>
      </p:sp>
      <p:sp>
        <p:nvSpPr>
          <p:cNvPr id="12" name="CuadroTexto 11">
            <a:extLst>
              <a:ext uri="{FF2B5EF4-FFF2-40B4-BE49-F238E27FC236}">
                <a16:creationId xmlns:a16="http://schemas.microsoft.com/office/drawing/2014/main" id="{349861EF-D8BE-9973-807A-77E153F56837}"/>
              </a:ext>
            </a:extLst>
          </p:cNvPr>
          <p:cNvSpPr txBox="1"/>
          <p:nvPr/>
        </p:nvSpPr>
        <p:spPr>
          <a:xfrm>
            <a:off x="0" y="1201907"/>
            <a:ext cx="12192000" cy="2462213"/>
          </a:xfrm>
          <a:prstGeom prst="rect">
            <a:avLst/>
          </a:prstGeom>
          <a:noFill/>
        </p:spPr>
        <p:txBody>
          <a:bodyPr wrap="square" rtlCol="0">
            <a:spAutoFit/>
          </a:bodyPr>
          <a:lstStyle/>
          <a:p>
            <a:r>
              <a:rPr lang="es-ES" sz="1400" dirty="0"/>
              <a:t>Las </a:t>
            </a:r>
            <a:r>
              <a:rPr lang="es-ES" sz="1400" b="1" dirty="0"/>
              <a:t>Ethernet WAN actuales </a:t>
            </a:r>
            <a:r>
              <a:rPr lang="es-ES" sz="1400" dirty="0"/>
              <a:t>(también llamadas </a:t>
            </a:r>
            <a:r>
              <a:rPr lang="es-ES" sz="1400" b="1" dirty="0"/>
              <a:t>Metro Ethernet o E-Line</a:t>
            </a:r>
            <a:r>
              <a:rPr lang="es-ES" sz="1400" dirty="0"/>
              <a:t>) permiten conectar redes separadas geográficamente </a:t>
            </a:r>
            <a:r>
              <a:rPr lang="es-ES" sz="1400" b="1" dirty="0"/>
              <a:t>utilizando el estándar Ethernet </a:t>
            </a:r>
            <a:r>
              <a:rPr lang="es-ES" sz="1400" dirty="0"/>
              <a:t>tradicional sobre infraestructura de fibra óptica de larga distancia. Esto elimina la necesidad de traducir protocolos entre la LAN y la WAN (Pasar de Ethernet a HDLC y luego a Ethernet), ofreciendo velocidades masivas desde 1 Gbps hasta más de 100 Gbp gracias a los estándares de fibra que hemos visto.</a:t>
            </a:r>
          </a:p>
          <a:p>
            <a:endParaRPr lang="es-ES" sz="1400" dirty="0"/>
          </a:p>
          <a:p>
            <a:r>
              <a:rPr lang="es-ES" sz="1400" dirty="0"/>
              <a:t>En este caso El router que sale a “Internet” de la empresa o del hogar conecta con un “Punto de Presencia” o PoP que es la instalación física del proveedor de servicios de Internet (ISP) que actúa como punto de acceso local a su red troncal, donde terminan los enlaces de fibra óptica del cliente y se realiza el enrutamiento hacia la red WAN global.</a:t>
            </a:r>
          </a:p>
          <a:p>
            <a:endParaRPr lang="es-ES" sz="1400" dirty="0"/>
          </a:p>
          <a:p>
            <a:r>
              <a:rPr lang="es-ES" sz="1400" dirty="0"/>
              <a:t>💡Los cables de fibra de tu casa o de una empresa no van directo al PoP sino que conectan a una CTO (Caja de Terminal Óptica) que es la caja de distribución exterior (ubicada en fachadas o postes) donde se dividen los filamentos de la fibra principal para dar conexión individual a cada abonado u hogar de la zona.</a:t>
            </a:r>
          </a:p>
        </p:txBody>
      </p:sp>
      <p:pic>
        <p:nvPicPr>
          <p:cNvPr id="13" name="Picture 10" descr="C:\Users\ecoffey\AppData\Local\Temp\Rar$DRa0.175\30088_Device_terminal_default_256.png">
            <a:extLst>
              <a:ext uri="{FF2B5EF4-FFF2-40B4-BE49-F238E27FC236}">
                <a16:creationId xmlns:a16="http://schemas.microsoft.com/office/drawing/2014/main" id="{BB175701-1C12-97A3-21EB-A7B3B87FCA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2246" y="4972423"/>
            <a:ext cx="608245" cy="60824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0" descr="C:\Users\ecoffey\AppData\Local\Temp\Rar$DRa0.175\30088_Device_terminal_default_256.png">
            <a:extLst>
              <a:ext uri="{FF2B5EF4-FFF2-40B4-BE49-F238E27FC236}">
                <a16:creationId xmlns:a16="http://schemas.microsoft.com/office/drawing/2014/main" id="{3BEB265B-1260-7BCC-CE0F-4BBD580510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14258" y="4961891"/>
            <a:ext cx="608246" cy="608246"/>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0">
            <a:extLst>
              <a:ext uri="{FF2B5EF4-FFF2-40B4-BE49-F238E27FC236}">
                <a16:creationId xmlns:a16="http://schemas.microsoft.com/office/drawing/2014/main" id="{38E77864-A1A0-1185-167A-AA9369CC9B4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8171" t="28931" r="8368" b="21666"/>
          <a:stretch/>
        </p:blipFill>
        <p:spPr bwMode="auto">
          <a:xfrm>
            <a:off x="3921090" y="5064134"/>
            <a:ext cx="717679" cy="42482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0">
            <a:extLst>
              <a:ext uri="{FF2B5EF4-FFF2-40B4-BE49-F238E27FC236}">
                <a16:creationId xmlns:a16="http://schemas.microsoft.com/office/drawing/2014/main" id="{68C7F269-C026-06C7-095E-8D893641ED4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8171" t="28931" r="8368" b="21666"/>
          <a:stretch/>
        </p:blipFill>
        <p:spPr bwMode="auto">
          <a:xfrm>
            <a:off x="6811440" y="5053603"/>
            <a:ext cx="717679" cy="424822"/>
          </a:xfrm>
          <a:prstGeom prst="rect">
            <a:avLst/>
          </a:prstGeom>
          <a:noFill/>
          <a:extLst>
            <a:ext uri="{909E8E84-426E-40DD-AFC4-6F175D3DCCD1}">
              <a14:hiddenFill xmlns:a14="http://schemas.microsoft.com/office/drawing/2010/main">
                <a:solidFill>
                  <a:srgbClr val="FFFFFF"/>
                </a:solidFill>
              </a14:hiddenFill>
            </a:ext>
          </a:extLst>
        </p:spPr>
      </p:pic>
      <p:cxnSp>
        <p:nvCxnSpPr>
          <p:cNvPr id="17" name="Conector recto 16">
            <a:extLst>
              <a:ext uri="{FF2B5EF4-FFF2-40B4-BE49-F238E27FC236}">
                <a16:creationId xmlns:a16="http://schemas.microsoft.com/office/drawing/2014/main" id="{D01BC36C-A015-33D4-9C98-25B535E835A4}"/>
              </a:ext>
            </a:extLst>
          </p:cNvPr>
          <p:cNvCxnSpPr>
            <a:cxnSpLocks/>
            <a:stCxn id="13" idx="3"/>
            <a:endCxn id="15" idx="1"/>
          </p:cNvCxnSpPr>
          <p:nvPr/>
        </p:nvCxnSpPr>
        <p:spPr>
          <a:xfrm flipV="1">
            <a:off x="2310491" y="5276545"/>
            <a:ext cx="1610599" cy="1"/>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Conector recto 17">
            <a:extLst>
              <a:ext uri="{FF2B5EF4-FFF2-40B4-BE49-F238E27FC236}">
                <a16:creationId xmlns:a16="http://schemas.microsoft.com/office/drawing/2014/main" id="{7FBC5930-9145-92C2-04CB-E9D0B4B4769F}"/>
              </a:ext>
            </a:extLst>
          </p:cNvPr>
          <p:cNvCxnSpPr>
            <a:cxnSpLocks/>
            <a:stCxn id="16" idx="3"/>
            <a:endCxn id="14" idx="1"/>
          </p:cNvCxnSpPr>
          <p:nvPr/>
        </p:nvCxnSpPr>
        <p:spPr>
          <a:xfrm>
            <a:off x="7529119" y="5266014"/>
            <a:ext cx="1785139" cy="0"/>
          </a:xfrm>
          <a:prstGeom prst="line">
            <a:avLst/>
          </a:prstGeom>
        </p:spPr>
        <p:style>
          <a:lnRef idx="2">
            <a:schemeClr val="accent1"/>
          </a:lnRef>
          <a:fillRef idx="0">
            <a:schemeClr val="accent1"/>
          </a:fillRef>
          <a:effectRef idx="1">
            <a:schemeClr val="accent1"/>
          </a:effectRef>
          <a:fontRef idx="minor">
            <a:schemeClr val="tx1"/>
          </a:fontRef>
        </p:style>
      </p:cxnSp>
      <p:sp>
        <p:nvSpPr>
          <p:cNvPr id="19" name="CuadroTexto 18">
            <a:extLst>
              <a:ext uri="{FF2B5EF4-FFF2-40B4-BE49-F238E27FC236}">
                <a16:creationId xmlns:a16="http://schemas.microsoft.com/office/drawing/2014/main" id="{75A0ADEC-D956-7B3C-4C10-843F92E886C1}"/>
              </a:ext>
            </a:extLst>
          </p:cNvPr>
          <p:cNvSpPr txBox="1"/>
          <p:nvPr/>
        </p:nvSpPr>
        <p:spPr>
          <a:xfrm>
            <a:off x="2158245" y="5884790"/>
            <a:ext cx="602665" cy="369332"/>
          </a:xfrm>
          <a:prstGeom prst="rect">
            <a:avLst/>
          </a:prstGeom>
          <a:noFill/>
        </p:spPr>
        <p:txBody>
          <a:bodyPr wrap="none" rtlCol="0">
            <a:spAutoFit/>
          </a:bodyPr>
          <a:lstStyle/>
          <a:p>
            <a:r>
              <a:rPr lang="es-ES" dirty="0"/>
              <a:t>LAN</a:t>
            </a:r>
          </a:p>
        </p:txBody>
      </p:sp>
      <p:sp>
        <p:nvSpPr>
          <p:cNvPr id="20" name="CuadroTexto 19">
            <a:extLst>
              <a:ext uri="{FF2B5EF4-FFF2-40B4-BE49-F238E27FC236}">
                <a16:creationId xmlns:a16="http://schemas.microsoft.com/office/drawing/2014/main" id="{E0C89E88-769F-9AF4-D39C-E15E3E535717}"/>
              </a:ext>
            </a:extLst>
          </p:cNvPr>
          <p:cNvSpPr txBox="1"/>
          <p:nvPr/>
        </p:nvSpPr>
        <p:spPr>
          <a:xfrm>
            <a:off x="8936918" y="5856929"/>
            <a:ext cx="602665" cy="369332"/>
          </a:xfrm>
          <a:prstGeom prst="rect">
            <a:avLst/>
          </a:prstGeom>
          <a:noFill/>
        </p:spPr>
        <p:txBody>
          <a:bodyPr wrap="none" rtlCol="0">
            <a:spAutoFit/>
          </a:bodyPr>
          <a:lstStyle/>
          <a:p>
            <a:r>
              <a:rPr lang="es-ES" dirty="0"/>
              <a:t>LAN</a:t>
            </a:r>
          </a:p>
        </p:txBody>
      </p:sp>
      <p:sp>
        <p:nvSpPr>
          <p:cNvPr id="21" name="CuadroTexto 20">
            <a:extLst>
              <a:ext uri="{FF2B5EF4-FFF2-40B4-BE49-F238E27FC236}">
                <a16:creationId xmlns:a16="http://schemas.microsoft.com/office/drawing/2014/main" id="{B5E8BCDC-F3DE-AAF6-E09C-4DA4107FAFDA}"/>
              </a:ext>
            </a:extLst>
          </p:cNvPr>
          <p:cNvSpPr txBox="1"/>
          <p:nvPr/>
        </p:nvSpPr>
        <p:spPr>
          <a:xfrm>
            <a:off x="5440555" y="5818532"/>
            <a:ext cx="686213" cy="369332"/>
          </a:xfrm>
          <a:prstGeom prst="rect">
            <a:avLst/>
          </a:prstGeom>
          <a:noFill/>
        </p:spPr>
        <p:txBody>
          <a:bodyPr wrap="none" rtlCol="0">
            <a:spAutoFit/>
          </a:bodyPr>
          <a:lstStyle/>
          <a:p>
            <a:r>
              <a:rPr lang="es-ES" dirty="0"/>
              <a:t>WAN</a:t>
            </a:r>
          </a:p>
        </p:txBody>
      </p:sp>
      <p:sp>
        <p:nvSpPr>
          <p:cNvPr id="22" name="Abrir llave 21">
            <a:extLst>
              <a:ext uri="{FF2B5EF4-FFF2-40B4-BE49-F238E27FC236}">
                <a16:creationId xmlns:a16="http://schemas.microsoft.com/office/drawing/2014/main" id="{87396BD4-1B46-E99E-7149-1127FEA34B17}"/>
              </a:ext>
            </a:extLst>
          </p:cNvPr>
          <p:cNvSpPr/>
          <p:nvPr/>
        </p:nvSpPr>
        <p:spPr>
          <a:xfrm rot="16200000" flipV="1">
            <a:off x="2316182" y="4147414"/>
            <a:ext cx="286792" cy="3132237"/>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dirty="0"/>
          </a:p>
        </p:txBody>
      </p:sp>
      <p:sp>
        <p:nvSpPr>
          <p:cNvPr id="23" name="Abrir llave 22">
            <a:extLst>
              <a:ext uri="{FF2B5EF4-FFF2-40B4-BE49-F238E27FC236}">
                <a16:creationId xmlns:a16="http://schemas.microsoft.com/office/drawing/2014/main" id="{26012371-4F0B-5846-6D6A-A0861C75B049}"/>
              </a:ext>
            </a:extLst>
          </p:cNvPr>
          <p:cNvSpPr/>
          <p:nvPr/>
        </p:nvSpPr>
        <p:spPr>
          <a:xfrm rot="16200000" flipV="1">
            <a:off x="5667213" y="4472247"/>
            <a:ext cx="187155" cy="260327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dirty="0"/>
          </a:p>
        </p:txBody>
      </p:sp>
      <p:sp>
        <p:nvSpPr>
          <p:cNvPr id="24" name="Abrir llave 23">
            <a:extLst>
              <a:ext uri="{FF2B5EF4-FFF2-40B4-BE49-F238E27FC236}">
                <a16:creationId xmlns:a16="http://schemas.microsoft.com/office/drawing/2014/main" id="{AAA95CC1-2AE0-11CA-879F-73B5BBA3EB42}"/>
              </a:ext>
            </a:extLst>
          </p:cNvPr>
          <p:cNvSpPr/>
          <p:nvPr/>
        </p:nvSpPr>
        <p:spPr>
          <a:xfrm rot="16200000" flipV="1">
            <a:off x="9094855" y="4050471"/>
            <a:ext cx="286792" cy="3343455"/>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dirty="0"/>
          </a:p>
        </p:txBody>
      </p:sp>
      <p:pic>
        <p:nvPicPr>
          <p:cNvPr id="25" name="Gráfico 24" descr="Edificio con relleno sólido">
            <a:extLst>
              <a:ext uri="{FF2B5EF4-FFF2-40B4-BE49-F238E27FC236}">
                <a16:creationId xmlns:a16="http://schemas.microsoft.com/office/drawing/2014/main" id="{6289AD8E-05BB-DC40-B464-A22333E2992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79686" y="4655736"/>
            <a:ext cx="914400" cy="914400"/>
          </a:xfrm>
          <a:prstGeom prst="rect">
            <a:avLst/>
          </a:prstGeom>
        </p:spPr>
      </p:pic>
      <p:pic>
        <p:nvPicPr>
          <p:cNvPr id="26" name="Gráfico 25" descr="Edificio con relleno sólido">
            <a:extLst>
              <a:ext uri="{FF2B5EF4-FFF2-40B4-BE49-F238E27FC236}">
                <a16:creationId xmlns:a16="http://schemas.microsoft.com/office/drawing/2014/main" id="{8249A9B0-8B74-2901-8E18-B7292A49513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067433" y="4664402"/>
            <a:ext cx="914400" cy="914400"/>
          </a:xfrm>
          <a:prstGeom prst="rect">
            <a:avLst/>
          </a:prstGeom>
        </p:spPr>
      </p:pic>
      <p:sp>
        <p:nvSpPr>
          <p:cNvPr id="27" name="CuadroTexto 26">
            <a:extLst>
              <a:ext uri="{FF2B5EF4-FFF2-40B4-BE49-F238E27FC236}">
                <a16:creationId xmlns:a16="http://schemas.microsoft.com/office/drawing/2014/main" id="{843D4DE9-8D86-77BB-7671-9A19EEC34704}"/>
              </a:ext>
            </a:extLst>
          </p:cNvPr>
          <p:cNvSpPr txBox="1"/>
          <p:nvPr/>
        </p:nvSpPr>
        <p:spPr>
          <a:xfrm>
            <a:off x="10815950" y="4918545"/>
            <a:ext cx="937051" cy="369332"/>
          </a:xfrm>
          <a:prstGeom prst="rect">
            <a:avLst/>
          </a:prstGeom>
          <a:noFill/>
        </p:spPr>
        <p:txBody>
          <a:bodyPr wrap="none" rtlCol="0">
            <a:spAutoFit/>
          </a:bodyPr>
          <a:lstStyle/>
          <a:p>
            <a:r>
              <a:rPr lang="es-ES" dirty="0"/>
              <a:t>London</a:t>
            </a:r>
          </a:p>
        </p:txBody>
      </p:sp>
      <p:sp>
        <p:nvSpPr>
          <p:cNvPr id="28" name="Flecha: a la derecha 27">
            <a:extLst>
              <a:ext uri="{FF2B5EF4-FFF2-40B4-BE49-F238E27FC236}">
                <a16:creationId xmlns:a16="http://schemas.microsoft.com/office/drawing/2014/main" id="{1F60A034-DD45-9152-EFBC-816EF3BCA6A8}"/>
              </a:ext>
            </a:extLst>
          </p:cNvPr>
          <p:cNvSpPr/>
          <p:nvPr/>
        </p:nvSpPr>
        <p:spPr>
          <a:xfrm>
            <a:off x="3482928" y="6456229"/>
            <a:ext cx="244306" cy="24756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graphicFrame>
        <p:nvGraphicFramePr>
          <p:cNvPr id="30" name="Tabla 29">
            <a:extLst>
              <a:ext uri="{FF2B5EF4-FFF2-40B4-BE49-F238E27FC236}">
                <a16:creationId xmlns:a16="http://schemas.microsoft.com/office/drawing/2014/main" id="{F2EF1778-AF65-6B01-2B2A-8855BF1EFD3F}"/>
              </a:ext>
            </a:extLst>
          </p:cNvPr>
          <p:cNvGraphicFramePr>
            <a:graphicFrameLocks noGrp="1"/>
          </p:cNvGraphicFramePr>
          <p:nvPr>
            <p:extLst>
              <p:ext uri="{D42A27DB-BD31-4B8C-83A1-F6EECF244321}">
                <p14:modId xmlns:p14="http://schemas.microsoft.com/office/powerpoint/2010/main" val="3736496676"/>
              </p:ext>
            </p:extLst>
          </p:nvPr>
        </p:nvGraphicFramePr>
        <p:xfrm>
          <a:off x="8197010" y="6379729"/>
          <a:ext cx="2082480" cy="478271"/>
        </p:xfrm>
        <a:graphic>
          <a:graphicData uri="http://schemas.openxmlformats.org/drawingml/2006/table">
            <a:tbl>
              <a:tblPr firstRow="1" bandRow="1">
                <a:tableStyleId>{5940675A-B579-460E-94D1-54222C63F5DA}</a:tableStyleId>
              </a:tblPr>
              <a:tblGrid>
                <a:gridCol w="694160">
                  <a:extLst>
                    <a:ext uri="{9D8B030D-6E8A-4147-A177-3AD203B41FA5}">
                      <a16:colId xmlns:a16="http://schemas.microsoft.com/office/drawing/2014/main" val="1343565177"/>
                    </a:ext>
                  </a:extLst>
                </a:gridCol>
                <a:gridCol w="694160">
                  <a:extLst>
                    <a:ext uri="{9D8B030D-6E8A-4147-A177-3AD203B41FA5}">
                      <a16:colId xmlns:a16="http://schemas.microsoft.com/office/drawing/2014/main" val="3271444070"/>
                    </a:ext>
                  </a:extLst>
                </a:gridCol>
                <a:gridCol w="694160">
                  <a:extLst>
                    <a:ext uri="{9D8B030D-6E8A-4147-A177-3AD203B41FA5}">
                      <a16:colId xmlns:a16="http://schemas.microsoft.com/office/drawing/2014/main" val="2339207603"/>
                    </a:ext>
                  </a:extLst>
                </a:gridCol>
              </a:tblGrid>
              <a:tr h="478271">
                <a:tc>
                  <a:txBody>
                    <a:bodyPr/>
                    <a:lstStyle/>
                    <a:p>
                      <a:pPr algn="ctr"/>
                      <a:r>
                        <a:rPr lang="es-ES" sz="800" b="1" dirty="0"/>
                        <a:t>Ethernet Header</a:t>
                      </a:r>
                    </a:p>
                  </a:txBody>
                  <a:tcPr anchor="ctr">
                    <a:cell3D prstMaterial="dkEdge">
                      <a:bevel/>
                      <a:lightRig rig="flood" dir="t"/>
                    </a:cell3D>
                    <a:solidFill>
                      <a:schemeClr val="accent6">
                        <a:lumMod val="40000"/>
                        <a:lumOff val="60000"/>
                      </a:schemeClr>
                    </a:solidFill>
                  </a:tcPr>
                </a:tc>
                <a:tc>
                  <a:txBody>
                    <a:bodyPr/>
                    <a:lstStyle/>
                    <a:p>
                      <a:pPr algn="ctr"/>
                      <a:r>
                        <a:rPr lang="es-ES" sz="800" b="1" dirty="0"/>
                        <a:t>Paquete IP</a:t>
                      </a:r>
                    </a:p>
                  </a:txBody>
                  <a:tcPr anchor="ctr">
                    <a:solidFill>
                      <a:schemeClr val="bg2"/>
                    </a:solidFill>
                  </a:tcPr>
                </a:tc>
                <a:tc>
                  <a:txBody>
                    <a:bodyPr/>
                    <a:lstStyle/>
                    <a:p>
                      <a:pPr algn="ctr"/>
                      <a:r>
                        <a:rPr lang="es-ES" sz="800" b="1" dirty="0"/>
                        <a:t>Ethernet Tráiler</a:t>
                      </a:r>
                    </a:p>
                  </a:txBody>
                  <a:tcPr anchor="ctr">
                    <a:cell3D prstMaterial="dkEdge">
                      <a:bevel/>
                      <a:lightRig rig="flood" dir="t"/>
                    </a:cell3D>
                    <a:solidFill>
                      <a:schemeClr val="accent6">
                        <a:lumMod val="40000"/>
                        <a:lumOff val="60000"/>
                      </a:schemeClr>
                    </a:solidFill>
                  </a:tcPr>
                </a:tc>
                <a:extLst>
                  <a:ext uri="{0D108BD9-81ED-4DB2-BD59-A6C34878D82A}">
                    <a16:rowId xmlns:a16="http://schemas.microsoft.com/office/drawing/2014/main" val="1678686"/>
                  </a:ext>
                </a:extLst>
              </a:tr>
            </a:tbl>
          </a:graphicData>
        </a:graphic>
      </p:graphicFrame>
      <p:sp>
        <p:nvSpPr>
          <p:cNvPr id="31" name="Flecha: a la derecha 30">
            <a:extLst>
              <a:ext uri="{FF2B5EF4-FFF2-40B4-BE49-F238E27FC236}">
                <a16:creationId xmlns:a16="http://schemas.microsoft.com/office/drawing/2014/main" id="{90CAD6D9-4CAD-17E5-F85F-CAE8C598EFFB}"/>
              </a:ext>
            </a:extLst>
          </p:cNvPr>
          <p:cNvSpPr/>
          <p:nvPr/>
        </p:nvSpPr>
        <p:spPr>
          <a:xfrm>
            <a:off x="7506537" y="6473561"/>
            <a:ext cx="244306" cy="24756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2" name="CuadroTexto 31">
            <a:extLst>
              <a:ext uri="{FF2B5EF4-FFF2-40B4-BE49-F238E27FC236}">
                <a16:creationId xmlns:a16="http://schemas.microsoft.com/office/drawing/2014/main" id="{1E7BA3E1-D1CD-953B-049E-54384159DBCD}"/>
              </a:ext>
            </a:extLst>
          </p:cNvPr>
          <p:cNvSpPr txBox="1"/>
          <p:nvPr/>
        </p:nvSpPr>
        <p:spPr>
          <a:xfrm>
            <a:off x="1729998" y="4685036"/>
            <a:ext cx="668349" cy="307777"/>
          </a:xfrm>
          <a:prstGeom prst="rect">
            <a:avLst/>
          </a:prstGeom>
          <a:noFill/>
        </p:spPr>
        <p:txBody>
          <a:bodyPr wrap="square">
            <a:spAutoFit/>
          </a:bodyPr>
          <a:lstStyle/>
          <a:p>
            <a:r>
              <a:rPr lang="es-ES" sz="1400" b="1" dirty="0"/>
              <a:t>Pc1</a:t>
            </a:r>
            <a:endParaRPr lang="es-ES" b="1" dirty="0"/>
          </a:p>
        </p:txBody>
      </p:sp>
      <p:sp>
        <p:nvSpPr>
          <p:cNvPr id="33" name="CuadroTexto 32">
            <a:extLst>
              <a:ext uri="{FF2B5EF4-FFF2-40B4-BE49-F238E27FC236}">
                <a16:creationId xmlns:a16="http://schemas.microsoft.com/office/drawing/2014/main" id="{4EF8822E-4A3A-EF0C-8030-5FC485116B9A}"/>
              </a:ext>
            </a:extLst>
          </p:cNvPr>
          <p:cNvSpPr txBox="1"/>
          <p:nvPr/>
        </p:nvSpPr>
        <p:spPr>
          <a:xfrm>
            <a:off x="9393758" y="4685036"/>
            <a:ext cx="528746" cy="307777"/>
          </a:xfrm>
          <a:prstGeom prst="rect">
            <a:avLst/>
          </a:prstGeom>
          <a:noFill/>
        </p:spPr>
        <p:txBody>
          <a:bodyPr wrap="square">
            <a:spAutoFit/>
          </a:bodyPr>
          <a:lstStyle/>
          <a:p>
            <a:r>
              <a:rPr lang="es-ES" sz="1400" b="1" dirty="0"/>
              <a:t>Pc2</a:t>
            </a:r>
            <a:endParaRPr lang="es-ES" b="1" dirty="0"/>
          </a:p>
        </p:txBody>
      </p:sp>
      <p:sp>
        <p:nvSpPr>
          <p:cNvPr id="34" name="CuadroTexto 33">
            <a:extLst>
              <a:ext uri="{FF2B5EF4-FFF2-40B4-BE49-F238E27FC236}">
                <a16:creationId xmlns:a16="http://schemas.microsoft.com/office/drawing/2014/main" id="{6A1171D5-C725-B3BD-F593-8D0F67C739A4}"/>
              </a:ext>
            </a:extLst>
          </p:cNvPr>
          <p:cNvSpPr txBox="1"/>
          <p:nvPr/>
        </p:nvSpPr>
        <p:spPr>
          <a:xfrm>
            <a:off x="4039712" y="4685036"/>
            <a:ext cx="668349" cy="307777"/>
          </a:xfrm>
          <a:prstGeom prst="rect">
            <a:avLst/>
          </a:prstGeom>
          <a:noFill/>
        </p:spPr>
        <p:txBody>
          <a:bodyPr wrap="square">
            <a:spAutoFit/>
          </a:bodyPr>
          <a:lstStyle/>
          <a:p>
            <a:r>
              <a:rPr lang="es-ES" sz="1400" b="1" dirty="0"/>
              <a:t>R1</a:t>
            </a:r>
            <a:endParaRPr lang="es-ES" b="1" dirty="0"/>
          </a:p>
        </p:txBody>
      </p:sp>
      <p:sp>
        <p:nvSpPr>
          <p:cNvPr id="35" name="CuadroTexto 34">
            <a:extLst>
              <a:ext uri="{FF2B5EF4-FFF2-40B4-BE49-F238E27FC236}">
                <a16:creationId xmlns:a16="http://schemas.microsoft.com/office/drawing/2014/main" id="{6E310769-416E-88E2-C614-C66826634311}"/>
              </a:ext>
            </a:extLst>
          </p:cNvPr>
          <p:cNvSpPr txBox="1"/>
          <p:nvPr/>
        </p:nvSpPr>
        <p:spPr>
          <a:xfrm>
            <a:off x="6960341" y="4684358"/>
            <a:ext cx="668349" cy="307777"/>
          </a:xfrm>
          <a:prstGeom prst="rect">
            <a:avLst/>
          </a:prstGeom>
          <a:noFill/>
        </p:spPr>
        <p:txBody>
          <a:bodyPr wrap="square">
            <a:spAutoFit/>
          </a:bodyPr>
          <a:lstStyle/>
          <a:p>
            <a:r>
              <a:rPr lang="es-ES" sz="1400" b="1" dirty="0"/>
              <a:t>R2</a:t>
            </a:r>
            <a:endParaRPr lang="es-ES" b="1" dirty="0"/>
          </a:p>
        </p:txBody>
      </p:sp>
      <p:graphicFrame>
        <p:nvGraphicFramePr>
          <p:cNvPr id="38" name="Tabla 37">
            <a:extLst>
              <a:ext uri="{FF2B5EF4-FFF2-40B4-BE49-F238E27FC236}">
                <a16:creationId xmlns:a16="http://schemas.microsoft.com/office/drawing/2014/main" id="{50F27B86-52FD-AF03-5B97-AD87DF4EF745}"/>
              </a:ext>
            </a:extLst>
          </p:cNvPr>
          <p:cNvGraphicFramePr>
            <a:graphicFrameLocks noGrp="1"/>
          </p:cNvGraphicFramePr>
          <p:nvPr>
            <p:extLst>
              <p:ext uri="{D42A27DB-BD31-4B8C-83A1-F6EECF244321}">
                <p14:modId xmlns:p14="http://schemas.microsoft.com/office/powerpoint/2010/main" val="552184326"/>
              </p:ext>
            </p:extLst>
          </p:nvPr>
        </p:nvGraphicFramePr>
        <p:xfrm>
          <a:off x="893459" y="6322616"/>
          <a:ext cx="2082480" cy="478271"/>
        </p:xfrm>
        <a:graphic>
          <a:graphicData uri="http://schemas.openxmlformats.org/drawingml/2006/table">
            <a:tbl>
              <a:tblPr firstRow="1" bandRow="1">
                <a:tableStyleId>{5940675A-B579-460E-94D1-54222C63F5DA}</a:tableStyleId>
              </a:tblPr>
              <a:tblGrid>
                <a:gridCol w="694160">
                  <a:extLst>
                    <a:ext uri="{9D8B030D-6E8A-4147-A177-3AD203B41FA5}">
                      <a16:colId xmlns:a16="http://schemas.microsoft.com/office/drawing/2014/main" val="1343565177"/>
                    </a:ext>
                  </a:extLst>
                </a:gridCol>
                <a:gridCol w="694160">
                  <a:extLst>
                    <a:ext uri="{9D8B030D-6E8A-4147-A177-3AD203B41FA5}">
                      <a16:colId xmlns:a16="http://schemas.microsoft.com/office/drawing/2014/main" val="3271444070"/>
                    </a:ext>
                  </a:extLst>
                </a:gridCol>
                <a:gridCol w="694160">
                  <a:extLst>
                    <a:ext uri="{9D8B030D-6E8A-4147-A177-3AD203B41FA5}">
                      <a16:colId xmlns:a16="http://schemas.microsoft.com/office/drawing/2014/main" val="2339207603"/>
                    </a:ext>
                  </a:extLst>
                </a:gridCol>
              </a:tblGrid>
              <a:tr h="478271">
                <a:tc>
                  <a:txBody>
                    <a:bodyPr/>
                    <a:lstStyle/>
                    <a:p>
                      <a:pPr algn="ctr"/>
                      <a:r>
                        <a:rPr lang="es-ES" sz="800" b="1" dirty="0"/>
                        <a:t>Ethernet Header</a:t>
                      </a:r>
                    </a:p>
                  </a:txBody>
                  <a:tcPr anchor="ctr">
                    <a:cell3D prstMaterial="dkEdge">
                      <a:bevel/>
                      <a:lightRig rig="flood" dir="t"/>
                    </a:cell3D>
                    <a:solidFill>
                      <a:schemeClr val="accent6">
                        <a:lumMod val="40000"/>
                        <a:lumOff val="60000"/>
                      </a:schemeClr>
                    </a:solidFill>
                  </a:tcPr>
                </a:tc>
                <a:tc>
                  <a:txBody>
                    <a:bodyPr/>
                    <a:lstStyle/>
                    <a:p>
                      <a:pPr algn="ctr"/>
                      <a:r>
                        <a:rPr lang="es-ES" sz="800" b="1" dirty="0"/>
                        <a:t>Paquete IP</a:t>
                      </a:r>
                    </a:p>
                  </a:txBody>
                  <a:tcPr anchor="ctr">
                    <a:solidFill>
                      <a:schemeClr val="bg2"/>
                    </a:solidFill>
                  </a:tcPr>
                </a:tc>
                <a:tc>
                  <a:txBody>
                    <a:bodyPr/>
                    <a:lstStyle/>
                    <a:p>
                      <a:pPr algn="ctr"/>
                      <a:r>
                        <a:rPr lang="es-ES" sz="800" b="1" dirty="0"/>
                        <a:t>Ethernet Tráiler</a:t>
                      </a:r>
                    </a:p>
                  </a:txBody>
                  <a:tcPr anchor="ctr">
                    <a:cell3D prstMaterial="dkEdge">
                      <a:bevel/>
                      <a:lightRig rig="flood" dir="t"/>
                    </a:cell3D>
                    <a:solidFill>
                      <a:schemeClr val="accent6">
                        <a:lumMod val="40000"/>
                        <a:lumOff val="60000"/>
                      </a:schemeClr>
                    </a:solidFill>
                  </a:tcPr>
                </a:tc>
                <a:extLst>
                  <a:ext uri="{0D108BD9-81ED-4DB2-BD59-A6C34878D82A}">
                    <a16:rowId xmlns:a16="http://schemas.microsoft.com/office/drawing/2014/main" val="1678686"/>
                  </a:ext>
                </a:extLst>
              </a:tr>
            </a:tbl>
          </a:graphicData>
        </a:graphic>
      </p:graphicFrame>
      <p:graphicFrame>
        <p:nvGraphicFramePr>
          <p:cNvPr id="40" name="Tabla 39">
            <a:extLst>
              <a:ext uri="{FF2B5EF4-FFF2-40B4-BE49-F238E27FC236}">
                <a16:creationId xmlns:a16="http://schemas.microsoft.com/office/drawing/2014/main" id="{987A4AF0-699B-56D4-F409-5F29EA28C3E1}"/>
              </a:ext>
            </a:extLst>
          </p:cNvPr>
          <p:cNvGraphicFramePr>
            <a:graphicFrameLocks noGrp="1"/>
          </p:cNvGraphicFramePr>
          <p:nvPr>
            <p:extLst>
              <p:ext uri="{D42A27DB-BD31-4B8C-83A1-F6EECF244321}">
                <p14:modId xmlns:p14="http://schemas.microsoft.com/office/powerpoint/2010/main" val="485538602"/>
              </p:ext>
            </p:extLst>
          </p:nvPr>
        </p:nvGraphicFramePr>
        <p:xfrm>
          <a:off x="4719550" y="6312335"/>
          <a:ext cx="2082480" cy="478271"/>
        </p:xfrm>
        <a:graphic>
          <a:graphicData uri="http://schemas.openxmlformats.org/drawingml/2006/table">
            <a:tbl>
              <a:tblPr firstRow="1" bandRow="1">
                <a:tableStyleId>{5940675A-B579-460E-94D1-54222C63F5DA}</a:tableStyleId>
              </a:tblPr>
              <a:tblGrid>
                <a:gridCol w="694160">
                  <a:extLst>
                    <a:ext uri="{9D8B030D-6E8A-4147-A177-3AD203B41FA5}">
                      <a16:colId xmlns:a16="http://schemas.microsoft.com/office/drawing/2014/main" val="1343565177"/>
                    </a:ext>
                  </a:extLst>
                </a:gridCol>
                <a:gridCol w="694160">
                  <a:extLst>
                    <a:ext uri="{9D8B030D-6E8A-4147-A177-3AD203B41FA5}">
                      <a16:colId xmlns:a16="http://schemas.microsoft.com/office/drawing/2014/main" val="3271444070"/>
                    </a:ext>
                  </a:extLst>
                </a:gridCol>
                <a:gridCol w="694160">
                  <a:extLst>
                    <a:ext uri="{9D8B030D-6E8A-4147-A177-3AD203B41FA5}">
                      <a16:colId xmlns:a16="http://schemas.microsoft.com/office/drawing/2014/main" val="2339207603"/>
                    </a:ext>
                  </a:extLst>
                </a:gridCol>
              </a:tblGrid>
              <a:tr h="478271">
                <a:tc>
                  <a:txBody>
                    <a:bodyPr/>
                    <a:lstStyle/>
                    <a:p>
                      <a:pPr algn="ctr"/>
                      <a:r>
                        <a:rPr lang="es-ES" sz="800" b="1" dirty="0"/>
                        <a:t>Ethernet Header</a:t>
                      </a:r>
                    </a:p>
                  </a:txBody>
                  <a:tcPr anchor="ctr">
                    <a:cell3D prstMaterial="dkEdge">
                      <a:bevel/>
                      <a:lightRig rig="flood" dir="t"/>
                    </a:cell3D>
                    <a:solidFill>
                      <a:schemeClr val="accent6">
                        <a:lumMod val="40000"/>
                        <a:lumOff val="60000"/>
                      </a:schemeClr>
                    </a:solidFill>
                  </a:tcPr>
                </a:tc>
                <a:tc>
                  <a:txBody>
                    <a:bodyPr/>
                    <a:lstStyle/>
                    <a:p>
                      <a:pPr algn="ctr"/>
                      <a:r>
                        <a:rPr lang="es-ES" sz="800" b="1" dirty="0"/>
                        <a:t>Paquete IP</a:t>
                      </a:r>
                    </a:p>
                  </a:txBody>
                  <a:tcPr anchor="ctr">
                    <a:solidFill>
                      <a:schemeClr val="bg2"/>
                    </a:solidFill>
                  </a:tcPr>
                </a:tc>
                <a:tc>
                  <a:txBody>
                    <a:bodyPr/>
                    <a:lstStyle/>
                    <a:p>
                      <a:pPr algn="ctr"/>
                      <a:r>
                        <a:rPr lang="es-ES" sz="800" b="1" dirty="0"/>
                        <a:t>Ethernet Tráiler</a:t>
                      </a:r>
                    </a:p>
                  </a:txBody>
                  <a:tcPr anchor="ctr">
                    <a:cell3D prstMaterial="dkEdge">
                      <a:bevel/>
                      <a:lightRig rig="flood" dir="t"/>
                    </a:cell3D>
                    <a:solidFill>
                      <a:schemeClr val="accent6">
                        <a:lumMod val="40000"/>
                        <a:lumOff val="60000"/>
                      </a:schemeClr>
                    </a:solidFill>
                  </a:tcPr>
                </a:tc>
                <a:extLst>
                  <a:ext uri="{0D108BD9-81ED-4DB2-BD59-A6C34878D82A}">
                    <a16:rowId xmlns:a16="http://schemas.microsoft.com/office/drawing/2014/main" val="1678686"/>
                  </a:ext>
                </a:extLst>
              </a:tr>
            </a:tbl>
          </a:graphicData>
        </a:graphic>
      </p:graphicFrame>
      <p:pic>
        <p:nvPicPr>
          <p:cNvPr id="47" name="Gráfico 46" descr="Nube con relleno sólido">
            <a:extLst>
              <a:ext uri="{FF2B5EF4-FFF2-40B4-BE49-F238E27FC236}">
                <a16:creationId xmlns:a16="http://schemas.microsoft.com/office/drawing/2014/main" id="{4D3794FC-1F88-40F9-C0AC-C5EDDFA7238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275257" y="4718298"/>
            <a:ext cx="914400" cy="914400"/>
          </a:xfrm>
          <a:prstGeom prst="rect">
            <a:avLst/>
          </a:prstGeom>
        </p:spPr>
      </p:pic>
      <p:sp>
        <p:nvSpPr>
          <p:cNvPr id="4" name="CuadroTexto 3">
            <a:extLst>
              <a:ext uri="{FF2B5EF4-FFF2-40B4-BE49-F238E27FC236}">
                <a16:creationId xmlns:a16="http://schemas.microsoft.com/office/drawing/2014/main" id="{356CDAAE-63BD-4A12-4D73-C528D824B998}"/>
              </a:ext>
            </a:extLst>
          </p:cNvPr>
          <p:cNvSpPr txBox="1"/>
          <p:nvPr/>
        </p:nvSpPr>
        <p:spPr>
          <a:xfrm>
            <a:off x="144536" y="4869343"/>
            <a:ext cx="748923" cy="369332"/>
          </a:xfrm>
          <a:prstGeom prst="rect">
            <a:avLst/>
          </a:prstGeom>
          <a:noFill/>
        </p:spPr>
        <p:txBody>
          <a:bodyPr wrap="none" rtlCol="0">
            <a:spAutoFit/>
          </a:bodyPr>
          <a:lstStyle/>
          <a:p>
            <a:r>
              <a:rPr lang="es-ES" dirty="0"/>
              <a:t>Spain</a:t>
            </a:r>
          </a:p>
        </p:txBody>
      </p:sp>
      <p:sp>
        <p:nvSpPr>
          <p:cNvPr id="6" name="CuadroTexto 5">
            <a:extLst>
              <a:ext uri="{FF2B5EF4-FFF2-40B4-BE49-F238E27FC236}">
                <a16:creationId xmlns:a16="http://schemas.microsoft.com/office/drawing/2014/main" id="{9240D61E-C1E0-C21C-882A-B9F58BD70332}"/>
              </a:ext>
            </a:extLst>
          </p:cNvPr>
          <p:cNvSpPr txBox="1"/>
          <p:nvPr/>
        </p:nvSpPr>
        <p:spPr>
          <a:xfrm>
            <a:off x="5265509" y="4622824"/>
            <a:ext cx="967381" cy="369332"/>
          </a:xfrm>
          <a:prstGeom prst="rect">
            <a:avLst/>
          </a:prstGeom>
          <a:noFill/>
        </p:spPr>
        <p:txBody>
          <a:bodyPr wrap="none" rtlCol="0">
            <a:spAutoFit/>
          </a:bodyPr>
          <a:lstStyle/>
          <a:p>
            <a:r>
              <a:rPr lang="es-ES" dirty="0"/>
              <a:t>Internet</a:t>
            </a:r>
          </a:p>
        </p:txBody>
      </p:sp>
    </p:spTree>
    <p:extLst>
      <p:ext uri="{BB962C8B-B14F-4D97-AF65-F5344CB8AC3E}">
        <p14:creationId xmlns:p14="http://schemas.microsoft.com/office/powerpoint/2010/main" val="5742872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ángulo 43">
            <a:extLst>
              <a:ext uri="{FF2B5EF4-FFF2-40B4-BE49-F238E27FC236}">
                <a16:creationId xmlns:a16="http://schemas.microsoft.com/office/drawing/2014/main" id="{D518B6E9-DA5A-4428-92FA-9351BD70AE68}"/>
              </a:ext>
            </a:extLst>
          </p:cNvPr>
          <p:cNvSpPr/>
          <p:nvPr/>
        </p:nvSpPr>
        <p:spPr>
          <a:xfrm>
            <a:off x="6331261" y="4712811"/>
            <a:ext cx="3250140" cy="923066"/>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s-ES" dirty="0"/>
          </a:p>
        </p:txBody>
      </p:sp>
      <p:sp>
        <p:nvSpPr>
          <p:cNvPr id="42" name="Rectángulo 41">
            <a:extLst>
              <a:ext uri="{FF2B5EF4-FFF2-40B4-BE49-F238E27FC236}">
                <a16:creationId xmlns:a16="http://schemas.microsoft.com/office/drawing/2014/main" id="{52931A17-6DDB-B014-527E-9536A4124D54}"/>
              </a:ext>
            </a:extLst>
          </p:cNvPr>
          <p:cNvSpPr/>
          <p:nvPr/>
        </p:nvSpPr>
        <p:spPr>
          <a:xfrm>
            <a:off x="1175277" y="4673523"/>
            <a:ext cx="3250140" cy="923066"/>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s-ES" dirty="0"/>
          </a:p>
        </p:txBody>
      </p:sp>
      <p:sp>
        <p:nvSpPr>
          <p:cNvPr id="5" name="CuadroTexto 4">
            <a:extLst>
              <a:ext uri="{FF2B5EF4-FFF2-40B4-BE49-F238E27FC236}">
                <a16:creationId xmlns:a16="http://schemas.microsoft.com/office/drawing/2014/main" id="{6DDAA0CD-056A-6843-2A3A-57294D9EBFF5}"/>
              </a:ext>
            </a:extLst>
          </p:cNvPr>
          <p:cNvSpPr txBox="1"/>
          <p:nvPr/>
        </p:nvSpPr>
        <p:spPr>
          <a:xfrm>
            <a:off x="-321133" y="0"/>
            <a:ext cx="3329579" cy="461665"/>
          </a:xfrm>
          <a:prstGeom prst="rect">
            <a:avLst/>
          </a:prstGeom>
          <a:noFill/>
        </p:spPr>
        <p:txBody>
          <a:bodyPr wrap="square">
            <a:spAutoFit/>
          </a:bodyPr>
          <a:lstStyle/>
          <a:p>
            <a:pPr algn="ctr"/>
            <a:r>
              <a:rPr lang="es-ES" sz="1200" dirty="0">
                <a:ln w="0"/>
                <a:effectLst>
                  <a:outerShdw blurRad="38100" dist="19050" dir="2700000" algn="tl" rotWithShape="0">
                    <a:schemeClr val="dk1">
                      <a:alpha val="40000"/>
                    </a:schemeClr>
                  </a:outerShdw>
                </a:effectLst>
              </a:rPr>
              <a:t>1. Introducción a las redes</a:t>
            </a:r>
          </a:p>
          <a:p>
            <a:pPr algn="ctr"/>
            <a:r>
              <a:rPr lang="es-ES" sz="1200" b="1" dirty="0"/>
              <a:t>WANs y Routing IP</a:t>
            </a:r>
          </a:p>
        </p:txBody>
      </p:sp>
      <p:sp>
        <p:nvSpPr>
          <p:cNvPr id="7" name="CuadroTexto 6">
            <a:extLst>
              <a:ext uri="{FF2B5EF4-FFF2-40B4-BE49-F238E27FC236}">
                <a16:creationId xmlns:a16="http://schemas.microsoft.com/office/drawing/2014/main" id="{EBBC8A30-EB4D-D67C-081E-E6C323F540EF}"/>
              </a:ext>
            </a:extLst>
          </p:cNvPr>
          <p:cNvSpPr txBox="1"/>
          <p:nvPr/>
        </p:nvSpPr>
        <p:spPr>
          <a:xfrm>
            <a:off x="3731252" y="-22499"/>
            <a:ext cx="3951253" cy="461665"/>
          </a:xfrm>
          <a:prstGeom prst="rect">
            <a:avLst/>
          </a:prstGeom>
          <a:noFill/>
        </p:spPr>
        <p:txBody>
          <a:bodyPr wrap="square">
            <a:spAutoFit/>
          </a:bodyPr>
          <a:lstStyle/>
          <a:p>
            <a:pPr algn="ctr"/>
            <a:r>
              <a:rPr lang="es-ES" sz="2400" b="1" dirty="0"/>
              <a:t>IP Routing</a:t>
            </a:r>
          </a:p>
        </p:txBody>
      </p:sp>
      <p:pic>
        <p:nvPicPr>
          <p:cNvPr id="9" name="Imagen 8">
            <a:extLst>
              <a:ext uri="{FF2B5EF4-FFF2-40B4-BE49-F238E27FC236}">
                <a16:creationId xmlns:a16="http://schemas.microsoft.com/office/drawing/2014/main" id="{35801D39-D39D-6155-D01D-5C2961B92C50}"/>
              </a:ext>
            </a:extLst>
          </p:cNvPr>
          <p:cNvPicPr>
            <a:picLocks noChangeAspect="1"/>
          </p:cNvPicPr>
          <p:nvPr/>
        </p:nvPicPr>
        <p:blipFill>
          <a:blip r:embed="rId2"/>
          <a:stretch>
            <a:fillRect/>
          </a:stretch>
        </p:blipFill>
        <p:spPr>
          <a:xfrm>
            <a:off x="6623212" y="53072"/>
            <a:ext cx="612889" cy="408593"/>
          </a:xfrm>
          <a:prstGeom prst="rect">
            <a:avLst/>
          </a:prstGeom>
        </p:spPr>
      </p:pic>
      <p:sp>
        <p:nvSpPr>
          <p:cNvPr id="11" name="CuadroTexto 10">
            <a:extLst>
              <a:ext uri="{FF2B5EF4-FFF2-40B4-BE49-F238E27FC236}">
                <a16:creationId xmlns:a16="http://schemas.microsoft.com/office/drawing/2014/main" id="{E5EF1D5E-E2CB-4382-B795-51CC8F1D0A11}"/>
              </a:ext>
            </a:extLst>
          </p:cNvPr>
          <p:cNvSpPr txBox="1"/>
          <p:nvPr/>
        </p:nvSpPr>
        <p:spPr>
          <a:xfrm>
            <a:off x="0" y="537236"/>
            <a:ext cx="12192000" cy="3754874"/>
          </a:xfrm>
          <a:prstGeom prst="rect">
            <a:avLst/>
          </a:prstGeom>
          <a:noFill/>
        </p:spPr>
        <p:txBody>
          <a:bodyPr wrap="square" rtlCol="0">
            <a:spAutoFit/>
          </a:bodyPr>
          <a:lstStyle/>
          <a:p>
            <a:r>
              <a:rPr lang="es-ES" sz="1400" dirty="0"/>
              <a:t>Pudimos ver que la Capa 2 se encarga de mover las tramas y comunicarse entre “nodos” (Dispositivos conectados directamente entre si), pero se requiere especificar la dirección que apunta al dispositivo especifico.</a:t>
            </a:r>
          </a:p>
          <a:p>
            <a:endParaRPr lang="es-ES" sz="1400" dirty="0"/>
          </a:p>
          <a:p>
            <a:r>
              <a:rPr lang="es-ES" sz="1400" dirty="0"/>
              <a:t>La capa 3 ( de Red ) se encarga de las rutas trabajando con el protocolo              hablaremos de ahora en delante de la version 4</a:t>
            </a:r>
          </a:p>
          <a:p>
            <a:endParaRPr lang="es-ES" sz="1400" dirty="0"/>
          </a:p>
          <a:p>
            <a:r>
              <a:rPr lang="es-ES" sz="1400" b="1" dirty="0"/>
              <a:t>Diferencia con Capa 2</a:t>
            </a:r>
            <a:r>
              <a:rPr lang="es-ES" sz="1400" dirty="0"/>
              <a:t>: La Capa 2 (Enlace de datos) solo sirve para mover datos dentro de la misma red local (entre nodos vecinos usando direcciones MAC).</a:t>
            </a:r>
          </a:p>
          <a:p>
            <a:endParaRPr lang="es-ES" sz="1400" dirty="0"/>
          </a:p>
          <a:p>
            <a:r>
              <a:rPr lang="es-ES" sz="1400" b="1" dirty="0"/>
              <a:t>Función de la Capa 3</a:t>
            </a:r>
            <a:r>
              <a:rPr lang="es-ES" sz="1400" dirty="0"/>
              <a:t>: Cuando un dispositivo necesita comunicarse con otro que está en una red diferente (por ejemplo, tu ordenador accediendo a un servidor web en Internet), la Capa 3 se encarga del enrutamiento (routing) empleando direcciones IP lógicas para guiar los paquetes a través de múltiples routers.</a:t>
            </a:r>
          </a:p>
          <a:p>
            <a:endParaRPr lang="es-ES" sz="1400" dirty="0"/>
          </a:p>
          <a:p>
            <a:r>
              <a:rPr lang="es-ES" sz="1400" dirty="0"/>
              <a:t>💡Los dispositivos finales con el sistema operativo poseen el software </a:t>
            </a:r>
            <a:r>
              <a:rPr lang="es-ES" sz="1400" b="1" dirty="0"/>
              <a:t>TCP/IP </a:t>
            </a:r>
            <a:r>
              <a:rPr lang="es-ES" sz="1400" dirty="0"/>
              <a:t>que apunta a un dispositivo destino cuando quieren comunicarse.</a:t>
            </a:r>
          </a:p>
          <a:p>
            <a:endParaRPr lang="es-ES" sz="1400" b="1" dirty="0"/>
          </a:p>
          <a:p>
            <a:r>
              <a:rPr lang="es-ES" sz="1400" dirty="0"/>
              <a:t>💡Los Routers toman decisiones sobre dónde enviar los </a:t>
            </a:r>
            <a:r>
              <a:rPr lang="es-ES" sz="1400" b="1" dirty="0"/>
              <a:t>paquetes</a:t>
            </a:r>
            <a:r>
              <a:rPr lang="es-ES" sz="1400" dirty="0"/>
              <a:t> de datos basándose en la </a:t>
            </a:r>
            <a:r>
              <a:rPr lang="es-ES" sz="1400" b="1" dirty="0"/>
              <a:t>dirección IP </a:t>
            </a:r>
            <a:r>
              <a:rPr lang="es-ES" sz="1400" dirty="0"/>
              <a:t>de destino y en su </a:t>
            </a:r>
            <a:r>
              <a:rPr lang="es-ES" sz="1400" b="1" dirty="0"/>
              <a:t>tabla de enrutamiento.</a:t>
            </a:r>
          </a:p>
          <a:p>
            <a:endParaRPr lang="es-ES" sz="1400" b="1" dirty="0"/>
          </a:p>
          <a:p>
            <a:r>
              <a:rPr lang="es-ES" sz="1400" b="1" dirty="0"/>
              <a:t>💡</a:t>
            </a:r>
            <a:r>
              <a:rPr lang="es-ES" sz="1400" dirty="0"/>
              <a:t>El Router establece la separación de la red.</a:t>
            </a:r>
            <a:endParaRPr lang="es-ES" sz="1400" b="1" dirty="0"/>
          </a:p>
        </p:txBody>
      </p:sp>
      <p:pic>
        <p:nvPicPr>
          <p:cNvPr id="13" name="Imagen 12">
            <a:extLst>
              <a:ext uri="{FF2B5EF4-FFF2-40B4-BE49-F238E27FC236}">
                <a16:creationId xmlns:a16="http://schemas.microsoft.com/office/drawing/2014/main" id="{8550A4AE-B398-1896-EFAB-C2EEFF96D1CD}"/>
              </a:ext>
            </a:extLst>
          </p:cNvPr>
          <p:cNvPicPr>
            <a:picLocks noChangeAspect="1"/>
          </p:cNvPicPr>
          <p:nvPr/>
        </p:nvPicPr>
        <p:blipFill>
          <a:blip r:embed="rId2"/>
          <a:stretch>
            <a:fillRect/>
          </a:stretch>
        </p:blipFill>
        <p:spPr>
          <a:xfrm>
            <a:off x="5609155" y="1196655"/>
            <a:ext cx="361887" cy="241258"/>
          </a:xfrm>
          <a:prstGeom prst="rect">
            <a:avLst/>
          </a:prstGeom>
        </p:spPr>
      </p:pic>
      <p:cxnSp>
        <p:nvCxnSpPr>
          <p:cNvPr id="14" name="Conector recto 13">
            <a:extLst>
              <a:ext uri="{FF2B5EF4-FFF2-40B4-BE49-F238E27FC236}">
                <a16:creationId xmlns:a16="http://schemas.microsoft.com/office/drawing/2014/main" id="{17319CB9-3DB9-F0BE-42EF-F8BB22EF30EB}"/>
              </a:ext>
            </a:extLst>
          </p:cNvPr>
          <p:cNvCxnSpPr>
            <a:cxnSpLocks/>
            <a:stCxn id="17" idx="3"/>
            <a:endCxn id="18" idx="1"/>
          </p:cNvCxnSpPr>
          <p:nvPr/>
        </p:nvCxnSpPr>
        <p:spPr>
          <a:xfrm flipV="1">
            <a:off x="4219960" y="5283801"/>
            <a:ext cx="2172671" cy="10531"/>
          </a:xfrm>
          <a:prstGeom prst="line">
            <a:avLst/>
          </a:prstGeom>
        </p:spPr>
        <p:style>
          <a:lnRef idx="2">
            <a:schemeClr val="accent1"/>
          </a:lnRef>
          <a:fillRef idx="0">
            <a:schemeClr val="accent1"/>
          </a:fillRef>
          <a:effectRef idx="1">
            <a:schemeClr val="accent1"/>
          </a:effectRef>
          <a:fontRef idx="minor">
            <a:schemeClr val="tx1"/>
          </a:fontRef>
        </p:style>
      </p:cxnSp>
      <p:pic>
        <p:nvPicPr>
          <p:cNvPr id="15" name="Picture 10" descr="C:\Users\ecoffey\AppData\Local\Temp\Rar$DRa0.175\30088_Device_terminal_default_256.png">
            <a:extLst>
              <a:ext uri="{FF2B5EF4-FFF2-40B4-BE49-F238E27FC236}">
                <a16:creationId xmlns:a16="http://schemas.microsoft.com/office/drawing/2014/main" id="{A845695A-A91D-487F-B455-19F558F004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3437" y="4990210"/>
            <a:ext cx="608245" cy="608245"/>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0" descr="C:\Users\ecoffey\AppData\Local\Temp\Rar$DRa0.175\30088_Device_terminal_default_256.png">
            <a:extLst>
              <a:ext uri="{FF2B5EF4-FFF2-40B4-BE49-F238E27FC236}">
                <a16:creationId xmlns:a16="http://schemas.microsoft.com/office/drawing/2014/main" id="{7E2998D4-7A6B-A69C-CEE4-DEC6E8449F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95449" y="4979678"/>
            <a:ext cx="608246" cy="60824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0">
            <a:extLst>
              <a:ext uri="{FF2B5EF4-FFF2-40B4-BE49-F238E27FC236}">
                <a16:creationId xmlns:a16="http://schemas.microsoft.com/office/drawing/2014/main" id="{4E933E00-4C7A-8B89-7501-38472B00E29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8171" t="28931" r="8368" b="21666"/>
          <a:stretch/>
        </p:blipFill>
        <p:spPr bwMode="auto">
          <a:xfrm>
            <a:off x="3502281" y="5081921"/>
            <a:ext cx="717679" cy="424822"/>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0">
            <a:extLst>
              <a:ext uri="{FF2B5EF4-FFF2-40B4-BE49-F238E27FC236}">
                <a16:creationId xmlns:a16="http://schemas.microsoft.com/office/drawing/2014/main" id="{7D57BA85-23C4-0BE9-F44F-E4DB98139FE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8171" t="28931" r="8368" b="21666"/>
          <a:stretch/>
        </p:blipFill>
        <p:spPr bwMode="auto">
          <a:xfrm>
            <a:off x="6392631" y="5071390"/>
            <a:ext cx="717679" cy="424822"/>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Conector recto 18">
            <a:extLst>
              <a:ext uri="{FF2B5EF4-FFF2-40B4-BE49-F238E27FC236}">
                <a16:creationId xmlns:a16="http://schemas.microsoft.com/office/drawing/2014/main" id="{6E2423A7-A04E-CDE8-9A2F-8E0381B9913E}"/>
              </a:ext>
            </a:extLst>
          </p:cNvPr>
          <p:cNvCxnSpPr>
            <a:cxnSpLocks/>
            <a:stCxn id="15" idx="3"/>
            <a:endCxn id="17" idx="1"/>
          </p:cNvCxnSpPr>
          <p:nvPr/>
        </p:nvCxnSpPr>
        <p:spPr>
          <a:xfrm flipV="1">
            <a:off x="1891682" y="5294332"/>
            <a:ext cx="1610599" cy="1"/>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Conector recto 19">
            <a:extLst>
              <a:ext uri="{FF2B5EF4-FFF2-40B4-BE49-F238E27FC236}">
                <a16:creationId xmlns:a16="http://schemas.microsoft.com/office/drawing/2014/main" id="{996CED92-1ACD-F4F9-CF2A-4CFD8E0B7414}"/>
              </a:ext>
            </a:extLst>
          </p:cNvPr>
          <p:cNvCxnSpPr>
            <a:cxnSpLocks/>
            <a:stCxn id="18" idx="3"/>
            <a:endCxn id="16" idx="1"/>
          </p:cNvCxnSpPr>
          <p:nvPr/>
        </p:nvCxnSpPr>
        <p:spPr>
          <a:xfrm>
            <a:off x="7110310" y="5283801"/>
            <a:ext cx="1785139" cy="0"/>
          </a:xfrm>
          <a:prstGeom prst="line">
            <a:avLst/>
          </a:prstGeom>
        </p:spPr>
        <p:style>
          <a:lnRef idx="2">
            <a:schemeClr val="accent1"/>
          </a:lnRef>
          <a:fillRef idx="0">
            <a:schemeClr val="accent1"/>
          </a:fillRef>
          <a:effectRef idx="1">
            <a:schemeClr val="accent1"/>
          </a:effectRef>
          <a:fontRef idx="minor">
            <a:schemeClr val="tx1"/>
          </a:fontRef>
        </p:style>
      </p:cxnSp>
      <p:pic>
        <p:nvPicPr>
          <p:cNvPr id="24" name="Gráfico 23" descr="Edificio con relleno sólido">
            <a:extLst>
              <a:ext uri="{FF2B5EF4-FFF2-40B4-BE49-F238E27FC236}">
                <a16:creationId xmlns:a16="http://schemas.microsoft.com/office/drawing/2014/main" id="{70137A33-5D8B-2150-C735-A2643FA1E05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0877" y="4673523"/>
            <a:ext cx="914400" cy="914400"/>
          </a:xfrm>
          <a:prstGeom prst="rect">
            <a:avLst/>
          </a:prstGeom>
        </p:spPr>
      </p:pic>
      <p:pic>
        <p:nvPicPr>
          <p:cNvPr id="25" name="Gráfico 24" descr="Edificio con relleno sólido">
            <a:extLst>
              <a:ext uri="{FF2B5EF4-FFF2-40B4-BE49-F238E27FC236}">
                <a16:creationId xmlns:a16="http://schemas.microsoft.com/office/drawing/2014/main" id="{DA6DFCFF-B71A-4B82-394B-D72F514D7B0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48624" y="4682189"/>
            <a:ext cx="914400" cy="914400"/>
          </a:xfrm>
          <a:prstGeom prst="rect">
            <a:avLst/>
          </a:prstGeom>
        </p:spPr>
      </p:pic>
      <p:sp>
        <p:nvSpPr>
          <p:cNvPr id="26" name="CuadroTexto 25">
            <a:extLst>
              <a:ext uri="{FF2B5EF4-FFF2-40B4-BE49-F238E27FC236}">
                <a16:creationId xmlns:a16="http://schemas.microsoft.com/office/drawing/2014/main" id="{7411D043-47A1-25FF-2412-4195A9543390}"/>
              </a:ext>
            </a:extLst>
          </p:cNvPr>
          <p:cNvSpPr txBox="1"/>
          <p:nvPr/>
        </p:nvSpPr>
        <p:spPr>
          <a:xfrm>
            <a:off x="10397141" y="4936332"/>
            <a:ext cx="937051" cy="369332"/>
          </a:xfrm>
          <a:prstGeom prst="rect">
            <a:avLst/>
          </a:prstGeom>
          <a:noFill/>
        </p:spPr>
        <p:txBody>
          <a:bodyPr wrap="none" rtlCol="0">
            <a:spAutoFit/>
          </a:bodyPr>
          <a:lstStyle/>
          <a:p>
            <a:r>
              <a:rPr lang="es-ES" dirty="0"/>
              <a:t>London</a:t>
            </a:r>
          </a:p>
        </p:txBody>
      </p:sp>
      <p:sp>
        <p:nvSpPr>
          <p:cNvPr id="27" name="CuadroTexto 26">
            <a:extLst>
              <a:ext uri="{FF2B5EF4-FFF2-40B4-BE49-F238E27FC236}">
                <a16:creationId xmlns:a16="http://schemas.microsoft.com/office/drawing/2014/main" id="{BDBC7B7D-2999-D053-6D5C-81A3F15377BA}"/>
              </a:ext>
            </a:extLst>
          </p:cNvPr>
          <p:cNvSpPr txBox="1"/>
          <p:nvPr/>
        </p:nvSpPr>
        <p:spPr>
          <a:xfrm>
            <a:off x="1311116" y="4661873"/>
            <a:ext cx="668349" cy="307777"/>
          </a:xfrm>
          <a:prstGeom prst="rect">
            <a:avLst/>
          </a:prstGeom>
          <a:noFill/>
        </p:spPr>
        <p:txBody>
          <a:bodyPr wrap="square">
            <a:spAutoFit/>
          </a:bodyPr>
          <a:lstStyle/>
          <a:p>
            <a:r>
              <a:rPr lang="es-ES" sz="1400" b="1" dirty="0"/>
              <a:t>Pc1</a:t>
            </a:r>
            <a:endParaRPr lang="es-ES" b="1" dirty="0"/>
          </a:p>
        </p:txBody>
      </p:sp>
      <p:sp>
        <p:nvSpPr>
          <p:cNvPr id="28" name="CuadroTexto 27">
            <a:extLst>
              <a:ext uri="{FF2B5EF4-FFF2-40B4-BE49-F238E27FC236}">
                <a16:creationId xmlns:a16="http://schemas.microsoft.com/office/drawing/2014/main" id="{BF7AEF3E-88CA-EAE6-51F2-A15D9CC2737E}"/>
              </a:ext>
            </a:extLst>
          </p:cNvPr>
          <p:cNvSpPr txBox="1"/>
          <p:nvPr/>
        </p:nvSpPr>
        <p:spPr>
          <a:xfrm>
            <a:off x="8851704" y="4669420"/>
            <a:ext cx="528746" cy="307777"/>
          </a:xfrm>
          <a:prstGeom prst="rect">
            <a:avLst/>
          </a:prstGeom>
          <a:noFill/>
        </p:spPr>
        <p:txBody>
          <a:bodyPr wrap="square">
            <a:spAutoFit/>
          </a:bodyPr>
          <a:lstStyle/>
          <a:p>
            <a:r>
              <a:rPr lang="es-ES" sz="1400" b="1" dirty="0"/>
              <a:t>Pc2</a:t>
            </a:r>
            <a:endParaRPr lang="es-ES" b="1" dirty="0"/>
          </a:p>
        </p:txBody>
      </p:sp>
      <p:sp>
        <p:nvSpPr>
          <p:cNvPr id="29" name="CuadroTexto 28">
            <a:extLst>
              <a:ext uri="{FF2B5EF4-FFF2-40B4-BE49-F238E27FC236}">
                <a16:creationId xmlns:a16="http://schemas.microsoft.com/office/drawing/2014/main" id="{734D9AC2-3C77-1B04-541B-505E0FEE35A0}"/>
              </a:ext>
            </a:extLst>
          </p:cNvPr>
          <p:cNvSpPr txBox="1"/>
          <p:nvPr/>
        </p:nvSpPr>
        <p:spPr>
          <a:xfrm>
            <a:off x="3620903" y="4702823"/>
            <a:ext cx="668349" cy="307777"/>
          </a:xfrm>
          <a:prstGeom prst="rect">
            <a:avLst/>
          </a:prstGeom>
          <a:noFill/>
        </p:spPr>
        <p:txBody>
          <a:bodyPr wrap="square">
            <a:spAutoFit/>
          </a:bodyPr>
          <a:lstStyle/>
          <a:p>
            <a:r>
              <a:rPr lang="es-ES" sz="1400" b="1" dirty="0"/>
              <a:t>R1</a:t>
            </a:r>
            <a:endParaRPr lang="es-ES" b="1" dirty="0"/>
          </a:p>
        </p:txBody>
      </p:sp>
      <p:sp>
        <p:nvSpPr>
          <p:cNvPr id="30" name="CuadroTexto 29">
            <a:extLst>
              <a:ext uri="{FF2B5EF4-FFF2-40B4-BE49-F238E27FC236}">
                <a16:creationId xmlns:a16="http://schemas.microsoft.com/office/drawing/2014/main" id="{3B359DA0-8AD2-AE03-448E-0C1B4D029B1E}"/>
              </a:ext>
            </a:extLst>
          </p:cNvPr>
          <p:cNvSpPr txBox="1"/>
          <p:nvPr/>
        </p:nvSpPr>
        <p:spPr>
          <a:xfrm>
            <a:off x="6541532" y="4702145"/>
            <a:ext cx="668349" cy="307777"/>
          </a:xfrm>
          <a:prstGeom prst="rect">
            <a:avLst/>
          </a:prstGeom>
          <a:noFill/>
        </p:spPr>
        <p:txBody>
          <a:bodyPr wrap="square">
            <a:spAutoFit/>
          </a:bodyPr>
          <a:lstStyle/>
          <a:p>
            <a:r>
              <a:rPr lang="es-ES" sz="1400" b="1" dirty="0"/>
              <a:t>R2</a:t>
            </a:r>
            <a:endParaRPr lang="es-ES" b="1" dirty="0"/>
          </a:p>
        </p:txBody>
      </p:sp>
      <p:pic>
        <p:nvPicPr>
          <p:cNvPr id="31" name="Gráfico 30" descr="Nube con relleno sólido">
            <a:extLst>
              <a:ext uri="{FF2B5EF4-FFF2-40B4-BE49-F238E27FC236}">
                <a16:creationId xmlns:a16="http://schemas.microsoft.com/office/drawing/2014/main" id="{DA699387-36CA-9B5A-0316-EBECDBA71C3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56448" y="4736085"/>
            <a:ext cx="914400" cy="914400"/>
          </a:xfrm>
          <a:prstGeom prst="rect">
            <a:avLst/>
          </a:prstGeom>
        </p:spPr>
      </p:pic>
      <p:sp>
        <p:nvSpPr>
          <p:cNvPr id="32" name="Bocadillo: rectángulo 31">
            <a:extLst>
              <a:ext uri="{FF2B5EF4-FFF2-40B4-BE49-F238E27FC236}">
                <a16:creationId xmlns:a16="http://schemas.microsoft.com/office/drawing/2014/main" id="{BED1D1C8-8A67-1EF9-5346-F91979B36A0C}"/>
              </a:ext>
            </a:extLst>
          </p:cNvPr>
          <p:cNvSpPr/>
          <p:nvPr/>
        </p:nvSpPr>
        <p:spPr>
          <a:xfrm>
            <a:off x="260876" y="5758626"/>
            <a:ext cx="1770347" cy="914400"/>
          </a:xfrm>
          <a:prstGeom prst="wedgeRectCallout">
            <a:avLst>
              <a:gd name="adj1" fmla="val 23920"/>
              <a:gd name="adj2" fmla="val -71851"/>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ES" sz="1100" dirty="0"/>
              <a:t>Quiero enviar datos a </a:t>
            </a:r>
            <a:r>
              <a:rPr lang="es-ES" sz="1100" b="1" dirty="0"/>
              <a:t>Pc2,</a:t>
            </a:r>
            <a:r>
              <a:rPr lang="es-ES" sz="1100" dirty="0"/>
              <a:t> pero esta en otra red, le enviare el Paquete al router para que lo redireccione</a:t>
            </a:r>
          </a:p>
        </p:txBody>
      </p:sp>
      <p:sp>
        <p:nvSpPr>
          <p:cNvPr id="33" name="CuadroTexto 32">
            <a:extLst>
              <a:ext uri="{FF2B5EF4-FFF2-40B4-BE49-F238E27FC236}">
                <a16:creationId xmlns:a16="http://schemas.microsoft.com/office/drawing/2014/main" id="{7A71189A-713C-802A-F6ED-B3A5D12996C2}"/>
              </a:ext>
            </a:extLst>
          </p:cNvPr>
          <p:cNvSpPr txBox="1"/>
          <p:nvPr/>
        </p:nvSpPr>
        <p:spPr>
          <a:xfrm>
            <a:off x="1063871" y="4797435"/>
            <a:ext cx="1343638" cy="338554"/>
          </a:xfrm>
          <a:prstGeom prst="rect">
            <a:avLst/>
          </a:prstGeom>
          <a:noFill/>
        </p:spPr>
        <p:txBody>
          <a:bodyPr wrap="none" rtlCol="0">
            <a:spAutoFit/>
          </a:bodyPr>
          <a:lstStyle/>
          <a:p>
            <a:r>
              <a:rPr lang="es-ES" sz="1600" b="1" dirty="0"/>
              <a:t>160.140.1.10</a:t>
            </a:r>
            <a:endParaRPr lang="es-ES" b="1" dirty="0"/>
          </a:p>
        </p:txBody>
      </p:sp>
      <p:sp>
        <p:nvSpPr>
          <p:cNvPr id="35" name="CuadroTexto 34">
            <a:extLst>
              <a:ext uri="{FF2B5EF4-FFF2-40B4-BE49-F238E27FC236}">
                <a16:creationId xmlns:a16="http://schemas.microsoft.com/office/drawing/2014/main" id="{DAC14B01-30E1-3A29-00C5-6AB64EC36BEC}"/>
              </a:ext>
            </a:extLst>
          </p:cNvPr>
          <p:cNvSpPr txBox="1"/>
          <p:nvPr/>
        </p:nvSpPr>
        <p:spPr>
          <a:xfrm>
            <a:off x="8348073" y="4808040"/>
            <a:ext cx="1343638" cy="338554"/>
          </a:xfrm>
          <a:prstGeom prst="rect">
            <a:avLst/>
          </a:prstGeom>
          <a:noFill/>
        </p:spPr>
        <p:txBody>
          <a:bodyPr wrap="none" rtlCol="0">
            <a:spAutoFit/>
          </a:bodyPr>
          <a:lstStyle/>
          <a:p>
            <a:r>
              <a:rPr lang="es-ES" sz="1600" b="1" dirty="0"/>
              <a:t>150.110.2.20</a:t>
            </a:r>
            <a:endParaRPr lang="es-ES" b="1" dirty="0"/>
          </a:p>
        </p:txBody>
      </p:sp>
      <p:sp>
        <p:nvSpPr>
          <p:cNvPr id="37" name="Bocadillo: rectángulo 36">
            <a:extLst>
              <a:ext uri="{FF2B5EF4-FFF2-40B4-BE49-F238E27FC236}">
                <a16:creationId xmlns:a16="http://schemas.microsoft.com/office/drawing/2014/main" id="{7EFA7D4A-68DA-2689-7199-CB9ABE43473A}"/>
              </a:ext>
            </a:extLst>
          </p:cNvPr>
          <p:cNvSpPr/>
          <p:nvPr/>
        </p:nvSpPr>
        <p:spPr>
          <a:xfrm>
            <a:off x="2735729" y="5758626"/>
            <a:ext cx="1770347" cy="914400"/>
          </a:xfrm>
          <a:prstGeom prst="wedgeRectCallout">
            <a:avLst>
              <a:gd name="adj1" fmla="val 19189"/>
              <a:gd name="adj2" fmla="val -69561"/>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ES" sz="1100" dirty="0"/>
              <a:t>Mi tabla de enrutamiento dice que para enviar a </a:t>
            </a:r>
            <a:r>
              <a:rPr lang="es-ES" sz="1100" b="1" dirty="0"/>
              <a:t>Pc2</a:t>
            </a:r>
            <a:r>
              <a:rPr lang="es-ES" sz="1100" dirty="0"/>
              <a:t> (</a:t>
            </a:r>
            <a:r>
              <a:rPr lang="es-ES" sz="1100" b="1" dirty="0"/>
              <a:t>150.110.2.20</a:t>
            </a:r>
            <a:r>
              <a:rPr lang="es-ES" sz="1100" dirty="0"/>
              <a:t>) lo envié a </a:t>
            </a:r>
            <a:r>
              <a:rPr lang="es-ES" sz="1100" b="1" dirty="0"/>
              <a:t>R2</a:t>
            </a:r>
          </a:p>
        </p:txBody>
      </p:sp>
      <p:sp>
        <p:nvSpPr>
          <p:cNvPr id="39" name="Bocadillo: rectángulo 38">
            <a:extLst>
              <a:ext uri="{FF2B5EF4-FFF2-40B4-BE49-F238E27FC236}">
                <a16:creationId xmlns:a16="http://schemas.microsoft.com/office/drawing/2014/main" id="{7BC74B33-77F4-1FEB-D352-2D3EDDEDD840}"/>
              </a:ext>
            </a:extLst>
          </p:cNvPr>
          <p:cNvSpPr/>
          <p:nvPr/>
        </p:nvSpPr>
        <p:spPr>
          <a:xfrm>
            <a:off x="6261933" y="5781818"/>
            <a:ext cx="1770347" cy="914400"/>
          </a:xfrm>
          <a:prstGeom prst="wedgeRectCallout">
            <a:avLst>
              <a:gd name="adj1" fmla="val -15114"/>
              <a:gd name="adj2" fmla="val -73378"/>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ES" sz="1100" b="1" dirty="0"/>
              <a:t>Pc2</a:t>
            </a:r>
            <a:r>
              <a:rPr lang="es-ES" sz="1100" dirty="0"/>
              <a:t> esta en la misma red, enviare directamente</a:t>
            </a:r>
            <a:endParaRPr lang="es-ES" sz="1100" b="1" dirty="0"/>
          </a:p>
        </p:txBody>
      </p:sp>
      <p:sp>
        <p:nvSpPr>
          <p:cNvPr id="41" name="CuadroTexto 40">
            <a:extLst>
              <a:ext uri="{FF2B5EF4-FFF2-40B4-BE49-F238E27FC236}">
                <a16:creationId xmlns:a16="http://schemas.microsoft.com/office/drawing/2014/main" id="{183DC387-6CF0-A90B-163D-D8904E482098}"/>
              </a:ext>
            </a:extLst>
          </p:cNvPr>
          <p:cNvSpPr txBox="1"/>
          <p:nvPr/>
        </p:nvSpPr>
        <p:spPr>
          <a:xfrm>
            <a:off x="31959" y="4403506"/>
            <a:ext cx="748923" cy="369332"/>
          </a:xfrm>
          <a:prstGeom prst="rect">
            <a:avLst/>
          </a:prstGeom>
          <a:noFill/>
        </p:spPr>
        <p:txBody>
          <a:bodyPr wrap="none" rtlCol="0">
            <a:spAutoFit/>
          </a:bodyPr>
          <a:lstStyle/>
          <a:p>
            <a:r>
              <a:rPr lang="es-ES" dirty="0"/>
              <a:t>Spain</a:t>
            </a:r>
          </a:p>
        </p:txBody>
      </p:sp>
      <p:sp>
        <p:nvSpPr>
          <p:cNvPr id="45" name="CuadroTexto 44">
            <a:extLst>
              <a:ext uri="{FF2B5EF4-FFF2-40B4-BE49-F238E27FC236}">
                <a16:creationId xmlns:a16="http://schemas.microsoft.com/office/drawing/2014/main" id="{5D2F2BE9-AA3F-E03C-8F58-2C7D4B100AC7}"/>
              </a:ext>
            </a:extLst>
          </p:cNvPr>
          <p:cNvSpPr txBox="1"/>
          <p:nvPr/>
        </p:nvSpPr>
        <p:spPr>
          <a:xfrm>
            <a:off x="6929656" y="4425646"/>
            <a:ext cx="1374672" cy="369332"/>
          </a:xfrm>
          <a:prstGeom prst="rect">
            <a:avLst/>
          </a:prstGeom>
          <a:noFill/>
        </p:spPr>
        <p:txBody>
          <a:bodyPr wrap="none" rtlCol="0">
            <a:spAutoFit/>
          </a:bodyPr>
          <a:lstStyle/>
          <a:p>
            <a:r>
              <a:rPr lang="es-ES" dirty="0"/>
              <a:t>Red London</a:t>
            </a:r>
          </a:p>
        </p:txBody>
      </p:sp>
      <p:sp>
        <p:nvSpPr>
          <p:cNvPr id="47" name="CuadroTexto 46">
            <a:extLst>
              <a:ext uri="{FF2B5EF4-FFF2-40B4-BE49-F238E27FC236}">
                <a16:creationId xmlns:a16="http://schemas.microsoft.com/office/drawing/2014/main" id="{1B68369E-6052-8180-B9D9-12BDFF80F6C6}"/>
              </a:ext>
            </a:extLst>
          </p:cNvPr>
          <p:cNvSpPr txBox="1"/>
          <p:nvPr/>
        </p:nvSpPr>
        <p:spPr>
          <a:xfrm>
            <a:off x="2434935" y="4343479"/>
            <a:ext cx="1186543" cy="369332"/>
          </a:xfrm>
          <a:prstGeom prst="rect">
            <a:avLst/>
          </a:prstGeom>
          <a:noFill/>
        </p:spPr>
        <p:txBody>
          <a:bodyPr wrap="none" rtlCol="0">
            <a:spAutoFit/>
          </a:bodyPr>
          <a:lstStyle/>
          <a:p>
            <a:r>
              <a:rPr lang="es-ES" dirty="0"/>
              <a:t>Red Spain</a:t>
            </a:r>
          </a:p>
        </p:txBody>
      </p:sp>
      <p:sp>
        <p:nvSpPr>
          <p:cNvPr id="49" name="CuadroTexto 48">
            <a:extLst>
              <a:ext uri="{FF2B5EF4-FFF2-40B4-BE49-F238E27FC236}">
                <a16:creationId xmlns:a16="http://schemas.microsoft.com/office/drawing/2014/main" id="{0C5BBBD0-AA49-A3B5-A2A6-FF87EA0072E2}"/>
              </a:ext>
            </a:extLst>
          </p:cNvPr>
          <p:cNvSpPr txBox="1"/>
          <p:nvPr/>
        </p:nvSpPr>
        <p:spPr>
          <a:xfrm>
            <a:off x="4794203" y="4628863"/>
            <a:ext cx="967381" cy="369332"/>
          </a:xfrm>
          <a:prstGeom prst="rect">
            <a:avLst/>
          </a:prstGeom>
          <a:noFill/>
        </p:spPr>
        <p:txBody>
          <a:bodyPr wrap="none" rtlCol="0">
            <a:spAutoFit/>
          </a:bodyPr>
          <a:lstStyle/>
          <a:p>
            <a:r>
              <a:rPr lang="es-ES" dirty="0"/>
              <a:t>Internet</a:t>
            </a:r>
          </a:p>
        </p:txBody>
      </p:sp>
      <p:sp>
        <p:nvSpPr>
          <p:cNvPr id="51" name="Flecha: a la derecha 50">
            <a:extLst>
              <a:ext uri="{FF2B5EF4-FFF2-40B4-BE49-F238E27FC236}">
                <a16:creationId xmlns:a16="http://schemas.microsoft.com/office/drawing/2014/main" id="{5120A080-FF49-40DA-F769-56B7AAE433DD}"/>
              </a:ext>
            </a:extLst>
          </p:cNvPr>
          <p:cNvSpPr/>
          <p:nvPr/>
        </p:nvSpPr>
        <p:spPr>
          <a:xfrm>
            <a:off x="2312782" y="6115233"/>
            <a:ext cx="244306" cy="24756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53" name="Flecha: a la derecha 52">
            <a:extLst>
              <a:ext uri="{FF2B5EF4-FFF2-40B4-BE49-F238E27FC236}">
                <a16:creationId xmlns:a16="http://schemas.microsoft.com/office/drawing/2014/main" id="{48C7D9EB-9143-AB25-3416-7A70EDDE8DC8}"/>
              </a:ext>
            </a:extLst>
          </p:cNvPr>
          <p:cNvSpPr/>
          <p:nvPr/>
        </p:nvSpPr>
        <p:spPr>
          <a:xfrm>
            <a:off x="5346379" y="6094460"/>
            <a:ext cx="244306" cy="24756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55" name="Imagen 54">
            <a:extLst>
              <a:ext uri="{FF2B5EF4-FFF2-40B4-BE49-F238E27FC236}">
                <a16:creationId xmlns:a16="http://schemas.microsoft.com/office/drawing/2014/main" id="{C1D6FBD8-094E-AD02-A1B9-F15FE1ECA33D}"/>
              </a:ext>
            </a:extLst>
          </p:cNvPr>
          <p:cNvPicPr>
            <a:picLocks noChangeAspect="1"/>
          </p:cNvPicPr>
          <p:nvPr/>
        </p:nvPicPr>
        <p:blipFill>
          <a:blip r:embed="rId7"/>
          <a:stretch>
            <a:fillRect/>
          </a:stretch>
        </p:blipFill>
        <p:spPr>
          <a:xfrm>
            <a:off x="9757043" y="1212517"/>
            <a:ext cx="449002" cy="209534"/>
          </a:xfrm>
          <a:prstGeom prst="rect">
            <a:avLst/>
          </a:prstGeom>
        </p:spPr>
      </p:pic>
    </p:spTree>
    <p:extLst>
      <p:ext uri="{BB962C8B-B14F-4D97-AF65-F5344CB8AC3E}">
        <p14:creationId xmlns:p14="http://schemas.microsoft.com/office/powerpoint/2010/main" val="10078272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6E4A4F19-1ACA-02DF-6C1E-CB51B00F95E4}"/>
              </a:ext>
            </a:extLst>
          </p:cNvPr>
          <p:cNvSpPr txBox="1"/>
          <p:nvPr/>
        </p:nvSpPr>
        <p:spPr>
          <a:xfrm>
            <a:off x="3731252" y="-22499"/>
            <a:ext cx="3951253" cy="461665"/>
          </a:xfrm>
          <a:prstGeom prst="rect">
            <a:avLst/>
          </a:prstGeom>
          <a:noFill/>
        </p:spPr>
        <p:txBody>
          <a:bodyPr wrap="square">
            <a:spAutoFit/>
          </a:bodyPr>
          <a:lstStyle/>
          <a:p>
            <a:pPr algn="ctr"/>
            <a:r>
              <a:rPr lang="es-ES" sz="2400" b="1" dirty="0"/>
              <a:t>IP Routing</a:t>
            </a:r>
          </a:p>
        </p:txBody>
      </p:sp>
      <p:pic>
        <p:nvPicPr>
          <p:cNvPr id="7" name="Imagen 6">
            <a:extLst>
              <a:ext uri="{FF2B5EF4-FFF2-40B4-BE49-F238E27FC236}">
                <a16:creationId xmlns:a16="http://schemas.microsoft.com/office/drawing/2014/main" id="{9EA47E7C-0514-614E-CB06-69BCEEB01E13}"/>
              </a:ext>
            </a:extLst>
          </p:cNvPr>
          <p:cNvPicPr>
            <a:picLocks noChangeAspect="1"/>
          </p:cNvPicPr>
          <p:nvPr/>
        </p:nvPicPr>
        <p:blipFill>
          <a:blip r:embed="rId2"/>
          <a:stretch>
            <a:fillRect/>
          </a:stretch>
        </p:blipFill>
        <p:spPr>
          <a:xfrm>
            <a:off x="6623212" y="53072"/>
            <a:ext cx="612889" cy="408593"/>
          </a:xfrm>
          <a:prstGeom prst="rect">
            <a:avLst/>
          </a:prstGeom>
        </p:spPr>
      </p:pic>
      <p:sp>
        <p:nvSpPr>
          <p:cNvPr id="9" name="CuadroTexto 8">
            <a:extLst>
              <a:ext uri="{FF2B5EF4-FFF2-40B4-BE49-F238E27FC236}">
                <a16:creationId xmlns:a16="http://schemas.microsoft.com/office/drawing/2014/main" id="{3B4BDDE6-96DD-58A0-6B42-5DD76D55C101}"/>
              </a:ext>
            </a:extLst>
          </p:cNvPr>
          <p:cNvSpPr txBox="1"/>
          <p:nvPr/>
        </p:nvSpPr>
        <p:spPr>
          <a:xfrm>
            <a:off x="-321133" y="0"/>
            <a:ext cx="3329579" cy="461665"/>
          </a:xfrm>
          <a:prstGeom prst="rect">
            <a:avLst/>
          </a:prstGeom>
          <a:noFill/>
        </p:spPr>
        <p:txBody>
          <a:bodyPr wrap="square">
            <a:spAutoFit/>
          </a:bodyPr>
          <a:lstStyle/>
          <a:p>
            <a:pPr algn="ctr"/>
            <a:r>
              <a:rPr lang="es-ES" sz="1200" dirty="0">
                <a:ln w="0"/>
                <a:effectLst>
                  <a:outerShdw blurRad="38100" dist="19050" dir="2700000" algn="tl" rotWithShape="0">
                    <a:schemeClr val="dk1">
                      <a:alpha val="40000"/>
                    </a:schemeClr>
                  </a:outerShdw>
                </a:effectLst>
              </a:rPr>
              <a:t>1. Introducción a las redes</a:t>
            </a:r>
          </a:p>
          <a:p>
            <a:pPr algn="ctr"/>
            <a:r>
              <a:rPr lang="es-ES" sz="1200" b="1" dirty="0"/>
              <a:t>WANs y Routing IP</a:t>
            </a:r>
          </a:p>
        </p:txBody>
      </p:sp>
      <p:sp>
        <p:nvSpPr>
          <p:cNvPr id="11" name="CuadroTexto 10">
            <a:extLst>
              <a:ext uri="{FF2B5EF4-FFF2-40B4-BE49-F238E27FC236}">
                <a16:creationId xmlns:a16="http://schemas.microsoft.com/office/drawing/2014/main" id="{CDF6E9C1-95D4-FFD8-78B6-9F242A98DC8F}"/>
              </a:ext>
            </a:extLst>
          </p:cNvPr>
          <p:cNvSpPr txBox="1"/>
          <p:nvPr/>
        </p:nvSpPr>
        <p:spPr>
          <a:xfrm>
            <a:off x="0" y="495903"/>
            <a:ext cx="12292049" cy="1600438"/>
          </a:xfrm>
          <a:prstGeom prst="rect">
            <a:avLst/>
          </a:prstGeom>
          <a:noFill/>
        </p:spPr>
        <p:txBody>
          <a:bodyPr wrap="square" rtlCol="0">
            <a:spAutoFit/>
          </a:bodyPr>
          <a:lstStyle/>
          <a:p>
            <a:r>
              <a:rPr lang="es-ES" sz="1400" dirty="0"/>
              <a:t>Todos los dispositivos en una LAN que esperen recibir un Paquete </a:t>
            </a:r>
            <a:r>
              <a:rPr lang="es-ES" sz="1400" b="1" dirty="0"/>
              <a:t>IP </a:t>
            </a:r>
            <a:r>
              <a:rPr lang="es-ES" sz="1400" dirty="0"/>
              <a:t>necesitan una dirección IP ( </a:t>
            </a:r>
            <a:r>
              <a:rPr lang="es-ES" sz="1400" b="1" dirty="0"/>
              <a:t>IP ADDRESS</a:t>
            </a:r>
            <a:r>
              <a:rPr lang="es-ES" sz="1400" dirty="0"/>
              <a:t>), los hosts tienen en su sistema operativo el software </a:t>
            </a:r>
            <a:r>
              <a:rPr lang="es-ES" sz="1400" b="1" dirty="0"/>
              <a:t>TCP/IP </a:t>
            </a:r>
            <a:r>
              <a:rPr lang="es-ES" sz="1400" dirty="0"/>
              <a:t>que usan para configurar su dirección IP, su puerta de enlace y su identificador de subred.</a:t>
            </a:r>
          </a:p>
          <a:p>
            <a:endParaRPr lang="es-ES" sz="1400" dirty="0"/>
          </a:p>
          <a:p>
            <a:r>
              <a:rPr lang="es-ES" sz="1400" dirty="0"/>
              <a:t>La dirección que usan los dispositivos finales o Hosts (Clientes) para salir a internet es la dirección del Router que se conoce como </a:t>
            </a:r>
            <a:r>
              <a:rPr lang="es-ES" sz="1400" b="1" dirty="0"/>
              <a:t>Puerta de Enlace o Default Gateway</a:t>
            </a:r>
          </a:p>
          <a:p>
            <a:endParaRPr lang="es-ES" sz="1400" b="1" dirty="0"/>
          </a:p>
          <a:p>
            <a:r>
              <a:rPr lang="es-ES" sz="1400" b="1" dirty="0"/>
              <a:t>La IP del router esta asignada a la interfaz (interface) G0/1 que conecta con esta red LAN1 siendo asi esta IP el Default Gateway de la LAN1.</a:t>
            </a:r>
          </a:p>
        </p:txBody>
      </p:sp>
      <p:pic>
        <p:nvPicPr>
          <p:cNvPr id="12" name="Picture 10" descr="C:\Users\ecoffey\AppData\Local\Temp\Rar$DRa0.175\30088_Device_terminal_default_256.png">
            <a:extLst>
              <a:ext uri="{FF2B5EF4-FFF2-40B4-BE49-F238E27FC236}">
                <a16:creationId xmlns:a16="http://schemas.microsoft.com/office/drawing/2014/main" id="{7FA874EC-C865-E26C-9BB9-AC068D7A06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4750" y="2278713"/>
            <a:ext cx="863777" cy="863777"/>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0" descr="C:\Users\ecoffey\AppData\Local\Temp\Rar$DRa0.608\30080_Device_switch_default_256.png">
            <a:extLst>
              <a:ext uri="{FF2B5EF4-FFF2-40B4-BE49-F238E27FC236}">
                <a16:creationId xmlns:a16="http://schemas.microsoft.com/office/drawing/2014/main" id="{4F753C47-6C93-768E-AD01-0E51C9E1DE2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7154" b="26465"/>
          <a:stretch/>
        </p:blipFill>
        <p:spPr bwMode="auto">
          <a:xfrm>
            <a:off x="4407250" y="2803852"/>
            <a:ext cx="1061255" cy="492220"/>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Conector recto 13">
            <a:extLst>
              <a:ext uri="{FF2B5EF4-FFF2-40B4-BE49-F238E27FC236}">
                <a16:creationId xmlns:a16="http://schemas.microsoft.com/office/drawing/2014/main" id="{56B3DD5B-75CF-88F4-3B50-507B7AE1A0BE}"/>
              </a:ext>
            </a:extLst>
          </p:cNvPr>
          <p:cNvCxnSpPr>
            <a:cxnSpLocks/>
          </p:cNvCxnSpPr>
          <p:nvPr/>
        </p:nvCxnSpPr>
        <p:spPr>
          <a:xfrm flipV="1">
            <a:off x="2993382" y="3179645"/>
            <a:ext cx="1512143" cy="396306"/>
          </a:xfrm>
          <a:prstGeom prst="line">
            <a:avLst/>
          </a:prstGeom>
        </p:spPr>
        <p:style>
          <a:lnRef idx="2">
            <a:schemeClr val="accent1"/>
          </a:lnRef>
          <a:fillRef idx="0">
            <a:schemeClr val="accent1"/>
          </a:fillRef>
          <a:effectRef idx="1">
            <a:schemeClr val="accent1"/>
          </a:effectRef>
          <a:fontRef idx="minor">
            <a:schemeClr val="tx1"/>
          </a:fontRef>
        </p:style>
      </p:cxnSp>
      <p:pic>
        <p:nvPicPr>
          <p:cNvPr id="15" name="Picture 10">
            <a:extLst>
              <a:ext uri="{FF2B5EF4-FFF2-40B4-BE49-F238E27FC236}">
                <a16:creationId xmlns:a16="http://schemas.microsoft.com/office/drawing/2014/main" id="{B0AE31C3-13E7-5179-7987-CB4A8E2846A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8171" t="28931" r="8368" b="21666"/>
          <a:stretch/>
        </p:blipFill>
        <p:spPr bwMode="auto">
          <a:xfrm>
            <a:off x="6658047" y="2354693"/>
            <a:ext cx="851230" cy="503877"/>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0" descr="C:\Users\ecoffey\AppData\Local\Temp\Rar$DRa0.175\30088_Device_terminal_default_256.png">
            <a:extLst>
              <a:ext uri="{FF2B5EF4-FFF2-40B4-BE49-F238E27FC236}">
                <a16:creationId xmlns:a16="http://schemas.microsoft.com/office/drawing/2014/main" id="{AE542C40-AC12-728E-C392-84D27317B0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051" y="3382015"/>
            <a:ext cx="863777" cy="863777"/>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0" descr="C:\Users\ecoffey\AppData\Local\Temp\Rar$DRa0.175\30088_Device_terminal_default_256.png">
            <a:extLst>
              <a:ext uri="{FF2B5EF4-FFF2-40B4-BE49-F238E27FC236}">
                <a16:creationId xmlns:a16="http://schemas.microsoft.com/office/drawing/2014/main" id="{F293CED6-462A-F66D-02DA-351E581C24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21" y="3782372"/>
            <a:ext cx="863777" cy="863777"/>
          </a:xfrm>
          <a:prstGeom prst="rect">
            <a:avLst/>
          </a:prstGeom>
          <a:noFill/>
          <a:extLst>
            <a:ext uri="{909E8E84-426E-40DD-AFC4-6F175D3DCCD1}">
              <a14:hiddenFill xmlns:a14="http://schemas.microsoft.com/office/drawing/2010/main">
                <a:solidFill>
                  <a:srgbClr val="FFFFFF"/>
                </a:solidFill>
              </a14:hiddenFill>
            </a:ext>
          </a:extLst>
        </p:spPr>
      </p:pic>
      <p:cxnSp>
        <p:nvCxnSpPr>
          <p:cNvPr id="22" name="Conector recto 21">
            <a:extLst>
              <a:ext uri="{FF2B5EF4-FFF2-40B4-BE49-F238E27FC236}">
                <a16:creationId xmlns:a16="http://schemas.microsoft.com/office/drawing/2014/main" id="{0EA1A5FF-89A6-68C9-72AE-3C78FA854633}"/>
              </a:ext>
            </a:extLst>
          </p:cNvPr>
          <p:cNvCxnSpPr>
            <a:cxnSpLocks/>
          </p:cNvCxnSpPr>
          <p:nvPr/>
        </p:nvCxnSpPr>
        <p:spPr>
          <a:xfrm flipH="1">
            <a:off x="4264808" y="3218598"/>
            <a:ext cx="426764" cy="984203"/>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Conector recto 30">
            <a:extLst>
              <a:ext uri="{FF2B5EF4-FFF2-40B4-BE49-F238E27FC236}">
                <a16:creationId xmlns:a16="http://schemas.microsoft.com/office/drawing/2014/main" id="{21ED66E9-D555-A555-801D-CB65DD2FB7D6}"/>
              </a:ext>
            </a:extLst>
          </p:cNvPr>
          <p:cNvCxnSpPr>
            <a:cxnSpLocks/>
          </p:cNvCxnSpPr>
          <p:nvPr/>
        </p:nvCxnSpPr>
        <p:spPr>
          <a:xfrm>
            <a:off x="3189362" y="2762736"/>
            <a:ext cx="1417738" cy="294807"/>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Conector recto 33">
            <a:extLst>
              <a:ext uri="{FF2B5EF4-FFF2-40B4-BE49-F238E27FC236}">
                <a16:creationId xmlns:a16="http://schemas.microsoft.com/office/drawing/2014/main" id="{40E97D9E-14E2-665D-7392-35DD2E882D7E}"/>
              </a:ext>
            </a:extLst>
          </p:cNvPr>
          <p:cNvCxnSpPr>
            <a:cxnSpLocks/>
            <a:endCxn id="15" idx="1"/>
          </p:cNvCxnSpPr>
          <p:nvPr/>
        </p:nvCxnSpPr>
        <p:spPr>
          <a:xfrm flipV="1">
            <a:off x="5242029" y="2606632"/>
            <a:ext cx="1416018" cy="429646"/>
          </a:xfrm>
          <a:prstGeom prst="line">
            <a:avLst/>
          </a:prstGeom>
        </p:spPr>
        <p:style>
          <a:lnRef idx="2">
            <a:schemeClr val="accent1"/>
          </a:lnRef>
          <a:fillRef idx="0">
            <a:schemeClr val="accent1"/>
          </a:fillRef>
          <a:effectRef idx="1">
            <a:schemeClr val="accent1"/>
          </a:effectRef>
          <a:fontRef idx="minor">
            <a:schemeClr val="tx1"/>
          </a:fontRef>
        </p:style>
      </p:cxnSp>
      <p:sp>
        <p:nvSpPr>
          <p:cNvPr id="52" name="CuadroTexto 51">
            <a:extLst>
              <a:ext uri="{FF2B5EF4-FFF2-40B4-BE49-F238E27FC236}">
                <a16:creationId xmlns:a16="http://schemas.microsoft.com/office/drawing/2014/main" id="{C308F843-417C-2B51-5079-6CCB08A43941}"/>
              </a:ext>
            </a:extLst>
          </p:cNvPr>
          <p:cNvSpPr txBox="1"/>
          <p:nvPr/>
        </p:nvSpPr>
        <p:spPr>
          <a:xfrm>
            <a:off x="6457324" y="2932192"/>
            <a:ext cx="1540218" cy="523220"/>
          </a:xfrm>
          <a:prstGeom prst="rect">
            <a:avLst/>
          </a:prstGeom>
          <a:noFill/>
        </p:spPr>
        <p:txBody>
          <a:bodyPr wrap="square">
            <a:spAutoFit/>
          </a:bodyPr>
          <a:lstStyle/>
          <a:p>
            <a:r>
              <a:rPr lang="es-ES" sz="1400" b="1" dirty="0"/>
              <a:t>Default Gateway</a:t>
            </a:r>
          </a:p>
          <a:p>
            <a:r>
              <a:rPr lang="es-ES" sz="1400" b="1" dirty="0"/>
              <a:t>192.168.10.1</a:t>
            </a:r>
            <a:endParaRPr lang="es-ES" dirty="0"/>
          </a:p>
        </p:txBody>
      </p:sp>
      <p:sp>
        <p:nvSpPr>
          <p:cNvPr id="53" name="CuadroTexto 52">
            <a:extLst>
              <a:ext uri="{FF2B5EF4-FFF2-40B4-BE49-F238E27FC236}">
                <a16:creationId xmlns:a16="http://schemas.microsoft.com/office/drawing/2014/main" id="{4CAABDC1-82D3-F524-E1DA-ED30B65772E4}"/>
              </a:ext>
            </a:extLst>
          </p:cNvPr>
          <p:cNvSpPr txBox="1"/>
          <p:nvPr/>
        </p:nvSpPr>
        <p:spPr>
          <a:xfrm>
            <a:off x="6147971" y="2416754"/>
            <a:ext cx="510076" cy="276999"/>
          </a:xfrm>
          <a:prstGeom prst="rect">
            <a:avLst/>
          </a:prstGeom>
          <a:noFill/>
        </p:spPr>
        <p:txBody>
          <a:bodyPr wrap="none" rtlCol="0">
            <a:spAutoFit/>
          </a:bodyPr>
          <a:lstStyle/>
          <a:p>
            <a:r>
              <a:rPr lang="es-ES" sz="1200" dirty="0"/>
              <a:t>G0/1</a:t>
            </a:r>
          </a:p>
        </p:txBody>
      </p:sp>
      <p:cxnSp>
        <p:nvCxnSpPr>
          <p:cNvPr id="56" name="Conector recto de flecha 55">
            <a:extLst>
              <a:ext uri="{FF2B5EF4-FFF2-40B4-BE49-F238E27FC236}">
                <a16:creationId xmlns:a16="http://schemas.microsoft.com/office/drawing/2014/main" id="{FA0CC153-5FF1-4785-EEC5-86CB78C2FF79}"/>
              </a:ext>
            </a:extLst>
          </p:cNvPr>
          <p:cNvCxnSpPr>
            <a:cxnSpLocks/>
          </p:cNvCxnSpPr>
          <p:nvPr/>
        </p:nvCxnSpPr>
        <p:spPr>
          <a:xfrm flipH="1">
            <a:off x="7717340" y="3310723"/>
            <a:ext cx="121454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8" name="CuadroTexto 57">
            <a:extLst>
              <a:ext uri="{FF2B5EF4-FFF2-40B4-BE49-F238E27FC236}">
                <a16:creationId xmlns:a16="http://schemas.microsoft.com/office/drawing/2014/main" id="{48C0B6B7-3EC5-6107-7954-E597825360D0}"/>
              </a:ext>
            </a:extLst>
          </p:cNvPr>
          <p:cNvSpPr txBox="1"/>
          <p:nvPr/>
        </p:nvSpPr>
        <p:spPr>
          <a:xfrm>
            <a:off x="8986361" y="3126057"/>
            <a:ext cx="2387961" cy="338554"/>
          </a:xfrm>
          <a:prstGeom prst="rect">
            <a:avLst/>
          </a:prstGeom>
          <a:noFill/>
        </p:spPr>
        <p:txBody>
          <a:bodyPr wrap="none" rtlCol="0">
            <a:spAutoFit/>
          </a:bodyPr>
          <a:lstStyle/>
          <a:p>
            <a:r>
              <a:rPr lang="es-ES" sz="1600" dirty="0"/>
              <a:t>Dirección IP o IP Address</a:t>
            </a:r>
          </a:p>
        </p:txBody>
      </p:sp>
      <p:sp>
        <p:nvSpPr>
          <p:cNvPr id="60" name="CuadroTexto 59">
            <a:extLst>
              <a:ext uri="{FF2B5EF4-FFF2-40B4-BE49-F238E27FC236}">
                <a16:creationId xmlns:a16="http://schemas.microsoft.com/office/drawing/2014/main" id="{813B9D8C-6E28-27FB-EA17-B3F5281C3C15}"/>
              </a:ext>
            </a:extLst>
          </p:cNvPr>
          <p:cNvSpPr txBox="1"/>
          <p:nvPr/>
        </p:nvSpPr>
        <p:spPr>
          <a:xfrm>
            <a:off x="2185384" y="3049242"/>
            <a:ext cx="1360461" cy="307777"/>
          </a:xfrm>
          <a:prstGeom prst="rect">
            <a:avLst/>
          </a:prstGeom>
          <a:noFill/>
        </p:spPr>
        <p:txBody>
          <a:bodyPr wrap="square">
            <a:spAutoFit/>
          </a:bodyPr>
          <a:lstStyle/>
          <a:p>
            <a:r>
              <a:rPr lang="es-ES" sz="1400" b="1" dirty="0"/>
              <a:t>192.168.10.2</a:t>
            </a:r>
            <a:endParaRPr lang="es-ES" sz="1800" dirty="0"/>
          </a:p>
        </p:txBody>
      </p:sp>
      <p:sp>
        <p:nvSpPr>
          <p:cNvPr id="62" name="CuadroTexto 61">
            <a:extLst>
              <a:ext uri="{FF2B5EF4-FFF2-40B4-BE49-F238E27FC236}">
                <a16:creationId xmlns:a16="http://schemas.microsoft.com/office/drawing/2014/main" id="{888AF315-629C-3607-BE8B-EF6C304C9836}"/>
              </a:ext>
            </a:extLst>
          </p:cNvPr>
          <p:cNvSpPr txBox="1"/>
          <p:nvPr/>
        </p:nvSpPr>
        <p:spPr>
          <a:xfrm>
            <a:off x="2088745" y="4122963"/>
            <a:ext cx="1268643" cy="307777"/>
          </a:xfrm>
          <a:prstGeom prst="rect">
            <a:avLst/>
          </a:prstGeom>
          <a:noFill/>
        </p:spPr>
        <p:txBody>
          <a:bodyPr wrap="square">
            <a:spAutoFit/>
          </a:bodyPr>
          <a:lstStyle/>
          <a:p>
            <a:r>
              <a:rPr lang="es-ES" sz="1400" b="1" dirty="0"/>
              <a:t>192.168.10.3</a:t>
            </a:r>
            <a:endParaRPr lang="es-ES" sz="1800" dirty="0"/>
          </a:p>
        </p:txBody>
      </p:sp>
      <p:sp>
        <p:nvSpPr>
          <p:cNvPr id="64" name="CuadroTexto 63">
            <a:extLst>
              <a:ext uri="{FF2B5EF4-FFF2-40B4-BE49-F238E27FC236}">
                <a16:creationId xmlns:a16="http://schemas.microsoft.com/office/drawing/2014/main" id="{F13D2FCD-647A-3776-9637-77EF449995DE}"/>
              </a:ext>
            </a:extLst>
          </p:cNvPr>
          <p:cNvSpPr txBox="1"/>
          <p:nvPr/>
        </p:nvSpPr>
        <p:spPr>
          <a:xfrm>
            <a:off x="3402319" y="4492260"/>
            <a:ext cx="1268643" cy="307777"/>
          </a:xfrm>
          <a:prstGeom prst="rect">
            <a:avLst/>
          </a:prstGeom>
          <a:noFill/>
        </p:spPr>
        <p:txBody>
          <a:bodyPr wrap="square">
            <a:spAutoFit/>
          </a:bodyPr>
          <a:lstStyle/>
          <a:p>
            <a:r>
              <a:rPr lang="es-ES" sz="1400" b="1" dirty="0"/>
              <a:t>192.168.10.4</a:t>
            </a:r>
            <a:endParaRPr lang="es-ES" sz="1800" dirty="0"/>
          </a:p>
        </p:txBody>
      </p:sp>
      <p:sp>
        <p:nvSpPr>
          <p:cNvPr id="65" name="Bocadillo: rectángulo 64">
            <a:extLst>
              <a:ext uri="{FF2B5EF4-FFF2-40B4-BE49-F238E27FC236}">
                <a16:creationId xmlns:a16="http://schemas.microsoft.com/office/drawing/2014/main" id="{65566E06-31E0-1B69-FC82-B74EEBC6DAB8}"/>
              </a:ext>
            </a:extLst>
          </p:cNvPr>
          <p:cNvSpPr/>
          <p:nvPr/>
        </p:nvSpPr>
        <p:spPr>
          <a:xfrm>
            <a:off x="7011883" y="3575951"/>
            <a:ext cx="5158332" cy="2829591"/>
          </a:xfrm>
          <a:prstGeom prst="wedgeRectCallout">
            <a:avLst>
              <a:gd name="adj1" fmla="val -36085"/>
              <a:gd name="adj2" fmla="val -54252"/>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s-ES" sz="1600" dirty="0"/>
              <a:t>Los router tienen una tabla de enrutamiento para poder decidir a que otro Router o Salto deben enviar para llegar a un destino concreto.</a:t>
            </a:r>
          </a:p>
          <a:p>
            <a:pPr algn="ctr"/>
            <a:endParaRPr lang="es-ES" sz="1600" dirty="0"/>
          </a:p>
          <a:p>
            <a:pPr algn="ctr"/>
            <a:r>
              <a:rPr lang="es-ES" sz="1600" dirty="0"/>
              <a:t>Además, en sus tablas separan las redes que conocen por </a:t>
            </a:r>
            <a:r>
              <a:rPr lang="es-ES" sz="1600" b="1" dirty="0"/>
              <a:t>“Subnet” o Subred </a:t>
            </a:r>
            <a:r>
              <a:rPr lang="es-ES" sz="1600" dirty="0"/>
              <a:t>para no sobrecargar la tabla.</a:t>
            </a:r>
          </a:p>
          <a:p>
            <a:pPr algn="ctr"/>
            <a:endParaRPr lang="es-ES" sz="1600" b="1" dirty="0"/>
          </a:p>
          <a:p>
            <a:pPr algn="ctr"/>
            <a:r>
              <a:rPr lang="es-ES" sz="1600" dirty="0"/>
              <a:t>Cuando reciben un paquete con cierto destino, comparan esa dirección con su tabla para saber a donde enviarlo.</a:t>
            </a:r>
          </a:p>
        </p:txBody>
      </p:sp>
      <p:sp>
        <p:nvSpPr>
          <p:cNvPr id="67" name="CuadroTexto 66">
            <a:extLst>
              <a:ext uri="{FF2B5EF4-FFF2-40B4-BE49-F238E27FC236}">
                <a16:creationId xmlns:a16="http://schemas.microsoft.com/office/drawing/2014/main" id="{F6D9E5D0-8142-A336-DF47-5A4B044D27BD}"/>
              </a:ext>
            </a:extLst>
          </p:cNvPr>
          <p:cNvSpPr txBox="1"/>
          <p:nvPr/>
        </p:nvSpPr>
        <p:spPr>
          <a:xfrm>
            <a:off x="5198792" y="3595548"/>
            <a:ext cx="714178" cy="307777"/>
          </a:xfrm>
          <a:prstGeom prst="rect">
            <a:avLst/>
          </a:prstGeom>
          <a:noFill/>
        </p:spPr>
        <p:txBody>
          <a:bodyPr wrap="square">
            <a:spAutoFit/>
          </a:bodyPr>
          <a:lstStyle/>
          <a:p>
            <a:r>
              <a:rPr lang="es-ES" sz="1400" b="1" dirty="0"/>
              <a:t>LAN1</a:t>
            </a:r>
            <a:endParaRPr lang="es-ES" dirty="0"/>
          </a:p>
        </p:txBody>
      </p:sp>
      <p:sp>
        <p:nvSpPr>
          <p:cNvPr id="68" name="CuadroTexto 67">
            <a:extLst>
              <a:ext uri="{FF2B5EF4-FFF2-40B4-BE49-F238E27FC236}">
                <a16:creationId xmlns:a16="http://schemas.microsoft.com/office/drawing/2014/main" id="{1D03CC51-F98A-6CFE-F6AC-59C49582AEB1}"/>
              </a:ext>
            </a:extLst>
          </p:cNvPr>
          <p:cNvSpPr txBox="1"/>
          <p:nvPr/>
        </p:nvSpPr>
        <p:spPr>
          <a:xfrm>
            <a:off x="4607100" y="3808379"/>
            <a:ext cx="1897563" cy="307777"/>
          </a:xfrm>
          <a:prstGeom prst="rect">
            <a:avLst/>
          </a:prstGeom>
          <a:noFill/>
        </p:spPr>
        <p:txBody>
          <a:bodyPr wrap="square" rtlCol="0">
            <a:spAutoFit/>
          </a:bodyPr>
          <a:lstStyle/>
          <a:p>
            <a:r>
              <a:rPr lang="es-ES" sz="1400" dirty="0"/>
              <a:t>Subred </a:t>
            </a:r>
            <a:r>
              <a:rPr lang="es-ES" sz="1400" b="1" dirty="0"/>
              <a:t>192.168.10.0</a:t>
            </a:r>
          </a:p>
        </p:txBody>
      </p:sp>
      <p:sp>
        <p:nvSpPr>
          <p:cNvPr id="69" name="CuadroTexto 68">
            <a:extLst>
              <a:ext uri="{FF2B5EF4-FFF2-40B4-BE49-F238E27FC236}">
                <a16:creationId xmlns:a16="http://schemas.microsoft.com/office/drawing/2014/main" id="{96B97798-37BB-A9E2-EB40-1D54EE1883D1}"/>
              </a:ext>
            </a:extLst>
          </p:cNvPr>
          <p:cNvSpPr txBox="1"/>
          <p:nvPr/>
        </p:nvSpPr>
        <p:spPr>
          <a:xfrm>
            <a:off x="-72206" y="4870033"/>
            <a:ext cx="7236101" cy="1815882"/>
          </a:xfrm>
          <a:prstGeom prst="rect">
            <a:avLst/>
          </a:prstGeom>
          <a:noFill/>
        </p:spPr>
        <p:txBody>
          <a:bodyPr wrap="square" rtlCol="0">
            <a:spAutoFit/>
          </a:bodyPr>
          <a:lstStyle/>
          <a:p>
            <a:r>
              <a:rPr lang="es-ES" sz="1400" dirty="0"/>
              <a:t>Sabiendo esto podemos deducir lo siguiente en esta LAN1</a:t>
            </a:r>
          </a:p>
          <a:p>
            <a:r>
              <a:rPr lang="es-ES" sz="1400" dirty="0"/>
              <a:t>1.- </a:t>
            </a:r>
            <a:r>
              <a:rPr lang="es-ES" sz="1400" b="1" dirty="0"/>
              <a:t>La IP 192.168.10.0 </a:t>
            </a:r>
            <a:r>
              <a:rPr lang="es-ES" sz="1400" dirty="0"/>
              <a:t>Identifica a todo este grupo (</a:t>
            </a:r>
            <a:r>
              <a:rPr lang="es-ES" sz="1400" b="1" dirty="0"/>
              <a:t>subred</a:t>
            </a:r>
            <a:r>
              <a:rPr lang="es-ES" sz="1400" dirty="0"/>
              <a:t>) de dispositivos.</a:t>
            </a:r>
          </a:p>
          <a:p>
            <a:r>
              <a:rPr lang="es-ES" sz="1400" dirty="0"/>
              <a:t>2.-</a:t>
            </a:r>
            <a:r>
              <a:rPr lang="es-ES" sz="1400" b="1" dirty="0"/>
              <a:t>La</a:t>
            </a:r>
            <a:r>
              <a:rPr lang="es-ES" sz="1400" dirty="0"/>
              <a:t> </a:t>
            </a:r>
            <a:r>
              <a:rPr lang="es-ES" sz="1400" b="1" dirty="0"/>
              <a:t>IP 192.168.10.1 </a:t>
            </a:r>
            <a:r>
              <a:rPr lang="es-ES" sz="1400" dirty="0"/>
              <a:t>Identifica el </a:t>
            </a:r>
            <a:r>
              <a:rPr lang="es-ES" sz="1400" b="1" dirty="0"/>
              <a:t>Gateway</a:t>
            </a:r>
            <a:r>
              <a:rPr lang="es-ES" sz="1400" dirty="0"/>
              <a:t> de esta subred</a:t>
            </a:r>
          </a:p>
          <a:p>
            <a:endParaRPr lang="es-ES" sz="1400" dirty="0"/>
          </a:p>
          <a:p>
            <a:r>
              <a:rPr lang="es-ES" sz="1400" dirty="0"/>
              <a:t>💡El Switch no usa dirección IP en sus puertos dado que es un dispositivo de Capa 2, solo reenvía las tramas usando MACs cuando están conectados los dispositivos físicamente. </a:t>
            </a:r>
          </a:p>
          <a:p>
            <a:endParaRPr lang="es-ES" sz="1400" dirty="0"/>
          </a:p>
          <a:p>
            <a:r>
              <a:rPr lang="es-ES" sz="1400" dirty="0"/>
              <a:t>💡Existen Switch de Capa 3 que veremos mas adelante que si pueden hacer enrutamiento</a:t>
            </a:r>
          </a:p>
        </p:txBody>
      </p:sp>
      <p:cxnSp>
        <p:nvCxnSpPr>
          <p:cNvPr id="71" name="Conector recto de flecha 70">
            <a:extLst>
              <a:ext uri="{FF2B5EF4-FFF2-40B4-BE49-F238E27FC236}">
                <a16:creationId xmlns:a16="http://schemas.microsoft.com/office/drawing/2014/main" id="{AB8E0430-2D30-7F0D-140B-36EE5E7456C2}"/>
              </a:ext>
            </a:extLst>
          </p:cNvPr>
          <p:cNvCxnSpPr>
            <a:cxnSpLocks/>
            <a:stCxn id="15" idx="3"/>
          </p:cNvCxnSpPr>
          <p:nvPr/>
        </p:nvCxnSpPr>
        <p:spPr>
          <a:xfrm>
            <a:off x="7509277" y="2606632"/>
            <a:ext cx="107624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2" name="CuadroTexto 71">
            <a:extLst>
              <a:ext uri="{FF2B5EF4-FFF2-40B4-BE49-F238E27FC236}">
                <a16:creationId xmlns:a16="http://schemas.microsoft.com/office/drawing/2014/main" id="{3749CBB4-51D9-37B3-CA2B-5C1C9B07C86F}"/>
              </a:ext>
            </a:extLst>
          </p:cNvPr>
          <p:cNvSpPr txBox="1"/>
          <p:nvPr/>
        </p:nvSpPr>
        <p:spPr>
          <a:xfrm>
            <a:off x="8585522" y="2450847"/>
            <a:ext cx="2542363" cy="338554"/>
          </a:xfrm>
          <a:prstGeom prst="rect">
            <a:avLst/>
          </a:prstGeom>
          <a:noFill/>
        </p:spPr>
        <p:txBody>
          <a:bodyPr wrap="none" rtlCol="0">
            <a:spAutoFit/>
          </a:bodyPr>
          <a:lstStyle/>
          <a:p>
            <a:r>
              <a:rPr lang="es-ES" sz="1600" dirty="0">
                <a:solidFill>
                  <a:schemeClr val="accent1">
                    <a:lumMod val="60000"/>
                    <a:lumOff val="40000"/>
                  </a:schemeClr>
                </a:solidFill>
              </a:rPr>
              <a:t>A internet o a otras redes…</a:t>
            </a:r>
          </a:p>
        </p:txBody>
      </p:sp>
    </p:spTree>
    <p:extLst>
      <p:ext uri="{BB962C8B-B14F-4D97-AF65-F5344CB8AC3E}">
        <p14:creationId xmlns:p14="http://schemas.microsoft.com/office/powerpoint/2010/main" val="36364957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Elipse 58">
            <a:extLst>
              <a:ext uri="{FF2B5EF4-FFF2-40B4-BE49-F238E27FC236}">
                <a16:creationId xmlns:a16="http://schemas.microsoft.com/office/drawing/2014/main" id="{7B44082F-4E24-6126-D0B7-D726EBFAD8AA}"/>
              </a:ext>
            </a:extLst>
          </p:cNvPr>
          <p:cNvSpPr/>
          <p:nvPr/>
        </p:nvSpPr>
        <p:spPr>
          <a:xfrm>
            <a:off x="2503606" y="893843"/>
            <a:ext cx="1453841" cy="4378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s-ES" sz="1100" b="1" dirty="0"/>
              <a:t>192.168.10.0</a:t>
            </a:r>
            <a:endParaRPr lang="es-ES" sz="800" dirty="0"/>
          </a:p>
        </p:txBody>
      </p:sp>
      <p:sp>
        <p:nvSpPr>
          <p:cNvPr id="5" name="CuadroTexto 4">
            <a:extLst>
              <a:ext uri="{FF2B5EF4-FFF2-40B4-BE49-F238E27FC236}">
                <a16:creationId xmlns:a16="http://schemas.microsoft.com/office/drawing/2014/main" id="{4BA2209F-011A-8ACF-1EEB-84405C4B673C}"/>
              </a:ext>
            </a:extLst>
          </p:cNvPr>
          <p:cNvSpPr txBox="1"/>
          <p:nvPr/>
        </p:nvSpPr>
        <p:spPr>
          <a:xfrm>
            <a:off x="3731252" y="-22499"/>
            <a:ext cx="3951253" cy="461665"/>
          </a:xfrm>
          <a:prstGeom prst="rect">
            <a:avLst/>
          </a:prstGeom>
          <a:noFill/>
        </p:spPr>
        <p:txBody>
          <a:bodyPr wrap="square">
            <a:spAutoFit/>
          </a:bodyPr>
          <a:lstStyle/>
          <a:p>
            <a:pPr algn="ctr"/>
            <a:r>
              <a:rPr lang="es-ES" sz="2400" b="1" dirty="0"/>
              <a:t>IP Routing</a:t>
            </a:r>
          </a:p>
        </p:txBody>
      </p:sp>
      <p:pic>
        <p:nvPicPr>
          <p:cNvPr id="7" name="Imagen 6">
            <a:extLst>
              <a:ext uri="{FF2B5EF4-FFF2-40B4-BE49-F238E27FC236}">
                <a16:creationId xmlns:a16="http://schemas.microsoft.com/office/drawing/2014/main" id="{9A8DFC3A-0489-5F98-B396-FAB1B8BD33B5}"/>
              </a:ext>
            </a:extLst>
          </p:cNvPr>
          <p:cNvPicPr>
            <a:picLocks noChangeAspect="1"/>
          </p:cNvPicPr>
          <p:nvPr/>
        </p:nvPicPr>
        <p:blipFill>
          <a:blip r:embed="rId3"/>
          <a:stretch>
            <a:fillRect/>
          </a:stretch>
        </p:blipFill>
        <p:spPr>
          <a:xfrm>
            <a:off x="6623212" y="53072"/>
            <a:ext cx="612889" cy="408593"/>
          </a:xfrm>
          <a:prstGeom prst="rect">
            <a:avLst/>
          </a:prstGeom>
        </p:spPr>
      </p:pic>
      <p:sp>
        <p:nvSpPr>
          <p:cNvPr id="9" name="CuadroTexto 8">
            <a:extLst>
              <a:ext uri="{FF2B5EF4-FFF2-40B4-BE49-F238E27FC236}">
                <a16:creationId xmlns:a16="http://schemas.microsoft.com/office/drawing/2014/main" id="{A1C2D397-9B9B-CDA1-F218-73FFF9C8D4BE}"/>
              </a:ext>
            </a:extLst>
          </p:cNvPr>
          <p:cNvSpPr txBox="1"/>
          <p:nvPr/>
        </p:nvSpPr>
        <p:spPr>
          <a:xfrm>
            <a:off x="-321133" y="0"/>
            <a:ext cx="3329579" cy="461665"/>
          </a:xfrm>
          <a:prstGeom prst="rect">
            <a:avLst/>
          </a:prstGeom>
          <a:noFill/>
        </p:spPr>
        <p:txBody>
          <a:bodyPr wrap="square">
            <a:spAutoFit/>
          </a:bodyPr>
          <a:lstStyle/>
          <a:p>
            <a:pPr algn="ctr"/>
            <a:r>
              <a:rPr lang="es-ES" sz="1200" dirty="0">
                <a:ln w="0"/>
                <a:effectLst>
                  <a:outerShdw blurRad="38100" dist="19050" dir="2700000" algn="tl" rotWithShape="0">
                    <a:schemeClr val="dk1">
                      <a:alpha val="40000"/>
                    </a:schemeClr>
                  </a:outerShdw>
                </a:effectLst>
              </a:rPr>
              <a:t>1. Introducción a las redes</a:t>
            </a:r>
          </a:p>
          <a:p>
            <a:pPr algn="ctr"/>
            <a:r>
              <a:rPr lang="es-ES" sz="1200" b="1" dirty="0"/>
              <a:t>WANs y Routing IP</a:t>
            </a:r>
          </a:p>
        </p:txBody>
      </p:sp>
      <p:pic>
        <p:nvPicPr>
          <p:cNvPr id="11" name="Picture 10" descr="C:\Users\ecoffey\AppData\Local\Temp\Rar$DRa0.175\30088_Device_terminal_default_256.png">
            <a:extLst>
              <a:ext uri="{FF2B5EF4-FFF2-40B4-BE49-F238E27FC236}">
                <a16:creationId xmlns:a16="http://schemas.microsoft.com/office/drawing/2014/main" id="{6AF828AD-D7B5-E602-4EF9-85CE67E940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4817" y="1874284"/>
            <a:ext cx="608245" cy="60824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0">
            <a:extLst>
              <a:ext uri="{FF2B5EF4-FFF2-40B4-BE49-F238E27FC236}">
                <a16:creationId xmlns:a16="http://schemas.microsoft.com/office/drawing/2014/main" id="{85A43BEF-B0CC-2368-9A75-FC4022BD735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8171" t="28931" r="8368" b="21666"/>
          <a:stretch/>
        </p:blipFill>
        <p:spPr bwMode="auto">
          <a:xfrm>
            <a:off x="4423661" y="1965995"/>
            <a:ext cx="717679" cy="42482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0">
            <a:extLst>
              <a:ext uri="{FF2B5EF4-FFF2-40B4-BE49-F238E27FC236}">
                <a16:creationId xmlns:a16="http://schemas.microsoft.com/office/drawing/2014/main" id="{5F94314F-8821-5471-C0DD-B3B62D4BA7F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8171" t="28931" r="8368" b="21666"/>
          <a:stretch/>
        </p:blipFill>
        <p:spPr bwMode="auto">
          <a:xfrm>
            <a:off x="7314011" y="1955464"/>
            <a:ext cx="717679" cy="424822"/>
          </a:xfrm>
          <a:prstGeom prst="rect">
            <a:avLst/>
          </a:prstGeom>
          <a:noFill/>
          <a:extLst>
            <a:ext uri="{909E8E84-426E-40DD-AFC4-6F175D3DCCD1}">
              <a14:hiddenFill xmlns:a14="http://schemas.microsoft.com/office/drawing/2010/main">
                <a:solidFill>
                  <a:srgbClr val="FFFFFF"/>
                </a:solidFill>
              </a14:hiddenFill>
            </a:ext>
          </a:extLst>
        </p:spPr>
      </p:pic>
      <p:cxnSp>
        <p:nvCxnSpPr>
          <p:cNvPr id="18" name="Conector recto 17">
            <a:extLst>
              <a:ext uri="{FF2B5EF4-FFF2-40B4-BE49-F238E27FC236}">
                <a16:creationId xmlns:a16="http://schemas.microsoft.com/office/drawing/2014/main" id="{355E9E32-B679-76DC-0D18-DBC98475402C}"/>
              </a:ext>
            </a:extLst>
          </p:cNvPr>
          <p:cNvCxnSpPr>
            <a:cxnSpLocks/>
            <a:stCxn id="11" idx="3"/>
            <a:endCxn id="15" idx="1"/>
          </p:cNvCxnSpPr>
          <p:nvPr/>
        </p:nvCxnSpPr>
        <p:spPr>
          <a:xfrm flipV="1">
            <a:off x="2813062" y="2178406"/>
            <a:ext cx="1610599" cy="1"/>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Conector recto 20">
            <a:extLst>
              <a:ext uri="{FF2B5EF4-FFF2-40B4-BE49-F238E27FC236}">
                <a16:creationId xmlns:a16="http://schemas.microsoft.com/office/drawing/2014/main" id="{351E9BD4-B578-BD42-EA88-0A5F1619E75F}"/>
              </a:ext>
            </a:extLst>
          </p:cNvPr>
          <p:cNvCxnSpPr>
            <a:cxnSpLocks/>
            <a:stCxn id="15" idx="3"/>
            <a:endCxn id="17" idx="1"/>
          </p:cNvCxnSpPr>
          <p:nvPr/>
        </p:nvCxnSpPr>
        <p:spPr>
          <a:xfrm flipV="1">
            <a:off x="5141340" y="2167875"/>
            <a:ext cx="2172671" cy="10531"/>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Conector recto 23">
            <a:extLst>
              <a:ext uri="{FF2B5EF4-FFF2-40B4-BE49-F238E27FC236}">
                <a16:creationId xmlns:a16="http://schemas.microsoft.com/office/drawing/2014/main" id="{B5AD2B5D-1A3E-E8E8-3438-FDC3ACDFE079}"/>
              </a:ext>
            </a:extLst>
          </p:cNvPr>
          <p:cNvCxnSpPr>
            <a:cxnSpLocks/>
            <a:stCxn id="17" idx="3"/>
          </p:cNvCxnSpPr>
          <p:nvPr/>
        </p:nvCxnSpPr>
        <p:spPr>
          <a:xfrm>
            <a:off x="8031690" y="2167875"/>
            <a:ext cx="1785139" cy="0"/>
          </a:xfrm>
          <a:prstGeom prst="line">
            <a:avLst/>
          </a:prstGeom>
        </p:spPr>
        <p:style>
          <a:lnRef idx="2">
            <a:schemeClr val="accent1"/>
          </a:lnRef>
          <a:fillRef idx="0">
            <a:schemeClr val="accent1"/>
          </a:fillRef>
          <a:effectRef idx="1">
            <a:schemeClr val="accent1"/>
          </a:effectRef>
          <a:fontRef idx="minor">
            <a:schemeClr val="tx1"/>
          </a:fontRef>
        </p:style>
      </p:cxnSp>
      <p:pic>
        <p:nvPicPr>
          <p:cNvPr id="28" name="Gráfico 27" descr="Nube con relleno sólido">
            <a:extLst>
              <a:ext uri="{FF2B5EF4-FFF2-40B4-BE49-F238E27FC236}">
                <a16:creationId xmlns:a16="http://schemas.microsoft.com/office/drawing/2014/main" id="{D840F416-511F-FF0F-9BB6-A6EAF001CF7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791365" y="1710675"/>
            <a:ext cx="914400" cy="914400"/>
          </a:xfrm>
          <a:prstGeom prst="rect">
            <a:avLst/>
          </a:prstGeom>
        </p:spPr>
      </p:pic>
      <p:sp>
        <p:nvSpPr>
          <p:cNvPr id="29" name="CuadroTexto 28">
            <a:extLst>
              <a:ext uri="{FF2B5EF4-FFF2-40B4-BE49-F238E27FC236}">
                <a16:creationId xmlns:a16="http://schemas.microsoft.com/office/drawing/2014/main" id="{19A05E09-62F7-7B5F-9FFA-A167D3D3B863}"/>
              </a:ext>
            </a:extLst>
          </p:cNvPr>
          <p:cNvSpPr txBox="1"/>
          <p:nvPr/>
        </p:nvSpPr>
        <p:spPr>
          <a:xfrm>
            <a:off x="5042160" y="2171780"/>
            <a:ext cx="564578" cy="307777"/>
          </a:xfrm>
          <a:prstGeom prst="rect">
            <a:avLst/>
          </a:prstGeom>
          <a:noFill/>
        </p:spPr>
        <p:txBody>
          <a:bodyPr wrap="none" rtlCol="0">
            <a:spAutoFit/>
          </a:bodyPr>
          <a:lstStyle/>
          <a:p>
            <a:r>
              <a:rPr lang="es-ES" sz="1400" dirty="0"/>
              <a:t>G0/2</a:t>
            </a:r>
          </a:p>
        </p:txBody>
      </p:sp>
      <p:sp>
        <p:nvSpPr>
          <p:cNvPr id="31" name="CuadroTexto 30">
            <a:extLst>
              <a:ext uri="{FF2B5EF4-FFF2-40B4-BE49-F238E27FC236}">
                <a16:creationId xmlns:a16="http://schemas.microsoft.com/office/drawing/2014/main" id="{F2EDE301-30E4-413C-22D5-DF4556143EC9}"/>
              </a:ext>
            </a:extLst>
          </p:cNvPr>
          <p:cNvSpPr txBox="1"/>
          <p:nvPr/>
        </p:nvSpPr>
        <p:spPr>
          <a:xfrm>
            <a:off x="7962806" y="2154659"/>
            <a:ext cx="564578" cy="307777"/>
          </a:xfrm>
          <a:prstGeom prst="rect">
            <a:avLst/>
          </a:prstGeom>
          <a:noFill/>
        </p:spPr>
        <p:txBody>
          <a:bodyPr wrap="none" rtlCol="0">
            <a:spAutoFit/>
          </a:bodyPr>
          <a:lstStyle/>
          <a:p>
            <a:r>
              <a:rPr lang="es-ES" sz="1400" dirty="0"/>
              <a:t>G0/2</a:t>
            </a:r>
          </a:p>
        </p:txBody>
      </p:sp>
      <p:sp>
        <p:nvSpPr>
          <p:cNvPr id="33" name="CuadroTexto 32">
            <a:extLst>
              <a:ext uri="{FF2B5EF4-FFF2-40B4-BE49-F238E27FC236}">
                <a16:creationId xmlns:a16="http://schemas.microsoft.com/office/drawing/2014/main" id="{EA586D42-58F9-9FF7-2EA6-154D1BCE6E07}"/>
              </a:ext>
            </a:extLst>
          </p:cNvPr>
          <p:cNvSpPr txBox="1"/>
          <p:nvPr/>
        </p:nvSpPr>
        <p:spPr>
          <a:xfrm>
            <a:off x="2277336" y="1622280"/>
            <a:ext cx="535726" cy="307777"/>
          </a:xfrm>
          <a:prstGeom prst="rect">
            <a:avLst/>
          </a:prstGeom>
          <a:noFill/>
        </p:spPr>
        <p:txBody>
          <a:bodyPr wrap="square">
            <a:spAutoFit/>
          </a:bodyPr>
          <a:lstStyle/>
          <a:p>
            <a:r>
              <a:rPr lang="es-ES" sz="1400" b="1" dirty="0"/>
              <a:t>Pc1</a:t>
            </a:r>
            <a:endParaRPr lang="es-ES" dirty="0"/>
          </a:p>
        </p:txBody>
      </p:sp>
      <p:sp>
        <p:nvSpPr>
          <p:cNvPr id="35" name="CuadroTexto 34">
            <a:extLst>
              <a:ext uri="{FF2B5EF4-FFF2-40B4-BE49-F238E27FC236}">
                <a16:creationId xmlns:a16="http://schemas.microsoft.com/office/drawing/2014/main" id="{83F2D533-9153-2ACB-AAC1-EBD69354C74B}"/>
              </a:ext>
            </a:extLst>
          </p:cNvPr>
          <p:cNvSpPr txBox="1"/>
          <p:nvPr/>
        </p:nvSpPr>
        <p:spPr>
          <a:xfrm>
            <a:off x="9744231" y="1588314"/>
            <a:ext cx="938126" cy="307777"/>
          </a:xfrm>
          <a:prstGeom prst="rect">
            <a:avLst/>
          </a:prstGeom>
          <a:noFill/>
        </p:spPr>
        <p:txBody>
          <a:bodyPr wrap="square">
            <a:spAutoFit/>
          </a:bodyPr>
          <a:lstStyle/>
          <a:p>
            <a:r>
              <a:rPr lang="es-ES" sz="1400" b="1" dirty="0"/>
              <a:t>Server1</a:t>
            </a:r>
            <a:endParaRPr lang="es-ES" dirty="0"/>
          </a:p>
        </p:txBody>
      </p:sp>
      <p:sp>
        <p:nvSpPr>
          <p:cNvPr id="37" name="CuadroTexto 36">
            <a:extLst>
              <a:ext uri="{FF2B5EF4-FFF2-40B4-BE49-F238E27FC236}">
                <a16:creationId xmlns:a16="http://schemas.microsoft.com/office/drawing/2014/main" id="{FCEFE58A-A53F-4238-71AE-33ACA1E2AAB0}"/>
              </a:ext>
            </a:extLst>
          </p:cNvPr>
          <p:cNvSpPr txBox="1"/>
          <p:nvPr/>
        </p:nvSpPr>
        <p:spPr>
          <a:xfrm>
            <a:off x="546486" y="2875732"/>
            <a:ext cx="2601520" cy="2146742"/>
          </a:xfrm>
          <a:prstGeom prst="rect">
            <a:avLst/>
          </a:prstGeom>
          <a:noFill/>
        </p:spPr>
        <p:txBody>
          <a:bodyPr wrap="square">
            <a:spAutoFit/>
          </a:bodyPr>
          <a:lstStyle/>
          <a:p>
            <a:pPr marL="0" marR="0">
              <a:spcBef>
                <a:spcPts val="1800"/>
              </a:spcBef>
              <a:spcAft>
                <a:spcPts val="900"/>
              </a:spcAft>
              <a:buNone/>
            </a:pPr>
            <a:r>
              <a:rPr lang="es-ES" sz="1500" b="1" dirty="0">
                <a:latin typeface="Google Sans"/>
              </a:rPr>
              <a:t>1.- </a:t>
            </a:r>
            <a:r>
              <a:rPr lang="es-ES" sz="1200" b="1" u="none" strike="noStrike" dirty="0">
                <a:effectLst/>
                <a:latin typeface="Google Sans"/>
              </a:rPr>
              <a:t>Pc1</a:t>
            </a:r>
            <a:r>
              <a:rPr lang="es-ES" sz="1200" b="0" u="none" strike="noStrike" dirty="0">
                <a:effectLst/>
                <a:latin typeface="Google Sans"/>
              </a:rPr>
              <a:t> que pertenece a la </a:t>
            </a:r>
            <a:r>
              <a:rPr lang="es-ES" sz="1200" b="1" u="none" strike="noStrike" dirty="0">
                <a:effectLst/>
                <a:latin typeface="Google Sans"/>
              </a:rPr>
              <a:t>subred 192.168.10.0 </a:t>
            </a:r>
            <a:r>
              <a:rPr lang="es-ES" sz="1200" b="0" u="none" strike="noStrike" dirty="0">
                <a:effectLst/>
                <a:latin typeface="Google Sans"/>
              </a:rPr>
              <a:t>genera la información y la encapsula en un </a:t>
            </a:r>
            <a:r>
              <a:rPr lang="es-ES" sz="1200" b="1" u="none" strike="noStrike" dirty="0">
                <a:effectLst/>
                <a:latin typeface="Google Sans"/>
              </a:rPr>
              <a:t>Segmento</a:t>
            </a:r>
            <a:r>
              <a:rPr lang="es-ES" sz="1200" b="0" u="none" strike="noStrike" dirty="0">
                <a:effectLst/>
                <a:latin typeface="Google Sans"/>
              </a:rPr>
              <a:t>, que luego es encapsulado en un </a:t>
            </a:r>
            <a:r>
              <a:rPr lang="es-ES" sz="1200" b="1" u="none" strike="noStrike" dirty="0">
                <a:effectLst/>
                <a:latin typeface="Google Sans"/>
              </a:rPr>
              <a:t>Paquete IP </a:t>
            </a:r>
            <a:r>
              <a:rPr lang="es-ES" sz="1200" u="none" strike="noStrike" dirty="0">
                <a:effectLst/>
                <a:latin typeface="Google Sans"/>
              </a:rPr>
              <a:t>para luego encapsularlo en una </a:t>
            </a:r>
            <a:r>
              <a:rPr lang="es-ES" sz="1200" b="1" u="none" strike="noStrike" dirty="0">
                <a:effectLst/>
                <a:latin typeface="Google Sans"/>
              </a:rPr>
              <a:t>Trama.</a:t>
            </a:r>
          </a:p>
          <a:p>
            <a:pPr marL="0" marR="0">
              <a:spcBef>
                <a:spcPts val="1800"/>
              </a:spcBef>
              <a:spcAft>
                <a:spcPts val="900"/>
              </a:spcAft>
              <a:buNone/>
            </a:pPr>
            <a:r>
              <a:rPr lang="es-ES" sz="1200" b="1" dirty="0">
                <a:latin typeface="Google Sans"/>
              </a:rPr>
              <a:t>2.</a:t>
            </a:r>
            <a:r>
              <a:rPr lang="es-ES" sz="1200" dirty="0">
                <a:latin typeface="Google Sans"/>
              </a:rPr>
              <a:t>Como la red destino esta en otra red, enviara la trama a su </a:t>
            </a:r>
            <a:r>
              <a:rPr lang="es-ES" sz="1200" b="1" dirty="0">
                <a:latin typeface="Google Sans"/>
              </a:rPr>
              <a:t>Default Gateway (R1, 192.168.10.1)</a:t>
            </a:r>
            <a:endParaRPr lang="es-ES" sz="1200" b="1" u="none" strike="noStrike" dirty="0">
              <a:effectLst/>
              <a:latin typeface="Google Sans"/>
            </a:endParaRPr>
          </a:p>
        </p:txBody>
      </p:sp>
      <p:sp>
        <p:nvSpPr>
          <p:cNvPr id="39" name="CuadroTexto 38">
            <a:extLst>
              <a:ext uri="{FF2B5EF4-FFF2-40B4-BE49-F238E27FC236}">
                <a16:creationId xmlns:a16="http://schemas.microsoft.com/office/drawing/2014/main" id="{55189F43-3EFE-2483-507E-A6B3B1CC2721}"/>
              </a:ext>
            </a:extLst>
          </p:cNvPr>
          <p:cNvSpPr txBox="1"/>
          <p:nvPr/>
        </p:nvSpPr>
        <p:spPr>
          <a:xfrm>
            <a:off x="4543997" y="1706674"/>
            <a:ext cx="444404" cy="276999"/>
          </a:xfrm>
          <a:prstGeom prst="rect">
            <a:avLst/>
          </a:prstGeom>
          <a:noFill/>
        </p:spPr>
        <p:txBody>
          <a:bodyPr wrap="square">
            <a:spAutoFit/>
          </a:bodyPr>
          <a:lstStyle/>
          <a:p>
            <a:r>
              <a:rPr lang="es-ES" sz="1200" b="1" u="none" strike="noStrike" dirty="0">
                <a:effectLst/>
                <a:latin typeface="Google Sans"/>
              </a:rPr>
              <a:t>R1</a:t>
            </a:r>
            <a:endParaRPr lang="es-ES" dirty="0"/>
          </a:p>
        </p:txBody>
      </p:sp>
      <p:sp>
        <p:nvSpPr>
          <p:cNvPr id="41" name="CuadroTexto 40">
            <a:extLst>
              <a:ext uri="{FF2B5EF4-FFF2-40B4-BE49-F238E27FC236}">
                <a16:creationId xmlns:a16="http://schemas.microsoft.com/office/drawing/2014/main" id="{4BE46D4F-D1A4-43D0-1A26-5ED9403ACA64}"/>
              </a:ext>
            </a:extLst>
          </p:cNvPr>
          <p:cNvSpPr txBox="1"/>
          <p:nvPr/>
        </p:nvSpPr>
        <p:spPr>
          <a:xfrm>
            <a:off x="7522300" y="1668298"/>
            <a:ext cx="444404" cy="276999"/>
          </a:xfrm>
          <a:prstGeom prst="rect">
            <a:avLst/>
          </a:prstGeom>
          <a:noFill/>
        </p:spPr>
        <p:txBody>
          <a:bodyPr wrap="square">
            <a:spAutoFit/>
          </a:bodyPr>
          <a:lstStyle/>
          <a:p>
            <a:r>
              <a:rPr lang="es-ES" sz="1200" b="1" u="none" strike="noStrike" dirty="0">
                <a:effectLst/>
                <a:latin typeface="Google Sans"/>
              </a:rPr>
              <a:t>R2</a:t>
            </a:r>
            <a:endParaRPr lang="es-ES" dirty="0"/>
          </a:p>
        </p:txBody>
      </p:sp>
      <p:sp>
        <p:nvSpPr>
          <p:cNvPr id="43" name="Abrir llave 42">
            <a:extLst>
              <a:ext uri="{FF2B5EF4-FFF2-40B4-BE49-F238E27FC236}">
                <a16:creationId xmlns:a16="http://schemas.microsoft.com/office/drawing/2014/main" id="{00B7215D-E723-FDDC-5EC3-0C992B712C4F}"/>
              </a:ext>
            </a:extLst>
          </p:cNvPr>
          <p:cNvSpPr/>
          <p:nvPr/>
        </p:nvSpPr>
        <p:spPr>
          <a:xfrm rot="16200000" flipV="1">
            <a:off x="2200374" y="2080057"/>
            <a:ext cx="401564" cy="1301642"/>
          </a:xfrm>
          <a:prstGeom prst="leftBrace">
            <a:avLst>
              <a:gd name="adj1" fmla="val 8333"/>
              <a:gd name="adj2" fmla="val 50323"/>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dirty="0"/>
          </a:p>
        </p:txBody>
      </p:sp>
      <p:sp>
        <p:nvSpPr>
          <p:cNvPr id="45" name="CuadroTexto 44">
            <a:extLst>
              <a:ext uri="{FF2B5EF4-FFF2-40B4-BE49-F238E27FC236}">
                <a16:creationId xmlns:a16="http://schemas.microsoft.com/office/drawing/2014/main" id="{C009FFED-8B01-16F0-D695-4522BD5E5381}"/>
              </a:ext>
            </a:extLst>
          </p:cNvPr>
          <p:cNvSpPr txBox="1"/>
          <p:nvPr/>
        </p:nvSpPr>
        <p:spPr>
          <a:xfrm>
            <a:off x="1797862" y="2390283"/>
            <a:ext cx="1213794" cy="307777"/>
          </a:xfrm>
          <a:prstGeom prst="rect">
            <a:avLst/>
          </a:prstGeom>
          <a:noFill/>
        </p:spPr>
        <p:txBody>
          <a:bodyPr wrap="none" rtlCol="0">
            <a:spAutoFit/>
          </a:bodyPr>
          <a:lstStyle/>
          <a:p>
            <a:r>
              <a:rPr lang="es-ES" sz="1400" b="1" dirty="0"/>
              <a:t>192.168.10.2</a:t>
            </a:r>
            <a:endParaRPr lang="es-ES" b="1" dirty="0"/>
          </a:p>
        </p:txBody>
      </p:sp>
      <p:sp>
        <p:nvSpPr>
          <p:cNvPr id="47" name="CuadroTexto 46">
            <a:extLst>
              <a:ext uri="{FF2B5EF4-FFF2-40B4-BE49-F238E27FC236}">
                <a16:creationId xmlns:a16="http://schemas.microsoft.com/office/drawing/2014/main" id="{12CA7A4D-F09A-E47D-8BAA-7927CBDAF2EF}"/>
              </a:ext>
            </a:extLst>
          </p:cNvPr>
          <p:cNvSpPr txBox="1"/>
          <p:nvPr/>
        </p:nvSpPr>
        <p:spPr>
          <a:xfrm>
            <a:off x="9607695" y="2408666"/>
            <a:ext cx="1021433" cy="307777"/>
          </a:xfrm>
          <a:prstGeom prst="rect">
            <a:avLst/>
          </a:prstGeom>
          <a:noFill/>
        </p:spPr>
        <p:txBody>
          <a:bodyPr wrap="none" rtlCol="0">
            <a:spAutoFit/>
          </a:bodyPr>
          <a:lstStyle/>
          <a:p>
            <a:r>
              <a:rPr lang="es-ES" sz="1400" b="1" dirty="0"/>
              <a:t>172.16.0.2</a:t>
            </a:r>
            <a:endParaRPr lang="es-ES" b="1" dirty="0"/>
          </a:p>
        </p:txBody>
      </p:sp>
      <p:sp>
        <p:nvSpPr>
          <p:cNvPr id="50" name="CuadroTexto 49">
            <a:extLst>
              <a:ext uri="{FF2B5EF4-FFF2-40B4-BE49-F238E27FC236}">
                <a16:creationId xmlns:a16="http://schemas.microsoft.com/office/drawing/2014/main" id="{92B4ADCD-575C-044C-CFA7-C422CD3BB785}"/>
              </a:ext>
            </a:extLst>
          </p:cNvPr>
          <p:cNvSpPr txBox="1"/>
          <p:nvPr/>
        </p:nvSpPr>
        <p:spPr>
          <a:xfrm>
            <a:off x="4154847" y="1809074"/>
            <a:ext cx="373820" cy="369332"/>
          </a:xfrm>
          <a:prstGeom prst="rect">
            <a:avLst/>
          </a:prstGeom>
          <a:noFill/>
        </p:spPr>
        <p:txBody>
          <a:bodyPr wrap="none" rtlCol="0">
            <a:spAutoFit/>
          </a:bodyPr>
          <a:lstStyle/>
          <a:p>
            <a:r>
              <a:rPr lang="es-ES" dirty="0"/>
              <a:t>.</a:t>
            </a:r>
            <a:r>
              <a:rPr lang="es-ES" b="1" dirty="0"/>
              <a:t>1</a:t>
            </a:r>
          </a:p>
        </p:txBody>
      </p:sp>
      <p:sp>
        <p:nvSpPr>
          <p:cNvPr id="52" name="CuadroTexto 51">
            <a:extLst>
              <a:ext uri="{FF2B5EF4-FFF2-40B4-BE49-F238E27FC236}">
                <a16:creationId xmlns:a16="http://schemas.microsoft.com/office/drawing/2014/main" id="{4718DEA3-8426-ED05-9180-D84DDF1936F3}"/>
              </a:ext>
            </a:extLst>
          </p:cNvPr>
          <p:cNvSpPr txBox="1"/>
          <p:nvPr/>
        </p:nvSpPr>
        <p:spPr>
          <a:xfrm>
            <a:off x="3941240" y="2163623"/>
            <a:ext cx="564578" cy="307777"/>
          </a:xfrm>
          <a:prstGeom prst="rect">
            <a:avLst/>
          </a:prstGeom>
          <a:noFill/>
        </p:spPr>
        <p:txBody>
          <a:bodyPr wrap="none" rtlCol="0">
            <a:spAutoFit/>
          </a:bodyPr>
          <a:lstStyle/>
          <a:p>
            <a:r>
              <a:rPr lang="es-ES" sz="1400" dirty="0"/>
              <a:t>G0/1</a:t>
            </a:r>
          </a:p>
        </p:txBody>
      </p:sp>
      <p:sp>
        <p:nvSpPr>
          <p:cNvPr id="54" name="CuadroTexto 53">
            <a:extLst>
              <a:ext uri="{FF2B5EF4-FFF2-40B4-BE49-F238E27FC236}">
                <a16:creationId xmlns:a16="http://schemas.microsoft.com/office/drawing/2014/main" id="{90F45C46-B338-C551-1CCD-423F2218EFDE}"/>
              </a:ext>
            </a:extLst>
          </p:cNvPr>
          <p:cNvSpPr txBox="1"/>
          <p:nvPr/>
        </p:nvSpPr>
        <p:spPr>
          <a:xfrm>
            <a:off x="6896183" y="2162631"/>
            <a:ext cx="564578" cy="307777"/>
          </a:xfrm>
          <a:prstGeom prst="rect">
            <a:avLst/>
          </a:prstGeom>
          <a:noFill/>
        </p:spPr>
        <p:txBody>
          <a:bodyPr wrap="none" rtlCol="0">
            <a:spAutoFit/>
          </a:bodyPr>
          <a:lstStyle/>
          <a:p>
            <a:r>
              <a:rPr lang="es-ES" sz="1400" dirty="0"/>
              <a:t>G0/1</a:t>
            </a:r>
          </a:p>
        </p:txBody>
      </p:sp>
      <p:sp>
        <p:nvSpPr>
          <p:cNvPr id="56" name="CuadroTexto 55">
            <a:extLst>
              <a:ext uri="{FF2B5EF4-FFF2-40B4-BE49-F238E27FC236}">
                <a16:creationId xmlns:a16="http://schemas.microsoft.com/office/drawing/2014/main" id="{2C1E4794-3E2D-E35C-E07D-8DB691CE5F17}"/>
              </a:ext>
            </a:extLst>
          </p:cNvPr>
          <p:cNvSpPr txBox="1"/>
          <p:nvPr/>
        </p:nvSpPr>
        <p:spPr>
          <a:xfrm>
            <a:off x="3647045" y="2925459"/>
            <a:ext cx="2601520" cy="2492990"/>
          </a:xfrm>
          <a:prstGeom prst="rect">
            <a:avLst/>
          </a:prstGeom>
          <a:noFill/>
        </p:spPr>
        <p:txBody>
          <a:bodyPr wrap="square">
            <a:spAutoFit/>
          </a:bodyPr>
          <a:lstStyle/>
          <a:p>
            <a:r>
              <a:rPr lang="es-ES" sz="1200" b="1" dirty="0">
                <a:latin typeface="Google Sans"/>
              </a:rPr>
              <a:t>R1</a:t>
            </a:r>
            <a:r>
              <a:rPr lang="es-ES" sz="1200" dirty="0">
                <a:latin typeface="Google Sans"/>
              </a:rPr>
              <a:t> recibe la trama en G0/1. Desencapsula la trama que ya cumplió su función de transportar el paquete por el nodo físico de Pc1 a R1. Lee la IP destino (</a:t>
            </a:r>
            <a:r>
              <a:rPr lang="es-ES" sz="1200" b="1" dirty="0">
                <a:latin typeface="Google Sans"/>
              </a:rPr>
              <a:t>172.16.0.2</a:t>
            </a:r>
            <a:r>
              <a:rPr lang="es-ES" sz="1200" dirty="0">
                <a:latin typeface="Google Sans"/>
              </a:rPr>
              <a:t>)</a:t>
            </a:r>
          </a:p>
          <a:p>
            <a:endParaRPr lang="es-ES" sz="1200" dirty="0">
              <a:latin typeface="Google Sans"/>
            </a:endParaRPr>
          </a:p>
          <a:p>
            <a:r>
              <a:rPr lang="es-ES" sz="1200" b="1" dirty="0"/>
              <a:t>R1 </a:t>
            </a:r>
            <a:r>
              <a:rPr lang="es-ES" sz="1200" dirty="0"/>
              <a:t>consulta su tabla de enrutamiento comparando la IP destino y el siguiente salto es </a:t>
            </a:r>
            <a:r>
              <a:rPr lang="es-ES" sz="1200" b="1" dirty="0"/>
              <a:t>R2</a:t>
            </a:r>
            <a:r>
              <a:rPr lang="es-ES" sz="1200" dirty="0"/>
              <a:t>. Encapsula el paquete en una nueva trama que ira al Punto de Presencia del ISP, Enviándolo por G0/2 hacia internet.</a:t>
            </a:r>
            <a:endParaRPr lang="es-ES" sz="1200" dirty="0">
              <a:latin typeface="Google Sans"/>
            </a:endParaRPr>
          </a:p>
        </p:txBody>
      </p:sp>
      <p:sp>
        <p:nvSpPr>
          <p:cNvPr id="58" name="Abrir llave 57">
            <a:extLst>
              <a:ext uri="{FF2B5EF4-FFF2-40B4-BE49-F238E27FC236}">
                <a16:creationId xmlns:a16="http://schemas.microsoft.com/office/drawing/2014/main" id="{357FC023-BBB2-3F11-8EA0-3186ADDC8390}"/>
              </a:ext>
            </a:extLst>
          </p:cNvPr>
          <p:cNvSpPr/>
          <p:nvPr/>
        </p:nvSpPr>
        <p:spPr>
          <a:xfrm rot="16200000" flipV="1">
            <a:off x="4530365" y="2059814"/>
            <a:ext cx="401564" cy="1301642"/>
          </a:xfrm>
          <a:prstGeom prst="leftBrace">
            <a:avLst>
              <a:gd name="adj1" fmla="val 8333"/>
              <a:gd name="adj2" fmla="val 50323"/>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dirty="0"/>
          </a:p>
        </p:txBody>
      </p:sp>
      <p:sp>
        <p:nvSpPr>
          <p:cNvPr id="61" name="Elipse 60">
            <a:extLst>
              <a:ext uri="{FF2B5EF4-FFF2-40B4-BE49-F238E27FC236}">
                <a16:creationId xmlns:a16="http://schemas.microsoft.com/office/drawing/2014/main" id="{77B8448F-B232-D350-415F-9D64AFFACA0B}"/>
              </a:ext>
            </a:extLst>
          </p:cNvPr>
          <p:cNvSpPr/>
          <p:nvPr/>
        </p:nvSpPr>
        <p:spPr>
          <a:xfrm>
            <a:off x="8189637" y="997991"/>
            <a:ext cx="1453841" cy="4378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s-ES" sz="1100" b="1" dirty="0"/>
              <a:t>172.16.0.0</a:t>
            </a:r>
            <a:endParaRPr lang="es-ES" sz="800" dirty="0"/>
          </a:p>
        </p:txBody>
      </p:sp>
      <p:sp>
        <p:nvSpPr>
          <p:cNvPr id="62" name="CuadroTexto 61">
            <a:extLst>
              <a:ext uri="{FF2B5EF4-FFF2-40B4-BE49-F238E27FC236}">
                <a16:creationId xmlns:a16="http://schemas.microsoft.com/office/drawing/2014/main" id="{4F142769-DB0F-311F-9799-4A3AC02460D3}"/>
              </a:ext>
            </a:extLst>
          </p:cNvPr>
          <p:cNvSpPr txBox="1"/>
          <p:nvPr/>
        </p:nvSpPr>
        <p:spPr>
          <a:xfrm>
            <a:off x="2485141" y="461665"/>
            <a:ext cx="1508811" cy="369332"/>
          </a:xfrm>
          <a:prstGeom prst="rect">
            <a:avLst/>
          </a:prstGeom>
          <a:noFill/>
        </p:spPr>
        <p:txBody>
          <a:bodyPr wrap="none" rtlCol="0">
            <a:spAutoFit/>
          </a:bodyPr>
          <a:lstStyle/>
          <a:p>
            <a:r>
              <a:rPr lang="es-ES" dirty="0"/>
              <a:t>Subred Spain</a:t>
            </a:r>
          </a:p>
        </p:txBody>
      </p:sp>
      <p:sp>
        <p:nvSpPr>
          <p:cNvPr id="64" name="CuadroTexto 63">
            <a:extLst>
              <a:ext uri="{FF2B5EF4-FFF2-40B4-BE49-F238E27FC236}">
                <a16:creationId xmlns:a16="http://schemas.microsoft.com/office/drawing/2014/main" id="{2BCECD63-9E5F-5CD3-EC00-9D25CD3B9A2C}"/>
              </a:ext>
            </a:extLst>
          </p:cNvPr>
          <p:cNvSpPr txBox="1"/>
          <p:nvPr/>
        </p:nvSpPr>
        <p:spPr>
          <a:xfrm>
            <a:off x="8144663" y="552518"/>
            <a:ext cx="1832567" cy="369332"/>
          </a:xfrm>
          <a:prstGeom prst="rect">
            <a:avLst/>
          </a:prstGeom>
          <a:noFill/>
        </p:spPr>
        <p:txBody>
          <a:bodyPr wrap="square">
            <a:spAutoFit/>
          </a:bodyPr>
          <a:lstStyle/>
          <a:p>
            <a:r>
              <a:rPr lang="es-ES" sz="1800" dirty="0"/>
              <a:t>Subred London</a:t>
            </a:r>
          </a:p>
        </p:txBody>
      </p:sp>
      <p:sp>
        <p:nvSpPr>
          <p:cNvPr id="66" name="CuadroTexto 65">
            <a:extLst>
              <a:ext uri="{FF2B5EF4-FFF2-40B4-BE49-F238E27FC236}">
                <a16:creationId xmlns:a16="http://schemas.microsoft.com/office/drawing/2014/main" id="{91D317C9-C19C-3DC4-E65E-655998292A6A}"/>
              </a:ext>
            </a:extLst>
          </p:cNvPr>
          <p:cNvSpPr txBox="1"/>
          <p:nvPr/>
        </p:nvSpPr>
        <p:spPr>
          <a:xfrm>
            <a:off x="6539448" y="2959665"/>
            <a:ext cx="2266804" cy="1938992"/>
          </a:xfrm>
          <a:prstGeom prst="rect">
            <a:avLst/>
          </a:prstGeom>
          <a:noFill/>
        </p:spPr>
        <p:txBody>
          <a:bodyPr wrap="square">
            <a:spAutoFit/>
          </a:bodyPr>
          <a:lstStyle/>
          <a:p>
            <a:r>
              <a:rPr lang="es-ES" sz="1200" b="1" dirty="0"/>
              <a:t>R2</a:t>
            </a:r>
            <a:r>
              <a:rPr lang="es-ES" sz="1200" dirty="0"/>
              <a:t> recibe la trama por G0/1. Abre la trama. Ve que el destino conectado directamente está en G0/2.</a:t>
            </a:r>
          </a:p>
          <a:p>
            <a:endParaRPr lang="es-ES" sz="1200" dirty="0"/>
          </a:p>
          <a:p>
            <a:r>
              <a:rPr lang="es-ES" sz="1200" dirty="0"/>
              <a:t>Encapsula el paquete en una  nueva trama Ethernet final y </a:t>
            </a:r>
            <a:r>
              <a:rPr lang="es-ES" sz="1200" b="1" dirty="0"/>
              <a:t>Server1</a:t>
            </a:r>
            <a:r>
              <a:rPr lang="es-ES" sz="1200" dirty="0"/>
              <a:t> recibe y procesa los datos.</a:t>
            </a:r>
          </a:p>
          <a:p>
            <a:endParaRPr lang="es-ES" sz="1200" dirty="0"/>
          </a:p>
        </p:txBody>
      </p:sp>
      <p:sp>
        <p:nvSpPr>
          <p:cNvPr id="68" name="Abrir llave 67">
            <a:extLst>
              <a:ext uri="{FF2B5EF4-FFF2-40B4-BE49-F238E27FC236}">
                <a16:creationId xmlns:a16="http://schemas.microsoft.com/office/drawing/2014/main" id="{BFFB847F-D6F7-359F-75F3-2935C0EB4F43}"/>
              </a:ext>
            </a:extLst>
          </p:cNvPr>
          <p:cNvSpPr/>
          <p:nvPr/>
        </p:nvSpPr>
        <p:spPr>
          <a:xfrm rot="16200000" flipV="1">
            <a:off x="7472068" y="2077872"/>
            <a:ext cx="401564" cy="1301642"/>
          </a:xfrm>
          <a:prstGeom prst="leftBrace">
            <a:avLst>
              <a:gd name="adj1" fmla="val 8333"/>
              <a:gd name="adj2" fmla="val 50323"/>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dirty="0"/>
          </a:p>
        </p:txBody>
      </p:sp>
      <p:sp>
        <p:nvSpPr>
          <p:cNvPr id="71" name="Flecha: a la derecha 70">
            <a:extLst>
              <a:ext uri="{FF2B5EF4-FFF2-40B4-BE49-F238E27FC236}">
                <a16:creationId xmlns:a16="http://schemas.microsoft.com/office/drawing/2014/main" id="{46D4D7D5-472E-1647-540D-ABF387855C9F}"/>
              </a:ext>
            </a:extLst>
          </p:cNvPr>
          <p:cNvSpPr/>
          <p:nvPr/>
        </p:nvSpPr>
        <p:spPr>
          <a:xfrm>
            <a:off x="8273797" y="2001139"/>
            <a:ext cx="732278"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73" name="Imagen 72">
            <a:extLst>
              <a:ext uri="{FF2B5EF4-FFF2-40B4-BE49-F238E27FC236}">
                <a16:creationId xmlns:a16="http://schemas.microsoft.com/office/drawing/2014/main" id="{66D2052A-789D-AC5E-DB88-205F93F0EA8E}"/>
              </a:ext>
            </a:extLst>
          </p:cNvPr>
          <p:cNvPicPr>
            <a:picLocks noChangeAspect="1"/>
          </p:cNvPicPr>
          <p:nvPr/>
        </p:nvPicPr>
        <p:blipFill>
          <a:blip r:embed="rId7"/>
          <a:stretch>
            <a:fillRect/>
          </a:stretch>
        </p:blipFill>
        <p:spPr>
          <a:xfrm>
            <a:off x="3641342" y="1637614"/>
            <a:ext cx="666784" cy="171459"/>
          </a:xfrm>
          <a:prstGeom prst="rect">
            <a:avLst/>
          </a:prstGeom>
        </p:spPr>
      </p:pic>
      <p:pic>
        <p:nvPicPr>
          <p:cNvPr id="75" name="Imagen 74">
            <a:extLst>
              <a:ext uri="{FF2B5EF4-FFF2-40B4-BE49-F238E27FC236}">
                <a16:creationId xmlns:a16="http://schemas.microsoft.com/office/drawing/2014/main" id="{21D7E63B-E642-9245-794B-0DF337643CA5}"/>
              </a:ext>
            </a:extLst>
          </p:cNvPr>
          <p:cNvPicPr>
            <a:picLocks noChangeAspect="1"/>
          </p:cNvPicPr>
          <p:nvPr/>
        </p:nvPicPr>
        <p:blipFill>
          <a:blip r:embed="rId8"/>
          <a:stretch>
            <a:fillRect/>
          </a:stretch>
        </p:blipFill>
        <p:spPr>
          <a:xfrm>
            <a:off x="3107915" y="1643964"/>
            <a:ext cx="533427" cy="177809"/>
          </a:xfrm>
          <a:prstGeom prst="rect">
            <a:avLst/>
          </a:prstGeom>
        </p:spPr>
      </p:pic>
      <p:pic>
        <p:nvPicPr>
          <p:cNvPr id="77" name="Imagen 76">
            <a:extLst>
              <a:ext uri="{FF2B5EF4-FFF2-40B4-BE49-F238E27FC236}">
                <a16:creationId xmlns:a16="http://schemas.microsoft.com/office/drawing/2014/main" id="{78014BB5-C53A-EBFB-6F4C-E2DAAD84EBE7}"/>
              </a:ext>
            </a:extLst>
          </p:cNvPr>
          <p:cNvPicPr>
            <a:picLocks noChangeAspect="1"/>
          </p:cNvPicPr>
          <p:nvPr/>
        </p:nvPicPr>
        <p:blipFill>
          <a:blip r:embed="rId9"/>
          <a:stretch>
            <a:fillRect/>
          </a:stretch>
        </p:blipFill>
        <p:spPr>
          <a:xfrm>
            <a:off x="2707844" y="1656665"/>
            <a:ext cx="400071" cy="152408"/>
          </a:xfrm>
          <a:prstGeom prst="rect">
            <a:avLst/>
          </a:prstGeom>
        </p:spPr>
      </p:pic>
      <p:sp>
        <p:nvSpPr>
          <p:cNvPr id="79" name="Flecha: a la derecha 78">
            <a:extLst>
              <a:ext uri="{FF2B5EF4-FFF2-40B4-BE49-F238E27FC236}">
                <a16:creationId xmlns:a16="http://schemas.microsoft.com/office/drawing/2014/main" id="{98BCED32-FAC6-2A31-0DB6-22FF403817E4}"/>
              </a:ext>
            </a:extLst>
          </p:cNvPr>
          <p:cNvSpPr/>
          <p:nvPr/>
        </p:nvSpPr>
        <p:spPr>
          <a:xfrm>
            <a:off x="3074158" y="1881153"/>
            <a:ext cx="732278"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86" name="CuadroTexto 85">
            <a:extLst>
              <a:ext uri="{FF2B5EF4-FFF2-40B4-BE49-F238E27FC236}">
                <a16:creationId xmlns:a16="http://schemas.microsoft.com/office/drawing/2014/main" id="{6382C4A4-8FB3-9825-0ECC-7A3FEEE5BF62}"/>
              </a:ext>
            </a:extLst>
          </p:cNvPr>
          <p:cNvSpPr txBox="1"/>
          <p:nvPr/>
        </p:nvSpPr>
        <p:spPr>
          <a:xfrm>
            <a:off x="-22348" y="5565336"/>
            <a:ext cx="11620774" cy="1200329"/>
          </a:xfrm>
          <a:prstGeom prst="rect">
            <a:avLst/>
          </a:prstGeom>
          <a:noFill/>
        </p:spPr>
        <p:txBody>
          <a:bodyPr wrap="square" rtlCol="0">
            <a:spAutoFit/>
          </a:bodyPr>
          <a:lstStyle/>
          <a:p>
            <a:r>
              <a:rPr lang="es-ES" sz="1200" dirty="0"/>
              <a:t>💡¿Qué pasa cuando llega al destino final </a:t>
            </a:r>
            <a:r>
              <a:rPr lang="es-ES" sz="1200" b="1" dirty="0"/>
              <a:t>(Server1)?</a:t>
            </a:r>
          </a:p>
          <a:p>
            <a:r>
              <a:rPr lang="es-ES" sz="1200" b="1" dirty="0"/>
              <a:t>Capa Física:</a:t>
            </a:r>
            <a:r>
              <a:rPr lang="es-ES" sz="1200" dirty="0"/>
              <a:t> Aquí termina de pasar la señal eléctrica y la tarjeta de red ha traducido las señales en bits </a:t>
            </a:r>
          </a:p>
          <a:p>
            <a:r>
              <a:rPr lang="es-ES" sz="1200" b="1" dirty="0"/>
              <a:t>Capa de Enlace:</a:t>
            </a:r>
            <a:r>
              <a:rPr lang="es-ES" sz="1200" dirty="0"/>
              <a:t> Ya tiene la trama entera en memoria para poder leer la dirección MAC </a:t>
            </a:r>
          </a:p>
          <a:p>
            <a:r>
              <a:rPr lang="es-ES" sz="1200" b="1" dirty="0"/>
              <a:t>Capa de Red:</a:t>
            </a:r>
            <a:r>
              <a:rPr lang="es-ES" sz="1200" dirty="0"/>
              <a:t> Abre la trama y valida que la IP destino sea la suya.</a:t>
            </a:r>
          </a:p>
          <a:p>
            <a:r>
              <a:rPr lang="es-ES" sz="1200" b="1" dirty="0"/>
              <a:t>Capa de Transporte:</a:t>
            </a:r>
            <a:r>
              <a:rPr lang="es-ES" sz="1200" dirty="0"/>
              <a:t> Revisa el puerto de destino para identificar la aplicación.</a:t>
            </a:r>
          </a:p>
          <a:p>
            <a:r>
              <a:rPr lang="es-ES" sz="1200" b="1" dirty="0"/>
              <a:t>Capa de Aplicación:</a:t>
            </a:r>
            <a:r>
              <a:rPr lang="es-ES" sz="1200" dirty="0"/>
              <a:t> Entrega los datos finales al programa para que los muestre.</a:t>
            </a:r>
          </a:p>
        </p:txBody>
      </p:sp>
      <p:sp>
        <p:nvSpPr>
          <p:cNvPr id="88" name="CuadroTexto 87">
            <a:extLst>
              <a:ext uri="{FF2B5EF4-FFF2-40B4-BE49-F238E27FC236}">
                <a16:creationId xmlns:a16="http://schemas.microsoft.com/office/drawing/2014/main" id="{7FD31775-7E87-30D5-C63E-CB3E390E4482}"/>
              </a:ext>
            </a:extLst>
          </p:cNvPr>
          <p:cNvSpPr txBox="1"/>
          <p:nvPr/>
        </p:nvSpPr>
        <p:spPr>
          <a:xfrm>
            <a:off x="6631242" y="4780505"/>
            <a:ext cx="6443694" cy="1569660"/>
          </a:xfrm>
          <a:prstGeom prst="rect">
            <a:avLst/>
          </a:prstGeom>
          <a:noFill/>
        </p:spPr>
        <p:txBody>
          <a:bodyPr wrap="square" rtlCol="0">
            <a:spAutoFit/>
          </a:bodyPr>
          <a:lstStyle/>
          <a:p>
            <a:r>
              <a:rPr lang="es-ES" sz="3200" dirty="0"/>
              <a:t>🤔 </a:t>
            </a:r>
            <a:r>
              <a:rPr lang="es-ES" b="1" dirty="0"/>
              <a:t>1</a:t>
            </a:r>
            <a:r>
              <a:rPr lang="es-ES" sz="2000" dirty="0"/>
              <a:t>.- </a:t>
            </a:r>
            <a:r>
              <a:rPr lang="es-ES" sz="1600" dirty="0"/>
              <a:t>¿ y Como sabe Pc1 la ip de Server1 para apuntar a ella?</a:t>
            </a:r>
            <a:br>
              <a:rPr lang="es-ES" sz="1600" dirty="0"/>
            </a:br>
            <a:r>
              <a:rPr lang="es-ES" sz="1600" dirty="0"/>
              <a:t>             </a:t>
            </a:r>
            <a:r>
              <a:rPr lang="es-ES" sz="1600" b="1" dirty="0"/>
              <a:t>2.-  </a:t>
            </a:r>
            <a:r>
              <a:rPr lang="es-ES" sz="1600" dirty="0"/>
              <a:t>¿Cómo sabe Pc1 la MAC de su default gateway?</a:t>
            </a:r>
          </a:p>
          <a:p>
            <a:r>
              <a:rPr lang="es-ES" sz="1600" b="1" dirty="0"/>
              <a:t>             3.- </a:t>
            </a:r>
            <a:r>
              <a:rPr lang="es-ES" sz="1600" dirty="0"/>
              <a:t>¿Cómo sabe R2 la MAC de la Server1?</a:t>
            </a:r>
          </a:p>
          <a:p>
            <a:endParaRPr lang="es-ES" sz="1600" dirty="0"/>
          </a:p>
          <a:p>
            <a:r>
              <a:rPr lang="es-ES" sz="1600" dirty="0"/>
              <a:t>                En la siguiente diapositiva lo explicaremos…</a:t>
            </a:r>
          </a:p>
        </p:txBody>
      </p:sp>
      <p:sp>
        <p:nvSpPr>
          <p:cNvPr id="89" name="CuadroTexto 88">
            <a:extLst>
              <a:ext uri="{FF2B5EF4-FFF2-40B4-BE49-F238E27FC236}">
                <a16:creationId xmlns:a16="http://schemas.microsoft.com/office/drawing/2014/main" id="{0B9CB833-85A5-8DB8-814D-71B58950C7FC}"/>
              </a:ext>
            </a:extLst>
          </p:cNvPr>
          <p:cNvSpPr txBox="1"/>
          <p:nvPr/>
        </p:nvSpPr>
        <p:spPr>
          <a:xfrm>
            <a:off x="4870260" y="712203"/>
            <a:ext cx="2812245" cy="369332"/>
          </a:xfrm>
          <a:prstGeom prst="rect">
            <a:avLst/>
          </a:prstGeom>
          <a:noFill/>
        </p:spPr>
        <p:txBody>
          <a:bodyPr wrap="none" rtlCol="0">
            <a:spAutoFit/>
          </a:bodyPr>
          <a:lstStyle/>
          <a:p>
            <a:r>
              <a:rPr lang="es-ES" u="sng" dirty="0"/>
              <a:t>PC1 se comunica con PC2</a:t>
            </a:r>
          </a:p>
        </p:txBody>
      </p:sp>
      <p:pic>
        <p:nvPicPr>
          <p:cNvPr id="91" name="Picture 10" descr="C:\Users\ecoffey\AppData\Local\Temp\Rar$DRa0.324\30072_Device_server_default_256.png">
            <a:extLst>
              <a:ext uri="{FF2B5EF4-FFF2-40B4-BE49-F238E27FC236}">
                <a16:creationId xmlns:a16="http://schemas.microsoft.com/office/drawing/2014/main" id="{F4AAC774-0203-DFCE-9AD2-F97946BC641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773792" y="1809073"/>
            <a:ext cx="689241" cy="6892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23861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56822064-7295-8F30-E5F5-C02810CEE229}"/>
              </a:ext>
            </a:extLst>
          </p:cNvPr>
          <p:cNvSpPr txBox="1"/>
          <p:nvPr/>
        </p:nvSpPr>
        <p:spPr>
          <a:xfrm>
            <a:off x="3731252" y="-22499"/>
            <a:ext cx="3951253" cy="461665"/>
          </a:xfrm>
          <a:prstGeom prst="rect">
            <a:avLst/>
          </a:prstGeom>
          <a:noFill/>
        </p:spPr>
        <p:txBody>
          <a:bodyPr wrap="square">
            <a:spAutoFit/>
          </a:bodyPr>
          <a:lstStyle/>
          <a:p>
            <a:pPr algn="ctr"/>
            <a:r>
              <a:rPr lang="es-ES" sz="2400" b="1" dirty="0"/>
              <a:t>IP Routing</a:t>
            </a:r>
          </a:p>
        </p:txBody>
      </p:sp>
      <p:pic>
        <p:nvPicPr>
          <p:cNvPr id="7" name="Imagen 6">
            <a:extLst>
              <a:ext uri="{FF2B5EF4-FFF2-40B4-BE49-F238E27FC236}">
                <a16:creationId xmlns:a16="http://schemas.microsoft.com/office/drawing/2014/main" id="{9CA64D23-B01F-4A53-1F9C-10F4296106FC}"/>
              </a:ext>
            </a:extLst>
          </p:cNvPr>
          <p:cNvPicPr>
            <a:picLocks noChangeAspect="1"/>
          </p:cNvPicPr>
          <p:nvPr/>
        </p:nvPicPr>
        <p:blipFill>
          <a:blip r:embed="rId2"/>
          <a:stretch>
            <a:fillRect/>
          </a:stretch>
        </p:blipFill>
        <p:spPr>
          <a:xfrm>
            <a:off x="6623212" y="53072"/>
            <a:ext cx="612889" cy="408593"/>
          </a:xfrm>
          <a:prstGeom prst="rect">
            <a:avLst/>
          </a:prstGeom>
        </p:spPr>
      </p:pic>
      <p:sp>
        <p:nvSpPr>
          <p:cNvPr id="9" name="CuadroTexto 8">
            <a:extLst>
              <a:ext uri="{FF2B5EF4-FFF2-40B4-BE49-F238E27FC236}">
                <a16:creationId xmlns:a16="http://schemas.microsoft.com/office/drawing/2014/main" id="{4692F1E3-3E46-66B3-2AA6-5F7BE2AC6E55}"/>
              </a:ext>
            </a:extLst>
          </p:cNvPr>
          <p:cNvSpPr txBox="1"/>
          <p:nvPr/>
        </p:nvSpPr>
        <p:spPr>
          <a:xfrm>
            <a:off x="-321133" y="0"/>
            <a:ext cx="3329579" cy="461665"/>
          </a:xfrm>
          <a:prstGeom prst="rect">
            <a:avLst/>
          </a:prstGeom>
          <a:noFill/>
        </p:spPr>
        <p:txBody>
          <a:bodyPr wrap="square">
            <a:spAutoFit/>
          </a:bodyPr>
          <a:lstStyle/>
          <a:p>
            <a:pPr algn="ctr"/>
            <a:r>
              <a:rPr lang="es-ES" sz="1200" dirty="0">
                <a:ln w="0"/>
                <a:effectLst>
                  <a:outerShdw blurRad="38100" dist="19050" dir="2700000" algn="tl" rotWithShape="0">
                    <a:schemeClr val="dk1">
                      <a:alpha val="40000"/>
                    </a:schemeClr>
                  </a:outerShdw>
                </a:effectLst>
              </a:rPr>
              <a:t>1. Introducción a las redes</a:t>
            </a:r>
          </a:p>
          <a:p>
            <a:pPr algn="ctr"/>
            <a:r>
              <a:rPr lang="es-ES" sz="1200" b="1" dirty="0"/>
              <a:t>WANs y Routing IP</a:t>
            </a:r>
          </a:p>
        </p:txBody>
      </p:sp>
      <p:sp>
        <p:nvSpPr>
          <p:cNvPr id="11" name="CuadroTexto 10">
            <a:extLst>
              <a:ext uri="{FF2B5EF4-FFF2-40B4-BE49-F238E27FC236}">
                <a16:creationId xmlns:a16="http://schemas.microsoft.com/office/drawing/2014/main" id="{6CB8AA5A-AD62-979C-D695-CF380F2D7A42}"/>
              </a:ext>
            </a:extLst>
          </p:cNvPr>
          <p:cNvSpPr txBox="1"/>
          <p:nvPr/>
        </p:nvSpPr>
        <p:spPr>
          <a:xfrm>
            <a:off x="1731078" y="795737"/>
            <a:ext cx="8999643" cy="369332"/>
          </a:xfrm>
          <a:prstGeom prst="rect">
            <a:avLst/>
          </a:prstGeom>
          <a:noFill/>
        </p:spPr>
        <p:txBody>
          <a:bodyPr wrap="none" rtlCol="0">
            <a:spAutoFit/>
          </a:bodyPr>
          <a:lstStyle/>
          <a:p>
            <a:r>
              <a:rPr lang="es-ES" b="1" dirty="0"/>
              <a:t>Protocolo ARP (Address Resolution Protocol)</a:t>
            </a:r>
            <a:r>
              <a:rPr lang="es-ES" dirty="0"/>
              <a:t> Protocolo de resolución de direcciones</a:t>
            </a:r>
          </a:p>
        </p:txBody>
      </p:sp>
      <p:pic>
        <p:nvPicPr>
          <p:cNvPr id="13" name="Imagen 12">
            <a:extLst>
              <a:ext uri="{FF2B5EF4-FFF2-40B4-BE49-F238E27FC236}">
                <a16:creationId xmlns:a16="http://schemas.microsoft.com/office/drawing/2014/main" id="{96A0DE06-B822-06D0-EEDC-2DCFB3377B10}"/>
              </a:ext>
            </a:extLst>
          </p:cNvPr>
          <p:cNvPicPr>
            <a:picLocks noChangeAspect="1"/>
          </p:cNvPicPr>
          <p:nvPr/>
        </p:nvPicPr>
        <p:blipFill>
          <a:blip r:embed="rId3"/>
          <a:stretch>
            <a:fillRect/>
          </a:stretch>
        </p:blipFill>
        <p:spPr>
          <a:xfrm>
            <a:off x="10584138" y="597312"/>
            <a:ext cx="944475" cy="447383"/>
          </a:xfrm>
          <a:prstGeom prst="rect">
            <a:avLst/>
          </a:prstGeom>
        </p:spPr>
      </p:pic>
      <p:sp>
        <p:nvSpPr>
          <p:cNvPr id="15" name="CuadroTexto 14">
            <a:extLst>
              <a:ext uri="{FF2B5EF4-FFF2-40B4-BE49-F238E27FC236}">
                <a16:creationId xmlns:a16="http://schemas.microsoft.com/office/drawing/2014/main" id="{6915B08F-3EAD-22F8-D6AA-14E587DA7134}"/>
              </a:ext>
            </a:extLst>
          </p:cNvPr>
          <p:cNvSpPr txBox="1"/>
          <p:nvPr/>
        </p:nvSpPr>
        <p:spPr>
          <a:xfrm>
            <a:off x="2290794" y="1169439"/>
            <a:ext cx="9330115" cy="369332"/>
          </a:xfrm>
          <a:prstGeom prst="rect">
            <a:avLst/>
          </a:prstGeom>
          <a:noFill/>
        </p:spPr>
        <p:txBody>
          <a:bodyPr wrap="square">
            <a:spAutoFit/>
          </a:bodyPr>
          <a:lstStyle/>
          <a:p>
            <a:r>
              <a:rPr lang="es-ES" dirty="0"/>
              <a:t>Su único objetivo es convertir una dirección IP (Capa 3) en una dirección MAC física (Capa 2)</a:t>
            </a:r>
          </a:p>
        </p:txBody>
      </p:sp>
      <p:sp>
        <p:nvSpPr>
          <p:cNvPr id="16" name="Elipse 15">
            <a:extLst>
              <a:ext uri="{FF2B5EF4-FFF2-40B4-BE49-F238E27FC236}">
                <a16:creationId xmlns:a16="http://schemas.microsoft.com/office/drawing/2014/main" id="{2D2FF533-4E63-A931-4AA5-5BC8926F907D}"/>
              </a:ext>
            </a:extLst>
          </p:cNvPr>
          <p:cNvSpPr/>
          <p:nvPr/>
        </p:nvSpPr>
        <p:spPr>
          <a:xfrm>
            <a:off x="800448" y="2049502"/>
            <a:ext cx="1453841" cy="4378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s-ES" sz="1100" b="1" dirty="0"/>
              <a:t>192.168.10.0</a:t>
            </a:r>
            <a:endParaRPr lang="es-ES" sz="800" dirty="0"/>
          </a:p>
        </p:txBody>
      </p:sp>
      <p:pic>
        <p:nvPicPr>
          <p:cNvPr id="17" name="Picture 10" descr="C:\Users\ecoffey\AppData\Local\Temp\Rar$DRa0.175\30088_Device_terminal_default_256.png">
            <a:extLst>
              <a:ext uri="{FF2B5EF4-FFF2-40B4-BE49-F238E27FC236}">
                <a16:creationId xmlns:a16="http://schemas.microsoft.com/office/drawing/2014/main" id="{EA0BFC77-9664-7C3A-4BE5-1A7FED77EA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1659" y="3029943"/>
            <a:ext cx="608245" cy="608245"/>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0">
            <a:extLst>
              <a:ext uri="{FF2B5EF4-FFF2-40B4-BE49-F238E27FC236}">
                <a16:creationId xmlns:a16="http://schemas.microsoft.com/office/drawing/2014/main" id="{53CCA794-F746-D904-B323-734673DB2DC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8171" t="28931" r="8368" b="21666"/>
          <a:stretch/>
        </p:blipFill>
        <p:spPr bwMode="auto">
          <a:xfrm>
            <a:off x="2720503" y="3121654"/>
            <a:ext cx="717679" cy="424822"/>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Conector recto 18">
            <a:extLst>
              <a:ext uri="{FF2B5EF4-FFF2-40B4-BE49-F238E27FC236}">
                <a16:creationId xmlns:a16="http://schemas.microsoft.com/office/drawing/2014/main" id="{1A945F5D-6485-BC1A-199F-99E92972879E}"/>
              </a:ext>
            </a:extLst>
          </p:cNvPr>
          <p:cNvCxnSpPr>
            <a:cxnSpLocks/>
            <a:stCxn id="17" idx="3"/>
            <a:endCxn id="18" idx="1"/>
          </p:cNvCxnSpPr>
          <p:nvPr/>
        </p:nvCxnSpPr>
        <p:spPr>
          <a:xfrm flipV="1">
            <a:off x="1109904" y="3334065"/>
            <a:ext cx="1610599" cy="1"/>
          </a:xfrm>
          <a:prstGeom prst="line">
            <a:avLst/>
          </a:prstGeom>
        </p:spPr>
        <p:style>
          <a:lnRef idx="2">
            <a:schemeClr val="accent1"/>
          </a:lnRef>
          <a:fillRef idx="0">
            <a:schemeClr val="accent1"/>
          </a:fillRef>
          <a:effectRef idx="1">
            <a:schemeClr val="accent1"/>
          </a:effectRef>
          <a:fontRef idx="minor">
            <a:schemeClr val="tx1"/>
          </a:fontRef>
        </p:style>
      </p:cxnSp>
      <p:sp>
        <p:nvSpPr>
          <p:cNvPr id="21" name="CuadroTexto 20">
            <a:extLst>
              <a:ext uri="{FF2B5EF4-FFF2-40B4-BE49-F238E27FC236}">
                <a16:creationId xmlns:a16="http://schemas.microsoft.com/office/drawing/2014/main" id="{034F4811-60E3-27DE-536B-A0D0024CD339}"/>
              </a:ext>
            </a:extLst>
          </p:cNvPr>
          <p:cNvSpPr txBox="1"/>
          <p:nvPr/>
        </p:nvSpPr>
        <p:spPr>
          <a:xfrm>
            <a:off x="2238082" y="3319282"/>
            <a:ext cx="564578" cy="307777"/>
          </a:xfrm>
          <a:prstGeom prst="rect">
            <a:avLst/>
          </a:prstGeom>
          <a:noFill/>
        </p:spPr>
        <p:txBody>
          <a:bodyPr wrap="none" rtlCol="0">
            <a:spAutoFit/>
          </a:bodyPr>
          <a:lstStyle/>
          <a:p>
            <a:r>
              <a:rPr lang="es-ES" sz="1400" dirty="0"/>
              <a:t>G0/1</a:t>
            </a:r>
          </a:p>
        </p:txBody>
      </p:sp>
      <p:sp>
        <p:nvSpPr>
          <p:cNvPr id="22" name="CuadroTexto 21">
            <a:extLst>
              <a:ext uri="{FF2B5EF4-FFF2-40B4-BE49-F238E27FC236}">
                <a16:creationId xmlns:a16="http://schemas.microsoft.com/office/drawing/2014/main" id="{488F099E-A9D8-2D72-A5EE-FB90AD18D120}"/>
              </a:ext>
            </a:extLst>
          </p:cNvPr>
          <p:cNvSpPr txBox="1"/>
          <p:nvPr/>
        </p:nvSpPr>
        <p:spPr>
          <a:xfrm>
            <a:off x="781983" y="1617324"/>
            <a:ext cx="1508811" cy="369332"/>
          </a:xfrm>
          <a:prstGeom prst="rect">
            <a:avLst/>
          </a:prstGeom>
          <a:noFill/>
        </p:spPr>
        <p:txBody>
          <a:bodyPr wrap="none" rtlCol="0">
            <a:spAutoFit/>
          </a:bodyPr>
          <a:lstStyle/>
          <a:p>
            <a:r>
              <a:rPr lang="es-ES" dirty="0"/>
              <a:t>Subred Spain</a:t>
            </a:r>
          </a:p>
        </p:txBody>
      </p:sp>
      <p:sp>
        <p:nvSpPr>
          <p:cNvPr id="24" name="CuadroTexto 23">
            <a:extLst>
              <a:ext uri="{FF2B5EF4-FFF2-40B4-BE49-F238E27FC236}">
                <a16:creationId xmlns:a16="http://schemas.microsoft.com/office/drawing/2014/main" id="{54BD31EC-4F45-7FEF-1DCD-D3E67932E4C8}"/>
              </a:ext>
            </a:extLst>
          </p:cNvPr>
          <p:cNvSpPr txBox="1"/>
          <p:nvPr/>
        </p:nvSpPr>
        <p:spPr>
          <a:xfrm>
            <a:off x="193551" y="3590505"/>
            <a:ext cx="1213794" cy="307777"/>
          </a:xfrm>
          <a:prstGeom prst="rect">
            <a:avLst/>
          </a:prstGeom>
          <a:noFill/>
        </p:spPr>
        <p:txBody>
          <a:bodyPr wrap="none" rtlCol="0">
            <a:spAutoFit/>
          </a:bodyPr>
          <a:lstStyle/>
          <a:p>
            <a:r>
              <a:rPr lang="es-ES" sz="1400" b="1" dirty="0"/>
              <a:t>192.168.10.2</a:t>
            </a:r>
            <a:endParaRPr lang="es-ES" b="1" dirty="0"/>
          </a:p>
        </p:txBody>
      </p:sp>
      <p:sp>
        <p:nvSpPr>
          <p:cNvPr id="25" name="CuadroTexto 24">
            <a:extLst>
              <a:ext uri="{FF2B5EF4-FFF2-40B4-BE49-F238E27FC236}">
                <a16:creationId xmlns:a16="http://schemas.microsoft.com/office/drawing/2014/main" id="{1B7A2FD6-54F7-5EA6-FB35-92A9966D8F2F}"/>
              </a:ext>
            </a:extLst>
          </p:cNvPr>
          <p:cNvSpPr txBox="1"/>
          <p:nvPr/>
        </p:nvSpPr>
        <p:spPr>
          <a:xfrm>
            <a:off x="4030444" y="1764405"/>
            <a:ext cx="7893113" cy="3600986"/>
          </a:xfrm>
          <a:prstGeom prst="rect">
            <a:avLst/>
          </a:prstGeom>
          <a:noFill/>
        </p:spPr>
        <p:txBody>
          <a:bodyPr wrap="square" rtlCol="0">
            <a:spAutoFit/>
          </a:bodyPr>
          <a:lstStyle/>
          <a:p>
            <a:r>
              <a:rPr lang="es-ES" sz="1400" dirty="0"/>
              <a:t>Cuando Pc1 quiere comunicarse con otras redes, necesita saber la dirección MAC de su </a:t>
            </a:r>
            <a:r>
              <a:rPr lang="es-ES" sz="1400" b="1" dirty="0"/>
              <a:t>Default Gateway.</a:t>
            </a:r>
          </a:p>
          <a:p>
            <a:endParaRPr lang="es-ES" sz="1400" b="1" dirty="0"/>
          </a:p>
          <a:p>
            <a:r>
              <a:rPr lang="es-ES" sz="1400" dirty="0"/>
              <a:t>La IP del </a:t>
            </a:r>
            <a:r>
              <a:rPr lang="es-ES" sz="1400" b="1" dirty="0"/>
              <a:t>Default Gateway </a:t>
            </a:r>
            <a:r>
              <a:rPr lang="es-ES" sz="1400" dirty="0"/>
              <a:t>ya la conoce porque </a:t>
            </a:r>
            <a:r>
              <a:rPr lang="es-ES" sz="1400" b="1" dirty="0"/>
              <a:t>un administrador de red se la grabó manualmente en su configuración de red de su sistema operativo</a:t>
            </a:r>
            <a:r>
              <a:rPr lang="es-ES" sz="1400" dirty="0"/>
              <a:t>, o bien porque la recibió automáticamente al conectarse mediante un servidor </a:t>
            </a:r>
            <a:r>
              <a:rPr lang="es-ES" sz="1400" b="1" dirty="0"/>
              <a:t>DHCP </a:t>
            </a:r>
            <a:r>
              <a:rPr lang="es-ES" sz="1400" dirty="0"/>
              <a:t>(otro protocolo que veremos mas adelante).</a:t>
            </a:r>
          </a:p>
          <a:p>
            <a:endParaRPr lang="es-ES" sz="1400" dirty="0"/>
          </a:p>
          <a:p>
            <a:r>
              <a:rPr lang="es-ES" sz="1400" b="1" dirty="0"/>
              <a:t>1.-ARP Request: </a:t>
            </a:r>
            <a:r>
              <a:rPr lang="es-ES" sz="1400" dirty="0"/>
              <a:t>El protocolo ARP</a:t>
            </a:r>
            <a:r>
              <a:rPr lang="es-ES" sz="1400" b="1" dirty="0"/>
              <a:t> </a:t>
            </a:r>
            <a:r>
              <a:rPr lang="es-ES" sz="1400" dirty="0"/>
              <a:t>envía una consulta  en forma de </a:t>
            </a:r>
            <a:r>
              <a:rPr lang="es-ES" sz="1400" b="1" dirty="0"/>
              <a:t>Broadcast (</a:t>
            </a:r>
            <a:r>
              <a:rPr lang="es-ES" sz="1400" dirty="0"/>
              <a:t>Para que les llegue a todos los dispositivos de la red local).</a:t>
            </a:r>
          </a:p>
          <a:p>
            <a:r>
              <a:rPr lang="es-ES" sz="1400" dirty="0"/>
              <a:t>Este mensaje dice: "¿Quién tiene la IP 192.168.10.1? Dígale a </a:t>
            </a:r>
            <a:r>
              <a:rPr lang="es-ES" sz="1400" b="1" dirty="0"/>
              <a:t>Pc1</a:t>
            </a:r>
            <a:r>
              <a:rPr lang="es-ES" sz="1400" dirty="0"/>
              <a:t> (192.168.10.2)”</a:t>
            </a:r>
          </a:p>
          <a:p>
            <a:endParaRPr lang="es-ES" sz="1400" dirty="0"/>
          </a:p>
          <a:p>
            <a:r>
              <a:rPr lang="es-ES" sz="1400" b="1" dirty="0"/>
              <a:t>2.- ARP Reply: </a:t>
            </a:r>
            <a:r>
              <a:rPr lang="es-ES" sz="1400" dirty="0"/>
              <a:t>El Router </a:t>
            </a:r>
            <a:r>
              <a:rPr lang="es-ES" sz="1400" b="1" dirty="0"/>
              <a:t>R1 </a:t>
            </a:r>
            <a:r>
              <a:rPr lang="es-ES" sz="1400" dirty="0"/>
              <a:t>responde con este ARP Reply:</a:t>
            </a:r>
            <a:r>
              <a:rPr lang="es-ES" sz="1400" b="1" dirty="0"/>
              <a:t> </a:t>
            </a:r>
            <a:r>
              <a:rPr lang="es-ES" sz="1400" dirty="0"/>
              <a:t>"Yo tengo la IP </a:t>
            </a:r>
            <a:r>
              <a:rPr lang="es-ES" sz="1400" b="1" dirty="0"/>
              <a:t>192.168.10.1</a:t>
            </a:r>
            <a:r>
              <a:rPr lang="es-ES" sz="1400" dirty="0"/>
              <a:t> y mi dirección </a:t>
            </a:r>
            <a:r>
              <a:rPr lang="es-ES" sz="1400" b="1" dirty="0"/>
              <a:t>MAC </a:t>
            </a:r>
            <a:r>
              <a:rPr lang="es-ES" sz="1400" dirty="0"/>
              <a:t>física es BB:BB:BB:BB:BB:BB“</a:t>
            </a:r>
          </a:p>
          <a:p>
            <a:endParaRPr lang="es-ES" sz="1400" b="1" dirty="0"/>
          </a:p>
          <a:p>
            <a:r>
              <a:rPr lang="es-ES" sz="1400" b="1" dirty="0"/>
              <a:t>3.-</a:t>
            </a:r>
            <a:r>
              <a:rPr lang="es-ES" b="1" dirty="0"/>
              <a:t> Pc1</a:t>
            </a:r>
            <a:r>
              <a:rPr lang="es-ES" sz="1400" dirty="0"/>
              <a:t> recibe la respuesta y guarda esa información en su </a:t>
            </a:r>
            <a:r>
              <a:rPr lang="es-ES" b="1" dirty="0"/>
              <a:t>Tabla ARP</a:t>
            </a:r>
            <a:r>
              <a:rPr lang="es-ES" sz="1400" dirty="0"/>
              <a:t> (o caché ARP) y las próximas veces que necesite enviar datos fuera de su red ya sabe la MAC de su </a:t>
            </a:r>
            <a:r>
              <a:rPr lang="es-ES" sz="1400" b="1" dirty="0"/>
              <a:t>Default Gateway</a:t>
            </a:r>
          </a:p>
        </p:txBody>
      </p:sp>
      <p:sp>
        <p:nvSpPr>
          <p:cNvPr id="27" name="CuadroTexto 26">
            <a:extLst>
              <a:ext uri="{FF2B5EF4-FFF2-40B4-BE49-F238E27FC236}">
                <a16:creationId xmlns:a16="http://schemas.microsoft.com/office/drawing/2014/main" id="{E39EFC57-6F63-C0EF-BFB2-816B5CB8F3CA}"/>
              </a:ext>
            </a:extLst>
          </p:cNvPr>
          <p:cNvSpPr txBox="1"/>
          <p:nvPr/>
        </p:nvSpPr>
        <p:spPr>
          <a:xfrm>
            <a:off x="574178" y="2733295"/>
            <a:ext cx="535726" cy="307777"/>
          </a:xfrm>
          <a:prstGeom prst="rect">
            <a:avLst/>
          </a:prstGeom>
          <a:noFill/>
        </p:spPr>
        <p:txBody>
          <a:bodyPr wrap="square">
            <a:spAutoFit/>
          </a:bodyPr>
          <a:lstStyle/>
          <a:p>
            <a:r>
              <a:rPr lang="es-ES" sz="1400" b="1" dirty="0"/>
              <a:t>Pc1</a:t>
            </a:r>
            <a:endParaRPr lang="es-ES" dirty="0"/>
          </a:p>
        </p:txBody>
      </p:sp>
      <p:sp>
        <p:nvSpPr>
          <p:cNvPr id="29" name="CuadroTexto 28">
            <a:extLst>
              <a:ext uri="{FF2B5EF4-FFF2-40B4-BE49-F238E27FC236}">
                <a16:creationId xmlns:a16="http://schemas.microsoft.com/office/drawing/2014/main" id="{F4B7BB55-B8DB-E9EB-8159-8392E9410275}"/>
              </a:ext>
            </a:extLst>
          </p:cNvPr>
          <p:cNvSpPr txBox="1"/>
          <p:nvPr/>
        </p:nvSpPr>
        <p:spPr>
          <a:xfrm>
            <a:off x="2909643" y="2766194"/>
            <a:ext cx="444404" cy="276999"/>
          </a:xfrm>
          <a:prstGeom prst="rect">
            <a:avLst/>
          </a:prstGeom>
          <a:noFill/>
        </p:spPr>
        <p:txBody>
          <a:bodyPr wrap="square">
            <a:spAutoFit/>
          </a:bodyPr>
          <a:lstStyle/>
          <a:p>
            <a:r>
              <a:rPr lang="es-ES" sz="1200" b="1" u="none" strike="noStrike" dirty="0">
                <a:effectLst/>
                <a:latin typeface="Google Sans"/>
              </a:rPr>
              <a:t>R1</a:t>
            </a:r>
            <a:endParaRPr lang="es-ES" dirty="0"/>
          </a:p>
        </p:txBody>
      </p:sp>
      <p:sp>
        <p:nvSpPr>
          <p:cNvPr id="31" name="CuadroTexto 30">
            <a:extLst>
              <a:ext uri="{FF2B5EF4-FFF2-40B4-BE49-F238E27FC236}">
                <a16:creationId xmlns:a16="http://schemas.microsoft.com/office/drawing/2014/main" id="{9C771775-831F-7B89-CB36-3A1D44D68B9B}"/>
              </a:ext>
            </a:extLst>
          </p:cNvPr>
          <p:cNvSpPr txBox="1"/>
          <p:nvPr/>
        </p:nvSpPr>
        <p:spPr>
          <a:xfrm>
            <a:off x="1737861" y="2841950"/>
            <a:ext cx="1213794" cy="307777"/>
          </a:xfrm>
          <a:prstGeom prst="rect">
            <a:avLst/>
          </a:prstGeom>
          <a:noFill/>
        </p:spPr>
        <p:txBody>
          <a:bodyPr wrap="none" rtlCol="0">
            <a:spAutoFit/>
          </a:bodyPr>
          <a:lstStyle/>
          <a:p>
            <a:r>
              <a:rPr lang="es-ES" sz="1400" b="1" dirty="0"/>
              <a:t>192.168.10.1</a:t>
            </a:r>
            <a:endParaRPr lang="es-ES" b="1" dirty="0"/>
          </a:p>
        </p:txBody>
      </p:sp>
      <p:cxnSp>
        <p:nvCxnSpPr>
          <p:cNvPr id="33" name="Conector recto de flecha 32">
            <a:extLst>
              <a:ext uri="{FF2B5EF4-FFF2-40B4-BE49-F238E27FC236}">
                <a16:creationId xmlns:a16="http://schemas.microsoft.com/office/drawing/2014/main" id="{5E37BCC5-150F-DF91-B0C3-87A7A476D9DD}"/>
              </a:ext>
            </a:extLst>
          </p:cNvPr>
          <p:cNvCxnSpPr/>
          <p:nvPr/>
        </p:nvCxnSpPr>
        <p:spPr>
          <a:xfrm>
            <a:off x="2520371" y="3121654"/>
            <a:ext cx="200132" cy="1450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5" name="CuadroTexto 34">
            <a:extLst>
              <a:ext uri="{FF2B5EF4-FFF2-40B4-BE49-F238E27FC236}">
                <a16:creationId xmlns:a16="http://schemas.microsoft.com/office/drawing/2014/main" id="{056B05FC-0A52-69A5-CC65-BDAD26422A78}"/>
              </a:ext>
            </a:extLst>
          </p:cNvPr>
          <p:cNvSpPr txBox="1"/>
          <p:nvPr/>
        </p:nvSpPr>
        <p:spPr>
          <a:xfrm>
            <a:off x="2122922" y="3586295"/>
            <a:ext cx="1771048" cy="307777"/>
          </a:xfrm>
          <a:prstGeom prst="rect">
            <a:avLst/>
          </a:prstGeom>
          <a:noFill/>
        </p:spPr>
        <p:txBody>
          <a:bodyPr wrap="square">
            <a:spAutoFit/>
          </a:bodyPr>
          <a:lstStyle/>
          <a:p>
            <a:r>
              <a:rPr lang="es-ES" sz="1400" b="1" dirty="0"/>
              <a:t>BB:BB:BB:BB:BB:BB</a:t>
            </a:r>
            <a:endParaRPr lang="es-ES" b="1" dirty="0"/>
          </a:p>
        </p:txBody>
      </p:sp>
      <p:sp>
        <p:nvSpPr>
          <p:cNvPr id="36" name="CuadroTexto 35">
            <a:extLst>
              <a:ext uri="{FF2B5EF4-FFF2-40B4-BE49-F238E27FC236}">
                <a16:creationId xmlns:a16="http://schemas.microsoft.com/office/drawing/2014/main" id="{695002C9-D88B-C1FB-729E-7A4F396132B8}"/>
              </a:ext>
            </a:extLst>
          </p:cNvPr>
          <p:cNvSpPr txBox="1"/>
          <p:nvPr/>
        </p:nvSpPr>
        <p:spPr>
          <a:xfrm>
            <a:off x="193551" y="6062263"/>
            <a:ext cx="11877165" cy="646331"/>
          </a:xfrm>
          <a:prstGeom prst="rect">
            <a:avLst/>
          </a:prstGeom>
          <a:noFill/>
        </p:spPr>
        <p:txBody>
          <a:bodyPr wrap="square" rtlCol="0">
            <a:spAutoFit/>
          </a:bodyPr>
          <a:lstStyle/>
          <a:p>
            <a:r>
              <a:rPr lang="es-ES" dirty="0"/>
              <a:t>💡El mismo proceso se ejecuta cuando </a:t>
            </a:r>
            <a:r>
              <a:rPr lang="es-ES" b="1" dirty="0"/>
              <a:t>R2</a:t>
            </a:r>
            <a:r>
              <a:rPr lang="es-ES" dirty="0"/>
              <a:t> necesita saber la dirección MAC de </a:t>
            </a:r>
            <a:r>
              <a:rPr lang="es-ES" b="1" dirty="0"/>
              <a:t>Server1</a:t>
            </a:r>
            <a:r>
              <a:rPr lang="es-ES" dirty="0"/>
              <a:t> (172.16.0.2) por lo que se ejecuta un ARP de nuevo. (El ARP funciona localmente, no traspasa redes distintas)</a:t>
            </a:r>
          </a:p>
        </p:txBody>
      </p:sp>
      <p:cxnSp>
        <p:nvCxnSpPr>
          <p:cNvPr id="37" name="Conector recto 36">
            <a:extLst>
              <a:ext uri="{FF2B5EF4-FFF2-40B4-BE49-F238E27FC236}">
                <a16:creationId xmlns:a16="http://schemas.microsoft.com/office/drawing/2014/main" id="{5981B4C4-AFCE-EEC3-CFB1-E74769124582}"/>
              </a:ext>
            </a:extLst>
          </p:cNvPr>
          <p:cNvCxnSpPr>
            <a:cxnSpLocks/>
          </p:cNvCxnSpPr>
          <p:nvPr/>
        </p:nvCxnSpPr>
        <p:spPr>
          <a:xfrm>
            <a:off x="3428401" y="3334065"/>
            <a:ext cx="51330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072810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263FDA53-7C68-6E3C-BF1C-846D5F1A3D30}"/>
              </a:ext>
            </a:extLst>
          </p:cNvPr>
          <p:cNvSpPr txBox="1"/>
          <p:nvPr/>
        </p:nvSpPr>
        <p:spPr>
          <a:xfrm>
            <a:off x="3731252" y="-22499"/>
            <a:ext cx="3951253" cy="461665"/>
          </a:xfrm>
          <a:prstGeom prst="rect">
            <a:avLst/>
          </a:prstGeom>
          <a:noFill/>
        </p:spPr>
        <p:txBody>
          <a:bodyPr wrap="square">
            <a:spAutoFit/>
          </a:bodyPr>
          <a:lstStyle/>
          <a:p>
            <a:pPr algn="ctr"/>
            <a:r>
              <a:rPr lang="es-ES" sz="2400" b="1" dirty="0"/>
              <a:t>IP Routing</a:t>
            </a:r>
          </a:p>
        </p:txBody>
      </p:sp>
      <p:pic>
        <p:nvPicPr>
          <p:cNvPr id="7" name="Imagen 6">
            <a:extLst>
              <a:ext uri="{FF2B5EF4-FFF2-40B4-BE49-F238E27FC236}">
                <a16:creationId xmlns:a16="http://schemas.microsoft.com/office/drawing/2014/main" id="{C8C22125-199F-6C43-7ECB-4D9A7CBE28F0}"/>
              </a:ext>
            </a:extLst>
          </p:cNvPr>
          <p:cNvPicPr>
            <a:picLocks noChangeAspect="1"/>
          </p:cNvPicPr>
          <p:nvPr/>
        </p:nvPicPr>
        <p:blipFill>
          <a:blip r:embed="rId2"/>
          <a:stretch>
            <a:fillRect/>
          </a:stretch>
        </p:blipFill>
        <p:spPr>
          <a:xfrm>
            <a:off x="6623212" y="53072"/>
            <a:ext cx="612889" cy="408593"/>
          </a:xfrm>
          <a:prstGeom prst="rect">
            <a:avLst/>
          </a:prstGeom>
        </p:spPr>
      </p:pic>
      <p:sp>
        <p:nvSpPr>
          <p:cNvPr id="9" name="CuadroTexto 8">
            <a:extLst>
              <a:ext uri="{FF2B5EF4-FFF2-40B4-BE49-F238E27FC236}">
                <a16:creationId xmlns:a16="http://schemas.microsoft.com/office/drawing/2014/main" id="{B11B8BC5-8376-884B-CCF4-77DACF70741B}"/>
              </a:ext>
            </a:extLst>
          </p:cNvPr>
          <p:cNvSpPr txBox="1"/>
          <p:nvPr/>
        </p:nvSpPr>
        <p:spPr>
          <a:xfrm>
            <a:off x="-321133" y="0"/>
            <a:ext cx="3329579" cy="461665"/>
          </a:xfrm>
          <a:prstGeom prst="rect">
            <a:avLst/>
          </a:prstGeom>
          <a:noFill/>
        </p:spPr>
        <p:txBody>
          <a:bodyPr wrap="square">
            <a:spAutoFit/>
          </a:bodyPr>
          <a:lstStyle/>
          <a:p>
            <a:pPr algn="ctr"/>
            <a:r>
              <a:rPr lang="es-ES" sz="1200" dirty="0">
                <a:ln w="0"/>
                <a:effectLst>
                  <a:outerShdw blurRad="38100" dist="19050" dir="2700000" algn="tl" rotWithShape="0">
                    <a:schemeClr val="dk1">
                      <a:alpha val="40000"/>
                    </a:schemeClr>
                  </a:outerShdw>
                </a:effectLst>
              </a:rPr>
              <a:t>1. Introducción a las redes</a:t>
            </a:r>
          </a:p>
          <a:p>
            <a:pPr algn="ctr"/>
            <a:r>
              <a:rPr lang="es-ES" sz="1200" b="1" dirty="0"/>
              <a:t>WANs y Routing IP</a:t>
            </a:r>
          </a:p>
        </p:txBody>
      </p:sp>
      <p:sp>
        <p:nvSpPr>
          <p:cNvPr id="11" name="CuadroTexto 10">
            <a:extLst>
              <a:ext uri="{FF2B5EF4-FFF2-40B4-BE49-F238E27FC236}">
                <a16:creationId xmlns:a16="http://schemas.microsoft.com/office/drawing/2014/main" id="{99FB352A-8E60-F611-BF86-E64196190ACA}"/>
              </a:ext>
            </a:extLst>
          </p:cNvPr>
          <p:cNvSpPr txBox="1"/>
          <p:nvPr/>
        </p:nvSpPr>
        <p:spPr>
          <a:xfrm>
            <a:off x="1731078" y="639318"/>
            <a:ext cx="7549439" cy="369332"/>
          </a:xfrm>
          <a:prstGeom prst="rect">
            <a:avLst/>
          </a:prstGeom>
          <a:noFill/>
        </p:spPr>
        <p:txBody>
          <a:bodyPr wrap="none" rtlCol="0">
            <a:spAutoFit/>
          </a:bodyPr>
          <a:lstStyle/>
          <a:p>
            <a:r>
              <a:rPr lang="es-ES" b="1" dirty="0"/>
              <a:t>Protocolo DNS (Domain Name System) </a:t>
            </a:r>
            <a:r>
              <a:rPr lang="es-ES" dirty="0"/>
              <a:t>Sistema de Nombres de Dominio</a:t>
            </a:r>
            <a:endParaRPr lang="es-ES" b="1" dirty="0"/>
          </a:p>
        </p:txBody>
      </p:sp>
      <p:pic>
        <p:nvPicPr>
          <p:cNvPr id="13" name="Imagen 12">
            <a:extLst>
              <a:ext uri="{FF2B5EF4-FFF2-40B4-BE49-F238E27FC236}">
                <a16:creationId xmlns:a16="http://schemas.microsoft.com/office/drawing/2014/main" id="{DDD34C5E-4DBF-9958-E42E-C299C88AD15F}"/>
              </a:ext>
            </a:extLst>
          </p:cNvPr>
          <p:cNvPicPr>
            <a:picLocks noChangeAspect="1"/>
          </p:cNvPicPr>
          <p:nvPr/>
        </p:nvPicPr>
        <p:blipFill>
          <a:blip r:embed="rId3"/>
          <a:stretch>
            <a:fillRect/>
          </a:stretch>
        </p:blipFill>
        <p:spPr>
          <a:xfrm>
            <a:off x="9255085" y="490308"/>
            <a:ext cx="1036555" cy="439750"/>
          </a:xfrm>
          <a:prstGeom prst="rect">
            <a:avLst/>
          </a:prstGeom>
        </p:spPr>
      </p:pic>
      <p:pic>
        <p:nvPicPr>
          <p:cNvPr id="14" name="Picture 10" descr="C:\Users\ecoffey\AppData\Local\Temp\Rar$DRa0.175\30088_Device_terminal_default_256.png">
            <a:extLst>
              <a:ext uri="{FF2B5EF4-FFF2-40B4-BE49-F238E27FC236}">
                <a16:creationId xmlns:a16="http://schemas.microsoft.com/office/drawing/2014/main" id="{81823ECD-3068-BADC-EE5D-9DA11DDC29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3701" y="4963056"/>
            <a:ext cx="608245" cy="608245"/>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0">
            <a:extLst>
              <a:ext uri="{FF2B5EF4-FFF2-40B4-BE49-F238E27FC236}">
                <a16:creationId xmlns:a16="http://schemas.microsoft.com/office/drawing/2014/main" id="{E6F6D5F1-4B4A-4BF3-029B-93E93CD2DAB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8171" t="28931" r="8368" b="21666"/>
          <a:stretch/>
        </p:blipFill>
        <p:spPr bwMode="auto">
          <a:xfrm>
            <a:off x="3922545" y="5054767"/>
            <a:ext cx="717679" cy="42482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0">
            <a:extLst>
              <a:ext uri="{FF2B5EF4-FFF2-40B4-BE49-F238E27FC236}">
                <a16:creationId xmlns:a16="http://schemas.microsoft.com/office/drawing/2014/main" id="{C50924B2-487C-0AB2-A1EE-9F4620B9C31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8171" t="28931" r="8368" b="21666"/>
          <a:stretch/>
        </p:blipFill>
        <p:spPr bwMode="auto">
          <a:xfrm>
            <a:off x="6812895" y="5044236"/>
            <a:ext cx="717679" cy="424822"/>
          </a:xfrm>
          <a:prstGeom prst="rect">
            <a:avLst/>
          </a:prstGeom>
          <a:noFill/>
          <a:extLst>
            <a:ext uri="{909E8E84-426E-40DD-AFC4-6F175D3DCCD1}">
              <a14:hiddenFill xmlns:a14="http://schemas.microsoft.com/office/drawing/2010/main">
                <a:solidFill>
                  <a:srgbClr val="FFFFFF"/>
                </a:solidFill>
              </a14:hiddenFill>
            </a:ext>
          </a:extLst>
        </p:spPr>
      </p:pic>
      <p:cxnSp>
        <p:nvCxnSpPr>
          <p:cNvPr id="18" name="Conector recto 17">
            <a:extLst>
              <a:ext uri="{FF2B5EF4-FFF2-40B4-BE49-F238E27FC236}">
                <a16:creationId xmlns:a16="http://schemas.microsoft.com/office/drawing/2014/main" id="{6BCDB443-8712-6ACC-6FF5-07966B7D292E}"/>
              </a:ext>
            </a:extLst>
          </p:cNvPr>
          <p:cNvCxnSpPr>
            <a:cxnSpLocks/>
            <a:stCxn id="14" idx="3"/>
            <a:endCxn id="16" idx="1"/>
          </p:cNvCxnSpPr>
          <p:nvPr/>
        </p:nvCxnSpPr>
        <p:spPr>
          <a:xfrm flipV="1">
            <a:off x="2311946" y="5267178"/>
            <a:ext cx="1610599" cy="1"/>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Conector recto 18">
            <a:extLst>
              <a:ext uri="{FF2B5EF4-FFF2-40B4-BE49-F238E27FC236}">
                <a16:creationId xmlns:a16="http://schemas.microsoft.com/office/drawing/2014/main" id="{A2B53761-D90D-5122-F551-D601C64A451D}"/>
              </a:ext>
            </a:extLst>
          </p:cNvPr>
          <p:cNvCxnSpPr>
            <a:cxnSpLocks/>
            <a:stCxn id="16" idx="3"/>
            <a:endCxn id="17" idx="1"/>
          </p:cNvCxnSpPr>
          <p:nvPr/>
        </p:nvCxnSpPr>
        <p:spPr>
          <a:xfrm flipV="1">
            <a:off x="4640224" y="5256647"/>
            <a:ext cx="2172671" cy="10531"/>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Conector recto 19">
            <a:extLst>
              <a:ext uri="{FF2B5EF4-FFF2-40B4-BE49-F238E27FC236}">
                <a16:creationId xmlns:a16="http://schemas.microsoft.com/office/drawing/2014/main" id="{F7365B16-6A1C-412D-81E6-6F62750A879C}"/>
              </a:ext>
            </a:extLst>
          </p:cNvPr>
          <p:cNvCxnSpPr>
            <a:cxnSpLocks/>
            <a:stCxn id="17" idx="3"/>
          </p:cNvCxnSpPr>
          <p:nvPr/>
        </p:nvCxnSpPr>
        <p:spPr>
          <a:xfrm>
            <a:off x="7530574" y="5256647"/>
            <a:ext cx="1785139" cy="0"/>
          </a:xfrm>
          <a:prstGeom prst="line">
            <a:avLst/>
          </a:prstGeom>
        </p:spPr>
        <p:style>
          <a:lnRef idx="2">
            <a:schemeClr val="accent1"/>
          </a:lnRef>
          <a:fillRef idx="0">
            <a:schemeClr val="accent1"/>
          </a:fillRef>
          <a:effectRef idx="1">
            <a:schemeClr val="accent1"/>
          </a:effectRef>
          <a:fontRef idx="minor">
            <a:schemeClr val="tx1"/>
          </a:fontRef>
        </p:style>
      </p:cxnSp>
      <p:pic>
        <p:nvPicPr>
          <p:cNvPr id="21" name="Gráfico 20" descr="Nube con relleno sólido">
            <a:extLst>
              <a:ext uri="{FF2B5EF4-FFF2-40B4-BE49-F238E27FC236}">
                <a16:creationId xmlns:a16="http://schemas.microsoft.com/office/drawing/2014/main" id="{F04551AA-D979-5D3E-1C33-4A3654F43F9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290249" y="4799447"/>
            <a:ext cx="914400" cy="914400"/>
          </a:xfrm>
          <a:prstGeom prst="rect">
            <a:avLst/>
          </a:prstGeom>
        </p:spPr>
      </p:pic>
      <p:sp>
        <p:nvSpPr>
          <p:cNvPr id="24" name="CuadroTexto 23">
            <a:extLst>
              <a:ext uri="{FF2B5EF4-FFF2-40B4-BE49-F238E27FC236}">
                <a16:creationId xmlns:a16="http://schemas.microsoft.com/office/drawing/2014/main" id="{5C2E1156-CA0D-661F-5B20-AECEEE3FD916}"/>
              </a:ext>
            </a:extLst>
          </p:cNvPr>
          <p:cNvSpPr txBox="1"/>
          <p:nvPr/>
        </p:nvSpPr>
        <p:spPr>
          <a:xfrm>
            <a:off x="1812480" y="4736459"/>
            <a:ext cx="535726" cy="307777"/>
          </a:xfrm>
          <a:prstGeom prst="rect">
            <a:avLst/>
          </a:prstGeom>
          <a:noFill/>
        </p:spPr>
        <p:txBody>
          <a:bodyPr wrap="square">
            <a:spAutoFit/>
          </a:bodyPr>
          <a:lstStyle/>
          <a:p>
            <a:r>
              <a:rPr lang="es-ES" sz="1400" b="1" dirty="0"/>
              <a:t>Pc1</a:t>
            </a:r>
            <a:endParaRPr lang="es-ES" dirty="0"/>
          </a:p>
        </p:txBody>
      </p:sp>
      <p:sp>
        <p:nvSpPr>
          <p:cNvPr id="26" name="CuadroTexto 25">
            <a:extLst>
              <a:ext uri="{FF2B5EF4-FFF2-40B4-BE49-F238E27FC236}">
                <a16:creationId xmlns:a16="http://schemas.microsoft.com/office/drawing/2014/main" id="{710BAD74-E62E-AC6C-2BE4-3BD4546E6192}"/>
              </a:ext>
            </a:extLst>
          </p:cNvPr>
          <p:cNvSpPr txBox="1"/>
          <p:nvPr/>
        </p:nvSpPr>
        <p:spPr>
          <a:xfrm>
            <a:off x="9232322" y="4688776"/>
            <a:ext cx="848270" cy="307777"/>
          </a:xfrm>
          <a:prstGeom prst="rect">
            <a:avLst/>
          </a:prstGeom>
          <a:noFill/>
        </p:spPr>
        <p:txBody>
          <a:bodyPr wrap="square">
            <a:spAutoFit/>
          </a:bodyPr>
          <a:lstStyle/>
          <a:p>
            <a:r>
              <a:rPr lang="es-ES" sz="1400" b="1" dirty="0"/>
              <a:t>Server1</a:t>
            </a:r>
            <a:endParaRPr lang="es-ES" dirty="0"/>
          </a:p>
        </p:txBody>
      </p:sp>
      <mc:AlternateContent xmlns:mc="http://schemas.openxmlformats.org/markup-compatibility/2006" xmlns:p14="http://schemas.microsoft.com/office/powerpoint/2010/main" xmlns:aink="http://schemas.microsoft.com/office/drawing/2016/ink">
        <mc:Choice Requires="p14 aink">
          <p:contentPart p14:bwMode="auto" r:id="rId7">
            <p14:nvContentPartPr>
              <p14:cNvPr id="40" name="Entrada de lápiz 39">
                <a:extLst>
                  <a:ext uri="{FF2B5EF4-FFF2-40B4-BE49-F238E27FC236}">
                    <a16:creationId xmlns:a16="http://schemas.microsoft.com/office/drawing/2014/main" id="{B10CA4DC-C304-503F-9F33-91CE781E2DF8}"/>
                  </a:ext>
                </a:extLst>
              </p14:cNvPr>
              <p14:cNvContentPartPr/>
              <p14:nvPr/>
            </p14:nvContentPartPr>
            <p14:xfrm>
              <a:off x="2618663" y="4763731"/>
              <a:ext cx="360" cy="360"/>
            </p14:xfrm>
          </p:contentPart>
        </mc:Choice>
        <mc:Fallback xmlns="">
          <p:pic>
            <p:nvPicPr>
              <p:cNvPr id="40" name="Entrada de lápiz 39">
                <a:extLst>
                  <a:ext uri="{FF2B5EF4-FFF2-40B4-BE49-F238E27FC236}">
                    <a16:creationId xmlns:a16="http://schemas.microsoft.com/office/drawing/2014/main" id="{B10CA4DC-C304-503F-9F33-91CE781E2DF8}"/>
                  </a:ext>
                </a:extLst>
              </p:cNvPr>
              <p:cNvPicPr/>
              <p:nvPr/>
            </p:nvPicPr>
            <p:blipFill>
              <a:blip r:embed="rId8"/>
              <a:stretch>
                <a:fillRect/>
              </a:stretch>
            </p:blipFill>
            <p:spPr>
              <a:xfrm>
                <a:off x="2583023" y="4548091"/>
                <a:ext cx="72000" cy="432000"/>
              </a:xfrm>
              <a:prstGeom prst="rect">
                <a:avLst/>
              </a:prstGeom>
            </p:spPr>
          </p:pic>
        </mc:Fallback>
      </mc:AlternateContent>
      <p:pic>
        <p:nvPicPr>
          <p:cNvPr id="59" name="Picture 10" descr="C:\Users\ecoffey\AppData\Local\Temp\Rar$DRa0.324\30072_Device_server_default_256.png">
            <a:extLst>
              <a:ext uri="{FF2B5EF4-FFF2-40B4-BE49-F238E27FC236}">
                <a16:creationId xmlns:a16="http://schemas.microsoft.com/office/drawing/2014/main" id="{9053ABB2-4A3A-385B-DB94-CA6F19CB0BE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65721" y="5649733"/>
            <a:ext cx="721675" cy="721675"/>
          </a:xfrm>
          <a:prstGeom prst="rect">
            <a:avLst/>
          </a:prstGeom>
          <a:noFill/>
          <a:extLst>
            <a:ext uri="{909E8E84-426E-40DD-AFC4-6F175D3DCCD1}">
              <a14:hiddenFill xmlns:a14="http://schemas.microsoft.com/office/drawing/2010/main">
                <a:solidFill>
                  <a:srgbClr val="FFFFFF"/>
                </a:solidFill>
              </a14:hiddenFill>
            </a:ext>
          </a:extLst>
        </p:spPr>
      </p:pic>
      <p:sp>
        <p:nvSpPr>
          <p:cNvPr id="60" name="CuadroTexto 59">
            <a:extLst>
              <a:ext uri="{FF2B5EF4-FFF2-40B4-BE49-F238E27FC236}">
                <a16:creationId xmlns:a16="http://schemas.microsoft.com/office/drawing/2014/main" id="{08E00C29-D9F9-6EDF-F534-7E826C5870AB}"/>
              </a:ext>
            </a:extLst>
          </p:cNvPr>
          <p:cNvSpPr txBox="1"/>
          <p:nvPr/>
        </p:nvSpPr>
        <p:spPr>
          <a:xfrm>
            <a:off x="5168072" y="6277752"/>
            <a:ext cx="1116972" cy="553998"/>
          </a:xfrm>
          <a:prstGeom prst="rect">
            <a:avLst/>
          </a:prstGeom>
          <a:noFill/>
        </p:spPr>
        <p:txBody>
          <a:bodyPr wrap="none" rtlCol="0">
            <a:spAutoFit/>
          </a:bodyPr>
          <a:lstStyle/>
          <a:p>
            <a:r>
              <a:rPr lang="es-ES" sz="1400" b="1" dirty="0"/>
              <a:t>DNS</a:t>
            </a:r>
            <a:r>
              <a:rPr lang="es-ES" sz="1600" b="1" dirty="0"/>
              <a:t> </a:t>
            </a:r>
            <a:r>
              <a:rPr lang="es-ES" sz="1400" b="1" dirty="0"/>
              <a:t>Server</a:t>
            </a:r>
          </a:p>
          <a:p>
            <a:r>
              <a:rPr lang="es-ES" sz="1400" b="1" dirty="0"/>
              <a:t>200.10.20.5</a:t>
            </a:r>
            <a:endParaRPr lang="es-ES" sz="1600" b="1" dirty="0"/>
          </a:p>
        </p:txBody>
      </p:sp>
      <p:cxnSp>
        <p:nvCxnSpPr>
          <p:cNvPr id="61" name="Conector recto 60">
            <a:extLst>
              <a:ext uri="{FF2B5EF4-FFF2-40B4-BE49-F238E27FC236}">
                <a16:creationId xmlns:a16="http://schemas.microsoft.com/office/drawing/2014/main" id="{CF95421D-B417-C9ED-B35D-37F50D418B42}"/>
              </a:ext>
            </a:extLst>
          </p:cNvPr>
          <p:cNvCxnSpPr>
            <a:cxnSpLocks/>
          </p:cNvCxnSpPr>
          <p:nvPr/>
        </p:nvCxnSpPr>
        <p:spPr>
          <a:xfrm flipH="1">
            <a:off x="5747449" y="5469058"/>
            <a:ext cx="9334" cy="311677"/>
          </a:xfrm>
          <a:prstGeom prst="line">
            <a:avLst/>
          </a:prstGeom>
        </p:spPr>
        <p:style>
          <a:lnRef idx="2">
            <a:schemeClr val="accent1"/>
          </a:lnRef>
          <a:fillRef idx="0">
            <a:schemeClr val="accent1"/>
          </a:fillRef>
          <a:effectRef idx="1">
            <a:schemeClr val="accent1"/>
          </a:effectRef>
          <a:fontRef idx="minor">
            <a:schemeClr val="tx1"/>
          </a:fontRef>
        </p:style>
      </p:cxnSp>
      <p:sp>
        <p:nvSpPr>
          <p:cNvPr id="65" name="CuadroTexto 64">
            <a:extLst>
              <a:ext uri="{FF2B5EF4-FFF2-40B4-BE49-F238E27FC236}">
                <a16:creationId xmlns:a16="http://schemas.microsoft.com/office/drawing/2014/main" id="{DAEF66EB-193F-F796-5FC2-167765A880FC}"/>
              </a:ext>
            </a:extLst>
          </p:cNvPr>
          <p:cNvSpPr txBox="1"/>
          <p:nvPr/>
        </p:nvSpPr>
        <p:spPr>
          <a:xfrm>
            <a:off x="785003" y="970277"/>
            <a:ext cx="10737553" cy="2092881"/>
          </a:xfrm>
          <a:prstGeom prst="rect">
            <a:avLst/>
          </a:prstGeom>
          <a:noFill/>
        </p:spPr>
        <p:txBody>
          <a:bodyPr wrap="square" rtlCol="0">
            <a:spAutoFit/>
          </a:bodyPr>
          <a:lstStyle/>
          <a:p>
            <a:r>
              <a:rPr lang="es-ES" sz="1400" dirty="0"/>
              <a:t>Protocolos como </a:t>
            </a:r>
            <a:r>
              <a:rPr lang="es-ES" sz="1400" b="1" dirty="0"/>
              <a:t>DNS</a:t>
            </a:r>
            <a:r>
              <a:rPr lang="es-ES" sz="1400" dirty="0"/>
              <a:t> ayudan al usuario acceder a paginas web o recursos mediante </a:t>
            </a:r>
            <a:r>
              <a:rPr lang="es-ES" sz="1400" b="1" dirty="0"/>
              <a:t>nombres</a:t>
            </a:r>
            <a:r>
              <a:rPr lang="es-ES" sz="1400" dirty="0"/>
              <a:t>, por ejemplo, cuando abres tu navegador tu escribes www.youtube.com, no escribes la IP del servidor de youtube para solicitarle un video.</a:t>
            </a:r>
          </a:p>
          <a:p>
            <a:r>
              <a:rPr lang="es-ES" sz="1400" dirty="0"/>
              <a:t> </a:t>
            </a:r>
          </a:p>
          <a:p>
            <a:r>
              <a:rPr lang="es-ES" sz="1400" dirty="0"/>
              <a:t>O cuando en una empresa accedes a un recurso de la red escribiendo la ruta hacia el servidor de archivos (por ejemplo: </a:t>
            </a:r>
            <a:r>
              <a:rPr lang="es-ES" sz="1600" b="1" dirty="0"/>
              <a:t>\\servidor-ventas\compartido</a:t>
            </a:r>
            <a:r>
              <a:rPr lang="es-ES" sz="1400" b="1" dirty="0"/>
              <a:t>), </a:t>
            </a:r>
            <a:r>
              <a:rPr lang="es-ES" sz="1400" dirty="0"/>
              <a:t>el protocolo </a:t>
            </a:r>
            <a:r>
              <a:rPr lang="es-ES" sz="1400" b="1" dirty="0"/>
              <a:t>DNS</a:t>
            </a:r>
            <a:r>
              <a:rPr lang="es-ES" sz="1400" dirty="0"/>
              <a:t> traduce el nombre de ese </a:t>
            </a:r>
            <a:r>
              <a:rPr lang="es-ES" sz="1600" b="1" dirty="0"/>
              <a:t>servidor</a:t>
            </a:r>
            <a:r>
              <a:rPr lang="es-ES" sz="1400" dirty="0"/>
              <a:t> a su dirección IP correspondiente para poder conectar ambos equipos.</a:t>
            </a:r>
          </a:p>
          <a:p>
            <a:endParaRPr lang="es-ES" sz="1400" dirty="0"/>
          </a:p>
          <a:p>
            <a:r>
              <a:rPr lang="es-ES" sz="1400" dirty="0"/>
              <a:t>Esta función la realiza un servidor </a:t>
            </a:r>
            <a:r>
              <a:rPr lang="es-ES" sz="1400" b="1" dirty="0"/>
              <a:t>DNS </a:t>
            </a:r>
            <a:r>
              <a:rPr lang="es-ES" sz="1400" dirty="0"/>
              <a:t>Esta función la realiza un servidor DNS, el cual actúa como un intermediario o agenda de contactos de la red.</a:t>
            </a:r>
          </a:p>
        </p:txBody>
      </p:sp>
      <p:pic>
        <p:nvPicPr>
          <p:cNvPr id="67" name="Picture 10" descr="C:\Users\ecoffey\AppData\Local\Temp\Rar$DRa0.324\30072_Device_server_default_256.png">
            <a:extLst>
              <a:ext uri="{FF2B5EF4-FFF2-40B4-BE49-F238E27FC236}">
                <a16:creationId xmlns:a16="http://schemas.microsoft.com/office/drawing/2014/main" id="{7A0FD697-2233-CD89-9892-65225943602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231600" y="4931743"/>
            <a:ext cx="848992" cy="848992"/>
          </a:xfrm>
          <a:prstGeom prst="rect">
            <a:avLst/>
          </a:prstGeom>
          <a:noFill/>
          <a:extLst>
            <a:ext uri="{909E8E84-426E-40DD-AFC4-6F175D3DCCD1}">
              <a14:hiddenFill xmlns:a14="http://schemas.microsoft.com/office/drawing/2010/main">
                <a:solidFill>
                  <a:srgbClr val="FFFFFF"/>
                </a:solidFill>
              </a14:hiddenFill>
            </a:ext>
          </a:extLst>
        </p:spPr>
      </p:pic>
      <p:sp>
        <p:nvSpPr>
          <p:cNvPr id="68" name="CuadroTexto 67">
            <a:extLst>
              <a:ext uri="{FF2B5EF4-FFF2-40B4-BE49-F238E27FC236}">
                <a16:creationId xmlns:a16="http://schemas.microsoft.com/office/drawing/2014/main" id="{7C5C198B-70D7-1DBA-F35B-8DB4403F25DB}"/>
              </a:ext>
            </a:extLst>
          </p:cNvPr>
          <p:cNvSpPr txBox="1"/>
          <p:nvPr/>
        </p:nvSpPr>
        <p:spPr>
          <a:xfrm>
            <a:off x="1570473" y="3169398"/>
            <a:ext cx="8801674" cy="1446550"/>
          </a:xfrm>
          <a:prstGeom prst="rect">
            <a:avLst/>
          </a:prstGeom>
          <a:noFill/>
        </p:spPr>
        <p:txBody>
          <a:bodyPr wrap="square" rtlCol="0">
            <a:spAutoFit/>
          </a:bodyPr>
          <a:lstStyle/>
          <a:p>
            <a:r>
              <a:rPr lang="es-ES" sz="2000" dirty="0"/>
              <a:t>1.- </a:t>
            </a:r>
            <a:r>
              <a:rPr lang="es-ES" sz="1400" b="1" dirty="0"/>
              <a:t>Pc1</a:t>
            </a:r>
            <a:r>
              <a:rPr lang="es-ES" sz="1400" dirty="0"/>
              <a:t> quiere hablar con </a:t>
            </a:r>
            <a:r>
              <a:rPr lang="es-ES" sz="1400" b="1" dirty="0"/>
              <a:t>Server1</a:t>
            </a:r>
            <a:r>
              <a:rPr lang="es-ES" sz="1400" dirty="0"/>
              <a:t> pero solo conoce su nombre (ej. server1.london.local).</a:t>
            </a:r>
            <a:r>
              <a:rPr lang="es-ES" sz="1400" b="1" dirty="0"/>
              <a:t>Proceso:</a:t>
            </a:r>
            <a:r>
              <a:rPr lang="es-ES" sz="1400" dirty="0"/>
              <a:t> Pc1 genera un paquete dirigido a la IP del </a:t>
            </a:r>
            <a:r>
              <a:rPr lang="es-ES" sz="1400" b="1" dirty="0"/>
              <a:t>DNS Server</a:t>
            </a:r>
            <a:r>
              <a:rPr lang="es-ES" sz="1400" dirty="0"/>
              <a:t> preguntando: </a:t>
            </a:r>
            <a:r>
              <a:rPr lang="es-ES" sz="1400" i="1" dirty="0"/>
              <a:t>"¿Cuál es la IP de server1.london.local?</a:t>
            </a:r>
            <a:endParaRPr lang="es-ES" sz="1400" dirty="0"/>
          </a:p>
          <a:p>
            <a:r>
              <a:rPr lang="es-ES" sz="2000" dirty="0"/>
              <a:t>2.-</a:t>
            </a:r>
            <a:r>
              <a:rPr lang="es-ES" sz="1400" dirty="0"/>
              <a:t>El DNS Server (</a:t>
            </a:r>
            <a:r>
              <a:rPr lang="es-ES" sz="1400" b="1" dirty="0"/>
              <a:t>200.10.20.5</a:t>
            </a:r>
            <a:r>
              <a:rPr lang="es-ES" sz="1400" dirty="0"/>
              <a:t>) busca en su base de datos y le responde a Pc1 que la IP de ese nombre es la 172.16.0.2</a:t>
            </a:r>
          </a:p>
          <a:p>
            <a:r>
              <a:rPr lang="es-ES" sz="2000" dirty="0"/>
              <a:t>3.-</a:t>
            </a:r>
            <a:r>
              <a:rPr lang="es-ES" sz="1400" b="1" dirty="0"/>
              <a:t>Pc1</a:t>
            </a:r>
            <a:r>
              <a:rPr lang="es-ES" sz="1400" dirty="0"/>
              <a:t> inicia la comunicación directa de datos con Server1</a:t>
            </a:r>
          </a:p>
        </p:txBody>
      </p:sp>
      <p:sp>
        <p:nvSpPr>
          <p:cNvPr id="70" name="CuadroTexto 69">
            <a:extLst>
              <a:ext uri="{FF2B5EF4-FFF2-40B4-BE49-F238E27FC236}">
                <a16:creationId xmlns:a16="http://schemas.microsoft.com/office/drawing/2014/main" id="{B36EBD7D-6E83-06EF-B781-CCB9FF9C41A7}"/>
              </a:ext>
            </a:extLst>
          </p:cNvPr>
          <p:cNvSpPr txBox="1"/>
          <p:nvPr/>
        </p:nvSpPr>
        <p:spPr>
          <a:xfrm>
            <a:off x="8850095" y="5746703"/>
            <a:ext cx="1703895" cy="461665"/>
          </a:xfrm>
          <a:prstGeom prst="rect">
            <a:avLst/>
          </a:prstGeom>
          <a:noFill/>
        </p:spPr>
        <p:txBody>
          <a:bodyPr wrap="square">
            <a:spAutoFit/>
          </a:bodyPr>
          <a:lstStyle/>
          <a:p>
            <a:r>
              <a:rPr lang="es-ES" sz="1200" b="1" dirty="0"/>
              <a:t>server1.london.local</a:t>
            </a:r>
          </a:p>
          <a:p>
            <a:r>
              <a:rPr lang="es-ES" sz="1200" b="1" dirty="0"/>
              <a:t>172.16.0.2</a:t>
            </a:r>
            <a:endParaRPr lang="es-ES" b="1" dirty="0"/>
          </a:p>
        </p:txBody>
      </p:sp>
      <p:sp>
        <p:nvSpPr>
          <p:cNvPr id="72" name="CuadroTexto 71">
            <a:extLst>
              <a:ext uri="{FF2B5EF4-FFF2-40B4-BE49-F238E27FC236}">
                <a16:creationId xmlns:a16="http://schemas.microsoft.com/office/drawing/2014/main" id="{246C8A88-AAE0-5092-DB7D-22017EA932BD}"/>
              </a:ext>
            </a:extLst>
          </p:cNvPr>
          <p:cNvSpPr txBox="1"/>
          <p:nvPr/>
        </p:nvSpPr>
        <p:spPr>
          <a:xfrm>
            <a:off x="1216292" y="5605846"/>
            <a:ext cx="1268642" cy="307777"/>
          </a:xfrm>
          <a:prstGeom prst="rect">
            <a:avLst/>
          </a:prstGeom>
          <a:noFill/>
        </p:spPr>
        <p:txBody>
          <a:bodyPr wrap="square">
            <a:spAutoFit/>
          </a:bodyPr>
          <a:lstStyle/>
          <a:p>
            <a:r>
              <a:rPr lang="es-ES" sz="1400" b="1" dirty="0"/>
              <a:t>192.168.10.2</a:t>
            </a:r>
            <a:endParaRPr lang="es-ES" dirty="0"/>
          </a:p>
        </p:txBody>
      </p:sp>
    </p:spTree>
    <p:extLst>
      <p:ext uri="{BB962C8B-B14F-4D97-AF65-F5344CB8AC3E}">
        <p14:creationId xmlns:p14="http://schemas.microsoft.com/office/powerpoint/2010/main" val="30497356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ángulo 33">
            <a:extLst>
              <a:ext uri="{FF2B5EF4-FFF2-40B4-BE49-F238E27FC236}">
                <a16:creationId xmlns:a16="http://schemas.microsoft.com/office/drawing/2014/main" id="{2615F830-9843-E387-F87B-CC50B97B8447}"/>
              </a:ext>
            </a:extLst>
          </p:cNvPr>
          <p:cNvSpPr/>
          <p:nvPr/>
        </p:nvSpPr>
        <p:spPr>
          <a:xfrm>
            <a:off x="679514" y="5524122"/>
            <a:ext cx="9657253" cy="1321523"/>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s-ES" dirty="0"/>
          </a:p>
        </p:txBody>
      </p:sp>
      <p:sp>
        <p:nvSpPr>
          <p:cNvPr id="5" name="CuadroTexto 4">
            <a:extLst>
              <a:ext uri="{FF2B5EF4-FFF2-40B4-BE49-F238E27FC236}">
                <a16:creationId xmlns:a16="http://schemas.microsoft.com/office/drawing/2014/main" id="{C83148DE-1335-CAC7-EDEF-10836934FA0F}"/>
              </a:ext>
            </a:extLst>
          </p:cNvPr>
          <p:cNvSpPr txBox="1"/>
          <p:nvPr/>
        </p:nvSpPr>
        <p:spPr>
          <a:xfrm>
            <a:off x="3731252" y="-22499"/>
            <a:ext cx="3951253" cy="461665"/>
          </a:xfrm>
          <a:prstGeom prst="rect">
            <a:avLst/>
          </a:prstGeom>
          <a:noFill/>
        </p:spPr>
        <p:txBody>
          <a:bodyPr wrap="square">
            <a:spAutoFit/>
          </a:bodyPr>
          <a:lstStyle/>
          <a:p>
            <a:pPr algn="ctr"/>
            <a:r>
              <a:rPr lang="es-ES" sz="2400" b="1" dirty="0"/>
              <a:t>IP Routing</a:t>
            </a:r>
          </a:p>
        </p:txBody>
      </p:sp>
      <p:pic>
        <p:nvPicPr>
          <p:cNvPr id="7" name="Imagen 6">
            <a:extLst>
              <a:ext uri="{FF2B5EF4-FFF2-40B4-BE49-F238E27FC236}">
                <a16:creationId xmlns:a16="http://schemas.microsoft.com/office/drawing/2014/main" id="{71B05BC5-580E-648E-6FF1-39E3CF18AF8F}"/>
              </a:ext>
            </a:extLst>
          </p:cNvPr>
          <p:cNvPicPr>
            <a:picLocks noChangeAspect="1"/>
          </p:cNvPicPr>
          <p:nvPr/>
        </p:nvPicPr>
        <p:blipFill>
          <a:blip r:embed="rId2"/>
          <a:stretch>
            <a:fillRect/>
          </a:stretch>
        </p:blipFill>
        <p:spPr>
          <a:xfrm>
            <a:off x="6623212" y="53072"/>
            <a:ext cx="612889" cy="408593"/>
          </a:xfrm>
          <a:prstGeom prst="rect">
            <a:avLst/>
          </a:prstGeom>
        </p:spPr>
      </p:pic>
      <p:sp>
        <p:nvSpPr>
          <p:cNvPr id="9" name="CuadroTexto 8">
            <a:extLst>
              <a:ext uri="{FF2B5EF4-FFF2-40B4-BE49-F238E27FC236}">
                <a16:creationId xmlns:a16="http://schemas.microsoft.com/office/drawing/2014/main" id="{6ED779D6-8B79-0551-1657-8C3F78FCAAD0}"/>
              </a:ext>
            </a:extLst>
          </p:cNvPr>
          <p:cNvSpPr txBox="1"/>
          <p:nvPr/>
        </p:nvSpPr>
        <p:spPr>
          <a:xfrm>
            <a:off x="-321133" y="0"/>
            <a:ext cx="3329579" cy="461665"/>
          </a:xfrm>
          <a:prstGeom prst="rect">
            <a:avLst/>
          </a:prstGeom>
          <a:noFill/>
        </p:spPr>
        <p:txBody>
          <a:bodyPr wrap="square">
            <a:spAutoFit/>
          </a:bodyPr>
          <a:lstStyle/>
          <a:p>
            <a:pPr algn="ctr"/>
            <a:r>
              <a:rPr lang="es-ES" sz="1200" dirty="0">
                <a:ln w="0"/>
                <a:effectLst>
                  <a:outerShdw blurRad="38100" dist="19050" dir="2700000" algn="tl" rotWithShape="0">
                    <a:schemeClr val="dk1">
                      <a:alpha val="40000"/>
                    </a:schemeClr>
                  </a:outerShdw>
                </a:effectLst>
              </a:rPr>
              <a:t>1. Introducción a las redes</a:t>
            </a:r>
          </a:p>
          <a:p>
            <a:pPr algn="ctr"/>
            <a:r>
              <a:rPr lang="es-ES" sz="1200" b="1" dirty="0"/>
              <a:t>WANs y Routing IP</a:t>
            </a:r>
          </a:p>
        </p:txBody>
      </p:sp>
      <p:sp>
        <p:nvSpPr>
          <p:cNvPr id="11" name="CuadroTexto 10">
            <a:extLst>
              <a:ext uri="{FF2B5EF4-FFF2-40B4-BE49-F238E27FC236}">
                <a16:creationId xmlns:a16="http://schemas.microsoft.com/office/drawing/2014/main" id="{19D2BB69-B546-59FC-8C15-D107803711C7}"/>
              </a:ext>
            </a:extLst>
          </p:cNvPr>
          <p:cNvSpPr txBox="1"/>
          <p:nvPr/>
        </p:nvSpPr>
        <p:spPr>
          <a:xfrm>
            <a:off x="1731079" y="639318"/>
            <a:ext cx="9582808" cy="2123658"/>
          </a:xfrm>
          <a:prstGeom prst="rect">
            <a:avLst/>
          </a:prstGeom>
          <a:noFill/>
        </p:spPr>
        <p:txBody>
          <a:bodyPr wrap="square" rtlCol="0">
            <a:spAutoFit/>
          </a:bodyPr>
          <a:lstStyle/>
          <a:p>
            <a:r>
              <a:rPr lang="es-ES" b="1" dirty="0"/>
              <a:t>ICMP </a:t>
            </a:r>
            <a:r>
              <a:rPr lang="es-ES" dirty="0"/>
              <a:t>(</a:t>
            </a:r>
            <a:r>
              <a:rPr lang="es-ES" b="1" dirty="0"/>
              <a:t>Internet Control Message Protocol </a:t>
            </a:r>
            <a:r>
              <a:rPr lang="es-ES" dirty="0"/>
              <a:t>o Protocolo de Mensajes de Control de Internet)</a:t>
            </a:r>
          </a:p>
          <a:p>
            <a:endParaRPr lang="es-ES" b="1" dirty="0"/>
          </a:p>
          <a:p>
            <a:r>
              <a:rPr lang="es-ES" sz="1600" dirty="0"/>
              <a:t>Es un sistema que ayuda a los equipos en una red a enviar avisos de error y control. El comando </a:t>
            </a:r>
            <a:r>
              <a:rPr lang="es-ES" sz="1600" b="1" dirty="0"/>
              <a:t>ping</a:t>
            </a:r>
            <a:r>
              <a:rPr lang="es-ES" sz="1600" dirty="0"/>
              <a:t> usa este protocolo para enviar una señal a otro equipo y ver si responde.</a:t>
            </a:r>
          </a:p>
          <a:p>
            <a:endParaRPr lang="es-ES" sz="1600" dirty="0"/>
          </a:p>
          <a:p>
            <a:r>
              <a:rPr lang="es-ES" sz="1600" dirty="0"/>
              <a:t>Funciona con Solicitudes y respuestas ICMP , ejemplo:</a:t>
            </a:r>
          </a:p>
          <a:p>
            <a:endParaRPr lang="es-ES" sz="1600" b="1" dirty="0"/>
          </a:p>
          <a:p>
            <a:endParaRPr lang="es-ES" sz="1600" b="1" dirty="0"/>
          </a:p>
        </p:txBody>
      </p:sp>
      <p:pic>
        <p:nvPicPr>
          <p:cNvPr id="12" name="Picture 10" descr="C:\Users\ecoffey\AppData\Local\Temp\Rar$DRa0.175\30088_Device_terminal_default_256.png">
            <a:extLst>
              <a:ext uri="{FF2B5EF4-FFF2-40B4-BE49-F238E27FC236}">
                <a16:creationId xmlns:a16="http://schemas.microsoft.com/office/drawing/2014/main" id="{FF454C68-27E5-2626-7667-9755AC88F4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8632" y="2524103"/>
            <a:ext cx="816029" cy="816029"/>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0" descr="C:\Users\ecoffey\AppData\Local\Temp\Rar$DRa0.175\30088_Device_terminal_default_256.png">
            <a:extLst>
              <a:ext uri="{FF2B5EF4-FFF2-40B4-BE49-F238E27FC236}">
                <a16:creationId xmlns:a16="http://schemas.microsoft.com/office/drawing/2014/main" id="{8A626B36-E1E6-5F16-A23E-BC7BEE019B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74757" y="2532614"/>
            <a:ext cx="816029" cy="816029"/>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Conector recto 13">
            <a:extLst>
              <a:ext uri="{FF2B5EF4-FFF2-40B4-BE49-F238E27FC236}">
                <a16:creationId xmlns:a16="http://schemas.microsoft.com/office/drawing/2014/main" id="{E00D69CF-3EA2-E8F8-C961-4AAC5FA54014}"/>
              </a:ext>
            </a:extLst>
          </p:cNvPr>
          <p:cNvCxnSpPr>
            <a:cxnSpLocks/>
            <a:stCxn id="12" idx="3"/>
          </p:cNvCxnSpPr>
          <p:nvPr/>
        </p:nvCxnSpPr>
        <p:spPr>
          <a:xfrm>
            <a:off x="3374661" y="2932118"/>
            <a:ext cx="4225321" cy="0"/>
          </a:xfrm>
          <a:prstGeom prst="line">
            <a:avLst/>
          </a:prstGeom>
        </p:spPr>
        <p:style>
          <a:lnRef idx="2">
            <a:schemeClr val="accent1"/>
          </a:lnRef>
          <a:fillRef idx="0">
            <a:schemeClr val="accent1"/>
          </a:fillRef>
          <a:effectRef idx="1">
            <a:schemeClr val="accent1"/>
          </a:effectRef>
          <a:fontRef idx="minor">
            <a:schemeClr val="tx1"/>
          </a:fontRef>
        </p:style>
      </p:cxnSp>
      <p:sp>
        <p:nvSpPr>
          <p:cNvPr id="15" name="CuadroTexto 14">
            <a:extLst>
              <a:ext uri="{FF2B5EF4-FFF2-40B4-BE49-F238E27FC236}">
                <a16:creationId xmlns:a16="http://schemas.microsoft.com/office/drawing/2014/main" id="{1EFAD581-9157-75A7-8C7D-7850C944D00A}"/>
              </a:ext>
            </a:extLst>
          </p:cNvPr>
          <p:cNvSpPr txBox="1"/>
          <p:nvPr/>
        </p:nvSpPr>
        <p:spPr>
          <a:xfrm>
            <a:off x="3290140" y="2940629"/>
            <a:ext cx="617477" cy="338554"/>
          </a:xfrm>
          <a:prstGeom prst="rect">
            <a:avLst/>
          </a:prstGeom>
          <a:noFill/>
        </p:spPr>
        <p:txBody>
          <a:bodyPr wrap="square" rtlCol="0">
            <a:spAutoFit/>
          </a:bodyPr>
          <a:lstStyle/>
          <a:p>
            <a:r>
              <a:rPr lang="es-ES" sz="1600" dirty="0"/>
              <a:t>G0/1</a:t>
            </a:r>
            <a:endParaRPr lang="es-ES" dirty="0"/>
          </a:p>
        </p:txBody>
      </p:sp>
      <p:sp>
        <p:nvSpPr>
          <p:cNvPr id="16" name="CuadroTexto 15">
            <a:extLst>
              <a:ext uri="{FF2B5EF4-FFF2-40B4-BE49-F238E27FC236}">
                <a16:creationId xmlns:a16="http://schemas.microsoft.com/office/drawing/2014/main" id="{2BCC2172-EBCA-ED75-23C4-E162AEC5CFB3}"/>
              </a:ext>
            </a:extLst>
          </p:cNvPr>
          <p:cNvSpPr txBox="1"/>
          <p:nvPr/>
        </p:nvSpPr>
        <p:spPr>
          <a:xfrm>
            <a:off x="6955588" y="2954471"/>
            <a:ext cx="617477" cy="338554"/>
          </a:xfrm>
          <a:prstGeom prst="rect">
            <a:avLst/>
          </a:prstGeom>
          <a:noFill/>
        </p:spPr>
        <p:txBody>
          <a:bodyPr wrap="none" rtlCol="0">
            <a:spAutoFit/>
          </a:bodyPr>
          <a:lstStyle/>
          <a:p>
            <a:r>
              <a:rPr lang="es-ES" sz="1600" dirty="0"/>
              <a:t>G0/1</a:t>
            </a:r>
            <a:endParaRPr lang="es-ES" dirty="0"/>
          </a:p>
        </p:txBody>
      </p:sp>
      <p:sp>
        <p:nvSpPr>
          <p:cNvPr id="17" name="CuadroTexto 16">
            <a:extLst>
              <a:ext uri="{FF2B5EF4-FFF2-40B4-BE49-F238E27FC236}">
                <a16:creationId xmlns:a16="http://schemas.microsoft.com/office/drawing/2014/main" id="{0A43AEC5-28C5-EF7C-2229-72F427054C84}"/>
              </a:ext>
            </a:extLst>
          </p:cNvPr>
          <p:cNvSpPr txBox="1"/>
          <p:nvPr/>
        </p:nvSpPr>
        <p:spPr>
          <a:xfrm>
            <a:off x="2676840" y="3278807"/>
            <a:ext cx="562975" cy="369332"/>
          </a:xfrm>
          <a:prstGeom prst="rect">
            <a:avLst/>
          </a:prstGeom>
          <a:noFill/>
        </p:spPr>
        <p:txBody>
          <a:bodyPr wrap="none" rtlCol="0">
            <a:spAutoFit/>
          </a:bodyPr>
          <a:lstStyle/>
          <a:p>
            <a:r>
              <a:rPr lang="es-ES" dirty="0"/>
              <a:t>Pc1</a:t>
            </a:r>
          </a:p>
        </p:txBody>
      </p:sp>
      <p:sp>
        <p:nvSpPr>
          <p:cNvPr id="18" name="CuadroTexto 17">
            <a:extLst>
              <a:ext uri="{FF2B5EF4-FFF2-40B4-BE49-F238E27FC236}">
                <a16:creationId xmlns:a16="http://schemas.microsoft.com/office/drawing/2014/main" id="{3A12F0A5-89B5-EBD3-C4AF-689E8F48D58B}"/>
              </a:ext>
            </a:extLst>
          </p:cNvPr>
          <p:cNvSpPr txBox="1"/>
          <p:nvPr/>
        </p:nvSpPr>
        <p:spPr>
          <a:xfrm>
            <a:off x="7684985" y="3246047"/>
            <a:ext cx="562975" cy="369332"/>
          </a:xfrm>
          <a:prstGeom prst="rect">
            <a:avLst/>
          </a:prstGeom>
          <a:noFill/>
        </p:spPr>
        <p:txBody>
          <a:bodyPr wrap="none" rtlCol="0">
            <a:spAutoFit/>
          </a:bodyPr>
          <a:lstStyle/>
          <a:p>
            <a:r>
              <a:rPr lang="es-ES" dirty="0"/>
              <a:t>Pc2</a:t>
            </a:r>
          </a:p>
        </p:txBody>
      </p:sp>
      <p:pic>
        <p:nvPicPr>
          <p:cNvPr id="20" name="Imagen 19">
            <a:extLst>
              <a:ext uri="{FF2B5EF4-FFF2-40B4-BE49-F238E27FC236}">
                <a16:creationId xmlns:a16="http://schemas.microsoft.com/office/drawing/2014/main" id="{CBD913C1-B52B-3020-AF58-C725879D4B5E}"/>
              </a:ext>
            </a:extLst>
          </p:cNvPr>
          <p:cNvPicPr>
            <a:picLocks noChangeAspect="1"/>
          </p:cNvPicPr>
          <p:nvPr/>
        </p:nvPicPr>
        <p:blipFill>
          <a:blip r:embed="rId4"/>
          <a:stretch>
            <a:fillRect/>
          </a:stretch>
        </p:blipFill>
        <p:spPr>
          <a:xfrm>
            <a:off x="10886272" y="461665"/>
            <a:ext cx="1082668" cy="515556"/>
          </a:xfrm>
          <a:prstGeom prst="rect">
            <a:avLst/>
          </a:prstGeom>
        </p:spPr>
      </p:pic>
      <p:sp>
        <p:nvSpPr>
          <p:cNvPr id="21" name="CuadroTexto 20">
            <a:extLst>
              <a:ext uri="{FF2B5EF4-FFF2-40B4-BE49-F238E27FC236}">
                <a16:creationId xmlns:a16="http://schemas.microsoft.com/office/drawing/2014/main" id="{8724657C-1306-FFE0-6722-381A5D2B7995}"/>
              </a:ext>
            </a:extLst>
          </p:cNvPr>
          <p:cNvSpPr txBox="1"/>
          <p:nvPr/>
        </p:nvSpPr>
        <p:spPr>
          <a:xfrm>
            <a:off x="2588550" y="4445544"/>
            <a:ext cx="6211509" cy="923330"/>
          </a:xfrm>
          <a:prstGeom prst="rect">
            <a:avLst/>
          </a:prstGeom>
          <a:noFill/>
        </p:spPr>
        <p:txBody>
          <a:bodyPr wrap="none" rtlCol="0">
            <a:spAutoFit/>
          </a:bodyPr>
          <a:lstStyle/>
          <a:p>
            <a:r>
              <a:rPr lang="es-ES" b="1" dirty="0"/>
              <a:t>1.- Pc1</a:t>
            </a:r>
            <a:r>
              <a:rPr lang="es-ES" dirty="0"/>
              <a:t> envía un </a:t>
            </a:r>
            <a:r>
              <a:rPr lang="es-ES" b="1" dirty="0"/>
              <a:t>ICMP Echo Request</a:t>
            </a:r>
          </a:p>
          <a:p>
            <a:endParaRPr lang="es-ES" b="1" dirty="0"/>
          </a:p>
          <a:p>
            <a:r>
              <a:rPr lang="es-ES" b="1" dirty="0"/>
              <a:t>2.- Pc2 </a:t>
            </a:r>
            <a:r>
              <a:rPr lang="es-ES" dirty="0"/>
              <a:t>le responde si hay conexión con un </a:t>
            </a:r>
            <a:r>
              <a:rPr lang="es-ES" b="1" dirty="0"/>
              <a:t>ICMP Echo Reply</a:t>
            </a:r>
          </a:p>
        </p:txBody>
      </p:sp>
      <p:graphicFrame>
        <p:nvGraphicFramePr>
          <p:cNvPr id="22" name="Tabla 21">
            <a:extLst>
              <a:ext uri="{FF2B5EF4-FFF2-40B4-BE49-F238E27FC236}">
                <a16:creationId xmlns:a16="http://schemas.microsoft.com/office/drawing/2014/main" id="{D8840159-2B6E-3ABF-37BB-12D215448C48}"/>
              </a:ext>
            </a:extLst>
          </p:cNvPr>
          <p:cNvGraphicFramePr>
            <a:graphicFrameLocks noGrp="1"/>
          </p:cNvGraphicFramePr>
          <p:nvPr>
            <p:extLst>
              <p:ext uri="{D42A27DB-BD31-4B8C-83A1-F6EECF244321}">
                <p14:modId xmlns:p14="http://schemas.microsoft.com/office/powerpoint/2010/main" val="1074154788"/>
              </p:ext>
            </p:extLst>
          </p:nvPr>
        </p:nvGraphicFramePr>
        <p:xfrm>
          <a:off x="1322836" y="3689829"/>
          <a:ext cx="3380970" cy="411480"/>
        </p:xfrm>
        <a:graphic>
          <a:graphicData uri="http://schemas.openxmlformats.org/drawingml/2006/table">
            <a:tbl>
              <a:tblPr firstRow="1" bandRow="1">
                <a:tableStyleId>{5C22544A-7EE6-4342-B048-85BDC9FD1C3A}</a:tableStyleId>
              </a:tblPr>
              <a:tblGrid>
                <a:gridCol w="1126990">
                  <a:extLst>
                    <a:ext uri="{9D8B030D-6E8A-4147-A177-3AD203B41FA5}">
                      <a16:colId xmlns:a16="http://schemas.microsoft.com/office/drawing/2014/main" val="3969987001"/>
                    </a:ext>
                  </a:extLst>
                </a:gridCol>
                <a:gridCol w="1126990">
                  <a:extLst>
                    <a:ext uri="{9D8B030D-6E8A-4147-A177-3AD203B41FA5}">
                      <a16:colId xmlns:a16="http://schemas.microsoft.com/office/drawing/2014/main" val="2766781166"/>
                    </a:ext>
                  </a:extLst>
                </a:gridCol>
                <a:gridCol w="1126990">
                  <a:extLst>
                    <a:ext uri="{9D8B030D-6E8A-4147-A177-3AD203B41FA5}">
                      <a16:colId xmlns:a16="http://schemas.microsoft.com/office/drawing/2014/main" val="3741687195"/>
                    </a:ext>
                  </a:extLst>
                </a:gridCol>
              </a:tblGrid>
              <a:tr h="303472">
                <a:tc>
                  <a:txBody>
                    <a:bodyPr/>
                    <a:lstStyle/>
                    <a:p>
                      <a:pPr algn="ctr"/>
                      <a:r>
                        <a:rPr lang="es-ES" sz="1600" dirty="0"/>
                        <a:t>Trama Eth</a:t>
                      </a:r>
                    </a:p>
                  </a:txBody>
                  <a:tcPr/>
                </a:tc>
                <a:tc>
                  <a:txBody>
                    <a:bodyPr/>
                    <a:lstStyle/>
                    <a:p>
                      <a:pPr algn="ctr"/>
                      <a:r>
                        <a:rPr lang="es-ES" sz="1400" dirty="0"/>
                        <a:t>Paquete IP</a:t>
                      </a:r>
                    </a:p>
                  </a:txBody>
                  <a:tcPr>
                    <a:lnR w="12700" cap="flat" cmpd="sng" algn="ctr">
                      <a:solidFill>
                        <a:schemeClr val="tx1"/>
                      </a:solidFill>
                      <a:prstDash val="solid"/>
                      <a:round/>
                      <a:headEnd type="none" w="med" len="med"/>
                      <a:tailEnd type="none" w="med" len="med"/>
                    </a:lnR>
                  </a:tcPr>
                </a:tc>
                <a:tc>
                  <a:txBody>
                    <a:bodyPr/>
                    <a:lstStyle/>
                    <a:p>
                      <a:r>
                        <a:rPr lang="es-ES" sz="1050" dirty="0">
                          <a:solidFill>
                            <a:sysClr val="windowText" lastClr="000000"/>
                          </a:solidFill>
                        </a:rPr>
                        <a:t>ICMP Echo Request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18334087"/>
                  </a:ext>
                </a:extLst>
              </a:tr>
            </a:tbl>
          </a:graphicData>
        </a:graphic>
      </p:graphicFrame>
      <p:cxnSp>
        <p:nvCxnSpPr>
          <p:cNvPr id="24" name="Conector recto de flecha 23">
            <a:extLst>
              <a:ext uri="{FF2B5EF4-FFF2-40B4-BE49-F238E27FC236}">
                <a16:creationId xmlns:a16="http://schemas.microsoft.com/office/drawing/2014/main" id="{53B69D15-3592-D534-5589-8AC34C05E0A2}"/>
              </a:ext>
            </a:extLst>
          </p:cNvPr>
          <p:cNvCxnSpPr/>
          <p:nvPr/>
        </p:nvCxnSpPr>
        <p:spPr>
          <a:xfrm>
            <a:off x="2233769" y="4285540"/>
            <a:ext cx="247003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aphicFrame>
        <p:nvGraphicFramePr>
          <p:cNvPr id="26" name="Tabla 25">
            <a:extLst>
              <a:ext uri="{FF2B5EF4-FFF2-40B4-BE49-F238E27FC236}">
                <a16:creationId xmlns:a16="http://schemas.microsoft.com/office/drawing/2014/main" id="{2680B2AD-D9CC-6029-50B1-707E55A31F03}"/>
              </a:ext>
            </a:extLst>
          </p:cNvPr>
          <p:cNvGraphicFramePr>
            <a:graphicFrameLocks noGrp="1"/>
          </p:cNvGraphicFramePr>
          <p:nvPr>
            <p:extLst>
              <p:ext uri="{D42A27DB-BD31-4B8C-83A1-F6EECF244321}">
                <p14:modId xmlns:p14="http://schemas.microsoft.com/office/powerpoint/2010/main" val="880419326"/>
              </p:ext>
            </p:extLst>
          </p:nvPr>
        </p:nvGraphicFramePr>
        <p:xfrm>
          <a:off x="6075180" y="3975130"/>
          <a:ext cx="3380970" cy="411480"/>
        </p:xfrm>
        <a:graphic>
          <a:graphicData uri="http://schemas.openxmlformats.org/drawingml/2006/table">
            <a:tbl>
              <a:tblPr firstRow="1" bandRow="1">
                <a:tableStyleId>{5C22544A-7EE6-4342-B048-85BDC9FD1C3A}</a:tableStyleId>
              </a:tblPr>
              <a:tblGrid>
                <a:gridCol w="1126990">
                  <a:extLst>
                    <a:ext uri="{9D8B030D-6E8A-4147-A177-3AD203B41FA5}">
                      <a16:colId xmlns:a16="http://schemas.microsoft.com/office/drawing/2014/main" val="3969987001"/>
                    </a:ext>
                  </a:extLst>
                </a:gridCol>
                <a:gridCol w="1126990">
                  <a:extLst>
                    <a:ext uri="{9D8B030D-6E8A-4147-A177-3AD203B41FA5}">
                      <a16:colId xmlns:a16="http://schemas.microsoft.com/office/drawing/2014/main" val="2766781166"/>
                    </a:ext>
                  </a:extLst>
                </a:gridCol>
                <a:gridCol w="1126990">
                  <a:extLst>
                    <a:ext uri="{9D8B030D-6E8A-4147-A177-3AD203B41FA5}">
                      <a16:colId xmlns:a16="http://schemas.microsoft.com/office/drawing/2014/main" val="3741687195"/>
                    </a:ext>
                  </a:extLst>
                </a:gridCol>
              </a:tblGrid>
              <a:tr h="303472">
                <a:tc>
                  <a:txBody>
                    <a:bodyPr/>
                    <a:lstStyle/>
                    <a:p>
                      <a:pPr algn="ctr"/>
                      <a:r>
                        <a:rPr lang="es-ES" sz="1600" dirty="0"/>
                        <a:t>Trama Eth</a:t>
                      </a:r>
                    </a:p>
                  </a:txBody>
                  <a:tcPr/>
                </a:tc>
                <a:tc>
                  <a:txBody>
                    <a:bodyPr/>
                    <a:lstStyle/>
                    <a:p>
                      <a:pPr algn="ctr"/>
                      <a:r>
                        <a:rPr lang="es-ES" sz="1400" dirty="0"/>
                        <a:t>Paquete IP</a:t>
                      </a:r>
                    </a:p>
                  </a:txBody>
                  <a:tcPr>
                    <a:lnR w="12700" cap="flat" cmpd="sng" algn="ctr">
                      <a:solidFill>
                        <a:schemeClr val="tx1"/>
                      </a:solidFill>
                      <a:prstDash val="solid"/>
                      <a:round/>
                      <a:headEnd type="none" w="med" len="med"/>
                      <a:tailEnd type="none" w="med" len="med"/>
                    </a:lnR>
                  </a:tcPr>
                </a:tc>
                <a:tc>
                  <a:txBody>
                    <a:bodyPr/>
                    <a:lstStyle/>
                    <a:p>
                      <a:r>
                        <a:rPr lang="es-ES" sz="1050" dirty="0">
                          <a:solidFill>
                            <a:sysClr val="windowText" lastClr="000000"/>
                          </a:solidFill>
                        </a:rPr>
                        <a:t>ICMP Echo Reply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18334087"/>
                  </a:ext>
                </a:extLst>
              </a:tr>
            </a:tbl>
          </a:graphicData>
        </a:graphic>
      </p:graphicFrame>
      <p:cxnSp>
        <p:nvCxnSpPr>
          <p:cNvPr id="27" name="Conector recto de flecha 26">
            <a:extLst>
              <a:ext uri="{FF2B5EF4-FFF2-40B4-BE49-F238E27FC236}">
                <a16:creationId xmlns:a16="http://schemas.microsoft.com/office/drawing/2014/main" id="{47BF7136-7011-B8F8-7DE7-4B2CBD312279}"/>
              </a:ext>
            </a:extLst>
          </p:cNvPr>
          <p:cNvCxnSpPr>
            <a:cxnSpLocks/>
          </p:cNvCxnSpPr>
          <p:nvPr/>
        </p:nvCxnSpPr>
        <p:spPr>
          <a:xfrm flipH="1">
            <a:off x="6225695" y="3769367"/>
            <a:ext cx="225531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2" name="CuadroTexto 31">
            <a:extLst>
              <a:ext uri="{FF2B5EF4-FFF2-40B4-BE49-F238E27FC236}">
                <a16:creationId xmlns:a16="http://schemas.microsoft.com/office/drawing/2014/main" id="{A4D677D7-16F8-0E68-957E-9F1F3021457F}"/>
              </a:ext>
            </a:extLst>
          </p:cNvPr>
          <p:cNvSpPr txBox="1"/>
          <p:nvPr/>
        </p:nvSpPr>
        <p:spPr>
          <a:xfrm>
            <a:off x="4036817" y="5702648"/>
            <a:ext cx="6257706" cy="1107996"/>
          </a:xfrm>
          <a:prstGeom prst="rect">
            <a:avLst/>
          </a:prstGeom>
          <a:noFill/>
        </p:spPr>
        <p:txBody>
          <a:bodyPr wrap="square">
            <a:spAutoFit/>
          </a:bodyPr>
          <a:lstStyle/>
          <a:p>
            <a:pPr marL="0" marR="0">
              <a:spcBef>
                <a:spcPts val="900"/>
              </a:spcBef>
              <a:spcAft>
                <a:spcPts val="900"/>
              </a:spcAft>
              <a:buFont typeface="Arial" panose="020B0604020202020204" pitchFamily="34" charset="0"/>
              <a:buChar char="•"/>
            </a:pPr>
            <a:r>
              <a:rPr lang="es-ES" sz="1200" b="1" u="none" strike="noStrike" dirty="0">
                <a:effectLst/>
                <a:latin typeface="Google Sans"/>
              </a:rPr>
              <a:t>Hardware activo</a:t>
            </a:r>
            <a:r>
              <a:rPr lang="es-ES" sz="1200" b="0" u="none" strike="noStrike" dirty="0">
                <a:effectLst/>
                <a:latin typeface="Google Sans"/>
              </a:rPr>
              <a:t>: El cableado, los routers intermedios y la tarjeta de red del destino funcionan.</a:t>
            </a:r>
          </a:p>
          <a:p>
            <a:pPr marL="0" marR="0">
              <a:spcBef>
                <a:spcPts val="900"/>
              </a:spcBef>
              <a:spcAft>
                <a:spcPts val="900"/>
              </a:spcAft>
              <a:buFont typeface="Arial" panose="020B0604020202020204" pitchFamily="34" charset="0"/>
              <a:buChar char="•"/>
            </a:pPr>
            <a:r>
              <a:rPr lang="es-ES" sz="1200" b="1" u="none" strike="noStrike" dirty="0">
                <a:effectLst/>
                <a:latin typeface="Google Sans"/>
              </a:rPr>
              <a:t>Direccionamiento correcto</a:t>
            </a:r>
            <a:r>
              <a:rPr lang="es-ES" sz="1200" b="0" u="none" strike="noStrike" dirty="0">
                <a:effectLst/>
                <a:latin typeface="Google Sans"/>
              </a:rPr>
              <a:t>: Tu red sabe cómo encontrar la IP del destino y viceversa.</a:t>
            </a:r>
          </a:p>
          <a:p>
            <a:pPr marL="0" marR="0">
              <a:spcBef>
                <a:spcPts val="900"/>
              </a:spcBef>
              <a:spcAft>
                <a:spcPts val="900"/>
              </a:spcAft>
              <a:buFont typeface="Arial" panose="020B0604020202020204" pitchFamily="34" charset="0"/>
              <a:buChar char="•"/>
            </a:pPr>
            <a:r>
              <a:rPr lang="es-ES" sz="1200" b="1" u="none" strike="noStrike" dirty="0">
                <a:effectLst/>
                <a:latin typeface="Google Sans"/>
              </a:rPr>
              <a:t>Latencia estable</a:t>
            </a:r>
            <a:r>
              <a:rPr lang="es-ES" sz="1200" b="0" u="none" strike="noStrike" dirty="0">
                <a:effectLst/>
                <a:latin typeface="Google Sans"/>
              </a:rPr>
              <a:t>: Te indica qué tan rápida es la comunicación en ese instante técnico.</a:t>
            </a:r>
          </a:p>
        </p:txBody>
      </p:sp>
      <p:sp>
        <p:nvSpPr>
          <p:cNvPr id="33" name="CuadroTexto 32">
            <a:extLst>
              <a:ext uri="{FF2B5EF4-FFF2-40B4-BE49-F238E27FC236}">
                <a16:creationId xmlns:a16="http://schemas.microsoft.com/office/drawing/2014/main" id="{CAF3BC35-AD25-78DB-B0D3-D99A929E385F}"/>
              </a:ext>
            </a:extLst>
          </p:cNvPr>
          <p:cNvSpPr txBox="1"/>
          <p:nvPr/>
        </p:nvSpPr>
        <p:spPr>
          <a:xfrm>
            <a:off x="641336" y="6016408"/>
            <a:ext cx="3186450" cy="369332"/>
          </a:xfrm>
          <a:prstGeom prst="rect">
            <a:avLst/>
          </a:prstGeom>
          <a:noFill/>
        </p:spPr>
        <p:txBody>
          <a:bodyPr wrap="none" rtlCol="0">
            <a:spAutoFit/>
          </a:bodyPr>
          <a:lstStyle/>
          <a:p>
            <a:r>
              <a:rPr lang="es-ES" dirty="0"/>
              <a:t>💡ICMP nos ayuda a verificar:</a:t>
            </a:r>
          </a:p>
        </p:txBody>
      </p:sp>
    </p:spTree>
    <p:extLst>
      <p:ext uri="{BB962C8B-B14F-4D97-AF65-F5344CB8AC3E}">
        <p14:creationId xmlns:p14="http://schemas.microsoft.com/office/powerpoint/2010/main" val="40798030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uadroTexto 8">
            <a:extLst>
              <a:ext uri="{FF2B5EF4-FFF2-40B4-BE49-F238E27FC236}">
                <a16:creationId xmlns:a16="http://schemas.microsoft.com/office/drawing/2014/main" id="{5EBE867D-77E3-B30B-D05F-CF072E4CA326}"/>
              </a:ext>
            </a:extLst>
          </p:cNvPr>
          <p:cNvSpPr txBox="1"/>
          <p:nvPr/>
        </p:nvSpPr>
        <p:spPr>
          <a:xfrm>
            <a:off x="-321133" y="0"/>
            <a:ext cx="3329579" cy="461665"/>
          </a:xfrm>
          <a:prstGeom prst="rect">
            <a:avLst/>
          </a:prstGeom>
          <a:noFill/>
        </p:spPr>
        <p:txBody>
          <a:bodyPr wrap="square">
            <a:spAutoFit/>
          </a:bodyPr>
          <a:lstStyle/>
          <a:p>
            <a:pPr algn="ctr"/>
            <a:r>
              <a:rPr lang="es-ES" sz="1200" dirty="0">
                <a:ln w="0"/>
                <a:effectLst>
                  <a:outerShdw blurRad="38100" dist="19050" dir="2700000" algn="tl" rotWithShape="0">
                    <a:schemeClr val="dk1">
                      <a:alpha val="40000"/>
                    </a:schemeClr>
                  </a:outerShdw>
                </a:effectLst>
              </a:rPr>
              <a:t>1. Introducción a las redes</a:t>
            </a:r>
          </a:p>
          <a:p>
            <a:pPr algn="ctr"/>
            <a:r>
              <a:rPr lang="es-ES" sz="1200" b="1" dirty="0"/>
              <a:t>WANs y Routing IP</a:t>
            </a:r>
          </a:p>
        </p:txBody>
      </p:sp>
      <p:pic>
        <p:nvPicPr>
          <p:cNvPr id="11" name="Imagen 10">
            <a:extLst>
              <a:ext uri="{FF2B5EF4-FFF2-40B4-BE49-F238E27FC236}">
                <a16:creationId xmlns:a16="http://schemas.microsoft.com/office/drawing/2014/main" id="{EE52941C-3BFB-7B56-0189-0A80CF270211}"/>
              </a:ext>
            </a:extLst>
          </p:cNvPr>
          <p:cNvPicPr>
            <a:picLocks noChangeAspect="1"/>
          </p:cNvPicPr>
          <p:nvPr/>
        </p:nvPicPr>
        <p:blipFill>
          <a:blip r:embed="rId2"/>
          <a:stretch>
            <a:fillRect/>
          </a:stretch>
        </p:blipFill>
        <p:spPr>
          <a:xfrm>
            <a:off x="3702936" y="54641"/>
            <a:ext cx="3204593" cy="814047"/>
          </a:xfrm>
          <a:prstGeom prst="rect">
            <a:avLst/>
          </a:prstGeom>
        </p:spPr>
      </p:pic>
      <p:pic>
        <p:nvPicPr>
          <p:cNvPr id="13" name="Imagen 12">
            <a:extLst>
              <a:ext uri="{FF2B5EF4-FFF2-40B4-BE49-F238E27FC236}">
                <a16:creationId xmlns:a16="http://schemas.microsoft.com/office/drawing/2014/main" id="{4D5C543A-52D6-A024-A90B-C5B4E05C2B19}"/>
              </a:ext>
            </a:extLst>
          </p:cNvPr>
          <p:cNvPicPr>
            <a:picLocks noChangeAspect="1"/>
          </p:cNvPicPr>
          <p:nvPr/>
        </p:nvPicPr>
        <p:blipFill>
          <a:blip r:embed="rId3"/>
          <a:stretch>
            <a:fillRect/>
          </a:stretch>
        </p:blipFill>
        <p:spPr>
          <a:xfrm>
            <a:off x="6907529" y="267160"/>
            <a:ext cx="1167024" cy="389008"/>
          </a:xfrm>
          <a:prstGeom prst="rect">
            <a:avLst/>
          </a:prstGeom>
        </p:spPr>
      </p:pic>
      <p:sp>
        <p:nvSpPr>
          <p:cNvPr id="15" name="CuadroTexto 14">
            <a:extLst>
              <a:ext uri="{FF2B5EF4-FFF2-40B4-BE49-F238E27FC236}">
                <a16:creationId xmlns:a16="http://schemas.microsoft.com/office/drawing/2014/main" id="{7B9EF31C-91B5-B6A7-72EE-0348283CC17D}"/>
              </a:ext>
            </a:extLst>
          </p:cNvPr>
          <p:cNvSpPr txBox="1"/>
          <p:nvPr/>
        </p:nvSpPr>
        <p:spPr>
          <a:xfrm>
            <a:off x="8129188" y="76068"/>
            <a:ext cx="4062812" cy="738664"/>
          </a:xfrm>
          <a:prstGeom prst="rect">
            <a:avLst/>
          </a:prstGeom>
          <a:noFill/>
        </p:spPr>
        <p:txBody>
          <a:bodyPr wrap="square">
            <a:spAutoFit/>
          </a:bodyPr>
          <a:lstStyle/>
          <a:p>
            <a:r>
              <a:rPr lang="es-ES" sz="1400" dirty="0"/>
              <a:t>✅Se encarga del direccionamiento lógico y de buscar la mejor ruta para llegar al destino a través de internet.</a:t>
            </a:r>
            <a:endParaRPr lang="es-ES" sz="1600" dirty="0"/>
          </a:p>
        </p:txBody>
      </p:sp>
      <p:pic>
        <p:nvPicPr>
          <p:cNvPr id="20" name="Imagen 19">
            <a:extLst>
              <a:ext uri="{FF2B5EF4-FFF2-40B4-BE49-F238E27FC236}">
                <a16:creationId xmlns:a16="http://schemas.microsoft.com/office/drawing/2014/main" id="{FF72EE8F-E6F8-2BB0-05A2-08E361C32438}"/>
              </a:ext>
            </a:extLst>
          </p:cNvPr>
          <p:cNvPicPr>
            <a:picLocks noChangeAspect="1"/>
          </p:cNvPicPr>
          <p:nvPr/>
        </p:nvPicPr>
        <p:blipFill>
          <a:blip r:embed="rId4"/>
          <a:stretch>
            <a:fillRect/>
          </a:stretch>
        </p:blipFill>
        <p:spPr>
          <a:xfrm>
            <a:off x="2265458" y="290205"/>
            <a:ext cx="1485976" cy="342918"/>
          </a:xfrm>
          <a:prstGeom prst="rect">
            <a:avLst/>
          </a:prstGeom>
        </p:spPr>
      </p:pic>
      <p:sp>
        <p:nvSpPr>
          <p:cNvPr id="21" name="CuadroTexto 20">
            <a:extLst>
              <a:ext uri="{FF2B5EF4-FFF2-40B4-BE49-F238E27FC236}">
                <a16:creationId xmlns:a16="http://schemas.microsoft.com/office/drawing/2014/main" id="{B80438E5-B56C-D2D4-0E7E-CDAD8A397A49}"/>
              </a:ext>
            </a:extLst>
          </p:cNvPr>
          <p:cNvSpPr txBox="1"/>
          <p:nvPr/>
        </p:nvSpPr>
        <p:spPr>
          <a:xfrm>
            <a:off x="208094" y="960404"/>
            <a:ext cx="5931317" cy="954107"/>
          </a:xfrm>
          <a:prstGeom prst="rect">
            <a:avLst/>
          </a:prstGeom>
          <a:noFill/>
        </p:spPr>
        <p:txBody>
          <a:bodyPr wrap="square" rtlCol="0">
            <a:spAutoFit/>
          </a:bodyPr>
          <a:lstStyle/>
          <a:p>
            <a:r>
              <a:rPr lang="es-ES" sz="1400" dirty="0"/>
              <a:t>Un </a:t>
            </a:r>
            <a:r>
              <a:rPr lang="es-ES" sz="1400" b="1" dirty="0"/>
              <a:t>IP header</a:t>
            </a:r>
            <a:r>
              <a:rPr lang="es-ES" sz="1400" dirty="0"/>
              <a:t> (encabezado IP) es la "etiqueta de envío" que la </a:t>
            </a:r>
            <a:r>
              <a:rPr lang="es-ES" sz="1400" b="1" dirty="0"/>
              <a:t>Capa de Red</a:t>
            </a:r>
            <a:r>
              <a:rPr lang="es-ES" sz="1400" dirty="0"/>
              <a:t> le pega a un paquete de datos para que pueda viajar a otras redes.</a:t>
            </a:r>
          </a:p>
          <a:p>
            <a:r>
              <a:rPr lang="es-ES" sz="1400" dirty="0"/>
              <a:t>Ocupa un tamaño mínimo de </a:t>
            </a:r>
            <a:r>
              <a:rPr lang="es-ES" sz="1400" b="1" dirty="0"/>
              <a:t>20 bytes</a:t>
            </a:r>
          </a:p>
          <a:p>
            <a:r>
              <a:rPr lang="es-ES" sz="1400" b="1" dirty="0"/>
              <a:t>💡Cada campo lo medimos en Bits</a:t>
            </a:r>
            <a:endParaRPr lang="es-ES" sz="1400" dirty="0"/>
          </a:p>
        </p:txBody>
      </p:sp>
      <p:graphicFrame>
        <p:nvGraphicFramePr>
          <p:cNvPr id="23" name="Tabla 22">
            <a:extLst>
              <a:ext uri="{FF2B5EF4-FFF2-40B4-BE49-F238E27FC236}">
                <a16:creationId xmlns:a16="http://schemas.microsoft.com/office/drawing/2014/main" id="{27C1A9A6-01D3-D35A-CFCB-DCF592D497F8}"/>
              </a:ext>
            </a:extLst>
          </p:cNvPr>
          <p:cNvGraphicFramePr>
            <a:graphicFrameLocks noGrp="1"/>
          </p:cNvGraphicFramePr>
          <p:nvPr>
            <p:extLst>
              <p:ext uri="{D42A27DB-BD31-4B8C-83A1-F6EECF244321}">
                <p14:modId xmlns:p14="http://schemas.microsoft.com/office/powerpoint/2010/main" val="3492009964"/>
              </p:ext>
            </p:extLst>
          </p:nvPr>
        </p:nvGraphicFramePr>
        <p:xfrm>
          <a:off x="350903" y="4037255"/>
          <a:ext cx="5426152" cy="2837955"/>
        </p:xfrm>
        <a:graphic>
          <a:graphicData uri="http://schemas.openxmlformats.org/drawingml/2006/table">
            <a:tbl>
              <a:tblPr firstRow="1" bandRow="1">
                <a:tableStyleId>{C4B1156A-380E-4F78-BDF5-A606A8083BF9}</a:tableStyleId>
              </a:tblPr>
              <a:tblGrid>
                <a:gridCol w="740381">
                  <a:extLst>
                    <a:ext uri="{9D8B030D-6E8A-4147-A177-3AD203B41FA5}">
                      <a16:colId xmlns:a16="http://schemas.microsoft.com/office/drawing/2014/main" val="4100333054"/>
                    </a:ext>
                  </a:extLst>
                </a:gridCol>
                <a:gridCol w="439749">
                  <a:extLst>
                    <a:ext uri="{9D8B030D-6E8A-4147-A177-3AD203B41FA5}">
                      <a16:colId xmlns:a16="http://schemas.microsoft.com/office/drawing/2014/main" val="1583216802"/>
                    </a:ext>
                  </a:extLst>
                </a:gridCol>
                <a:gridCol w="193243">
                  <a:extLst>
                    <a:ext uri="{9D8B030D-6E8A-4147-A177-3AD203B41FA5}">
                      <a16:colId xmlns:a16="http://schemas.microsoft.com/office/drawing/2014/main" val="3265648152"/>
                    </a:ext>
                  </a:extLst>
                </a:gridCol>
                <a:gridCol w="1011879">
                  <a:extLst>
                    <a:ext uri="{9D8B030D-6E8A-4147-A177-3AD203B41FA5}">
                      <a16:colId xmlns:a16="http://schemas.microsoft.com/office/drawing/2014/main" val="2561721463"/>
                    </a:ext>
                  </a:extLst>
                </a:gridCol>
                <a:gridCol w="778479">
                  <a:extLst>
                    <a:ext uri="{9D8B030D-6E8A-4147-A177-3AD203B41FA5}">
                      <a16:colId xmlns:a16="http://schemas.microsoft.com/office/drawing/2014/main" val="3716650630"/>
                    </a:ext>
                  </a:extLst>
                </a:gridCol>
                <a:gridCol w="2262421">
                  <a:extLst>
                    <a:ext uri="{9D8B030D-6E8A-4147-A177-3AD203B41FA5}">
                      <a16:colId xmlns:a16="http://schemas.microsoft.com/office/drawing/2014/main" val="1713188863"/>
                    </a:ext>
                  </a:extLst>
                </a:gridCol>
              </a:tblGrid>
              <a:tr h="463874">
                <a:tc>
                  <a:txBody>
                    <a:bodyPr/>
                    <a:lstStyle/>
                    <a:p>
                      <a:pPr algn="ctr"/>
                      <a:r>
                        <a:rPr lang="es-ES" sz="1200" dirty="0"/>
                        <a:t>Version</a:t>
                      </a:r>
                    </a:p>
                    <a:p>
                      <a:pPr algn="ctr"/>
                      <a:r>
                        <a:rPr lang="es-ES" sz="1200" dirty="0"/>
                        <a:t>4 Bits</a:t>
                      </a:r>
                    </a:p>
                  </a:txBody>
                  <a:tcPr anchor="ctr"/>
                </a:tc>
                <a:tc gridSpan="2">
                  <a:txBody>
                    <a:bodyPr/>
                    <a:lstStyle/>
                    <a:p>
                      <a:pPr algn="ctr"/>
                      <a:r>
                        <a:rPr lang="es-ES" sz="1200" dirty="0"/>
                        <a:t>IHL</a:t>
                      </a:r>
                    </a:p>
                    <a:p>
                      <a:pPr algn="ctr"/>
                      <a:r>
                        <a:rPr lang="es-ES" sz="1200" dirty="0"/>
                        <a:t>4Bits</a:t>
                      </a:r>
                    </a:p>
                  </a:txBody>
                  <a:tcPr anchor="ctr"/>
                </a:tc>
                <a:tc hMerge="1">
                  <a:txBody>
                    <a:bodyPr/>
                    <a:lstStyle/>
                    <a:p>
                      <a:pPr algn="ctr"/>
                      <a:r>
                        <a:rPr lang="es-ES" sz="1200" dirty="0"/>
                        <a:t>DSCP</a:t>
                      </a:r>
                    </a:p>
                  </a:txBody>
                  <a:tcPr anchor="ctr"/>
                </a:tc>
                <a:tc>
                  <a:txBody>
                    <a:bodyPr/>
                    <a:lstStyle/>
                    <a:p>
                      <a:pPr algn="ctr"/>
                      <a:r>
                        <a:rPr lang="es-ES" sz="1200" dirty="0"/>
                        <a:t>DSCP</a:t>
                      </a:r>
                    </a:p>
                    <a:p>
                      <a:pPr algn="ctr"/>
                      <a:r>
                        <a:rPr lang="es-ES" sz="1200" dirty="0"/>
                        <a:t>6 Bits</a:t>
                      </a:r>
                    </a:p>
                  </a:txBody>
                  <a:tcPr anchor="ctr"/>
                </a:tc>
                <a:tc>
                  <a:txBody>
                    <a:bodyPr/>
                    <a:lstStyle/>
                    <a:p>
                      <a:pPr algn="ctr"/>
                      <a:r>
                        <a:rPr lang="es-ES" sz="1200" dirty="0"/>
                        <a:t>ECN</a:t>
                      </a:r>
                    </a:p>
                    <a:p>
                      <a:pPr algn="ctr"/>
                      <a:r>
                        <a:rPr lang="es-ES" sz="1200" dirty="0"/>
                        <a:t>2 Bits</a:t>
                      </a:r>
                    </a:p>
                  </a:txBody>
                  <a:tcPr anchor="ctr"/>
                </a:tc>
                <a:tc>
                  <a:txBody>
                    <a:bodyPr/>
                    <a:lstStyle/>
                    <a:p>
                      <a:pPr algn="ctr"/>
                      <a:r>
                        <a:rPr lang="es-ES" sz="1200" dirty="0"/>
                        <a:t>Total Length</a:t>
                      </a:r>
                    </a:p>
                    <a:p>
                      <a:pPr algn="ctr"/>
                      <a:r>
                        <a:rPr lang="es-ES" sz="1200" dirty="0"/>
                        <a:t>16 Bits</a:t>
                      </a:r>
                    </a:p>
                  </a:txBody>
                  <a:tcPr anchor="ctr"/>
                </a:tc>
                <a:extLst>
                  <a:ext uri="{0D108BD9-81ED-4DB2-BD59-A6C34878D82A}">
                    <a16:rowId xmlns:a16="http://schemas.microsoft.com/office/drawing/2014/main" val="2213139133"/>
                  </a:ext>
                </a:extLst>
              </a:tr>
              <a:tr h="362401">
                <a:tc gridSpan="4">
                  <a:txBody>
                    <a:bodyPr/>
                    <a:lstStyle/>
                    <a:p>
                      <a:pPr algn="ctr"/>
                      <a:r>
                        <a:rPr lang="es-ES" sz="1200" b="1" dirty="0"/>
                        <a:t>Identification</a:t>
                      </a:r>
                    </a:p>
                    <a:p>
                      <a:pPr algn="ctr"/>
                      <a:r>
                        <a:rPr lang="es-ES" sz="1200" b="1" dirty="0"/>
                        <a:t>16 Bits</a:t>
                      </a:r>
                    </a:p>
                  </a:txBody>
                  <a:tcPr anchor="ctr"/>
                </a:tc>
                <a:tc hMerge="1">
                  <a:txBody>
                    <a:bodyPr/>
                    <a:lstStyle/>
                    <a:p>
                      <a:endParaRPr/>
                    </a:p>
                  </a:txBody>
                  <a:tcPr anchor="ctr"/>
                </a:tc>
                <a:tc hMerge="1">
                  <a:txBody>
                    <a:bodyPr/>
                    <a:lstStyle/>
                    <a:p>
                      <a:endParaRPr dirty="0"/>
                    </a:p>
                  </a:txBody>
                  <a:tcPr anchor="ctr"/>
                </a:tc>
                <a:tc hMerge="1">
                  <a:txBody>
                    <a:bodyPr/>
                    <a:lstStyle/>
                    <a:p>
                      <a:pPr algn="ctr"/>
                      <a:endParaRPr lang="es-ES" sz="1200" b="1" dirty="0"/>
                    </a:p>
                  </a:txBody>
                  <a:tcPr anchor="ctr"/>
                </a:tc>
                <a:tc>
                  <a:txBody>
                    <a:bodyPr/>
                    <a:lstStyle/>
                    <a:p>
                      <a:pPr algn="ctr"/>
                      <a:r>
                        <a:rPr lang="es-ES" sz="1200" b="1" dirty="0"/>
                        <a:t>Flags</a:t>
                      </a:r>
                    </a:p>
                    <a:p>
                      <a:pPr algn="ctr"/>
                      <a:r>
                        <a:rPr lang="es-ES" sz="1200" b="1" dirty="0"/>
                        <a:t>3 Bits</a:t>
                      </a:r>
                    </a:p>
                  </a:txBody>
                  <a:tcPr anchor="ctr"/>
                </a:tc>
                <a:tc>
                  <a:txBody>
                    <a:bodyPr/>
                    <a:lstStyle/>
                    <a:p>
                      <a:pPr algn="ctr"/>
                      <a:r>
                        <a:rPr lang="es-ES" sz="1200" b="1" dirty="0"/>
                        <a:t>Fragment Offset</a:t>
                      </a:r>
                    </a:p>
                    <a:p>
                      <a:pPr algn="ctr"/>
                      <a:r>
                        <a:rPr lang="es-ES" sz="1200" b="1" dirty="0"/>
                        <a:t>13 Bits</a:t>
                      </a:r>
                    </a:p>
                  </a:txBody>
                  <a:tcPr anchor="ctr"/>
                </a:tc>
                <a:extLst>
                  <a:ext uri="{0D108BD9-81ED-4DB2-BD59-A6C34878D82A}">
                    <a16:rowId xmlns:a16="http://schemas.microsoft.com/office/drawing/2014/main" val="1113509079"/>
                  </a:ext>
                </a:extLst>
              </a:tr>
              <a:tr h="362401">
                <a:tc gridSpan="2">
                  <a:txBody>
                    <a:bodyPr/>
                    <a:lstStyle/>
                    <a:p>
                      <a:pPr algn="ctr"/>
                      <a:r>
                        <a:rPr lang="es-ES" sz="1200" b="1" dirty="0"/>
                        <a:t>Time To Live (TTL)</a:t>
                      </a:r>
                    </a:p>
                    <a:p>
                      <a:pPr algn="ctr"/>
                      <a:r>
                        <a:rPr lang="es-ES" sz="1200" b="1" dirty="0"/>
                        <a:t>8 Bits</a:t>
                      </a:r>
                    </a:p>
                  </a:txBody>
                  <a:tcPr anchor="ctr"/>
                </a:tc>
                <a:tc hMerge="1">
                  <a:txBody>
                    <a:bodyPr/>
                    <a:lstStyle/>
                    <a:p>
                      <a:pPr algn="ctr"/>
                      <a:endParaRPr lang="es-ES" sz="900" b="1" dirty="0"/>
                    </a:p>
                  </a:txBody>
                  <a:tcPr anchor="ctr"/>
                </a:tc>
                <a:tc gridSpan="3">
                  <a:txBody>
                    <a:bodyPr/>
                    <a:lstStyle/>
                    <a:p>
                      <a:pPr algn="ctr"/>
                      <a:r>
                        <a:rPr lang="es-ES" sz="1200" b="1" dirty="0"/>
                        <a:t>Protocol</a:t>
                      </a:r>
                    </a:p>
                    <a:p>
                      <a:pPr algn="ctr"/>
                      <a:r>
                        <a:rPr lang="es-ES" sz="1200" b="1" dirty="0"/>
                        <a:t>8 Bits</a:t>
                      </a:r>
                    </a:p>
                  </a:txBody>
                  <a:tcPr anchor="ctr"/>
                </a:tc>
                <a:tc hMerge="1">
                  <a:txBody>
                    <a:bodyPr/>
                    <a:lstStyle/>
                    <a:p>
                      <a:endParaRPr lang="es-ES"/>
                    </a:p>
                  </a:txBody>
                  <a:tcPr/>
                </a:tc>
                <a:tc hMerge="1">
                  <a:txBody>
                    <a:bodyPr/>
                    <a:lstStyle/>
                    <a:p>
                      <a:endParaRPr lang="es-ES" sz="900" dirty="0"/>
                    </a:p>
                  </a:txBody>
                  <a:tcPr anchor="ctr"/>
                </a:tc>
                <a:tc>
                  <a:txBody>
                    <a:bodyPr/>
                    <a:lstStyle/>
                    <a:p>
                      <a:pPr algn="ctr"/>
                      <a:r>
                        <a:rPr lang="es-ES" sz="1200" b="1" dirty="0"/>
                        <a:t>Header Checksum</a:t>
                      </a:r>
                    </a:p>
                    <a:p>
                      <a:pPr algn="ctr"/>
                      <a:r>
                        <a:rPr lang="es-ES" sz="1200" b="1" dirty="0"/>
                        <a:t>16 Bits</a:t>
                      </a:r>
                    </a:p>
                  </a:txBody>
                  <a:tcPr anchor="ctr"/>
                </a:tc>
                <a:extLst>
                  <a:ext uri="{0D108BD9-81ED-4DB2-BD59-A6C34878D82A}">
                    <a16:rowId xmlns:a16="http://schemas.microsoft.com/office/drawing/2014/main" val="1757132966"/>
                  </a:ext>
                </a:extLst>
              </a:tr>
              <a:tr h="362401">
                <a:tc gridSpan="6">
                  <a:txBody>
                    <a:bodyPr/>
                    <a:lstStyle/>
                    <a:p>
                      <a:pPr algn="ctr"/>
                      <a:r>
                        <a:rPr lang="es-ES" sz="1200" b="1" dirty="0"/>
                        <a:t>Source IP Address</a:t>
                      </a:r>
                    </a:p>
                    <a:p>
                      <a:pPr algn="ctr"/>
                      <a:r>
                        <a:rPr lang="es-ES" sz="1200" b="1" dirty="0"/>
                        <a:t>32 Bits</a:t>
                      </a:r>
                    </a:p>
                  </a:txBody>
                  <a:tcPr anchor="ctr"/>
                </a:tc>
                <a:tc hMerge="1">
                  <a:txBody>
                    <a:bodyPr/>
                    <a:lstStyle/>
                    <a:p>
                      <a:pPr algn="ctr"/>
                      <a:endParaRPr lang="es-ES" sz="900" b="1" dirty="0"/>
                    </a:p>
                  </a:txBody>
                  <a:tcPr anchor="ctr"/>
                </a:tc>
                <a:tc hMerge="1">
                  <a:txBody>
                    <a:bodyPr/>
                    <a:lstStyle/>
                    <a:p>
                      <a:endParaRPr lang="es-ES" sz="900" b="1" dirty="0"/>
                    </a:p>
                  </a:txBody>
                  <a:tcPr anchor="ctr"/>
                </a:tc>
                <a:tc hMerge="1">
                  <a:txBody>
                    <a:bodyPr/>
                    <a:lstStyle/>
                    <a:p>
                      <a:endParaRPr lang="es-ES"/>
                    </a:p>
                  </a:txBody>
                  <a:tcPr/>
                </a:tc>
                <a:tc hMerge="1">
                  <a:txBody>
                    <a:bodyPr/>
                    <a:lstStyle/>
                    <a:p>
                      <a:endParaRPr lang="es-ES" sz="900" dirty="0"/>
                    </a:p>
                  </a:txBody>
                  <a:tcPr anchor="ctr"/>
                </a:tc>
                <a:tc hMerge="1">
                  <a:txBody>
                    <a:bodyPr/>
                    <a:lstStyle/>
                    <a:p>
                      <a:pPr algn="ctr"/>
                      <a:endParaRPr lang="es-ES" sz="900" b="1" dirty="0"/>
                    </a:p>
                  </a:txBody>
                  <a:tcPr anchor="ctr"/>
                </a:tc>
                <a:extLst>
                  <a:ext uri="{0D108BD9-81ED-4DB2-BD59-A6C34878D82A}">
                    <a16:rowId xmlns:a16="http://schemas.microsoft.com/office/drawing/2014/main" val="1925903998"/>
                  </a:ext>
                </a:extLst>
              </a:tr>
              <a:tr h="362401">
                <a:tc gridSpan="6">
                  <a:txBody>
                    <a:bodyPr/>
                    <a:lstStyle/>
                    <a:p>
                      <a:pPr algn="ctr"/>
                      <a:r>
                        <a:rPr lang="es-ES" sz="1200" b="1" dirty="0"/>
                        <a:t>Destination IP Address</a:t>
                      </a:r>
                    </a:p>
                    <a:p>
                      <a:pPr algn="ctr"/>
                      <a:r>
                        <a:rPr lang="es-ES" sz="1200" b="1" dirty="0"/>
                        <a:t>32 Bits</a:t>
                      </a:r>
                    </a:p>
                  </a:txBody>
                  <a:tcPr anchor="ctr"/>
                </a:tc>
                <a:tc hMerge="1">
                  <a:txBody>
                    <a:bodyPr/>
                    <a:lstStyle/>
                    <a:p>
                      <a:pPr algn="ctr"/>
                      <a:endParaRPr lang="es-ES" sz="900" b="1" dirty="0"/>
                    </a:p>
                  </a:txBody>
                  <a:tcPr anchor="ctr"/>
                </a:tc>
                <a:tc hMerge="1">
                  <a:txBody>
                    <a:bodyPr/>
                    <a:lstStyle/>
                    <a:p>
                      <a:endParaRPr lang="es-ES" sz="900" b="1" dirty="0"/>
                    </a:p>
                  </a:txBody>
                  <a:tcPr anchor="ctr"/>
                </a:tc>
                <a:tc hMerge="1">
                  <a:txBody>
                    <a:bodyPr/>
                    <a:lstStyle/>
                    <a:p>
                      <a:endParaRPr lang="es-ES"/>
                    </a:p>
                  </a:txBody>
                  <a:tcPr/>
                </a:tc>
                <a:tc hMerge="1">
                  <a:txBody>
                    <a:bodyPr/>
                    <a:lstStyle/>
                    <a:p>
                      <a:endParaRPr lang="es-ES" sz="900" dirty="0"/>
                    </a:p>
                  </a:txBody>
                  <a:tcPr anchor="ctr"/>
                </a:tc>
                <a:tc hMerge="1">
                  <a:txBody>
                    <a:bodyPr/>
                    <a:lstStyle/>
                    <a:p>
                      <a:pPr algn="ctr"/>
                      <a:endParaRPr lang="es-ES" sz="900" b="1" dirty="0"/>
                    </a:p>
                  </a:txBody>
                  <a:tcPr anchor="ctr"/>
                </a:tc>
                <a:extLst>
                  <a:ext uri="{0D108BD9-81ED-4DB2-BD59-A6C34878D82A}">
                    <a16:rowId xmlns:a16="http://schemas.microsoft.com/office/drawing/2014/main" val="2994701948"/>
                  </a:ext>
                </a:extLst>
              </a:tr>
              <a:tr h="362401">
                <a:tc gridSpan="6">
                  <a:txBody>
                    <a:bodyPr/>
                    <a:lstStyle/>
                    <a:p>
                      <a:pPr algn="ctr"/>
                      <a:r>
                        <a:rPr lang="es-ES" sz="1200" b="1" dirty="0"/>
                        <a:t>Options (variable)</a:t>
                      </a:r>
                    </a:p>
                  </a:txBody>
                  <a:tcPr anchor="ctr"/>
                </a:tc>
                <a:tc hMerge="1">
                  <a:txBody>
                    <a:bodyPr/>
                    <a:lstStyle/>
                    <a:p>
                      <a:pPr algn="ctr"/>
                      <a:endParaRPr lang="es-ES" sz="900" b="1" dirty="0"/>
                    </a:p>
                  </a:txBody>
                  <a:tcPr anchor="ctr"/>
                </a:tc>
                <a:tc hMerge="1">
                  <a:txBody>
                    <a:bodyPr/>
                    <a:lstStyle/>
                    <a:p>
                      <a:endParaRPr lang="es-ES" sz="900" b="1" dirty="0"/>
                    </a:p>
                  </a:txBody>
                  <a:tcPr anchor="ctr"/>
                </a:tc>
                <a:tc hMerge="1">
                  <a:txBody>
                    <a:bodyPr/>
                    <a:lstStyle/>
                    <a:p>
                      <a:endParaRPr lang="es-ES"/>
                    </a:p>
                  </a:txBody>
                  <a:tcPr/>
                </a:tc>
                <a:tc hMerge="1">
                  <a:txBody>
                    <a:bodyPr/>
                    <a:lstStyle/>
                    <a:p>
                      <a:endParaRPr lang="es-ES" sz="900" dirty="0"/>
                    </a:p>
                  </a:txBody>
                  <a:tcPr anchor="ctr"/>
                </a:tc>
                <a:tc hMerge="1">
                  <a:txBody>
                    <a:bodyPr/>
                    <a:lstStyle/>
                    <a:p>
                      <a:pPr algn="ctr"/>
                      <a:endParaRPr lang="es-ES" sz="900" b="1" dirty="0"/>
                    </a:p>
                  </a:txBody>
                  <a:tcPr anchor="ctr"/>
                </a:tc>
                <a:extLst>
                  <a:ext uri="{0D108BD9-81ED-4DB2-BD59-A6C34878D82A}">
                    <a16:rowId xmlns:a16="http://schemas.microsoft.com/office/drawing/2014/main" val="1660638845"/>
                  </a:ext>
                </a:extLst>
              </a:tr>
            </a:tbl>
          </a:graphicData>
        </a:graphic>
      </p:graphicFrame>
      <p:sp>
        <p:nvSpPr>
          <p:cNvPr id="24" name="CuadroTexto 23">
            <a:extLst>
              <a:ext uri="{FF2B5EF4-FFF2-40B4-BE49-F238E27FC236}">
                <a16:creationId xmlns:a16="http://schemas.microsoft.com/office/drawing/2014/main" id="{2FB5516A-0D22-EB5E-629A-9CAA90F354A5}"/>
              </a:ext>
            </a:extLst>
          </p:cNvPr>
          <p:cNvSpPr txBox="1"/>
          <p:nvPr/>
        </p:nvSpPr>
        <p:spPr>
          <a:xfrm>
            <a:off x="2473520" y="3704569"/>
            <a:ext cx="1157689" cy="338554"/>
          </a:xfrm>
          <a:prstGeom prst="rect">
            <a:avLst/>
          </a:prstGeom>
          <a:noFill/>
        </p:spPr>
        <p:txBody>
          <a:bodyPr wrap="none" rtlCol="0">
            <a:spAutoFit/>
          </a:bodyPr>
          <a:lstStyle/>
          <a:p>
            <a:r>
              <a:rPr lang="es-ES" sz="1600" dirty="0"/>
              <a:t>IP HEADER</a:t>
            </a:r>
          </a:p>
        </p:txBody>
      </p:sp>
      <p:graphicFrame>
        <p:nvGraphicFramePr>
          <p:cNvPr id="25" name="Tabla 24">
            <a:extLst>
              <a:ext uri="{FF2B5EF4-FFF2-40B4-BE49-F238E27FC236}">
                <a16:creationId xmlns:a16="http://schemas.microsoft.com/office/drawing/2014/main" id="{82B51F46-9402-08C8-C28E-CD76A05FC9E0}"/>
              </a:ext>
            </a:extLst>
          </p:cNvPr>
          <p:cNvGraphicFramePr>
            <a:graphicFrameLocks noGrp="1"/>
          </p:cNvGraphicFramePr>
          <p:nvPr>
            <p:extLst>
              <p:ext uri="{D42A27DB-BD31-4B8C-83A1-F6EECF244321}">
                <p14:modId xmlns:p14="http://schemas.microsoft.com/office/powerpoint/2010/main" val="3825386934"/>
              </p:ext>
            </p:extLst>
          </p:nvPr>
        </p:nvGraphicFramePr>
        <p:xfrm>
          <a:off x="6337980" y="939550"/>
          <a:ext cx="5765951" cy="5935660"/>
        </p:xfrm>
        <a:graphic>
          <a:graphicData uri="http://schemas.openxmlformats.org/drawingml/2006/table">
            <a:tbl>
              <a:tblPr/>
              <a:tblGrid>
                <a:gridCol w="1336177">
                  <a:extLst>
                    <a:ext uri="{9D8B030D-6E8A-4147-A177-3AD203B41FA5}">
                      <a16:colId xmlns:a16="http://schemas.microsoft.com/office/drawing/2014/main" val="3743382281"/>
                    </a:ext>
                  </a:extLst>
                </a:gridCol>
                <a:gridCol w="512363">
                  <a:extLst>
                    <a:ext uri="{9D8B030D-6E8A-4147-A177-3AD203B41FA5}">
                      <a16:colId xmlns:a16="http://schemas.microsoft.com/office/drawing/2014/main" val="2519559776"/>
                    </a:ext>
                  </a:extLst>
                </a:gridCol>
                <a:gridCol w="3917411">
                  <a:extLst>
                    <a:ext uri="{9D8B030D-6E8A-4147-A177-3AD203B41FA5}">
                      <a16:colId xmlns:a16="http://schemas.microsoft.com/office/drawing/2014/main" val="32777988"/>
                    </a:ext>
                  </a:extLst>
                </a:gridCol>
              </a:tblGrid>
              <a:tr h="0">
                <a:tc>
                  <a:txBody>
                    <a:bodyPr/>
                    <a:lstStyle/>
                    <a:p>
                      <a:pPr marL="0" marR="0" rtl="0" fontAlgn="t">
                        <a:lnSpc>
                          <a:spcPts val="1600"/>
                        </a:lnSpc>
                        <a:buNone/>
                      </a:pPr>
                      <a:r>
                        <a:rPr lang="es-ES" sz="1000" b="1">
                          <a:solidFill>
                            <a:srgbClr val="0A0A0A"/>
                          </a:solidFill>
                          <a:effectLst/>
                          <a:latin typeface="Google Sans"/>
                        </a:rPr>
                        <a:t>Campo </a:t>
                      </a:r>
                      <a:endParaRPr lang="es-ES" sz="1000">
                        <a:solidFill>
                          <a:srgbClr val="0A0A0A"/>
                        </a:solidFill>
                        <a:effectLst/>
                        <a:latin typeface="Google Sans"/>
                      </a:endParaRP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tc>
                  <a:txBody>
                    <a:bodyPr/>
                    <a:lstStyle/>
                    <a:p>
                      <a:pPr marL="0" marR="0" rtl="0" fontAlgn="t">
                        <a:lnSpc>
                          <a:spcPts val="1600"/>
                        </a:lnSpc>
                        <a:buNone/>
                      </a:pPr>
                      <a:r>
                        <a:rPr lang="es-ES" sz="1000" b="1">
                          <a:solidFill>
                            <a:srgbClr val="0A0A0A"/>
                          </a:solidFill>
                          <a:effectLst/>
                          <a:latin typeface="Google Sans"/>
                        </a:rPr>
                        <a:t>Bits</a:t>
                      </a:r>
                      <a:endParaRPr lang="es-ES" sz="1000">
                        <a:solidFill>
                          <a:srgbClr val="0A0A0A"/>
                        </a:solidFill>
                        <a:effectLst/>
                        <a:latin typeface="Google Sans"/>
                      </a:endParaRP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tc>
                  <a:txBody>
                    <a:bodyPr/>
                    <a:lstStyle/>
                    <a:p>
                      <a:pPr marL="0" marR="0" rtl="0" fontAlgn="t">
                        <a:lnSpc>
                          <a:spcPts val="1600"/>
                        </a:lnSpc>
                        <a:buNone/>
                      </a:pPr>
                      <a:r>
                        <a:rPr lang="es-ES" sz="1000" b="1" dirty="0">
                          <a:solidFill>
                            <a:srgbClr val="0A0A0A"/>
                          </a:solidFill>
                          <a:effectLst/>
                          <a:latin typeface="Google Sans"/>
                        </a:rPr>
                        <a:t>Descripción</a:t>
                      </a:r>
                      <a:endParaRPr lang="es-ES" sz="1000" dirty="0">
                        <a:solidFill>
                          <a:srgbClr val="0A0A0A"/>
                        </a:solidFill>
                        <a:effectLst/>
                        <a:latin typeface="Google Sans"/>
                      </a:endParaRP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extLst>
                  <a:ext uri="{0D108BD9-81ED-4DB2-BD59-A6C34878D82A}">
                    <a16:rowId xmlns:a16="http://schemas.microsoft.com/office/drawing/2014/main" val="3432012287"/>
                  </a:ext>
                </a:extLst>
              </a:tr>
              <a:tr h="231737">
                <a:tc>
                  <a:txBody>
                    <a:bodyPr/>
                    <a:lstStyle/>
                    <a:p>
                      <a:pPr marL="0" marR="0" rtl="0" fontAlgn="t">
                        <a:lnSpc>
                          <a:spcPts val="1600"/>
                        </a:lnSpc>
                        <a:buNone/>
                      </a:pPr>
                      <a:r>
                        <a:rPr lang="es-ES" sz="900" b="1">
                          <a:solidFill>
                            <a:srgbClr val="0A0A0A"/>
                          </a:solidFill>
                          <a:effectLst/>
                          <a:latin typeface="Google Sans"/>
                        </a:rPr>
                        <a:t>Versión</a:t>
                      </a:r>
                      <a:endParaRPr lang="es-ES" sz="900">
                        <a:solidFill>
                          <a:srgbClr val="0A0A0A"/>
                        </a:solidFill>
                        <a:effectLst/>
                        <a:latin typeface="Google Sans"/>
                      </a:endParaRP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tc>
                  <a:txBody>
                    <a:bodyPr/>
                    <a:lstStyle/>
                    <a:p>
                      <a:pPr marL="0" marR="0" algn="ctr" rtl="0" fontAlgn="t">
                        <a:buNone/>
                      </a:pPr>
                      <a:r>
                        <a:rPr lang="es-ES" sz="1400" b="1">
                          <a:solidFill>
                            <a:srgbClr val="0A0A0A"/>
                          </a:solidFill>
                          <a:effectLst/>
                          <a:latin typeface="Google Sans"/>
                        </a:rPr>
                        <a:t>4</a:t>
                      </a:r>
                      <a:endParaRPr lang="es-ES" sz="1400">
                        <a:solidFill>
                          <a:srgbClr val="0A0A0A"/>
                        </a:solidFill>
                        <a:effectLst/>
                        <a:latin typeface="Google Sans"/>
                      </a:endParaRP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tc>
                  <a:txBody>
                    <a:bodyPr/>
                    <a:lstStyle/>
                    <a:p>
                      <a:pPr marL="0" marR="0" rtl="0" fontAlgn="t">
                        <a:lnSpc>
                          <a:spcPts val="1600"/>
                        </a:lnSpc>
                        <a:buNone/>
                      </a:pPr>
                      <a:r>
                        <a:rPr lang="es-ES" sz="800">
                          <a:solidFill>
                            <a:srgbClr val="0A0A0A"/>
                          </a:solidFill>
                          <a:effectLst/>
                          <a:latin typeface="Google Sans"/>
                        </a:rPr>
                        <a:t>Indica la versión del Protocolo de Internet (en este caso, IPv4, por lo que el valor es 4).</a:t>
                      </a: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extLst>
                  <a:ext uri="{0D108BD9-81ED-4DB2-BD59-A6C34878D82A}">
                    <a16:rowId xmlns:a16="http://schemas.microsoft.com/office/drawing/2014/main" val="2677077103"/>
                  </a:ext>
                </a:extLst>
              </a:tr>
              <a:tr h="313159">
                <a:tc>
                  <a:txBody>
                    <a:bodyPr/>
                    <a:lstStyle/>
                    <a:p>
                      <a:pPr marL="0" marR="0" rtl="0" fontAlgn="t">
                        <a:lnSpc>
                          <a:spcPts val="1600"/>
                        </a:lnSpc>
                        <a:buNone/>
                      </a:pPr>
                      <a:r>
                        <a:rPr lang="es-ES" sz="900" b="1">
                          <a:solidFill>
                            <a:srgbClr val="0A0A0A"/>
                          </a:solidFill>
                          <a:effectLst/>
                          <a:latin typeface="Google Sans"/>
                        </a:rPr>
                        <a:t>IHL</a:t>
                      </a:r>
                      <a:r>
                        <a:rPr lang="es-ES" sz="900">
                          <a:solidFill>
                            <a:srgbClr val="0A0A0A"/>
                          </a:solidFill>
                          <a:effectLst/>
                          <a:latin typeface="Google Sans"/>
                        </a:rPr>
                        <a:t> (Internet Header Length)</a:t>
                      </a: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tc>
                  <a:txBody>
                    <a:bodyPr/>
                    <a:lstStyle/>
                    <a:p>
                      <a:pPr marL="0" marR="0" algn="ctr" rtl="0" fontAlgn="t">
                        <a:buNone/>
                      </a:pPr>
                      <a:r>
                        <a:rPr lang="es-ES" sz="1400" b="1" dirty="0">
                          <a:solidFill>
                            <a:srgbClr val="0A0A0A"/>
                          </a:solidFill>
                          <a:effectLst/>
                          <a:latin typeface="Google Sans"/>
                        </a:rPr>
                        <a:t>4</a:t>
                      </a:r>
                      <a:endParaRPr lang="es-ES" sz="1400" dirty="0">
                        <a:solidFill>
                          <a:srgbClr val="0A0A0A"/>
                        </a:solidFill>
                        <a:effectLst/>
                        <a:latin typeface="Google Sans"/>
                      </a:endParaRP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tc>
                  <a:txBody>
                    <a:bodyPr/>
                    <a:lstStyle/>
                    <a:p>
                      <a:pPr marL="0" marR="0" rtl="0" fontAlgn="t">
                        <a:lnSpc>
                          <a:spcPts val="1600"/>
                        </a:lnSpc>
                        <a:buNone/>
                      </a:pPr>
                      <a:r>
                        <a:rPr lang="es-ES" sz="800">
                          <a:solidFill>
                            <a:srgbClr val="0A0A0A"/>
                          </a:solidFill>
                          <a:effectLst/>
                          <a:latin typeface="Google Sans"/>
                        </a:rPr>
                        <a:t>Longitud de la cabecera IP, en palabras de 32 bits. E</a:t>
                      </a:r>
                      <a:r>
                        <a:rPr lang="es-ES" sz="800" b="1">
                          <a:solidFill>
                            <a:srgbClr val="0A0A0A"/>
                          </a:solidFill>
                          <a:effectLst/>
                          <a:latin typeface="Google Sans"/>
                        </a:rPr>
                        <a:t>l valor mínimo es 5</a:t>
                      </a:r>
                      <a:r>
                        <a:rPr lang="es-ES" sz="800">
                          <a:solidFill>
                            <a:srgbClr val="0A0A0A"/>
                          </a:solidFill>
                          <a:effectLst/>
                          <a:latin typeface="Google Sans"/>
                        </a:rPr>
                        <a:t>,el </a:t>
                      </a:r>
                      <a:r>
                        <a:rPr lang="es-ES" sz="800" b="1">
                          <a:solidFill>
                            <a:srgbClr val="0A0A0A"/>
                          </a:solidFill>
                          <a:effectLst/>
                          <a:latin typeface="Google Sans"/>
                        </a:rPr>
                        <a:t>máximo 15</a:t>
                      </a:r>
                      <a:endParaRPr lang="es-ES" sz="800">
                        <a:solidFill>
                          <a:srgbClr val="0A0A0A"/>
                        </a:solidFill>
                        <a:effectLst/>
                        <a:latin typeface="Google Sans"/>
                      </a:endParaRPr>
                    </a:p>
                    <a:p>
                      <a:pPr marL="0" marR="0" rtl="0" fontAlgn="t">
                        <a:lnSpc>
                          <a:spcPts val="1600"/>
                        </a:lnSpc>
                        <a:buNone/>
                      </a:pPr>
                      <a:r>
                        <a:rPr lang="es-ES" sz="800">
                          <a:solidFill>
                            <a:srgbClr val="0A0A0A"/>
                          </a:solidFill>
                          <a:effectLst/>
                          <a:latin typeface="Google Sans"/>
                        </a:rPr>
                        <a:t> para una cabecera de 20 bytes (5 * 4 bytes). INCREMENTOS de 4 bytes</a:t>
                      </a: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extLst>
                  <a:ext uri="{0D108BD9-81ED-4DB2-BD59-A6C34878D82A}">
                    <a16:rowId xmlns:a16="http://schemas.microsoft.com/office/drawing/2014/main" val="3324182190"/>
                  </a:ext>
                </a:extLst>
              </a:tr>
              <a:tr h="313159">
                <a:tc>
                  <a:txBody>
                    <a:bodyPr/>
                    <a:lstStyle/>
                    <a:p>
                      <a:pPr marL="0" marR="0" rtl="0" fontAlgn="t">
                        <a:lnSpc>
                          <a:spcPts val="1600"/>
                        </a:lnSpc>
                        <a:buNone/>
                      </a:pPr>
                      <a:r>
                        <a:rPr lang="es-ES" sz="900" b="1">
                          <a:solidFill>
                            <a:srgbClr val="0A0A0A"/>
                          </a:solidFill>
                          <a:effectLst/>
                          <a:latin typeface="Google Sans"/>
                        </a:rPr>
                        <a:t>DSCP</a:t>
                      </a:r>
                      <a:r>
                        <a:rPr lang="es-ES" sz="900">
                          <a:solidFill>
                            <a:srgbClr val="0A0A0A"/>
                          </a:solidFill>
                          <a:effectLst/>
                          <a:latin typeface="Google Sans"/>
                        </a:rPr>
                        <a:t> (Differentiated Services Code Point)</a:t>
                      </a: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tc>
                  <a:txBody>
                    <a:bodyPr/>
                    <a:lstStyle/>
                    <a:p>
                      <a:pPr marL="0" marR="0" algn="ctr" rtl="0" fontAlgn="t">
                        <a:buNone/>
                      </a:pPr>
                      <a:r>
                        <a:rPr lang="es-ES" sz="1400" b="1">
                          <a:solidFill>
                            <a:srgbClr val="0A0A0A"/>
                          </a:solidFill>
                          <a:effectLst/>
                          <a:latin typeface="Google Sans"/>
                        </a:rPr>
                        <a:t>6</a:t>
                      </a:r>
                      <a:endParaRPr lang="es-ES" sz="1400">
                        <a:solidFill>
                          <a:srgbClr val="0A0A0A"/>
                        </a:solidFill>
                        <a:effectLst/>
                        <a:latin typeface="Google Sans"/>
                      </a:endParaRP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tc>
                  <a:txBody>
                    <a:bodyPr/>
                    <a:lstStyle/>
                    <a:p>
                      <a:pPr marL="0" marR="0" rtl="0" fontAlgn="t">
                        <a:lnSpc>
                          <a:spcPts val="1600"/>
                        </a:lnSpc>
                        <a:buNone/>
                      </a:pPr>
                      <a:r>
                        <a:rPr lang="es-ES" sz="800" dirty="0">
                          <a:solidFill>
                            <a:srgbClr val="0A0A0A"/>
                          </a:solidFill>
                          <a:effectLst/>
                          <a:latin typeface="Google Sans"/>
                        </a:rPr>
                        <a:t>Utilizado para la Calidad de Servicio (QoS), para clasificar y gestionar prioridades de paquetes.</a:t>
                      </a: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extLst>
                  <a:ext uri="{0D108BD9-81ED-4DB2-BD59-A6C34878D82A}">
                    <a16:rowId xmlns:a16="http://schemas.microsoft.com/office/drawing/2014/main" val="2187178273"/>
                  </a:ext>
                </a:extLst>
              </a:tr>
              <a:tr h="313159">
                <a:tc>
                  <a:txBody>
                    <a:bodyPr/>
                    <a:lstStyle/>
                    <a:p>
                      <a:pPr marL="0" marR="0" rtl="0" fontAlgn="t">
                        <a:lnSpc>
                          <a:spcPts val="1600"/>
                        </a:lnSpc>
                        <a:buNone/>
                      </a:pPr>
                      <a:r>
                        <a:rPr lang="es-ES" sz="900" b="1">
                          <a:solidFill>
                            <a:srgbClr val="0A0A0A"/>
                          </a:solidFill>
                          <a:effectLst/>
                          <a:latin typeface="Google Sans"/>
                        </a:rPr>
                        <a:t>ECN</a:t>
                      </a:r>
                      <a:r>
                        <a:rPr lang="es-ES" sz="900">
                          <a:solidFill>
                            <a:srgbClr val="0A0A0A"/>
                          </a:solidFill>
                          <a:effectLst/>
                          <a:latin typeface="Google Sans"/>
                        </a:rPr>
                        <a:t> (Explicit Congestion Notification)</a:t>
                      </a: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tc>
                  <a:txBody>
                    <a:bodyPr/>
                    <a:lstStyle/>
                    <a:p>
                      <a:pPr marL="0" marR="0" algn="ctr" rtl="0" fontAlgn="t">
                        <a:buNone/>
                      </a:pPr>
                      <a:r>
                        <a:rPr lang="es-ES" sz="1400" b="1">
                          <a:solidFill>
                            <a:srgbClr val="0A0A0A"/>
                          </a:solidFill>
                          <a:effectLst/>
                          <a:latin typeface="Google Sans"/>
                        </a:rPr>
                        <a:t>2</a:t>
                      </a:r>
                      <a:endParaRPr lang="es-ES" sz="1400">
                        <a:solidFill>
                          <a:srgbClr val="0A0A0A"/>
                        </a:solidFill>
                        <a:effectLst/>
                        <a:latin typeface="Google Sans"/>
                      </a:endParaRP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tc>
                  <a:txBody>
                    <a:bodyPr/>
                    <a:lstStyle/>
                    <a:p>
                      <a:pPr marL="0" marR="0" rtl="0" fontAlgn="t">
                        <a:lnSpc>
                          <a:spcPts val="1600"/>
                        </a:lnSpc>
                        <a:buNone/>
                      </a:pPr>
                      <a:r>
                        <a:rPr lang="es-ES" sz="800">
                          <a:solidFill>
                            <a:srgbClr val="0A0A0A"/>
                          </a:solidFill>
                          <a:effectLst/>
                          <a:latin typeface="Google Sans"/>
                        </a:rPr>
                        <a:t>Permite la notificación de congestión de extremo a extremo sin descartar paquetes.</a:t>
                      </a: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extLst>
                  <a:ext uri="{0D108BD9-81ED-4DB2-BD59-A6C34878D82A}">
                    <a16:rowId xmlns:a16="http://schemas.microsoft.com/office/drawing/2014/main" val="3237348098"/>
                  </a:ext>
                </a:extLst>
              </a:tr>
              <a:tr h="292803">
                <a:tc>
                  <a:txBody>
                    <a:bodyPr/>
                    <a:lstStyle/>
                    <a:p>
                      <a:pPr marL="0" marR="0" rtl="0" fontAlgn="t">
                        <a:lnSpc>
                          <a:spcPts val="1600"/>
                        </a:lnSpc>
                        <a:buNone/>
                      </a:pPr>
                      <a:r>
                        <a:rPr lang="es-ES" sz="900" b="1" dirty="0">
                          <a:solidFill>
                            <a:srgbClr val="0A0A0A"/>
                          </a:solidFill>
                          <a:effectLst/>
                          <a:latin typeface="Google Sans"/>
                        </a:rPr>
                        <a:t>Total Length</a:t>
                      </a:r>
                      <a:endParaRPr lang="es-ES" sz="900" dirty="0">
                        <a:solidFill>
                          <a:srgbClr val="0A0A0A"/>
                        </a:solidFill>
                        <a:effectLst/>
                        <a:latin typeface="Google Sans"/>
                      </a:endParaRP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tc>
                  <a:txBody>
                    <a:bodyPr/>
                    <a:lstStyle/>
                    <a:p>
                      <a:pPr marL="0" marR="0" algn="ctr" rtl="0" fontAlgn="t">
                        <a:buNone/>
                      </a:pPr>
                      <a:r>
                        <a:rPr lang="es-ES" sz="1400" b="1">
                          <a:solidFill>
                            <a:srgbClr val="0A0A0A"/>
                          </a:solidFill>
                          <a:effectLst/>
                          <a:latin typeface="Google Sans"/>
                        </a:rPr>
                        <a:t>16</a:t>
                      </a:r>
                      <a:endParaRPr lang="es-ES" sz="1400">
                        <a:solidFill>
                          <a:srgbClr val="0A0A0A"/>
                        </a:solidFill>
                        <a:effectLst/>
                        <a:latin typeface="Google Sans"/>
                      </a:endParaRP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tc>
                  <a:txBody>
                    <a:bodyPr/>
                    <a:lstStyle/>
                    <a:p>
                      <a:pPr marL="0" marR="0" rtl="0" fontAlgn="t">
                        <a:buNone/>
                      </a:pPr>
                      <a:r>
                        <a:rPr lang="es-ES" sz="800" dirty="0">
                          <a:solidFill>
                            <a:srgbClr val="0A0A0A"/>
                          </a:solidFill>
                          <a:effectLst/>
                          <a:latin typeface="Google Sans"/>
                        </a:rPr>
                        <a:t>Especifica la longitud total del paquete IP completo (cabecera + datos) en bytes. El </a:t>
                      </a:r>
                      <a:r>
                        <a:rPr lang="es-ES" sz="800" b="1" dirty="0">
                          <a:solidFill>
                            <a:srgbClr val="0A0A0A"/>
                          </a:solidFill>
                          <a:effectLst/>
                          <a:highlight>
                            <a:srgbClr val="FFFF00"/>
                          </a:highlight>
                          <a:latin typeface="Google Sans"/>
                        </a:rPr>
                        <a:t>tamaño máximo es </a:t>
                      </a:r>
                      <a:r>
                        <a:rPr lang="es-ES" sz="1050" b="1" dirty="0">
                          <a:solidFill>
                            <a:srgbClr val="0A0A0A"/>
                          </a:solidFill>
                          <a:effectLst/>
                          <a:highlight>
                            <a:srgbClr val="00FFFF"/>
                          </a:highlight>
                          <a:latin typeface="Google Sans"/>
                        </a:rPr>
                        <a:t>65535 bytes</a:t>
                      </a:r>
                      <a:r>
                        <a:rPr lang="es-ES" sz="800" b="1" dirty="0">
                          <a:solidFill>
                            <a:srgbClr val="0A0A0A"/>
                          </a:solidFill>
                          <a:effectLst/>
                          <a:highlight>
                            <a:srgbClr val="00FFFF"/>
                          </a:highlight>
                          <a:latin typeface="Google Sans"/>
                        </a:rPr>
                        <a:t>.</a:t>
                      </a:r>
                      <a:r>
                        <a:rPr lang="es-ES" sz="800" b="1" dirty="0">
                          <a:solidFill>
                            <a:srgbClr val="0A0A0A"/>
                          </a:solidFill>
                          <a:effectLst/>
                          <a:latin typeface="Google Sans"/>
                        </a:rPr>
                        <a:t> Y el MINIMO:  20</a:t>
                      </a:r>
                      <a:endParaRPr lang="es-ES" sz="1400" dirty="0">
                        <a:solidFill>
                          <a:srgbClr val="0A0A0A"/>
                        </a:solidFill>
                        <a:effectLst/>
                        <a:latin typeface="Google Sans"/>
                      </a:endParaRP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extLst>
                  <a:ext uri="{0D108BD9-81ED-4DB2-BD59-A6C34878D82A}">
                    <a16:rowId xmlns:a16="http://schemas.microsoft.com/office/drawing/2014/main" val="1526778496"/>
                  </a:ext>
                </a:extLst>
              </a:tr>
              <a:tr h="313159">
                <a:tc>
                  <a:txBody>
                    <a:bodyPr/>
                    <a:lstStyle/>
                    <a:p>
                      <a:pPr marL="0" marR="0" rtl="0" fontAlgn="t">
                        <a:lnSpc>
                          <a:spcPts val="1600"/>
                        </a:lnSpc>
                        <a:buNone/>
                      </a:pPr>
                      <a:r>
                        <a:rPr lang="es-ES" sz="900" b="1">
                          <a:solidFill>
                            <a:srgbClr val="0A0A0A"/>
                          </a:solidFill>
                          <a:effectLst/>
                          <a:latin typeface="Google Sans"/>
                        </a:rPr>
                        <a:t>Identification</a:t>
                      </a:r>
                      <a:endParaRPr lang="es-ES" sz="900">
                        <a:solidFill>
                          <a:srgbClr val="0A0A0A"/>
                        </a:solidFill>
                        <a:effectLst/>
                        <a:latin typeface="Google Sans"/>
                      </a:endParaRP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tc>
                  <a:txBody>
                    <a:bodyPr/>
                    <a:lstStyle/>
                    <a:p>
                      <a:pPr marL="0" marR="0" algn="ctr" rtl="0" fontAlgn="t">
                        <a:buNone/>
                      </a:pPr>
                      <a:r>
                        <a:rPr lang="es-ES" sz="1400" b="1">
                          <a:solidFill>
                            <a:srgbClr val="0A0A0A"/>
                          </a:solidFill>
                          <a:effectLst/>
                          <a:latin typeface="Google Sans"/>
                        </a:rPr>
                        <a:t>16</a:t>
                      </a:r>
                      <a:endParaRPr lang="es-ES" sz="1400">
                        <a:solidFill>
                          <a:srgbClr val="0A0A0A"/>
                        </a:solidFill>
                        <a:effectLst/>
                        <a:latin typeface="Google Sans"/>
                      </a:endParaRP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tc>
                  <a:txBody>
                    <a:bodyPr/>
                    <a:lstStyle/>
                    <a:p>
                      <a:pPr marL="0" marR="0" rtl="0" fontAlgn="t">
                        <a:lnSpc>
                          <a:spcPts val="1600"/>
                        </a:lnSpc>
                        <a:buNone/>
                      </a:pPr>
                      <a:r>
                        <a:rPr lang="es-ES" sz="800">
                          <a:solidFill>
                            <a:srgbClr val="0A0A0A"/>
                          </a:solidFill>
                          <a:effectLst/>
                          <a:latin typeface="Google Sans"/>
                        </a:rPr>
                        <a:t>Un valor único asignado a cada paquete para ayudar a reconstruir paquetes fragmentados en el destino.</a:t>
                      </a: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extLst>
                  <a:ext uri="{0D108BD9-81ED-4DB2-BD59-A6C34878D82A}">
                    <a16:rowId xmlns:a16="http://schemas.microsoft.com/office/drawing/2014/main" val="954237110"/>
                  </a:ext>
                </a:extLst>
              </a:tr>
              <a:tr h="313159">
                <a:tc>
                  <a:txBody>
                    <a:bodyPr/>
                    <a:lstStyle/>
                    <a:p>
                      <a:pPr marL="0" marR="0" rtl="0" fontAlgn="t">
                        <a:lnSpc>
                          <a:spcPts val="1600"/>
                        </a:lnSpc>
                        <a:buNone/>
                      </a:pPr>
                      <a:r>
                        <a:rPr lang="es-ES" sz="900" b="1">
                          <a:solidFill>
                            <a:srgbClr val="0A0A0A"/>
                          </a:solidFill>
                          <a:effectLst/>
                          <a:latin typeface="Google Sans"/>
                        </a:rPr>
                        <a:t>Flags</a:t>
                      </a:r>
                      <a:endParaRPr lang="es-ES" sz="900">
                        <a:solidFill>
                          <a:srgbClr val="0A0A0A"/>
                        </a:solidFill>
                        <a:effectLst/>
                        <a:latin typeface="Google Sans"/>
                      </a:endParaRP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tc>
                  <a:txBody>
                    <a:bodyPr/>
                    <a:lstStyle/>
                    <a:p>
                      <a:pPr marL="0" marR="0" algn="ctr" rtl="0" fontAlgn="t">
                        <a:buNone/>
                      </a:pPr>
                      <a:r>
                        <a:rPr lang="es-ES" sz="1400" b="1">
                          <a:solidFill>
                            <a:srgbClr val="0A0A0A"/>
                          </a:solidFill>
                          <a:effectLst/>
                          <a:latin typeface="Google Sans"/>
                        </a:rPr>
                        <a:t>3</a:t>
                      </a:r>
                      <a:endParaRPr lang="es-ES" sz="1400">
                        <a:solidFill>
                          <a:srgbClr val="0A0A0A"/>
                        </a:solidFill>
                        <a:effectLst/>
                        <a:latin typeface="Google Sans"/>
                      </a:endParaRP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tc>
                  <a:txBody>
                    <a:bodyPr/>
                    <a:lstStyle/>
                    <a:p>
                      <a:pPr marL="0" marR="0" rtl="0" fontAlgn="t">
                        <a:lnSpc>
                          <a:spcPts val="1600"/>
                        </a:lnSpc>
                        <a:buNone/>
                      </a:pPr>
                      <a:r>
                        <a:rPr lang="es-ES" sz="800" dirty="0">
                          <a:solidFill>
                            <a:srgbClr val="0A0A0A"/>
                          </a:solidFill>
                          <a:effectLst/>
                          <a:latin typeface="Google Sans"/>
                        </a:rPr>
                        <a:t>Contiene indicadores de control, incluyendo un bit para "No Fragmentar" (DF) y otro para "Más Fragmentos" (MF).</a:t>
                      </a: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extLst>
                  <a:ext uri="{0D108BD9-81ED-4DB2-BD59-A6C34878D82A}">
                    <a16:rowId xmlns:a16="http://schemas.microsoft.com/office/drawing/2014/main" val="3583323471"/>
                  </a:ext>
                </a:extLst>
              </a:tr>
              <a:tr h="313159">
                <a:tc>
                  <a:txBody>
                    <a:bodyPr/>
                    <a:lstStyle/>
                    <a:p>
                      <a:pPr marL="0" marR="0" rtl="0" fontAlgn="t">
                        <a:lnSpc>
                          <a:spcPts val="1600"/>
                        </a:lnSpc>
                        <a:buNone/>
                      </a:pPr>
                      <a:r>
                        <a:rPr lang="es-ES" sz="900" b="1">
                          <a:solidFill>
                            <a:srgbClr val="0A0A0A"/>
                          </a:solidFill>
                          <a:effectLst/>
                          <a:latin typeface="Google Sans"/>
                        </a:rPr>
                        <a:t>Fragment Offset</a:t>
                      </a:r>
                      <a:endParaRPr lang="es-ES" sz="900">
                        <a:solidFill>
                          <a:srgbClr val="0A0A0A"/>
                        </a:solidFill>
                        <a:effectLst/>
                        <a:latin typeface="Google Sans"/>
                      </a:endParaRP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tc>
                  <a:txBody>
                    <a:bodyPr/>
                    <a:lstStyle/>
                    <a:p>
                      <a:pPr marL="0" marR="0" algn="ctr" rtl="0" fontAlgn="t">
                        <a:buNone/>
                      </a:pPr>
                      <a:r>
                        <a:rPr lang="es-ES" sz="1400" b="1">
                          <a:solidFill>
                            <a:srgbClr val="0A0A0A"/>
                          </a:solidFill>
                          <a:effectLst/>
                          <a:latin typeface="Google Sans"/>
                        </a:rPr>
                        <a:t>13</a:t>
                      </a:r>
                      <a:endParaRPr lang="es-ES" sz="1400">
                        <a:solidFill>
                          <a:srgbClr val="0A0A0A"/>
                        </a:solidFill>
                        <a:effectLst/>
                        <a:latin typeface="Google Sans"/>
                      </a:endParaRP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tc>
                  <a:txBody>
                    <a:bodyPr/>
                    <a:lstStyle/>
                    <a:p>
                      <a:pPr marL="0" marR="0" rtl="0" fontAlgn="t">
                        <a:lnSpc>
                          <a:spcPts val="1600"/>
                        </a:lnSpc>
                        <a:buNone/>
                      </a:pPr>
                      <a:r>
                        <a:rPr lang="es-ES" sz="800">
                          <a:solidFill>
                            <a:srgbClr val="0A0A0A"/>
                          </a:solidFill>
                          <a:effectLst/>
                          <a:latin typeface="Google Sans"/>
                        </a:rPr>
                        <a:t>Indica en qué parte del datagrama original va este fragmento, permitiendo el reensamblaje correcto.</a:t>
                      </a: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extLst>
                  <a:ext uri="{0D108BD9-81ED-4DB2-BD59-A6C34878D82A}">
                    <a16:rowId xmlns:a16="http://schemas.microsoft.com/office/drawing/2014/main" val="4192450753"/>
                  </a:ext>
                </a:extLst>
              </a:tr>
              <a:tr h="313159">
                <a:tc>
                  <a:txBody>
                    <a:bodyPr/>
                    <a:lstStyle/>
                    <a:p>
                      <a:pPr marL="0" marR="0" rtl="0" fontAlgn="t">
                        <a:lnSpc>
                          <a:spcPts val="1600"/>
                        </a:lnSpc>
                        <a:buNone/>
                      </a:pPr>
                      <a:r>
                        <a:rPr lang="es-ES" sz="900" b="1">
                          <a:solidFill>
                            <a:srgbClr val="0A0A0A"/>
                          </a:solidFill>
                          <a:effectLst/>
                          <a:latin typeface="Google Sans"/>
                        </a:rPr>
                        <a:t>Time To Live (TTL)</a:t>
                      </a:r>
                      <a:endParaRPr lang="es-ES" sz="900">
                        <a:solidFill>
                          <a:srgbClr val="0A0A0A"/>
                        </a:solidFill>
                        <a:effectLst/>
                        <a:latin typeface="Google Sans"/>
                      </a:endParaRP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tc>
                  <a:txBody>
                    <a:bodyPr/>
                    <a:lstStyle/>
                    <a:p>
                      <a:pPr marL="0" marR="0" algn="ctr" rtl="0" fontAlgn="t">
                        <a:buNone/>
                      </a:pPr>
                      <a:r>
                        <a:rPr lang="es-ES" sz="1400" b="1">
                          <a:solidFill>
                            <a:srgbClr val="0A0A0A"/>
                          </a:solidFill>
                          <a:effectLst/>
                          <a:latin typeface="Google Sans"/>
                        </a:rPr>
                        <a:t>8</a:t>
                      </a:r>
                      <a:endParaRPr lang="es-ES" sz="1400">
                        <a:solidFill>
                          <a:srgbClr val="0A0A0A"/>
                        </a:solidFill>
                        <a:effectLst/>
                        <a:latin typeface="Google Sans"/>
                      </a:endParaRP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tc>
                  <a:txBody>
                    <a:bodyPr/>
                    <a:lstStyle/>
                    <a:p>
                      <a:pPr marL="0" marR="0" rtl="0" fontAlgn="t">
                        <a:lnSpc>
                          <a:spcPts val="1600"/>
                        </a:lnSpc>
                        <a:buNone/>
                      </a:pPr>
                      <a:r>
                        <a:rPr lang="es-ES" sz="800">
                          <a:solidFill>
                            <a:srgbClr val="0A0A0A"/>
                          </a:solidFill>
                          <a:effectLst/>
                          <a:latin typeface="Google Sans"/>
                        </a:rPr>
                        <a:t>Un contador que limita la vida del paquete en la red; se decrementa en cada salto de router. Si llega a cero, el paquete se descarta para prevenir bucles infinitos.</a:t>
                      </a: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extLst>
                  <a:ext uri="{0D108BD9-81ED-4DB2-BD59-A6C34878D82A}">
                    <a16:rowId xmlns:a16="http://schemas.microsoft.com/office/drawing/2014/main" val="2832190142"/>
                  </a:ext>
                </a:extLst>
              </a:tr>
              <a:tr h="313159">
                <a:tc>
                  <a:txBody>
                    <a:bodyPr/>
                    <a:lstStyle/>
                    <a:p>
                      <a:pPr marL="0" marR="0" rtl="0" fontAlgn="t">
                        <a:lnSpc>
                          <a:spcPts val="1600"/>
                        </a:lnSpc>
                        <a:buNone/>
                      </a:pPr>
                      <a:r>
                        <a:rPr lang="es-ES" sz="900" b="1">
                          <a:solidFill>
                            <a:srgbClr val="0A0A0A"/>
                          </a:solidFill>
                          <a:effectLst/>
                          <a:latin typeface="Google Sans"/>
                        </a:rPr>
                        <a:t>Protocol</a:t>
                      </a:r>
                      <a:endParaRPr lang="es-ES" sz="900">
                        <a:solidFill>
                          <a:srgbClr val="0A0A0A"/>
                        </a:solidFill>
                        <a:effectLst/>
                        <a:latin typeface="Google Sans"/>
                      </a:endParaRP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tc>
                  <a:txBody>
                    <a:bodyPr/>
                    <a:lstStyle/>
                    <a:p>
                      <a:pPr marL="0" marR="0" algn="ctr" rtl="0" fontAlgn="t">
                        <a:buNone/>
                      </a:pPr>
                      <a:r>
                        <a:rPr lang="es-ES" sz="1400" b="1">
                          <a:solidFill>
                            <a:srgbClr val="0A0A0A"/>
                          </a:solidFill>
                          <a:effectLst/>
                          <a:latin typeface="Google Sans"/>
                        </a:rPr>
                        <a:t>8</a:t>
                      </a:r>
                      <a:endParaRPr lang="es-ES" sz="1400">
                        <a:solidFill>
                          <a:srgbClr val="0A0A0A"/>
                        </a:solidFill>
                        <a:effectLst/>
                        <a:latin typeface="Google Sans"/>
                      </a:endParaRP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tc>
                  <a:txBody>
                    <a:bodyPr/>
                    <a:lstStyle/>
                    <a:p>
                      <a:pPr marL="0" marR="0" rtl="0" fontAlgn="t">
                        <a:lnSpc>
                          <a:spcPts val="1600"/>
                        </a:lnSpc>
                        <a:buNone/>
                      </a:pPr>
                      <a:r>
                        <a:rPr lang="es-ES" sz="800" dirty="0">
                          <a:solidFill>
                            <a:srgbClr val="0A0A0A"/>
                          </a:solidFill>
                          <a:effectLst/>
                          <a:latin typeface="Google Sans"/>
                        </a:rPr>
                        <a:t>Identifica el protocolo de la capa de transporte (por ejemplo, TCP, UDP, ICMP) al que se deben entregar los datos encapsulados.</a:t>
                      </a: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extLst>
                  <a:ext uri="{0D108BD9-81ED-4DB2-BD59-A6C34878D82A}">
                    <a16:rowId xmlns:a16="http://schemas.microsoft.com/office/drawing/2014/main" val="2033277300"/>
                  </a:ext>
                </a:extLst>
              </a:tr>
              <a:tr h="231737">
                <a:tc>
                  <a:txBody>
                    <a:bodyPr/>
                    <a:lstStyle/>
                    <a:p>
                      <a:pPr marL="0" marR="0" rtl="0" fontAlgn="t">
                        <a:lnSpc>
                          <a:spcPts val="1600"/>
                        </a:lnSpc>
                        <a:buNone/>
                      </a:pPr>
                      <a:r>
                        <a:rPr lang="es-ES" sz="900" b="1">
                          <a:solidFill>
                            <a:srgbClr val="0A0A0A"/>
                          </a:solidFill>
                          <a:effectLst/>
                          <a:latin typeface="Google Sans"/>
                        </a:rPr>
                        <a:t>Header Checksum</a:t>
                      </a:r>
                      <a:endParaRPr lang="es-ES" sz="900">
                        <a:solidFill>
                          <a:srgbClr val="0A0A0A"/>
                        </a:solidFill>
                        <a:effectLst/>
                        <a:latin typeface="Google Sans"/>
                      </a:endParaRP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tc>
                  <a:txBody>
                    <a:bodyPr/>
                    <a:lstStyle/>
                    <a:p>
                      <a:pPr marL="0" marR="0" algn="ctr" rtl="0" fontAlgn="t">
                        <a:buNone/>
                      </a:pPr>
                      <a:r>
                        <a:rPr lang="es-ES" sz="1400" b="1">
                          <a:solidFill>
                            <a:srgbClr val="0A0A0A"/>
                          </a:solidFill>
                          <a:effectLst/>
                          <a:latin typeface="Google Sans"/>
                        </a:rPr>
                        <a:t>16</a:t>
                      </a:r>
                      <a:endParaRPr lang="es-ES" sz="1400">
                        <a:solidFill>
                          <a:srgbClr val="0A0A0A"/>
                        </a:solidFill>
                        <a:effectLst/>
                        <a:latin typeface="Google Sans"/>
                      </a:endParaRP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tc>
                  <a:txBody>
                    <a:bodyPr/>
                    <a:lstStyle/>
                    <a:p>
                      <a:pPr marL="0" marR="0" rtl="0" fontAlgn="t">
                        <a:lnSpc>
                          <a:spcPts val="1600"/>
                        </a:lnSpc>
                        <a:buNone/>
                      </a:pPr>
                      <a:r>
                        <a:rPr lang="es-ES" sz="800">
                          <a:solidFill>
                            <a:srgbClr val="0A0A0A"/>
                          </a:solidFill>
                          <a:effectLst/>
                          <a:latin typeface="Google Sans"/>
                        </a:rPr>
                        <a:t>Un valor de verificación de errores calculado solo sobre la cabecera IP.</a:t>
                      </a: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extLst>
                  <a:ext uri="{0D108BD9-81ED-4DB2-BD59-A6C34878D82A}">
                    <a16:rowId xmlns:a16="http://schemas.microsoft.com/office/drawing/2014/main" val="4211178564"/>
                  </a:ext>
                </a:extLst>
              </a:tr>
              <a:tr h="231737">
                <a:tc>
                  <a:txBody>
                    <a:bodyPr/>
                    <a:lstStyle/>
                    <a:p>
                      <a:pPr marL="0" marR="0" rtl="0" fontAlgn="t">
                        <a:lnSpc>
                          <a:spcPts val="1600"/>
                        </a:lnSpc>
                        <a:buNone/>
                      </a:pPr>
                      <a:r>
                        <a:rPr lang="es-ES" sz="900" b="1">
                          <a:solidFill>
                            <a:srgbClr val="0A0A0A"/>
                          </a:solidFill>
                          <a:effectLst/>
                          <a:latin typeface="Google Sans"/>
                        </a:rPr>
                        <a:t>Source IP Address</a:t>
                      </a:r>
                      <a:endParaRPr lang="es-ES" sz="900">
                        <a:solidFill>
                          <a:srgbClr val="0A0A0A"/>
                        </a:solidFill>
                        <a:effectLst/>
                        <a:latin typeface="Google Sans"/>
                      </a:endParaRP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tc>
                  <a:txBody>
                    <a:bodyPr/>
                    <a:lstStyle/>
                    <a:p>
                      <a:pPr marL="0" marR="0" algn="ctr" rtl="0" fontAlgn="t">
                        <a:buNone/>
                      </a:pPr>
                      <a:r>
                        <a:rPr lang="es-ES" sz="1400" b="1">
                          <a:solidFill>
                            <a:srgbClr val="0A0A0A"/>
                          </a:solidFill>
                          <a:effectLst/>
                          <a:latin typeface="Google Sans"/>
                        </a:rPr>
                        <a:t>32</a:t>
                      </a:r>
                      <a:endParaRPr lang="es-ES" sz="1400">
                        <a:solidFill>
                          <a:srgbClr val="0A0A0A"/>
                        </a:solidFill>
                        <a:effectLst/>
                        <a:latin typeface="Google Sans"/>
                      </a:endParaRP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tc>
                  <a:txBody>
                    <a:bodyPr/>
                    <a:lstStyle/>
                    <a:p>
                      <a:pPr marL="0" marR="0" rtl="0" fontAlgn="t">
                        <a:lnSpc>
                          <a:spcPts val="1600"/>
                        </a:lnSpc>
                        <a:buNone/>
                      </a:pPr>
                      <a:r>
                        <a:rPr lang="es-ES" sz="800">
                          <a:solidFill>
                            <a:srgbClr val="0A0A0A"/>
                          </a:solidFill>
                          <a:effectLst/>
                          <a:latin typeface="Google Sans"/>
                        </a:rPr>
                        <a:t>La dirección IP de 32 bits del remitente original del paquete.</a:t>
                      </a: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extLst>
                  <a:ext uri="{0D108BD9-81ED-4DB2-BD59-A6C34878D82A}">
                    <a16:rowId xmlns:a16="http://schemas.microsoft.com/office/drawing/2014/main" val="2761658256"/>
                  </a:ext>
                </a:extLst>
              </a:tr>
              <a:tr h="231737">
                <a:tc>
                  <a:txBody>
                    <a:bodyPr/>
                    <a:lstStyle/>
                    <a:p>
                      <a:pPr marL="0" marR="0" rtl="0" fontAlgn="t">
                        <a:lnSpc>
                          <a:spcPts val="1600"/>
                        </a:lnSpc>
                        <a:buNone/>
                      </a:pPr>
                      <a:r>
                        <a:rPr lang="es-ES" sz="900" b="1">
                          <a:solidFill>
                            <a:srgbClr val="0A0A0A"/>
                          </a:solidFill>
                          <a:effectLst/>
                          <a:latin typeface="Google Sans"/>
                        </a:rPr>
                        <a:t>Destination IP Address</a:t>
                      </a:r>
                      <a:endParaRPr lang="es-ES" sz="900">
                        <a:solidFill>
                          <a:srgbClr val="0A0A0A"/>
                        </a:solidFill>
                        <a:effectLst/>
                        <a:latin typeface="Google Sans"/>
                      </a:endParaRP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tc>
                  <a:txBody>
                    <a:bodyPr/>
                    <a:lstStyle/>
                    <a:p>
                      <a:pPr marL="0" marR="0" algn="ctr" rtl="0" fontAlgn="t">
                        <a:buNone/>
                      </a:pPr>
                      <a:r>
                        <a:rPr lang="es-ES" sz="1400" b="1">
                          <a:solidFill>
                            <a:srgbClr val="0A0A0A"/>
                          </a:solidFill>
                          <a:effectLst/>
                          <a:latin typeface="Google Sans"/>
                        </a:rPr>
                        <a:t>32</a:t>
                      </a:r>
                      <a:endParaRPr lang="es-ES" sz="1400">
                        <a:solidFill>
                          <a:srgbClr val="0A0A0A"/>
                        </a:solidFill>
                        <a:effectLst/>
                        <a:latin typeface="Google Sans"/>
                      </a:endParaRP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tc>
                  <a:txBody>
                    <a:bodyPr/>
                    <a:lstStyle/>
                    <a:p>
                      <a:pPr marL="0" marR="0" rtl="0" fontAlgn="t">
                        <a:lnSpc>
                          <a:spcPts val="1600"/>
                        </a:lnSpc>
                        <a:buNone/>
                      </a:pPr>
                      <a:r>
                        <a:rPr lang="es-ES" sz="800">
                          <a:solidFill>
                            <a:srgbClr val="0A0A0A"/>
                          </a:solidFill>
                          <a:effectLst/>
                          <a:latin typeface="Google Sans"/>
                        </a:rPr>
                        <a:t>La dirección IP de 32 bits del receptor final del paquete.</a:t>
                      </a: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extLst>
                  <a:ext uri="{0D108BD9-81ED-4DB2-BD59-A6C34878D82A}">
                    <a16:rowId xmlns:a16="http://schemas.microsoft.com/office/drawing/2014/main" val="1119473364"/>
                  </a:ext>
                </a:extLst>
              </a:tr>
              <a:tr h="438422">
                <a:tc>
                  <a:txBody>
                    <a:bodyPr/>
                    <a:lstStyle/>
                    <a:p>
                      <a:pPr marL="0" marR="0" rtl="0" fontAlgn="t">
                        <a:lnSpc>
                          <a:spcPts val="1600"/>
                        </a:lnSpc>
                        <a:buNone/>
                      </a:pPr>
                      <a:r>
                        <a:rPr lang="es-ES" sz="900" b="1">
                          <a:solidFill>
                            <a:srgbClr val="0A0A0A"/>
                          </a:solidFill>
                          <a:effectLst/>
                          <a:latin typeface="Google Sans"/>
                        </a:rPr>
                        <a:t>Options</a:t>
                      </a:r>
                      <a:endParaRPr lang="es-ES" sz="900">
                        <a:solidFill>
                          <a:srgbClr val="0A0A0A"/>
                        </a:solidFill>
                        <a:effectLst/>
                        <a:latin typeface="Google Sans"/>
                      </a:endParaRP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tc>
                  <a:txBody>
                    <a:bodyPr/>
                    <a:lstStyle/>
                    <a:p>
                      <a:pPr marL="0" marR="0" rtl="0" fontAlgn="t">
                        <a:lnSpc>
                          <a:spcPts val="1600"/>
                        </a:lnSpc>
                        <a:buNone/>
                      </a:pPr>
                      <a:r>
                        <a:rPr lang="es-ES" sz="800">
                          <a:solidFill>
                            <a:srgbClr val="0A0A0A"/>
                          </a:solidFill>
                          <a:effectLst/>
                          <a:latin typeface="Google Sans"/>
                        </a:rPr>
                        <a:t>Variable</a:t>
                      </a: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tc>
                  <a:txBody>
                    <a:bodyPr/>
                    <a:lstStyle/>
                    <a:p>
                      <a:pPr marL="0" marR="0" rtl="0" fontAlgn="t">
                        <a:lnSpc>
                          <a:spcPts val="1600"/>
                        </a:lnSpc>
                        <a:buNone/>
                      </a:pPr>
                      <a:r>
                        <a:rPr lang="es-ES" sz="800" dirty="0">
                          <a:solidFill>
                            <a:srgbClr val="0A0A0A"/>
                          </a:solidFill>
                          <a:effectLst/>
                          <a:latin typeface="Google Sans"/>
                        </a:rPr>
                        <a:t>Campo opcional que puede contener varias opciones (seguridad, registro de ruta, marca de tiempo, etc.). Si se usa, el campo IHL aumenta. </a:t>
                      </a:r>
                      <a:r>
                        <a:rPr lang="es-ES" sz="800" b="1" dirty="0">
                          <a:solidFill>
                            <a:srgbClr val="0A0A0A"/>
                          </a:solidFill>
                          <a:effectLst/>
                          <a:latin typeface="Google Sans"/>
                        </a:rPr>
                        <a:t>MINIMO: 0 bits </a:t>
                      </a:r>
                      <a:r>
                        <a:rPr lang="es-ES" sz="800" b="1" dirty="0">
                          <a:solidFill>
                            <a:srgbClr val="0A0A0A"/>
                          </a:solidFill>
                          <a:effectLst/>
                          <a:highlight>
                            <a:srgbClr val="00FFFF"/>
                          </a:highlight>
                          <a:latin typeface="Google Sans"/>
                        </a:rPr>
                        <a:t>MAXIMO 320bits/40bytes</a:t>
                      </a:r>
                      <a:endParaRPr lang="es-ES" sz="800" dirty="0">
                        <a:solidFill>
                          <a:srgbClr val="0A0A0A"/>
                        </a:solidFill>
                        <a:effectLst/>
                        <a:latin typeface="Google Sans"/>
                      </a:endParaRPr>
                    </a:p>
                  </a:txBody>
                  <a:tcPr marL="31316" marR="31316" marT="31316" marB="31316">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FF"/>
                    </a:solidFill>
                  </a:tcPr>
                </a:tc>
                <a:extLst>
                  <a:ext uri="{0D108BD9-81ED-4DB2-BD59-A6C34878D82A}">
                    <a16:rowId xmlns:a16="http://schemas.microsoft.com/office/drawing/2014/main" val="1915652323"/>
                  </a:ext>
                </a:extLst>
              </a:tr>
            </a:tbl>
          </a:graphicData>
        </a:graphic>
      </p:graphicFrame>
      <p:sp>
        <p:nvSpPr>
          <p:cNvPr id="27" name="CuadroTexto 26">
            <a:extLst>
              <a:ext uri="{FF2B5EF4-FFF2-40B4-BE49-F238E27FC236}">
                <a16:creationId xmlns:a16="http://schemas.microsoft.com/office/drawing/2014/main" id="{F339A29C-361B-5F9F-D0C8-6D95D5356190}"/>
              </a:ext>
            </a:extLst>
          </p:cNvPr>
          <p:cNvSpPr txBox="1"/>
          <p:nvPr/>
        </p:nvSpPr>
        <p:spPr>
          <a:xfrm>
            <a:off x="0" y="1968856"/>
            <a:ext cx="6257706" cy="1569660"/>
          </a:xfrm>
          <a:prstGeom prst="rect">
            <a:avLst/>
          </a:prstGeom>
          <a:noFill/>
        </p:spPr>
        <p:txBody>
          <a:bodyPr wrap="square">
            <a:spAutoFit/>
          </a:bodyPr>
          <a:lstStyle/>
          <a:p>
            <a:r>
              <a:rPr lang="es-ES" sz="1200" b="0" u="none" strike="noStrike" dirty="0">
                <a:effectLst/>
                <a:latin typeface="Google Sans"/>
              </a:rPr>
              <a:t>Las </a:t>
            </a:r>
            <a:r>
              <a:rPr lang="es-ES" sz="1200" b="1" u="none" strike="noStrike" dirty="0">
                <a:effectLst/>
                <a:latin typeface="Google Sans"/>
              </a:rPr>
              <a:t>IP de origen y destino</a:t>
            </a:r>
            <a:r>
              <a:rPr lang="es-ES" sz="1200" b="0" u="none" strike="noStrike" dirty="0">
                <a:effectLst/>
                <a:latin typeface="Google Sans"/>
              </a:rPr>
              <a:t> le dicen a los routers de dónde viene el paquete y exactamente a dónde debe entregarse.</a:t>
            </a:r>
          </a:p>
          <a:p>
            <a:r>
              <a:rPr lang="es-ES" sz="1200" b="1" u="none" strike="noStrike" dirty="0">
                <a:effectLst/>
                <a:latin typeface="Google Sans"/>
              </a:rPr>
              <a:t>Controlar el viaje</a:t>
            </a:r>
            <a:r>
              <a:rPr lang="es-ES" sz="1200" b="0" u="none" strike="noStrike" dirty="0">
                <a:effectLst/>
                <a:latin typeface="Google Sans"/>
              </a:rPr>
              <a:t>: El </a:t>
            </a:r>
            <a:r>
              <a:rPr lang="es-ES" sz="1200" b="1" u="none" strike="noStrike" dirty="0">
                <a:effectLst/>
                <a:latin typeface="Google Sans"/>
              </a:rPr>
              <a:t>TTL</a:t>
            </a:r>
            <a:r>
              <a:rPr lang="es-ES" sz="1200" b="0" u="none" strike="noStrike" dirty="0">
                <a:effectLst/>
                <a:latin typeface="Google Sans"/>
              </a:rPr>
              <a:t> destruye el paquete si se queda atrapado dando vueltas</a:t>
            </a:r>
            <a:r>
              <a:rPr lang="es-ES" sz="1200" dirty="0">
                <a:latin typeface="Google Sans"/>
              </a:rPr>
              <a:t>.</a:t>
            </a:r>
            <a:r>
              <a:rPr lang="es-ES" sz="1200" b="0" u="none" strike="noStrike" dirty="0">
                <a:effectLst/>
                <a:latin typeface="Google Sans"/>
              </a:rPr>
              <a:t> </a:t>
            </a:r>
          </a:p>
          <a:p>
            <a:r>
              <a:rPr lang="es-ES" sz="1200" b="1" u="none" strike="noStrike" dirty="0">
                <a:effectLst/>
                <a:latin typeface="Google Sans"/>
              </a:rPr>
              <a:t>Tipo de Servicio o DSCP:</a:t>
            </a:r>
            <a:r>
              <a:rPr lang="es-ES" sz="1200" b="0" u="none" strike="noStrike" dirty="0">
                <a:effectLst/>
                <a:latin typeface="Google Sans"/>
              </a:rPr>
              <a:t> le da prioridad si es tráfico urgente (como una videollamada).</a:t>
            </a:r>
          </a:p>
          <a:p>
            <a:r>
              <a:rPr lang="es-ES" sz="1200" b="1" u="none" strike="noStrike" dirty="0">
                <a:effectLst/>
                <a:latin typeface="Google Sans"/>
              </a:rPr>
              <a:t>Evitar errores</a:t>
            </a:r>
            <a:r>
              <a:rPr lang="es-ES" sz="1200" b="0" u="none" strike="noStrike" dirty="0">
                <a:effectLst/>
                <a:latin typeface="Google Sans"/>
              </a:rPr>
              <a:t>: La </a:t>
            </a:r>
            <a:r>
              <a:rPr lang="es-ES" sz="1200" b="1" u="none" strike="noStrike" dirty="0">
                <a:effectLst/>
                <a:latin typeface="Google Sans"/>
              </a:rPr>
              <a:t>Suma de verificación (Checksum)</a:t>
            </a:r>
            <a:r>
              <a:rPr lang="es-ES" sz="1200" b="0" u="none" strike="noStrike" dirty="0">
                <a:effectLst/>
                <a:latin typeface="Google Sans"/>
              </a:rPr>
              <a:t> revisa que el paquete no se haya corrompido, y la </a:t>
            </a:r>
            <a:r>
              <a:rPr lang="es-ES" sz="1200" b="1" u="none" strike="noStrike" dirty="0">
                <a:effectLst/>
                <a:latin typeface="Google Sans"/>
              </a:rPr>
              <a:t>Versión</a:t>
            </a:r>
            <a:r>
              <a:rPr lang="es-ES" sz="1200" b="0" u="none" strike="noStrike" dirty="0">
                <a:effectLst/>
                <a:latin typeface="Google Sans"/>
              </a:rPr>
              <a:t> avisa si se usa IPv4 o IPv6.</a:t>
            </a:r>
          </a:p>
          <a:p>
            <a:r>
              <a:rPr lang="es-ES" sz="1200" b="1" u="none" strike="noStrike" dirty="0">
                <a:effectLst/>
                <a:latin typeface="Google Sans"/>
              </a:rPr>
              <a:t>Cortar y pegar</a:t>
            </a:r>
            <a:r>
              <a:rPr lang="es-ES" sz="1200" b="0" u="none" strike="noStrike" dirty="0">
                <a:effectLst/>
                <a:latin typeface="Google Sans"/>
              </a:rPr>
              <a:t>: La </a:t>
            </a:r>
            <a:r>
              <a:rPr lang="es-ES" sz="1200" b="1" u="none" strike="noStrike" dirty="0">
                <a:effectLst/>
                <a:latin typeface="Google Sans"/>
              </a:rPr>
              <a:t>Identificación, Flags y Offset</a:t>
            </a:r>
            <a:r>
              <a:rPr lang="es-ES" sz="1200" b="0" u="none" strike="noStrike" dirty="0">
                <a:effectLst/>
                <a:latin typeface="Google Sans"/>
              </a:rPr>
              <a:t> sirven para partir el paquete en trozos pequeños si la red es estrecha, y volver a armarlo al llegar.</a:t>
            </a:r>
            <a:endParaRPr lang="es-ES" sz="1200" dirty="0"/>
          </a:p>
        </p:txBody>
      </p:sp>
    </p:spTree>
    <p:extLst>
      <p:ext uri="{BB962C8B-B14F-4D97-AF65-F5344CB8AC3E}">
        <p14:creationId xmlns:p14="http://schemas.microsoft.com/office/powerpoint/2010/main" val="49262306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5338</TotalTime>
  <Words>10176</Words>
  <Application>Microsoft Office PowerPoint</Application>
  <PresentationFormat>Panorámica</PresentationFormat>
  <Paragraphs>1088</Paragraphs>
  <Slides>41</Slides>
  <Notes>1</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41</vt:i4>
      </vt:variant>
    </vt:vector>
  </HeadingPairs>
  <TitlesOfParts>
    <vt:vector size="49" baseType="lpstr">
      <vt:lpstr>Aptos</vt:lpstr>
      <vt:lpstr>Aptos Display</vt:lpstr>
      <vt:lpstr>Aptos Narrow</vt:lpstr>
      <vt:lpstr>Arial</vt:lpstr>
      <vt:lpstr>Google Sans</vt:lpstr>
      <vt:lpstr>Segoe UI</vt:lpstr>
      <vt:lpstr>Wingdings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Torreskwin Wst</dc:creator>
  <cp:lastModifiedBy>Torreskwin Wst</cp:lastModifiedBy>
  <cp:revision>59</cp:revision>
  <dcterms:created xsi:type="dcterms:W3CDTF">2026-07-03T16:24:54Z</dcterms:created>
  <dcterms:modified xsi:type="dcterms:W3CDTF">2026-07-27T14:02:58Z</dcterms:modified>
</cp:coreProperties>
</file>